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a16ebdc260f4f79" /><Relationship Type="http://schemas.openxmlformats.org/officeDocument/2006/relationships/extended-properties" Target="/docProps/app.xml" Id="R459f3879b7f846d3" /><Relationship Type="http://schemas.openxmlformats.org/officeDocument/2006/relationships/officeDocument" Target="/ppt/presentation.xml" Id="R7d4413f33eb248ab" /></Relationships>
</file>

<file path=ppt/presentation.xml><?xml version="1.0" encoding="utf-8"?>
<p:presentation xmlns:p="http://schemas.openxmlformats.org/presentationml/2006/main">
  <p:sldMasterIdLst>
    <p:sldMasterId xmlns:r="http://schemas.openxmlformats.org/officeDocument/2006/relationships" id="2147483648" r:id="R9e28518f1f6f4bd8"/>
  </p:sldMasterIdLst>
  <p:notesMasterIdLst>
    <p:notesMasterId xmlns:r="http://schemas.openxmlformats.org/officeDocument/2006/relationships" r:id="Re53e87a9649147c0"/>
  </p:notesMasterIdLst>
  <p:sldIdLst>
    <p:sldId xmlns:r="http://schemas.openxmlformats.org/officeDocument/2006/relationships" id="256" r:id="R3243f9dc5adf49b5"/>
    <p:sldId xmlns:r="http://schemas.openxmlformats.org/officeDocument/2006/relationships" id="257" r:id="R93e0b547b6ff4ac8"/>
    <p:sldId xmlns:r="http://schemas.openxmlformats.org/officeDocument/2006/relationships" id="258" r:id="R6461b98c771e4536"/>
    <p:sldId xmlns:r="http://schemas.openxmlformats.org/officeDocument/2006/relationships" id="259" r:id="Ra8f17f215d9e4be0"/>
    <p:sldId xmlns:r="http://schemas.openxmlformats.org/officeDocument/2006/relationships" id="260" r:id="R95ddbc2e505f4d4f"/>
    <p:sldId xmlns:r="http://schemas.openxmlformats.org/officeDocument/2006/relationships" id="261" r:id="R153c22df5d214ed9"/>
    <p:sldId xmlns:r="http://schemas.openxmlformats.org/officeDocument/2006/relationships" id="262" r:id="Rd89f17cf1b8045bf"/>
    <p:sldId xmlns:r="http://schemas.openxmlformats.org/officeDocument/2006/relationships" id="263" r:id="R1d66be262ba34949"/>
    <p:sldId xmlns:r="http://schemas.openxmlformats.org/officeDocument/2006/relationships" id="264" r:id="Rf912b49e6a9649f5"/>
    <p:sldId xmlns:r="http://schemas.openxmlformats.org/officeDocument/2006/relationships" id="265" r:id="Rc3a87d088969463e"/>
    <p:sldId xmlns:r="http://schemas.openxmlformats.org/officeDocument/2006/relationships" id="266" r:id="R5a8b8fae04d44c0d"/>
    <p:sldId xmlns:r="http://schemas.openxmlformats.org/officeDocument/2006/relationships" id="267" r:id="R8b1b924b69f54306"/>
    <p:sldId xmlns:r="http://schemas.openxmlformats.org/officeDocument/2006/relationships" id="268" r:id="R4cf76a4d0ccf4dba"/>
    <p:sldId xmlns:r="http://schemas.openxmlformats.org/officeDocument/2006/relationships" id="269" r:id="Ra9d754af16414db2"/>
    <p:sldId xmlns:r="http://schemas.openxmlformats.org/officeDocument/2006/relationships" id="270" r:id="R4f6041e19bcb41e4"/>
    <p:sldId xmlns:r="http://schemas.openxmlformats.org/officeDocument/2006/relationships" id="271" r:id="R6f464e37728f4fc1"/>
    <p:sldId xmlns:r="http://schemas.openxmlformats.org/officeDocument/2006/relationships" id="272" r:id="Rbf352a8e550e49ca"/>
    <p:sldId xmlns:r="http://schemas.openxmlformats.org/officeDocument/2006/relationships" id="273" r:id="Reb5093c48f7049d0"/>
    <p:sldId xmlns:r="http://schemas.openxmlformats.org/officeDocument/2006/relationships" id="274" r:id="Rbf47bc0292014167"/>
    <p:sldId xmlns:r="http://schemas.openxmlformats.org/officeDocument/2006/relationships" id="275" r:id="Rd178e9d446ae41d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42edec2db2d48ab" /><Relationship Type="http://schemas.openxmlformats.org/officeDocument/2006/relationships/slideMaster" Target="/ppt/slideMasters/slideMaster1.xml" Id="R9e28518f1f6f4bd8" /><Relationship Type="http://schemas.openxmlformats.org/officeDocument/2006/relationships/notesMaster" Target="/ppt/notesMasters/notesMaster1.xml" Id="Re53e87a9649147c0" /><Relationship Type="http://schemas.openxmlformats.org/officeDocument/2006/relationships/presProps" Target="/ppt/presProps.xml" Id="Re6b3bbf527f64344" /><Relationship Type="http://schemas.openxmlformats.org/officeDocument/2006/relationships/tableStyles" Target="/ppt/tableStyles.xml" Id="Rdd582fc3f4a84d97" /><Relationship Type="http://schemas.openxmlformats.org/officeDocument/2006/relationships/slide" Target="/ppt/slides/slide1.xml" Id="R3243f9dc5adf49b5" /><Relationship Type="http://schemas.openxmlformats.org/officeDocument/2006/relationships/slide" Target="/ppt/slides/slide2.xml" Id="R93e0b547b6ff4ac8" /><Relationship Type="http://schemas.openxmlformats.org/officeDocument/2006/relationships/slide" Target="/ppt/slides/slide3.xml" Id="R6461b98c771e4536" /><Relationship Type="http://schemas.openxmlformats.org/officeDocument/2006/relationships/slide" Target="/ppt/slides/slide4.xml" Id="Ra8f17f215d9e4be0" /><Relationship Type="http://schemas.openxmlformats.org/officeDocument/2006/relationships/slide" Target="/ppt/slides/slide5.xml" Id="R95ddbc2e505f4d4f" /><Relationship Type="http://schemas.openxmlformats.org/officeDocument/2006/relationships/slide" Target="/ppt/slides/slide6.xml" Id="R153c22df5d214ed9" /><Relationship Type="http://schemas.openxmlformats.org/officeDocument/2006/relationships/slide" Target="/ppt/slides/slide7.xml" Id="Rd89f17cf1b8045bf" /><Relationship Type="http://schemas.openxmlformats.org/officeDocument/2006/relationships/slide" Target="/ppt/slides/slide8.xml" Id="R1d66be262ba34949" /><Relationship Type="http://schemas.openxmlformats.org/officeDocument/2006/relationships/slide" Target="/ppt/slides/slide9.xml" Id="Rf912b49e6a9649f5" /><Relationship Type="http://schemas.openxmlformats.org/officeDocument/2006/relationships/slide" Target="/ppt/slides/slide10.xml" Id="Rc3a87d088969463e" /><Relationship Type="http://schemas.openxmlformats.org/officeDocument/2006/relationships/slide" Target="/ppt/slides/slide11.xml" Id="R5a8b8fae04d44c0d" /><Relationship Type="http://schemas.openxmlformats.org/officeDocument/2006/relationships/slide" Target="/ppt/slides/slide12.xml" Id="R8b1b924b69f54306" /><Relationship Type="http://schemas.openxmlformats.org/officeDocument/2006/relationships/slide" Target="/ppt/slides/slide13.xml" Id="R4cf76a4d0ccf4dba" /><Relationship Type="http://schemas.openxmlformats.org/officeDocument/2006/relationships/slide" Target="/ppt/slides/slide14.xml" Id="Ra9d754af16414db2" /><Relationship Type="http://schemas.openxmlformats.org/officeDocument/2006/relationships/slide" Target="/ppt/slides/slide15.xml" Id="R4f6041e19bcb41e4" /><Relationship Type="http://schemas.openxmlformats.org/officeDocument/2006/relationships/slide" Target="/ppt/slides/slide16.xml" Id="R6f464e37728f4fc1" /><Relationship Type="http://schemas.openxmlformats.org/officeDocument/2006/relationships/slide" Target="/ppt/slides/slide17.xml" Id="Rbf352a8e550e49ca" /><Relationship Type="http://schemas.openxmlformats.org/officeDocument/2006/relationships/slide" Target="/ppt/slides/slide18.xml" Id="Reb5093c48f7049d0" /><Relationship Type="http://schemas.openxmlformats.org/officeDocument/2006/relationships/slide" Target="/ppt/slides/slide19.xml" Id="Rbf47bc0292014167" /><Relationship Type="http://schemas.openxmlformats.org/officeDocument/2006/relationships/slide" Target="/ppt/slides/slide20.xml" Id="Rd178e9d446ae41d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3685e5fc4474f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8bb55f5b90a42dd" /><Relationship Type="http://schemas.openxmlformats.org/officeDocument/2006/relationships/notesMaster" Target="/ppt/notesMasters/notesMaster1.xml" Id="R850db3adc5ad40d3"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990621e76a45f6" /><Relationship Type="http://schemas.openxmlformats.org/officeDocument/2006/relationships/notesMaster" Target="/ppt/notesMasters/notesMaster1.xml" Id="R4223b4f41d7248aa" /></Relationships>
</file>

<file path=ppt/notesSlides/_rels/notesSlide3.xml.rels>&#65279;<?xml version="1.0" encoding="utf-8"?><Relationships xmlns="http://schemas.openxmlformats.org/package/2006/relationships"><Relationship Type="http://schemas.openxmlformats.org/officeDocument/2006/relationships/slide" Target="/ppt/slides/slide3.xml" Id="Reea6a2fba4e045a9" /><Relationship Type="http://schemas.openxmlformats.org/officeDocument/2006/relationships/notesMaster" Target="/ppt/notesMasters/notesMaster1.xml" Id="R68a54141a1684b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38d07fe310f54701" /><Relationship Type="http://schemas.openxmlformats.org/officeDocument/2006/relationships/notesMaster" Target="/ppt/notesMasters/notesMaster1.xml" Id="Ref5cb379f5aa45b5" /></Relationships>
</file>

<file path=ppt/notesSlides/_rels/notesSlide5.xml.rels>&#65279;<?xml version="1.0" encoding="utf-8"?><Relationships xmlns="http://schemas.openxmlformats.org/package/2006/relationships"><Relationship Type="http://schemas.openxmlformats.org/officeDocument/2006/relationships/slide" Target="/ppt/slides/slide5.xml" Id="Rae9de17c17974ea7" /><Relationship Type="http://schemas.openxmlformats.org/officeDocument/2006/relationships/notesMaster" Target="/ppt/notesMasters/notesMaster1.xml" Id="R3ae69e71e7eb4cc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820d585d6f147e0" /><Relationship Type="http://schemas.openxmlformats.org/officeDocument/2006/relationships/notesMaster" Target="/ppt/notesMasters/notesMaster1.xml" Id="Rd0717f4554494358" /></Relationships>
</file>

<file path=ppt/notesSlides/_rels/notesSlide7.xml.rels>&#65279;<?xml version="1.0" encoding="utf-8"?><Relationships xmlns="http://schemas.openxmlformats.org/package/2006/relationships"><Relationship Type="http://schemas.openxmlformats.org/officeDocument/2006/relationships/slide" Target="/ppt/slides/slide7.xml" Id="Re247cdad1c774a51" /><Relationship Type="http://schemas.openxmlformats.org/officeDocument/2006/relationships/notesMaster" Target="/ppt/notesMasters/notesMaster1.xml" Id="R26381c3de3874ad2" /></Relationships>
</file>

<file path=ppt/notesSlides/_rels/notesSlide8.xml.rels>&#65279;<?xml version="1.0" encoding="utf-8"?><Relationships xmlns="http://schemas.openxmlformats.org/package/2006/relationships"><Relationship Type="http://schemas.openxmlformats.org/officeDocument/2006/relationships/slide" Target="/ppt/slides/slide8.xml" Id="R5709127c57ab46b7" /><Relationship Type="http://schemas.openxmlformats.org/officeDocument/2006/relationships/notesMaster" Target="/ppt/notesMasters/notesMaster1.xml" Id="R3d1dcbe18cab4f65" /></Relationships>
</file>

<file path=ppt/notesSlides/_rels/notesSlide9.xml.rels>&#65279;<?xml version="1.0" encoding="utf-8"?><Relationships xmlns="http://schemas.openxmlformats.org/package/2006/relationships"><Relationship Type="http://schemas.openxmlformats.org/officeDocument/2006/relationships/slide" Target="/ppt/slides/slide9.xml" Id="Ra739cd32fe07489d" /><Relationship Type="http://schemas.openxmlformats.org/officeDocument/2006/relationships/notesMaster" Target="/ppt/notesMasters/notesMaster1.xml" Id="R4e10a09a51d3436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36f3830c027421b" /><Relationship Type="http://schemas.openxmlformats.org/officeDocument/2006/relationships/notesMaster" Target="/ppt/notesMasters/notesMaster1.xml" Id="R831325c28ea74de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9e790c3f860457f" /><Relationship Type="http://schemas.openxmlformats.org/officeDocument/2006/relationships/notesMaster" Target="/ppt/notesMasters/notesMaster1.xml" Id="R4a2d275fda124d4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c0c36363a70415b" /><Relationship Type="http://schemas.openxmlformats.org/officeDocument/2006/relationships/notesMaster" Target="/ppt/notesMasters/notesMaster1.xml" Id="R86d6c5090a76401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571262cfb92407c" /><Relationship Type="http://schemas.openxmlformats.org/officeDocument/2006/relationships/notesMaster" Target="/ppt/notesMasters/notesMaster1.xml" Id="R987871847019450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1d861d6ad904bd3" /><Relationship Type="http://schemas.openxmlformats.org/officeDocument/2006/relationships/notesMaster" Target="/ppt/notesMasters/notesMaster1.xml" Id="R163bea8d02e3416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86f6e7ef5f849e6" /><Relationship Type="http://schemas.openxmlformats.org/officeDocument/2006/relationships/notesMaster" Target="/ppt/notesMasters/notesMaster1.xml" Id="R320138318be84f1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6070c27059e4c97" /><Relationship Type="http://schemas.openxmlformats.org/officeDocument/2006/relationships/notesMaster" Target="/ppt/notesMasters/notesMaster1.xml" Id="Ra6364438c66b422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be7077196f54c22" /><Relationship Type="http://schemas.openxmlformats.org/officeDocument/2006/relationships/notesMaster" Target="/ppt/notesMasters/notesMaster1.xml" Id="R2c769b7e64d8406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2ceb54e4bac4e53" /><Relationship Type="http://schemas.openxmlformats.org/officeDocument/2006/relationships/notesMaster" Target="/ppt/notesMasters/notesMaster1.xml" Id="R2339cf1a241744e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619f9934bee4133" /><Relationship Type="http://schemas.openxmlformats.org/officeDocument/2006/relationships/notesMaster" Target="/ppt/notesMasters/notesMaster1.xml" Id="R6aa7ab52173d4a6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cf7d41e3dfe44bb" /><Relationship Type="http://schemas.openxmlformats.org/officeDocument/2006/relationships/notesMaster" Target="/ppt/notesMasters/notesMaster1.xml" Id="Ra61c1e2a4a8c4a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Recreated from user-supplied photograph IMG_2359(1).jpeg, original presentation slide 1. Original: Hollinswood Shopping Center - Investor Presentation, Singh Capital Partners, May 2026. Repeated confidentiality footer removed at user request. Source viewer shows 22 slides; this reconstruction includes the 20 supplied slides. Figures and projections are reproduced as shown and have not been independently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Recreated from user-supplied photograph IMG_2360(1).jpeg, original presentation slide 2. Original: Hollinswood Shopping Center - Investor Presentation, Singh Capital Partners, May 2026. Repeated confidentiality footer removed at user request. Source viewer shows 22 slides; this reconstruction includes the 20 supplied slides. Figures and projections are reproduced as shown and have not been independently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Recreated from user-supplied photograph IMG_2361(1).jpeg, original presentation slide 3. Original: Hollinswood Shopping Center - Investor Presentation, Singh Capital Partners, May 2026. Repeated confidentiality footer removed at user request. Source viewer shows 22 slides; this reconstruction includes the 20 supplied slides. Figures and projections are reproduced as shown and have not been independently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Recreated from user-supplied photograph IMG_2362(1).jpeg, original presentation slide 4. Original: Hollinswood Shopping Center - Investor Presentation, Singh Capital Partners, May 2026. Repeated confidentiality footer removed at user request. Source viewer shows 22 slides; this reconstruction includes the 20 supplied slides. Figures and projections are reproduced as shown and have not been independently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Recreated from user-supplied photograph IMG_2363(1).jpeg, original presentation slide 5. Original: Hollinswood Shopping Center - Investor Presentation, Singh Capital Partners, May 2026. Repeated confidentiality footer removed at user request. Source viewer shows 22 slides; this reconstruction includes the 20 supplied slides. Figures and projections are reproduced as shown and have not been independently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Recreated from user-supplied photograph IMG_2364(1).jpeg, original presentation slide 6. Original: Hollinswood Shopping Center - Investor Presentation, Singh Capital Partners, May 2026. Repeated confidentiality footer removed at user request. Source viewer shows 22 slides; this reconstruction includes the 20 supplied slides. Figures and projections are reproduced as shown and have not been independently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Recreated from user-supplied photograph IMG_2365(1).jpeg, original presentation slide 7. Original: Hollinswood Shopping Center - Investor Presentation, Singh Capital Partners, May 2026. Repeated confidentiality footer removed at user request. Source viewer shows 22 slides; this reconstruction includes the 20 supplied slides. Figures and projections are reproduced as shown and have not been independently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Recreated from user-supplied photograph IMG_2366(1).jpeg, original presentation slide 8. Original: Hollinswood Shopping Center - Investor Presentation, Singh Capital Partners, May 2026. Repeated confidentiality footer removed at user request. Source viewer shows 22 slides; this reconstruction includes the 20 supplied slides. Figures and projections are reproduced as shown and have not been independently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Recreated from user-supplied photograph IMG_2367(1).jpeg, original presentation slide 9. Original: Hollinswood Shopping Center - Investor Presentation, Singh Capital Partners, May 2026. Repeated confidentiality footer removed at user request. Source viewer shows 22 slides; this reconstruction includes the 20 supplied slides. Figures and projections are reproduced as shown and have not been independently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Recreated from user-supplied photograph IMG_2368(1).jpeg, original presentation slide 10. Original: Hollinswood Shopping Center - Investor Presentation, Singh Capital Partners, May 2026. Repeated confidentiality footer removed at user request. Source viewer shows 22 slides; this reconstruction includes the 20 supplied slides. Figures and projections are reproduced as shown and have not been independently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Recreated from user-supplied photograph IMG_2369(1).jpeg, original presentation slide 11. Original: Hollinswood Shopping Center - Investor Presentation, Singh Capital Partners, May 2026. Repeated confidentiality footer removed at user request. Source viewer shows 22 slides; this reconstruction includes the 20 supplied slides. Figures and projections are reproduced as shown and have not been independently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Recreated from user-supplied photograph IMG_2370(1).jpeg, original presentation slide 12. Original: Hollinswood Shopping Center - Investor Presentation, Singh Capital Partners, May 2026. Repeated confidentiality footer removed at user request. Source viewer shows 22 slides; this reconstruction includes the 20 supplied slides. Figures and projections are reproduced as shown and have not been independently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Recreated from user-supplied photograph IMG_2371(1).jpeg, original presentation slide 13. Original: Hollinswood Shopping Center - Investor Presentation, Singh Capital Partners, May 2026. Repeated confidentiality footer removed at user request. Source viewer shows 22 slides; this reconstruction includes the 20 supplied slides. Figures and projections are reproduced as shown and have not been independently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Recreated from user-supplied photograph IMG_2372(1).jpeg, original presentation slide 14. Original: Hollinswood Shopping Center - Investor Presentation, Singh Capital Partners, May 2026. Repeated confidentiality footer removed at user request. Source viewer shows 22 slides; this reconstruction includes the 20 supplied slides. Figures and projections are reproduced as shown and have not been independently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Recreated from user-supplied photograph IMG_2373(1).jpeg, original presentation slide 15. Original: Hollinswood Shopping Center - Investor Presentation, Singh Capital Partners, May 2026. Repeated confidentiality footer removed at user request. Source viewer shows 22 slides; this reconstruction includes the 20 supplied slides. Figures and projections are reproduced as shown and have not been independently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Recreated from user-supplied photograph IMG_2374(1).jpeg, original presentation slide 16. Original: Hollinswood Shopping Center - Investor Presentation, Singh Capital Partners, May 2026. Repeated confidentiality footer removed at user request. Source viewer shows 22 slides; this reconstruction includes the 20 supplied slides. Figures and projections are reproduced as shown and have not been independently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Recreated from user-supplied photograph IMG_2375(1).jpeg, original presentation slide 17. Original: Hollinswood Shopping Center - Investor Presentation, Singh Capital Partners, May 2026. Repeated confidentiality footer removed at user request. Source viewer shows 22 slides; this reconstruction includes the 20 supplied slides. Figures and projections are reproduced as shown and have not been independently verified.</a:t>
            </a:r>
          </a:p>
          <a:p xmlns:a="http://schemas.openxmlformats.org/drawingml/2006/main">
            <a:br/>
            <a:r>
              <a:t>Source inconsistency preserved: comparable-sales slide shows $20.4M and $179/SF for Hollinswood; executive summary and financial model show $20.2M. No silent correction was made.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Recreated from user-supplied photograph IMG_2376(1).jpeg, original presentation slide 18. Original: Hollinswood Shopping Center - Investor Presentation, Singh Capital Partners, May 2026. Repeated confidentiality footer removed at user request. Source viewer shows 22 slides; this reconstruction includes the 20 supplied slides. Figures and projections are reproduced as shown and have not been independently verified.</a:t>
            </a:r>
          </a:p>
          <a:p xmlns:a="http://schemas.openxmlformats.org/drawingml/2006/main">
            <a:br/>
            <a:r>
              <a:t>Values transcribed from the photographed exhibit. Currency amounts are USD. 2026 covers June 30–December 31. Figures retain source rounding; this deck does not reconstruct spreadsheet formulas.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Recreated from user-supplied photograph IMG_2377(1).jpeg, original presentation slide 19. Original: Hollinswood Shopping Center - Investor Presentation, Singh Capital Partners, May 2026. Repeated confidentiality footer removed at user request. Source viewer shows 22 slides; this reconstruction includes the 20 supplied slides. Figures and projections are reproduced as shown and have not been independently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Recreated from user-supplied photograph IMG_2378(1).jpeg, original presentation slide 20. Original: Hollinswood Shopping Center - Investor Presentation, Singh Capital Partners, May 2026. Repeated confidentiality footer removed at user request. Source viewer shows 22 slides; this reconstruction includes the 20 supplied slides. Figures and projections are reproduced as shown and have not been independently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1a85f96d97c42e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8848c95fbbb4c1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77f2cc57ebb404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552b5001e9340c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3da3b8f42914b2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7c9fa07b3d7420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C5D7E0-04E4-459E-B573-CC8B715D19A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FB6E8CB-BBDE-4D5F-B8CD-9EC7BF31C4C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77D6F51-02C9-4FAC-BA95-9FEC4DEB9E2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B7F444E-210C-47D0-B8FB-E2996B47DBE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C8D6539-EDB9-4599-97DB-AD4FAFB1E55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156CB87-2ACD-4BDB-BD59-64606827709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B538BD5-CF75-4F9E-957D-2AD09EF5E4F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CB558A1-9B93-4454-B9A8-D1EFFDEFECD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5914111-E0DE-486B-8E9D-8F1C5152DE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ED09B1F-1934-4412-ACBA-8AAED7AF000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dbd2abd189a4de9" /><Relationship Type="http://schemas.openxmlformats.org/officeDocument/2006/relationships/slideLayout" Target="/ppt/slideLayouts/slideLayout1.xml" Id="R1a60fd523feb41cc" /><Relationship Type="http://schemas.openxmlformats.org/officeDocument/2006/relationships/slideLayout" Target="/ppt/slideLayouts/slideLayout2.xml" Id="R88c1c43dc08f4617" /><Relationship Type="http://schemas.openxmlformats.org/officeDocument/2006/relationships/slideLayout" Target="/ppt/slideLayouts/slideLayout3.xml" Id="Rf9cb672856034158" /><Relationship Type="http://schemas.openxmlformats.org/officeDocument/2006/relationships/slideLayout" Target="/ppt/slideLayouts/slideLayout4.xml" Id="Re0f6c157243f4a37" /><Relationship Type="http://schemas.openxmlformats.org/officeDocument/2006/relationships/slideLayout" Target="/ppt/slideLayouts/slideLayout5.xml" Id="R8dae52bb45294d07" /><Relationship Type="http://schemas.openxmlformats.org/officeDocument/2006/relationships/slideLayout" Target="/ppt/slideLayouts/slideLayout6.xml" Id="R17e7242926ee47c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a60fd523feb41cc"/>
    <p:sldLayoutId xmlns:r="http://schemas.openxmlformats.org/officeDocument/2006/relationships" id="2147483650" r:id="R88c1c43dc08f4617"/>
    <p:sldLayoutId xmlns:r="http://schemas.openxmlformats.org/officeDocument/2006/relationships" id="2147483651" r:id="Rf9cb672856034158"/>
    <p:sldLayoutId xmlns:r="http://schemas.openxmlformats.org/officeDocument/2006/relationships" id="2147483652" r:id="Re0f6c157243f4a37"/>
    <p:sldLayoutId xmlns:r="http://schemas.openxmlformats.org/officeDocument/2006/relationships" id="2147483653" r:id="R8dae52bb45294d07"/>
    <p:sldLayoutId xmlns:r="http://schemas.openxmlformats.org/officeDocument/2006/relationships" id="2147483654" r:id="R17e7242926ee47c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2652f256b444188" /><Relationship Type="http://schemas.openxmlformats.org/officeDocument/2006/relationships/image" Target="/ppt/media/image.png" Id="R7d42f3c0b46948af" /><Relationship Type="http://schemas.openxmlformats.org/officeDocument/2006/relationships/notesSlide" Target="/ppt/notesSlides/notesSlide1.xml" Id="R2c17fc29b829440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406d573fcdc4b43" /><Relationship Type="http://schemas.openxmlformats.org/officeDocument/2006/relationships/image" Target="/ppt/media/image2.png" Id="Ra59e6f9571f74fba" /><Relationship Type="http://schemas.openxmlformats.org/officeDocument/2006/relationships/notesSlide" Target="/ppt/notesSlides/notesSlide2.xml" Id="R62db0927537f465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a6bbfd8867546ed" /><Relationship Type="http://schemas.openxmlformats.org/officeDocument/2006/relationships/image" Target="/ppt/media/image3.png" Id="R4f61ba2b76f74fb8" /><Relationship Type="http://schemas.openxmlformats.org/officeDocument/2006/relationships/notesSlide" Target="/ppt/notesSlides/notesSlide3.xml" Id="R44030c2505ac49b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f83321fe85f413f" /><Relationship Type="http://schemas.openxmlformats.org/officeDocument/2006/relationships/image" Target="/ppt/media/image4.png" Id="R77fb357d2e514f5d" /><Relationship Type="http://schemas.openxmlformats.org/officeDocument/2006/relationships/image" Target="/ppt/media/image5.png" Id="R0b4bbb466f8f4769" /><Relationship Type="http://schemas.openxmlformats.org/officeDocument/2006/relationships/notesSlide" Target="/ppt/notesSlides/notesSlide4.xml" Id="R455b8e98d542439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19792fb5af34af4" /><Relationship Type="http://schemas.openxmlformats.org/officeDocument/2006/relationships/image" Target="/ppt/media/image6.png" Id="R51546f45a3c946db" /><Relationship Type="http://schemas.openxmlformats.org/officeDocument/2006/relationships/image" Target="/ppt/media/image7.png" Id="Rb8e9d4d534d04322" /><Relationship Type="http://schemas.openxmlformats.org/officeDocument/2006/relationships/notesSlide" Target="/ppt/notesSlides/notesSlide5.xml" Id="R7a46f20c45134ba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4b1462880a8450f" /><Relationship Type="http://schemas.openxmlformats.org/officeDocument/2006/relationships/image" Target="/ppt/media/image8.png" Id="R6043b76458c14aac" /><Relationship Type="http://schemas.openxmlformats.org/officeDocument/2006/relationships/notesSlide" Target="/ppt/notesSlides/notesSlide6.xml" Id="R6aa2efb27774424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d214ab7c8794d97" /><Relationship Type="http://schemas.openxmlformats.org/officeDocument/2006/relationships/image" Target="/ppt/media/image9.png" Id="R3114bf1879134c09" /><Relationship Type="http://schemas.openxmlformats.org/officeDocument/2006/relationships/image" Target="/ppt/media/image10.png" Id="R851081a453e54953" /><Relationship Type="http://schemas.openxmlformats.org/officeDocument/2006/relationships/notesSlide" Target="/ppt/notesSlides/notesSlide7.xml" Id="R6d58c4c03b3c462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70e0b77a3e44213" /><Relationship Type="http://schemas.openxmlformats.org/officeDocument/2006/relationships/image" Target="/ppt/media/image11.png" Id="R7bba3e7198eb46d9" /><Relationship Type="http://schemas.openxmlformats.org/officeDocument/2006/relationships/image" Target="/ppt/media/image12.png" Id="R0f972c071ff344ba" /><Relationship Type="http://schemas.openxmlformats.org/officeDocument/2006/relationships/notesSlide" Target="/ppt/notesSlides/notesSlide8.xml" Id="Rdc31b0ae89cd4dd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ddf40263ceb415d" /><Relationship Type="http://schemas.openxmlformats.org/officeDocument/2006/relationships/image" Target="/ppt/media/image13.png" Id="R4a699013022d4705" /><Relationship Type="http://schemas.openxmlformats.org/officeDocument/2006/relationships/image" Target="/ppt/media/image14.png" Id="Rd6ebefe6ef874750" /><Relationship Type="http://schemas.openxmlformats.org/officeDocument/2006/relationships/notesSlide" Target="/ppt/notesSlides/notesSlide9.xml" Id="R18201484d8ed485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6a3f5384d00498c" /><Relationship Type="http://schemas.openxmlformats.org/officeDocument/2006/relationships/image" Target="/ppt/media/image15.png" Id="Red6963fd229b4047" /><Relationship Type="http://schemas.openxmlformats.org/officeDocument/2006/relationships/notesSlide" Target="/ppt/notesSlides/notesSlide10.xml" Id="R8c7452d566be446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69e4f2f63544db2" /><Relationship Type="http://schemas.openxmlformats.org/officeDocument/2006/relationships/image" Target="/ppt/media/image16.png" Id="R0892017d4d94441d" /><Relationship Type="http://schemas.openxmlformats.org/officeDocument/2006/relationships/notesSlide" Target="/ppt/notesSlides/notesSlide11.xml" Id="R4ada7649388e47a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d5c2ce8e0844fcb" /><Relationship Type="http://schemas.openxmlformats.org/officeDocument/2006/relationships/image" Target="/ppt/media/image17.png" Id="Ra5ce2d68fa3340d6" /><Relationship Type="http://schemas.openxmlformats.org/officeDocument/2006/relationships/image" Target="/ppt/media/image18.png" Id="R82f5f11ed7144cd6" /><Relationship Type="http://schemas.openxmlformats.org/officeDocument/2006/relationships/notesSlide" Target="/ppt/notesSlides/notesSlide12.xml" Id="R19cb5a10ce3d476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c01812104244210" /><Relationship Type="http://schemas.openxmlformats.org/officeDocument/2006/relationships/image" Target="/ppt/media/image19.png" Id="Re3cc32ded6c6432e" /><Relationship Type="http://schemas.openxmlformats.org/officeDocument/2006/relationships/image" Target="/ppt/media/image20.png" Id="R33d1191c33a34dd4" /><Relationship Type="http://schemas.openxmlformats.org/officeDocument/2006/relationships/notesSlide" Target="/ppt/notesSlides/notesSlide13.xml" Id="R42807a915a00400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5c11f27f7ce473e" /><Relationship Type="http://schemas.openxmlformats.org/officeDocument/2006/relationships/image" Target="/ppt/media/image21.png" Id="R2a3d0ffc61ec4b5a" /><Relationship Type="http://schemas.openxmlformats.org/officeDocument/2006/relationships/notesSlide" Target="/ppt/notesSlides/notesSlide14.xml" Id="Rb98d2edf9f3843d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800a4ad420e41bd" /><Relationship Type="http://schemas.openxmlformats.org/officeDocument/2006/relationships/image" Target="/ppt/media/image22.png" Id="Rf2dd2dd25e2b4464" /><Relationship Type="http://schemas.openxmlformats.org/officeDocument/2006/relationships/notesSlide" Target="/ppt/notesSlides/notesSlide15.xml" Id="R79aa6649b22c405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dbd998b8dd149b5" /><Relationship Type="http://schemas.openxmlformats.org/officeDocument/2006/relationships/image" Target="/ppt/media/image23.png" Id="R003c0b489f294f11" /><Relationship Type="http://schemas.openxmlformats.org/officeDocument/2006/relationships/notesSlide" Target="/ppt/notesSlides/notesSlide16.xml" Id="R8dc78fe1c7c442a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0c781f1ce1545f9" /><Relationship Type="http://schemas.openxmlformats.org/officeDocument/2006/relationships/image" Target="/ppt/media/image24.png" Id="Rd6bddfd949e749fc" /><Relationship Type="http://schemas.openxmlformats.org/officeDocument/2006/relationships/notesSlide" Target="/ppt/notesSlides/notesSlide17.xml" Id="R783213f0ac09475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89c62eb33d94919" /><Relationship Type="http://schemas.openxmlformats.org/officeDocument/2006/relationships/image" Target="/ppt/media/image25.png" Id="R4a34394682ef470f" /><Relationship Type="http://schemas.openxmlformats.org/officeDocument/2006/relationships/notesSlide" Target="/ppt/notesSlides/notesSlide18.xml" Id="Rcd5ab3a2529e477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d0b0a615de643fe" /><Relationship Type="http://schemas.openxmlformats.org/officeDocument/2006/relationships/image" Target="/ppt/media/image26.png" Id="R369108930e334ac3" /><Relationship Type="http://schemas.openxmlformats.org/officeDocument/2006/relationships/notesSlide" Target="/ppt/notesSlides/notesSlide19.xml" Id="R619d38d8e5014a3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b5021cdbdc942f1" /><Relationship Type="http://schemas.openxmlformats.org/officeDocument/2006/relationships/image" Target="/ppt/media/image27.png" Id="R5a63b5d332224abe" /><Relationship Type="http://schemas.openxmlformats.org/officeDocument/2006/relationships/image" Target="/ppt/media/image28.png" Id="R340253e423624d3e" /><Relationship Type="http://schemas.openxmlformats.org/officeDocument/2006/relationships/image" Target="/ppt/media/image29.png" Id="R5c6eaeec1c604e1c" /><Relationship Type="http://schemas.openxmlformats.org/officeDocument/2006/relationships/image" Target="/ppt/media/image30.png" Id="R82e5eae924bb48a7" /><Relationship Type="http://schemas.openxmlformats.org/officeDocument/2006/relationships/notesSlide" Target="/ppt/notesSlides/notesSlide20.xml" Id="R66b388c1ff96412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6E2D388-16D2-4CED-9C2C-A9F5E3C61B1B}"/>
              </a:ext>
            </a:extLst>
          </p:cNvPr>
          <p:cNvSpPr>
            <a:spLocks xmlns:a="http://schemas.openxmlformats.org/drawingml/2006/main" noGrp="1"/>
          </p:cNvSpPr>
          <p:nvPr/>
        </p:nvSpPr>
        <p:spPr>
          <a:xfrm xmlns:a="http://schemas.openxmlformats.org/drawingml/2006/main">
            <a:off x="457200" y="276225"/>
            <a:ext cx="11277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343D42"/>
                </a:solidFill>
                <a:latin typeface="Arial"/>
                <a:ea typeface="Arial"/>
                <a:cs typeface="Arial"/>
              </a:defRPr>
            </a:defPPr>
          </a:lstStyle>
          <a:p xmlns:a="http://schemas.openxmlformats.org/drawingml/2006/main">
            <a:r>
              <a:t/>
            </a:r>
          </a:p>
        </p:txBody>
      </p:sp>
      <p:sp>
        <p:nvSpPr>
          <p:cNvPr id="2" name="">
            <a:extLst xmlns:a="http://schemas.openxmlformats.org/drawingml/2006/main">
              <a:ext uri="{FF2B5EF4-FFF2-40B4-BE49-F238E27FC236}">
                <a16:creationId xmlns:a16="http://schemas.microsoft.com/office/drawing/2014/main" id="{C7B4BDF3-3C2F-46E4-9F48-3FAE0E6F9E8C}"/>
              </a:ext>
            </a:extLst>
          </p:cNvPr>
          <p:cNvSpPr>
            <a:spLocks xmlns:a="http://schemas.openxmlformats.org/drawingml/2006/main" noGrp="1"/>
          </p:cNvSpPr>
          <p:nvPr/>
        </p:nvSpPr>
        <p:spPr>
          <a:xfrm xmlns:a="http://schemas.openxmlformats.org/drawingml/2006/main">
            <a:off x="457200" y="800100"/>
            <a:ext cx="11277600" cy="9525"/>
          </a:xfrm>
          <a:prstGeom xmlns:a="http://schemas.openxmlformats.org/drawingml/2006/main" prst="rect">
            <a:avLst/>
          </a:prstGeom>
          <a:solidFill xmlns:a="http://schemas.openxmlformats.org/drawingml/2006/main">
            <a:srgbClr val="B9B9B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C9E5FBD-4493-4E58-BB2A-EE17AB7DDF13}"/>
              </a:ext>
            </a:extLst>
          </p:cNvPr>
          <p:cNvSpPr>
            <a:spLocks xmlns:a="http://schemas.openxmlformats.org/drawingml/2006/main" noGrp="1"/>
          </p:cNvSpPr>
          <p:nvPr/>
        </p:nvSpPr>
        <p:spPr>
          <a:xfrm xmlns:a="http://schemas.openxmlformats.org/drawingml/2006/main">
            <a:off x="457200" y="6257925"/>
            <a:ext cx="11277600" cy="38100"/>
          </a:xfrm>
          <a:prstGeom xmlns:a="http://schemas.openxmlformats.org/drawingml/2006/main" prst="rect">
            <a:avLst/>
          </a:prstGeom>
          <a:solidFill xmlns:a="http://schemas.openxmlformats.org/drawingml/2006/main">
            <a:srgbClr val="343D4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E482440-1A10-4A92-920F-6199B47C65B5}"/>
              </a:ext>
            </a:extLst>
          </p:cNvPr>
          <p:cNvSpPr>
            <a:spLocks xmlns:a="http://schemas.openxmlformats.org/drawingml/2006/main" noGrp="1"/>
          </p:cNvSpPr>
          <p:nvPr/>
        </p:nvSpPr>
        <p:spPr>
          <a:xfrm xmlns:a="http://schemas.openxmlformats.org/drawingml/2006/main">
            <a:off x="457200" y="6238875"/>
            <a:ext cx="11277600" cy="19050"/>
          </a:xfrm>
          <a:prstGeom xmlns:a="http://schemas.openxmlformats.org/drawingml/2006/main" prst="rect">
            <a:avLst/>
          </a:prstGeom>
          <a:solidFill xmlns:a="http://schemas.openxmlformats.org/drawingml/2006/main">
            <a:srgbClr val="C2674B"/>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1B97939F-3310-449D-A30C-8A1896300532}"/>
              </a:ext>
            </a:extLst>
          </p:cNvPr>
          <p:cNvPicPr>
            <a:picLocks xmlns:a="http://schemas.openxmlformats.org/drawingml/2006/main" noChangeAspect="1"/>
          </p:cNvPicPr>
          <p:nvPr/>
        </p:nvPicPr>
        <p:blipFill>
          <a:blip xmlns:r="http://schemas.openxmlformats.org/officeDocument/2006/relationships" xmlns:a="http://schemas.openxmlformats.org/drawingml/2006/main" r:embed="R7d42f3c0b46948af"/>
          <a:stretch xmlns:a="http://schemas.openxmlformats.org/drawingml/2006/main"/>
        </p:blipFill>
        <p:spPr>
          <a:xfrm xmlns:a="http://schemas.openxmlformats.org/drawingml/2006/main">
            <a:off x="457200" y="6387465"/>
            <a:ext cx="1609725" cy="32194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24EBF2D-AA92-47C4-BE00-6DF282CEE60A}"/>
              </a:ext>
            </a:extLst>
          </p:cNvPr>
          <p:cNvSpPr>
            <a:spLocks xmlns:a="http://schemas.openxmlformats.org/drawingml/2006/main" noGrp="1"/>
          </p:cNvSpPr>
          <p:nvPr/>
        </p:nvSpPr>
        <p:spPr>
          <a:xfrm xmlns:a="http://schemas.openxmlformats.org/drawingml/2006/main">
            <a:off x="11382375" y="64579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747474"/>
                </a:solidFill>
                <a:latin typeface="Arial"/>
                <a:ea typeface="Arial"/>
                <a:cs typeface="Arial"/>
              </a:defRPr>
            </a:defPPr>
          </a:lstStyle>
          <a:p xmlns:a="http://schemas.openxmlformats.org/drawingml/2006/main">
            <a:pPr>
              <a:defRPr sz="900" b="0">
                <a:solidFill>
                  <a:srgbClr val="747474"/>
                </a:solidFill>
                <a:latin typeface="Arial"/>
                <a:ea typeface="Arial"/>
                <a:cs typeface="Arial"/>
              </a:defRPr>
            </a:pPr>
            <a:r>
              <a:rPr sz="900" b="0">
                <a:solidFill>
                  <a:srgbClr val="747474"/>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1A654339-99C2-4179-A84C-4BC4E0174C73}"/>
              </a:ext>
            </a:extLst>
          </p:cNvPr>
          <p:cNvSpPr>
            <a:spLocks xmlns:a="http://schemas.openxmlformats.org/drawingml/2006/main" noGrp="1"/>
          </p:cNvSpPr>
          <p:nvPr/>
        </p:nvSpPr>
        <p:spPr>
          <a:xfrm xmlns:a="http://schemas.openxmlformats.org/drawingml/2006/main">
            <a:off x="457200" y="2838450"/>
            <a:ext cx="1123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343D42"/>
                </a:solidFill>
                <a:latin typeface="Arial"/>
                <a:ea typeface="Arial"/>
                <a:cs typeface="Arial"/>
              </a:defRPr>
            </a:defPPr>
          </a:lstStyle>
          <a:p xmlns:a="http://schemas.openxmlformats.org/drawingml/2006/main">
            <a:pPr>
              <a:defRPr sz="2550" b="1">
                <a:solidFill>
                  <a:srgbClr val="343D42"/>
                </a:solidFill>
                <a:latin typeface="Arial"/>
                <a:ea typeface="Arial"/>
                <a:cs typeface="Arial"/>
              </a:defRPr>
            </a:pPr>
            <a:r>
              <a:rPr sz="2550" b="1">
                <a:solidFill>
                  <a:srgbClr val="343D42"/>
                </a:solidFill>
                <a:latin typeface="Arial"/>
                <a:ea typeface="Arial"/>
                <a:cs typeface="Arial"/>
              </a:rPr>
              <a:t>Hollinswood Shopping Center</a:t>
            </a:r>
          </a:p>
        </p:txBody>
      </p:sp>
      <p:sp>
        <p:nvSpPr>
          <p:cNvPr id="8" name="">
            <a:extLst xmlns:a="http://schemas.openxmlformats.org/drawingml/2006/main">
              <a:ext uri="{FF2B5EF4-FFF2-40B4-BE49-F238E27FC236}">
                <a16:creationId xmlns:a16="http://schemas.microsoft.com/office/drawing/2014/main" id="{8684183C-FBB2-446E-A01B-E424D9DBF00B}"/>
              </a:ext>
            </a:extLst>
          </p:cNvPr>
          <p:cNvSpPr>
            <a:spLocks xmlns:a="http://schemas.openxmlformats.org/drawingml/2006/main" noGrp="1"/>
          </p:cNvSpPr>
          <p:nvPr/>
        </p:nvSpPr>
        <p:spPr>
          <a:xfrm xmlns:a="http://schemas.openxmlformats.org/drawingml/2006/main">
            <a:off x="457200" y="3409950"/>
            <a:ext cx="11239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343D42"/>
                </a:solidFill>
                <a:latin typeface="Arial"/>
                <a:ea typeface="Arial"/>
                <a:cs typeface="Arial"/>
              </a:defRPr>
            </a:defPPr>
          </a:lstStyle>
          <a:p xmlns:a="http://schemas.openxmlformats.org/drawingml/2006/main">
            <a:pPr>
              <a:defRPr sz="2025" b="1">
                <a:solidFill>
                  <a:srgbClr val="343D42"/>
                </a:solidFill>
                <a:latin typeface="Arial"/>
                <a:ea typeface="Arial"/>
                <a:cs typeface="Arial"/>
              </a:defRPr>
            </a:pPr>
            <a:r>
              <a:rPr sz="2025" b="1">
                <a:solidFill>
                  <a:srgbClr val="343D42"/>
                </a:solidFill>
                <a:latin typeface="Arial"/>
                <a:ea typeface="Arial"/>
                <a:cs typeface="Arial"/>
              </a:rPr>
              <a:t>Investor Presentation</a:t>
            </a:r>
          </a:p>
        </p:txBody>
      </p:sp>
      <p:sp>
        <p:nvSpPr>
          <p:cNvPr id="9" name="">
            <a:extLst xmlns:a="http://schemas.openxmlformats.org/drawingml/2006/main">
              <a:ext uri="{FF2B5EF4-FFF2-40B4-BE49-F238E27FC236}">
                <a16:creationId xmlns:a16="http://schemas.microsoft.com/office/drawing/2014/main" id="{C302ABAC-23D7-4C7C-A239-DA2B7482F2B2}"/>
              </a:ext>
            </a:extLst>
          </p:cNvPr>
          <p:cNvSpPr>
            <a:spLocks xmlns:a="http://schemas.openxmlformats.org/drawingml/2006/main" noGrp="1"/>
          </p:cNvSpPr>
          <p:nvPr/>
        </p:nvSpPr>
        <p:spPr>
          <a:xfrm xmlns:a="http://schemas.openxmlformats.org/drawingml/2006/main">
            <a:off x="457200" y="3876675"/>
            <a:ext cx="11277600" cy="9525"/>
          </a:xfrm>
          <a:prstGeom xmlns:a="http://schemas.openxmlformats.org/drawingml/2006/main" prst="rect">
            <a:avLst/>
          </a:prstGeom>
          <a:solidFill xmlns:a="http://schemas.openxmlformats.org/drawingml/2006/main">
            <a:srgbClr val="B9B9B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30F0ADE-1A7F-4A2D-BB3B-CC56EFF4D7C8}"/>
              </a:ext>
            </a:extLst>
          </p:cNvPr>
          <p:cNvSpPr>
            <a:spLocks xmlns:a="http://schemas.openxmlformats.org/drawingml/2006/main" noGrp="1"/>
          </p:cNvSpPr>
          <p:nvPr/>
        </p:nvSpPr>
        <p:spPr>
          <a:xfrm xmlns:a="http://schemas.openxmlformats.org/drawingml/2006/main">
            <a:off x="457200" y="4010025"/>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C2674B"/>
                </a:solidFill>
                <a:latin typeface="Arial"/>
                <a:ea typeface="Arial"/>
                <a:cs typeface="Arial"/>
              </a:defRPr>
            </a:defPPr>
          </a:lstStyle>
          <a:p xmlns:a="http://schemas.openxmlformats.org/drawingml/2006/main">
            <a:pPr>
              <a:defRPr sz="1725" b="1">
                <a:solidFill>
                  <a:srgbClr val="C2674B"/>
                </a:solidFill>
                <a:latin typeface="Arial"/>
                <a:ea typeface="Arial"/>
                <a:cs typeface="Arial"/>
              </a:defRPr>
            </a:pPr>
            <a:r>
              <a:rPr sz="1725" b="1">
                <a:solidFill>
                  <a:srgbClr val="C2674B"/>
                </a:solidFill>
                <a:latin typeface="Arial"/>
                <a:ea typeface="Arial"/>
                <a:cs typeface="Arial"/>
              </a:rPr>
              <a:t>May 2026</a:t>
            </a:r>
          </a:p>
        </p:txBody>
      </p:sp>
      <p:sp>
        <p:nvSpPr>
          <p:cNvPr id="11" name="">
            <a:extLst xmlns:a="http://schemas.openxmlformats.org/drawingml/2006/main">
              <a:ext uri="{FF2B5EF4-FFF2-40B4-BE49-F238E27FC236}">
                <a16:creationId xmlns:a16="http://schemas.microsoft.com/office/drawing/2014/main" id="{5B7ECBEE-85E3-4089-B05C-8BC3535F7EC0}"/>
              </a:ext>
            </a:extLst>
          </p:cNvPr>
          <p:cNvSpPr>
            <a:spLocks xmlns:a="http://schemas.openxmlformats.org/drawingml/2006/main" noGrp="1"/>
          </p:cNvSpPr>
          <p:nvPr/>
        </p:nvSpPr>
        <p:spPr>
          <a:xfrm xmlns:a="http://schemas.openxmlformats.org/drawingml/2006/main">
            <a:off x="457200" y="352425"/>
            <a:ext cx="11277600" cy="38100"/>
          </a:xfrm>
          <a:prstGeom xmlns:a="http://schemas.openxmlformats.org/drawingml/2006/main" prst="rect">
            <a:avLst/>
          </a:prstGeom>
          <a:solidFill xmlns:a="http://schemas.openxmlformats.org/drawingml/2006/main">
            <a:srgbClr val="343D4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546338D-22CB-498B-963D-631F5BD68CE6}"/>
              </a:ext>
            </a:extLst>
          </p:cNvPr>
          <p:cNvSpPr>
            <a:spLocks xmlns:a="http://schemas.openxmlformats.org/drawingml/2006/main" noGrp="1"/>
          </p:cNvSpPr>
          <p:nvPr/>
        </p:nvSpPr>
        <p:spPr>
          <a:xfrm xmlns:a="http://schemas.openxmlformats.org/drawingml/2006/main">
            <a:off x="457200" y="390525"/>
            <a:ext cx="11277600" cy="19050"/>
          </a:xfrm>
          <a:prstGeom xmlns:a="http://schemas.openxmlformats.org/drawingml/2006/main" prst="rect">
            <a:avLst/>
          </a:prstGeom>
          <a:solidFill xmlns:a="http://schemas.openxmlformats.org/drawingml/2006/main">
            <a:srgbClr val="C2674B"/>
          </a:solidFill>
          <a:ln xmlns:a="http://schemas.openxmlformats.org/drawingml/2006/main" w="0">
            <a:noFill/>
          </a:ln>
        </p:spPr>
      </p:sp>
    </p:spTree>
    <p:extLst>
      <p:ext uri="{BB962C8B-B14F-4D97-AF65-F5344CB8AC3E}">
        <p14:creationId xmlns:p14="http://schemas.microsoft.com/office/powerpoint/2010/main" val="8147253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F9BFDAD-E4F1-4BDB-ADC7-5C93830FF30F}"/>
              </a:ext>
            </a:extLst>
          </p:cNvPr>
          <p:cNvSpPr>
            <a:spLocks xmlns:a="http://schemas.openxmlformats.org/drawingml/2006/main" noGrp="1"/>
          </p:cNvSpPr>
          <p:nvPr/>
        </p:nvSpPr>
        <p:spPr>
          <a:xfrm xmlns:a="http://schemas.openxmlformats.org/drawingml/2006/main">
            <a:off x="457200" y="276225"/>
            <a:ext cx="11277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343D42"/>
                </a:solidFill>
                <a:latin typeface="Arial"/>
                <a:ea typeface="Arial"/>
                <a:cs typeface="Arial"/>
              </a:defRPr>
            </a:defPPr>
          </a:lstStyle>
          <a:p xmlns:a="http://schemas.openxmlformats.org/drawingml/2006/main">
            <a:pPr>
              <a:defRPr sz="2100" b="1">
                <a:solidFill>
                  <a:srgbClr val="343D42"/>
                </a:solidFill>
                <a:latin typeface="Arial"/>
                <a:ea typeface="Arial"/>
                <a:cs typeface="Arial"/>
              </a:defRPr>
            </a:pPr>
            <a:r>
              <a:rPr sz="2100" b="1">
                <a:solidFill>
                  <a:srgbClr val="343D42"/>
                </a:solidFill>
                <a:latin typeface="Arial"/>
                <a:ea typeface="Arial"/>
                <a:cs typeface="Arial"/>
              </a:rPr>
              <a:t>Confidentiality</a:t>
            </a:r>
          </a:p>
        </p:txBody>
      </p:sp>
      <p:sp>
        <p:nvSpPr>
          <p:cNvPr id="2" name="">
            <a:extLst xmlns:a="http://schemas.openxmlformats.org/drawingml/2006/main">
              <a:ext uri="{FF2B5EF4-FFF2-40B4-BE49-F238E27FC236}">
                <a16:creationId xmlns:a16="http://schemas.microsoft.com/office/drawing/2014/main" id="{FF5EF68D-8ED5-459F-B0C5-F174FAA56B42}"/>
              </a:ext>
            </a:extLst>
          </p:cNvPr>
          <p:cNvSpPr>
            <a:spLocks xmlns:a="http://schemas.openxmlformats.org/drawingml/2006/main" noGrp="1"/>
          </p:cNvSpPr>
          <p:nvPr/>
        </p:nvSpPr>
        <p:spPr>
          <a:xfrm xmlns:a="http://schemas.openxmlformats.org/drawingml/2006/main">
            <a:off x="457200" y="800100"/>
            <a:ext cx="11277600" cy="9525"/>
          </a:xfrm>
          <a:prstGeom xmlns:a="http://schemas.openxmlformats.org/drawingml/2006/main" prst="rect">
            <a:avLst/>
          </a:prstGeom>
          <a:solidFill xmlns:a="http://schemas.openxmlformats.org/drawingml/2006/main">
            <a:srgbClr val="B9B9B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76EA44E-D977-428D-9303-14FB08BB0C04}"/>
              </a:ext>
            </a:extLst>
          </p:cNvPr>
          <p:cNvSpPr>
            <a:spLocks xmlns:a="http://schemas.openxmlformats.org/drawingml/2006/main" noGrp="1"/>
          </p:cNvSpPr>
          <p:nvPr/>
        </p:nvSpPr>
        <p:spPr>
          <a:xfrm xmlns:a="http://schemas.openxmlformats.org/drawingml/2006/main">
            <a:off x="457200" y="6257925"/>
            <a:ext cx="11277600" cy="38100"/>
          </a:xfrm>
          <a:prstGeom xmlns:a="http://schemas.openxmlformats.org/drawingml/2006/main" prst="rect">
            <a:avLst/>
          </a:prstGeom>
          <a:solidFill xmlns:a="http://schemas.openxmlformats.org/drawingml/2006/main">
            <a:srgbClr val="343D4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6DCBCC3-B477-4D94-941E-8D3BAD62109E}"/>
              </a:ext>
            </a:extLst>
          </p:cNvPr>
          <p:cNvSpPr>
            <a:spLocks xmlns:a="http://schemas.openxmlformats.org/drawingml/2006/main" noGrp="1"/>
          </p:cNvSpPr>
          <p:nvPr/>
        </p:nvSpPr>
        <p:spPr>
          <a:xfrm xmlns:a="http://schemas.openxmlformats.org/drawingml/2006/main">
            <a:off x="457200" y="6238875"/>
            <a:ext cx="11277600" cy="19050"/>
          </a:xfrm>
          <a:prstGeom xmlns:a="http://schemas.openxmlformats.org/drawingml/2006/main" prst="rect">
            <a:avLst/>
          </a:prstGeom>
          <a:solidFill xmlns:a="http://schemas.openxmlformats.org/drawingml/2006/main">
            <a:srgbClr val="C2674B"/>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C287F0FA-3FE3-40E8-B18D-41D23FCDB1DB}"/>
              </a:ext>
            </a:extLst>
          </p:cNvPr>
          <p:cNvPicPr>
            <a:picLocks xmlns:a="http://schemas.openxmlformats.org/drawingml/2006/main" noChangeAspect="1"/>
          </p:cNvPicPr>
          <p:nvPr/>
        </p:nvPicPr>
        <p:blipFill>
          <a:blip xmlns:r="http://schemas.openxmlformats.org/officeDocument/2006/relationships" xmlns:a="http://schemas.openxmlformats.org/drawingml/2006/main" r:embed="Ra59e6f9571f74fba"/>
          <a:stretch xmlns:a="http://schemas.openxmlformats.org/drawingml/2006/main"/>
        </p:blipFill>
        <p:spPr>
          <a:xfrm xmlns:a="http://schemas.openxmlformats.org/drawingml/2006/main">
            <a:off x="457200" y="6387465"/>
            <a:ext cx="1609725" cy="32194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4021472-06C9-4D06-9C05-13D4AA887B11}"/>
              </a:ext>
            </a:extLst>
          </p:cNvPr>
          <p:cNvSpPr>
            <a:spLocks xmlns:a="http://schemas.openxmlformats.org/drawingml/2006/main" noGrp="1"/>
          </p:cNvSpPr>
          <p:nvPr/>
        </p:nvSpPr>
        <p:spPr>
          <a:xfrm xmlns:a="http://schemas.openxmlformats.org/drawingml/2006/main">
            <a:off x="11382375" y="64579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747474"/>
                </a:solidFill>
                <a:latin typeface="Arial"/>
                <a:ea typeface="Arial"/>
                <a:cs typeface="Arial"/>
              </a:defRPr>
            </a:defPPr>
          </a:lstStyle>
          <a:p xmlns:a="http://schemas.openxmlformats.org/drawingml/2006/main">
            <a:pPr>
              <a:defRPr sz="900" b="0">
                <a:solidFill>
                  <a:srgbClr val="747474"/>
                </a:solidFill>
                <a:latin typeface="Arial"/>
                <a:ea typeface="Arial"/>
                <a:cs typeface="Arial"/>
              </a:defRPr>
            </a:pPr>
            <a:r>
              <a:rPr sz="900" b="0">
                <a:solidFill>
                  <a:srgbClr val="747474"/>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AF828113-EA84-4E07-A2E3-657509A7925C}"/>
              </a:ext>
            </a:extLst>
          </p:cNvPr>
          <p:cNvSpPr>
            <a:spLocks xmlns:a="http://schemas.openxmlformats.org/drawingml/2006/main" noGrp="1"/>
          </p:cNvSpPr>
          <p:nvPr/>
        </p:nvSpPr>
        <p:spPr>
          <a:xfrm xmlns:a="http://schemas.openxmlformats.org/drawingml/2006/main">
            <a:off x="457200" y="1019175"/>
            <a:ext cx="11277600" cy="493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43D42"/>
                </a:solidFill>
                <a:latin typeface="Arial"/>
                <a:ea typeface="Arial"/>
                <a:cs typeface="Arial"/>
              </a:defRPr>
            </a:defPPr>
          </a:lstStyle>
          <a:p xmlns:a="http://schemas.openxmlformats.org/drawingml/2006/main">
            <a:pPr>
              <a:defRPr sz="1200" b="0">
                <a:solidFill>
                  <a:srgbClr val="343D42"/>
                </a:solidFill>
                <a:latin typeface="Arial"/>
                <a:ea typeface="Arial"/>
                <a:cs typeface="Arial"/>
              </a:defRPr>
            </a:pPr>
            <a:r>
              <a:rPr sz="1200" b="0">
                <a:solidFill>
                  <a:srgbClr val="343D42"/>
                </a:solidFill>
                <a:latin typeface="Arial"/>
                <a:ea typeface="Arial"/>
                <a:cs typeface="Arial"/>
              </a:rPr>
              <a:t>This presentation has been prepared by SCP Real Estate for the exclusive use of the party to which SCP delivers this presentation (together with its subsidiaries</a:t>
            </a:r>
          </a:p>
          <a:p xmlns:a="http://schemas.openxmlformats.org/drawingml/2006/main">
            <a:pPr>
              <a:defRPr sz="1200" b="0">
                <a:solidFill>
                  <a:srgbClr val="343D42"/>
                </a:solidFill>
                <a:latin typeface="Arial"/>
                <a:ea typeface="Arial"/>
                <a:cs typeface="Arial"/>
              </a:defRPr>
            </a:pPr>
            <a:r>
              <a:rPr sz="1200" b="0">
                <a:solidFill>
                  <a:srgbClr val="343D42"/>
                </a:solidFill>
                <a:latin typeface="Arial"/>
                <a:ea typeface="Arial"/>
                <a:cs typeface="Arial"/>
              </a:rPr>
              <a:t>and affiliates, the “Recipient’). SCP does not make any representation or warranty, either express or implied, as to the accuracy, completeness or reliability of the</a:t>
            </a:r>
          </a:p>
          <a:p xmlns:a="http://schemas.openxmlformats.org/drawingml/2006/main">
            <a:pPr>
              <a:defRPr sz="1200" b="0">
                <a:solidFill>
                  <a:srgbClr val="343D42"/>
                </a:solidFill>
                <a:latin typeface="Arial"/>
                <a:ea typeface="Arial"/>
                <a:cs typeface="Arial"/>
              </a:defRPr>
            </a:pPr>
            <a:r>
              <a:rPr sz="1200" b="0">
                <a:solidFill>
                  <a:srgbClr val="343D42"/>
                </a:solidFill>
                <a:latin typeface="Arial"/>
                <a:ea typeface="Arial"/>
                <a:cs typeface="Arial"/>
              </a:rPr>
              <a:t>information contained in this presentation. Any estimates or projections as to events that may occur in the future are based upon the best judgment of SCP as of</a:t>
            </a:r>
          </a:p>
          <a:p xmlns:a="http://schemas.openxmlformats.org/drawingml/2006/main">
            <a:pPr>
              <a:defRPr sz="1200" b="0">
                <a:solidFill>
                  <a:srgbClr val="343D42"/>
                </a:solidFill>
                <a:latin typeface="Arial"/>
                <a:ea typeface="Arial"/>
                <a:cs typeface="Arial"/>
              </a:defRPr>
            </a:pPr>
            <a:r>
              <a:rPr sz="1200" b="0">
                <a:solidFill>
                  <a:srgbClr val="343D42"/>
                </a:solidFill>
                <a:latin typeface="Arial"/>
                <a:ea typeface="Arial"/>
                <a:cs typeface="Arial"/>
              </a:rPr>
              <a:t>the date of this presentation. There is no guarantee that any of these estimates or projections will be achieved. Actual results will vary from the projections and</a:t>
            </a:r>
          </a:p>
          <a:p xmlns:a="http://schemas.openxmlformats.org/drawingml/2006/main">
            <a:pPr>
              <a:defRPr sz="1200" b="0">
                <a:solidFill>
                  <a:srgbClr val="343D42"/>
                </a:solidFill>
                <a:latin typeface="Arial"/>
                <a:ea typeface="Arial"/>
                <a:cs typeface="Arial"/>
              </a:defRPr>
            </a:pPr>
            <a:r>
              <a:rPr sz="1200" b="0">
                <a:solidFill>
                  <a:srgbClr val="343D42"/>
                </a:solidFill>
                <a:latin typeface="Arial"/>
                <a:ea typeface="Arial"/>
                <a:cs typeface="Arial"/>
              </a:rPr>
              <a:t>such variations may be material. Nothing contained herein is, or shall be relied upon as, a promise or representation as to the past or future. SCP expressly</a:t>
            </a:r>
          </a:p>
          <a:p xmlns:a="http://schemas.openxmlformats.org/drawingml/2006/main">
            <a:pPr>
              <a:defRPr sz="1200" b="0">
                <a:solidFill>
                  <a:srgbClr val="343D42"/>
                </a:solidFill>
                <a:latin typeface="Arial"/>
                <a:ea typeface="Arial"/>
                <a:cs typeface="Arial"/>
              </a:defRPr>
            </a:pPr>
            <a:r>
              <a:rPr sz="1200" b="0">
                <a:solidFill>
                  <a:srgbClr val="343D42"/>
                </a:solidFill>
                <a:latin typeface="Arial"/>
                <a:ea typeface="Arial"/>
                <a:cs typeface="Arial"/>
              </a:rPr>
              <a:t>disclaims any and all liability relating or resulting from the use of this presentation.</a:t>
            </a:r>
          </a:p>
          <a:p xmlns:a="http://schemas.openxmlformats.org/drawingml/2006/main">
            <a:r>
              <a:t/>
            </a:r>
          </a:p>
          <a:p xmlns:a="http://schemas.openxmlformats.org/drawingml/2006/main">
            <a:pPr>
              <a:defRPr sz="1200" b="0">
                <a:solidFill>
                  <a:srgbClr val="343D42"/>
                </a:solidFill>
                <a:latin typeface="Arial"/>
                <a:ea typeface="Arial"/>
                <a:cs typeface="Arial"/>
              </a:defRPr>
            </a:pPr>
            <a:r>
              <a:rPr sz="1200" b="0">
                <a:solidFill>
                  <a:srgbClr val="343D42"/>
                </a:solidFill>
                <a:latin typeface="Arial"/>
                <a:ea typeface="Arial"/>
                <a:cs typeface="Arial"/>
              </a:rPr>
              <a:t>This presentation has been prepared solely for informational purposes and is not to be construed as a solicitation or an offer to buy or sell any securities or related</a:t>
            </a:r>
          </a:p>
          <a:p xmlns:a="http://schemas.openxmlformats.org/drawingml/2006/main">
            <a:pPr>
              <a:defRPr sz="1200" b="0">
                <a:solidFill>
                  <a:srgbClr val="343D42"/>
                </a:solidFill>
                <a:latin typeface="Arial"/>
                <a:ea typeface="Arial"/>
                <a:cs typeface="Arial"/>
              </a:defRPr>
            </a:pPr>
            <a:r>
              <a:rPr sz="1200" b="0">
                <a:solidFill>
                  <a:srgbClr val="343D42"/>
                </a:solidFill>
                <a:latin typeface="Arial"/>
                <a:ea typeface="Arial"/>
                <a:cs typeface="Arial"/>
              </a:rPr>
              <a:t>financial instruments. The recipient should not construe the contents of this presentation as legal, tax, accounting or investment advice or a recommendation. The</a:t>
            </a:r>
          </a:p>
          <a:p xmlns:a="http://schemas.openxmlformats.org/drawingml/2006/main">
            <a:pPr>
              <a:defRPr sz="1200" b="0">
                <a:solidFill>
                  <a:srgbClr val="343D42"/>
                </a:solidFill>
                <a:latin typeface="Arial"/>
                <a:ea typeface="Arial"/>
                <a:cs typeface="Arial"/>
              </a:defRPr>
            </a:pPr>
            <a:r>
              <a:rPr sz="1200" b="0">
                <a:solidFill>
                  <a:srgbClr val="343D42"/>
                </a:solidFill>
                <a:latin typeface="Arial"/>
                <a:ea typeface="Arial"/>
                <a:cs typeface="Arial"/>
              </a:rPr>
              <a:t>recipient should consult its own counsel, tax and financial advisors as to legal and related matters concerning any transaction described herein. This presentation</a:t>
            </a:r>
          </a:p>
          <a:p xmlns:a="http://schemas.openxmlformats.org/drawingml/2006/main">
            <a:pPr>
              <a:defRPr sz="1200" b="0">
                <a:solidFill>
                  <a:srgbClr val="343D42"/>
                </a:solidFill>
                <a:latin typeface="Arial"/>
                <a:ea typeface="Arial"/>
                <a:cs typeface="Arial"/>
              </a:defRPr>
            </a:pPr>
            <a:r>
              <a:rPr sz="1200" b="0">
                <a:solidFill>
                  <a:srgbClr val="343D42"/>
                </a:solidFill>
                <a:latin typeface="Arial"/>
                <a:ea typeface="Arial"/>
                <a:cs typeface="Arial"/>
              </a:rPr>
              <a:t>does not purport to be all-inclusive or to contain all of the information, that the recipient may require. No investment or other financial decisions or actions should</a:t>
            </a:r>
          </a:p>
          <a:p xmlns:a="http://schemas.openxmlformats.org/drawingml/2006/main">
            <a:pPr>
              <a:defRPr sz="1200" b="0">
                <a:solidFill>
                  <a:srgbClr val="343D42"/>
                </a:solidFill>
                <a:latin typeface="Arial"/>
                <a:ea typeface="Arial"/>
                <a:cs typeface="Arial"/>
              </a:defRPr>
            </a:pPr>
            <a:r>
              <a:rPr sz="1200" b="0">
                <a:solidFill>
                  <a:srgbClr val="343D42"/>
                </a:solidFill>
                <a:latin typeface="Arial"/>
                <a:ea typeface="Arial"/>
                <a:cs typeface="Arial"/>
              </a:rPr>
              <a:t>be based solely on the information in this presentation.</a:t>
            </a:r>
          </a:p>
          <a:p xmlns:a="http://schemas.openxmlformats.org/drawingml/2006/main">
            <a:r>
              <a:t/>
            </a:r>
          </a:p>
          <a:p xmlns:a="http://schemas.openxmlformats.org/drawingml/2006/main">
            <a:pPr>
              <a:defRPr sz="1200" b="0">
                <a:solidFill>
                  <a:srgbClr val="343D42"/>
                </a:solidFill>
                <a:latin typeface="Arial"/>
                <a:ea typeface="Arial"/>
                <a:cs typeface="Arial"/>
              </a:defRPr>
            </a:pPr>
            <a:r>
              <a:rPr sz="1200" b="0">
                <a:solidFill>
                  <a:srgbClr val="343D42"/>
                </a:solidFill>
                <a:latin typeface="Arial"/>
                <a:ea typeface="Arial"/>
                <a:cs typeface="Arial"/>
              </a:rPr>
              <a:t>This presentation has been prepared on a confidential basis solely for the use and benefit of the recipient; provided that the recipient and any of its employees,</a:t>
            </a:r>
          </a:p>
          <a:p xmlns:a="http://schemas.openxmlformats.org/drawingml/2006/main">
            <a:pPr>
              <a:defRPr sz="1200" b="0">
                <a:solidFill>
                  <a:srgbClr val="343D42"/>
                </a:solidFill>
                <a:latin typeface="Arial"/>
                <a:ea typeface="Arial"/>
                <a:cs typeface="Arial"/>
              </a:defRPr>
            </a:pPr>
            <a:r>
              <a:rPr sz="1200" b="0">
                <a:solidFill>
                  <a:srgbClr val="343D42"/>
                </a:solidFill>
                <a:latin typeface="Arial"/>
                <a:ea typeface="Arial"/>
                <a:cs typeface="Arial"/>
              </a:rPr>
              <a:t>representatives, or other agents may disclose to any and all persons, without limitation of any kind, the tax treatment and tax structure of the transaction and all</a:t>
            </a:r>
          </a:p>
          <a:p xmlns:a="http://schemas.openxmlformats.org/drawingml/2006/main">
            <a:pPr>
              <a:defRPr sz="1200" b="0">
                <a:solidFill>
                  <a:srgbClr val="343D42"/>
                </a:solidFill>
                <a:latin typeface="Arial"/>
                <a:ea typeface="Arial"/>
                <a:cs typeface="Arial"/>
              </a:defRPr>
            </a:pPr>
            <a:r>
              <a:rPr sz="1200" b="0">
                <a:solidFill>
                  <a:srgbClr val="343D42"/>
                </a:solidFill>
                <a:latin typeface="Arial"/>
                <a:ea typeface="Arial"/>
                <a:cs typeface="Arial"/>
              </a:rPr>
              <a:t>materials of any kind (including opinions or other tax analyses) that are provided to the recipient relating to such tax treatment and tax structure. Distribution of</a:t>
            </a:r>
          </a:p>
          <a:p xmlns:a="http://schemas.openxmlformats.org/drawingml/2006/main">
            <a:pPr>
              <a:defRPr sz="1200" b="0">
                <a:solidFill>
                  <a:srgbClr val="343D42"/>
                </a:solidFill>
                <a:latin typeface="Arial"/>
                <a:ea typeface="Arial"/>
                <a:cs typeface="Arial"/>
              </a:defRPr>
            </a:pPr>
            <a:r>
              <a:rPr sz="1200" b="0">
                <a:solidFill>
                  <a:srgbClr val="343D42"/>
                </a:solidFill>
                <a:latin typeface="Arial"/>
                <a:ea typeface="Arial"/>
                <a:cs typeface="Arial"/>
              </a:rPr>
              <a:t>this presentation to any person other than the recipient and those persons retained to advise the recipient, who agree to maintain the confidentiality of this</a:t>
            </a:r>
          </a:p>
          <a:p xmlns:a="http://schemas.openxmlformats.org/drawingml/2006/main">
            <a:pPr>
              <a:defRPr sz="1200" b="0">
                <a:solidFill>
                  <a:srgbClr val="343D42"/>
                </a:solidFill>
                <a:latin typeface="Arial"/>
                <a:ea typeface="Arial"/>
                <a:cs typeface="Arial"/>
              </a:defRPr>
            </a:pPr>
            <a:r>
              <a:rPr sz="1200" b="0">
                <a:solidFill>
                  <a:srgbClr val="343D42"/>
                </a:solidFill>
                <a:latin typeface="Arial"/>
                <a:ea typeface="Arial"/>
                <a:cs typeface="Arial"/>
              </a:rPr>
              <a:t>material and be bound by the limitations outlined herein, is unauthorized. This material must not be copied, reproduced, distributed or passed to others at any</a:t>
            </a:r>
          </a:p>
          <a:p xmlns:a="http://schemas.openxmlformats.org/drawingml/2006/main">
            <a:r>
              <a:t/>
            </a:r>
          </a:p>
          <a:p xmlns:a="http://schemas.openxmlformats.org/drawingml/2006/main">
            <a:pPr>
              <a:defRPr sz="1200" b="0">
                <a:solidFill>
                  <a:srgbClr val="343D42"/>
                </a:solidFill>
                <a:latin typeface="Arial"/>
                <a:ea typeface="Arial"/>
                <a:cs typeface="Arial"/>
              </a:defRPr>
            </a:pPr>
            <a:r>
              <a:rPr sz="1200" b="0">
                <a:solidFill>
                  <a:srgbClr val="343D42"/>
                </a:solidFill>
                <a:latin typeface="Arial"/>
                <a:ea typeface="Arial"/>
                <a:cs typeface="Arial"/>
              </a:rPr>
              <a:t>time without the prior written consent of SCP.</a:t>
            </a:r>
          </a:p>
          <a:p xmlns:a="http://schemas.openxmlformats.org/drawingml/2006/main">
            <a:r>
              <a:t/>
            </a:r>
          </a:p>
        </p:txBody>
      </p:sp>
    </p:spTree>
    <p:extLst>
      <p:ext uri="{BB962C8B-B14F-4D97-AF65-F5344CB8AC3E}">
        <p14:creationId xmlns:p14="http://schemas.microsoft.com/office/powerpoint/2010/main" val="174000669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514C98A-2152-4B8F-ADBE-5A357AE87D5B}"/>
              </a:ext>
            </a:extLst>
          </p:cNvPr>
          <p:cNvSpPr>
            <a:spLocks xmlns:a="http://schemas.openxmlformats.org/drawingml/2006/main" noGrp="1"/>
          </p:cNvSpPr>
          <p:nvPr/>
        </p:nvSpPr>
        <p:spPr>
          <a:xfrm xmlns:a="http://schemas.openxmlformats.org/drawingml/2006/main">
            <a:off x="457200" y="276225"/>
            <a:ext cx="11277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343D42"/>
                </a:solidFill>
                <a:latin typeface="Arial"/>
                <a:ea typeface="Arial"/>
                <a:cs typeface="Arial"/>
              </a:defRPr>
            </a:defPPr>
          </a:lstStyle>
          <a:p xmlns:a="http://schemas.openxmlformats.org/drawingml/2006/main">
            <a:pPr>
              <a:defRPr sz="2100" b="1">
                <a:solidFill>
                  <a:srgbClr val="343D42"/>
                </a:solidFill>
                <a:latin typeface="Arial"/>
                <a:ea typeface="Arial"/>
                <a:cs typeface="Arial"/>
              </a:defRPr>
            </a:pPr>
            <a:r>
              <a:rPr sz="2100" b="1">
                <a:solidFill>
                  <a:srgbClr val="343D42"/>
                </a:solidFill>
                <a:latin typeface="Arial"/>
                <a:ea typeface="Arial"/>
                <a:cs typeface="Arial"/>
              </a:rPr>
              <a:t>Table of Contents</a:t>
            </a:r>
          </a:p>
        </p:txBody>
      </p:sp>
      <p:sp>
        <p:nvSpPr>
          <p:cNvPr id="2" name="">
            <a:extLst xmlns:a="http://schemas.openxmlformats.org/drawingml/2006/main">
              <a:ext uri="{FF2B5EF4-FFF2-40B4-BE49-F238E27FC236}">
                <a16:creationId xmlns:a16="http://schemas.microsoft.com/office/drawing/2014/main" id="{99B44917-8A8D-4EE3-8B89-7E0B5B83815F}"/>
              </a:ext>
            </a:extLst>
          </p:cNvPr>
          <p:cNvSpPr>
            <a:spLocks xmlns:a="http://schemas.openxmlformats.org/drawingml/2006/main" noGrp="1"/>
          </p:cNvSpPr>
          <p:nvPr/>
        </p:nvSpPr>
        <p:spPr>
          <a:xfrm xmlns:a="http://schemas.openxmlformats.org/drawingml/2006/main">
            <a:off x="457200" y="800100"/>
            <a:ext cx="11277600" cy="9525"/>
          </a:xfrm>
          <a:prstGeom xmlns:a="http://schemas.openxmlformats.org/drawingml/2006/main" prst="rect">
            <a:avLst/>
          </a:prstGeom>
          <a:solidFill xmlns:a="http://schemas.openxmlformats.org/drawingml/2006/main">
            <a:srgbClr val="B9B9B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93B77EA-5C53-4AAC-87A5-A4FE65F68B5C}"/>
              </a:ext>
            </a:extLst>
          </p:cNvPr>
          <p:cNvSpPr>
            <a:spLocks xmlns:a="http://schemas.openxmlformats.org/drawingml/2006/main" noGrp="1"/>
          </p:cNvSpPr>
          <p:nvPr/>
        </p:nvSpPr>
        <p:spPr>
          <a:xfrm xmlns:a="http://schemas.openxmlformats.org/drawingml/2006/main">
            <a:off x="457200" y="6257925"/>
            <a:ext cx="11277600" cy="38100"/>
          </a:xfrm>
          <a:prstGeom xmlns:a="http://schemas.openxmlformats.org/drawingml/2006/main" prst="rect">
            <a:avLst/>
          </a:prstGeom>
          <a:solidFill xmlns:a="http://schemas.openxmlformats.org/drawingml/2006/main">
            <a:srgbClr val="343D4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E1BFA8F-979C-4E64-B633-C0FC97D057AF}"/>
              </a:ext>
            </a:extLst>
          </p:cNvPr>
          <p:cNvSpPr>
            <a:spLocks xmlns:a="http://schemas.openxmlformats.org/drawingml/2006/main" noGrp="1"/>
          </p:cNvSpPr>
          <p:nvPr/>
        </p:nvSpPr>
        <p:spPr>
          <a:xfrm xmlns:a="http://schemas.openxmlformats.org/drawingml/2006/main">
            <a:off x="457200" y="6238875"/>
            <a:ext cx="11277600" cy="19050"/>
          </a:xfrm>
          <a:prstGeom xmlns:a="http://schemas.openxmlformats.org/drawingml/2006/main" prst="rect">
            <a:avLst/>
          </a:prstGeom>
          <a:solidFill xmlns:a="http://schemas.openxmlformats.org/drawingml/2006/main">
            <a:srgbClr val="C2674B"/>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9DD244C5-D40A-45DF-A72F-B9F562A65871}"/>
              </a:ext>
            </a:extLst>
          </p:cNvPr>
          <p:cNvPicPr>
            <a:picLocks xmlns:a="http://schemas.openxmlformats.org/drawingml/2006/main" noChangeAspect="1"/>
          </p:cNvPicPr>
          <p:nvPr/>
        </p:nvPicPr>
        <p:blipFill>
          <a:blip xmlns:r="http://schemas.openxmlformats.org/officeDocument/2006/relationships" xmlns:a="http://schemas.openxmlformats.org/drawingml/2006/main" r:embed="R4f61ba2b76f74fb8"/>
          <a:stretch xmlns:a="http://schemas.openxmlformats.org/drawingml/2006/main"/>
        </p:blipFill>
        <p:spPr>
          <a:xfrm xmlns:a="http://schemas.openxmlformats.org/drawingml/2006/main">
            <a:off x="457200" y="6387465"/>
            <a:ext cx="1609725" cy="32194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A614638-A18D-4B6F-A099-21130763733C}"/>
              </a:ext>
            </a:extLst>
          </p:cNvPr>
          <p:cNvSpPr>
            <a:spLocks xmlns:a="http://schemas.openxmlformats.org/drawingml/2006/main" noGrp="1"/>
          </p:cNvSpPr>
          <p:nvPr/>
        </p:nvSpPr>
        <p:spPr>
          <a:xfrm xmlns:a="http://schemas.openxmlformats.org/drawingml/2006/main">
            <a:off x="11382375" y="64579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747474"/>
                </a:solidFill>
                <a:latin typeface="Arial"/>
                <a:ea typeface="Arial"/>
                <a:cs typeface="Arial"/>
              </a:defRPr>
            </a:defPPr>
          </a:lstStyle>
          <a:p xmlns:a="http://schemas.openxmlformats.org/drawingml/2006/main">
            <a:pPr>
              <a:defRPr sz="900" b="0">
                <a:solidFill>
                  <a:srgbClr val="747474"/>
                </a:solidFill>
                <a:latin typeface="Arial"/>
                <a:ea typeface="Arial"/>
                <a:cs typeface="Arial"/>
              </a:defRPr>
            </a:pPr>
            <a:r>
              <a:rPr sz="900" b="0">
                <a:solidFill>
                  <a:srgbClr val="747474"/>
                </a:solidFill>
                <a:latin typeface="Arial"/>
                <a:ea typeface="Arial"/>
                <a:cs typeface="Arial"/>
              </a:rPr>
              <a:t>3</a:t>
            </a:r>
          </a:p>
        </p:txBody>
      </p:sp>
      <p:graphicFrame>
        <p:nvGraphicFramePr>
          <p:cNvPr id="7" name="">
            <a:extLst xmlns:a="http://schemas.openxmlformats.org/drawingml/2006/main">
              <a:ext uri="{FF2B5EF4-FFF2-40B4-BE49-F238E27FC236}">
                <a16:creationId xmlns:a16="http://schemas.microsoft.com/office/drawing/2014/main" id="{F2DEFFB9-E089-46B2-A91D-B3402AB85254}"/>
              </a:ext>
            </a:extLst>
          </p:cNvPr>
          <p:cNvGraphicFramePr/>
          <p:nvPr/>
        </p:nvGraphicFramePr>
        <p:xfrm>
          <a:off xmlns:a="http://schemas.openxmlformats.org/drawingml/2006/main" x="457200" y="1057275"/>
          <a:ext xmlns:a="http://schemas.openxmlformats.org/drawingml/2006/main" cx="11277600" cy="4876800"/>
        </p:xfrm>
        <a:graphic xmlns:a="http://schemas.openxmlformats.org/drawingml/2006/main">
          <a:graphicData uri="http://schemas.openxmlformats.org/drawingml/2006/table">
            <a:tbl>
              <a:tblPr/>
              <a:tblGrid>
                <a:gridCol w="9810750"/>
                <a:gridCol w="1466850"/>
              </a:tblGrid>
              <a:tr h="348343">
                <a:tc>
                  <a:txBody>
                    <a:bodyPr/>
                    <a:lstStyle/>
                    <a:p>
                      <a:r>
                        <a:rPr sz="1425" b="1">
                          <a:solidFill>
                            <a:srgbClr val="FFFFFF"/>
                          </a:solidFill>
                          <a:latin typeface="Arial"/>
                          <a:ea typeface="Arial"/>
                          <a:cs typeface="Arial"/>
                        </a:rPr>
                        <a:t>Section</a:t>
                      </a:r>
                    </a:p>
                  </a:txBody>
                  <a:tcPr marL="47625" marR="47625" marT="19050" marB="19050" anchor="ctr">
                    <a:solidFill>
                      <a:srgbClr val="213C66"/>
                    </a:solidFill>
                  </a:tcPr>
                </a:tc>
                <a:tc>
                  <a:txBody>
                    <a:bodyPr/>
                    <a:lstStyle/>
                    <a:p>
                      <a:r>
                        <a:rPr sz="1425" b="1">
                          <a:solidFill>
                            <a:srgbClr val="FFFFFF"/>
                          </a:solidFill>
                          <a:latin typeface="Arial"/>
                          <a:ea typeface="Arial"/>
                          <a:cs typeface="Arial"/>
                        </a:rPr>
                        <a:t>Slide</a:t>
                      </a:r>
                    </a:p>
                  </a:txBody>
                  <a:tcPr marL="47625" marR="47625" marT="19050" marB="19050" anchor="ctr">
                    <a:solidFill>
                      <a:srgbClr val="213C66"/>
                    </a:solidFill>
                  </a:tcPr>
                </a:tc>
              </a:tr>
              <a:tr h="348343">
                <a:tc>
                  <a:txBody>
                    <a:bodyPr/>
                    <a:lstStyle/>
                    <a:p>
                      <a:r>
                        <a:rPr sz="1425" b="0">
                          <a:solidFill>
                            <a:srgbClr val="343D42"/>
                          </a:solidFill>
                          <a:latin typeface="Arial"/>
                          <a:ea typeface="Arial"/>
                          <a:cs typeface="Arial"/>
                        </a:rPr>
                        <a:t>Executive Summary</a:t>
                      </a:r>
                    </a:p>
                  </a:txBody>
                  <a:tcPr marL="47625" marR="47625" marT="19050" marB="19050" anchor="ctr">
                    <a:solidFill>
                      <a:srgbClr val="FFFFFF"/>
                    </a:solidFill>
                  </a:tcPr>
                </a:tc>
                <a:tc>
                  <a:txBody>
                    <a:bodyPr/>
                    <a:lstStyle/>
                    <a:p>
                      <a:r>
                        <a:rPr sz="1425" b="0">
                          <a:solidFill>
                            <a:srgbClr val="343D42"/>
                          </a:solidFill>
                          <a:latin typeface="Arial"/>
                          <a:ea typeface="Arial"/>
                          <a:cs typeface="Arial"/>
                        </a:rPr>
                        <a:t>4</a:t>
                      </a:r>
                    </a:p>
                  </a:txBody>
                  <a:tcPr marL="47625" marR="47625" marT="19050" marB="19050" anchor="ctr">
                    <a:solidFill>
                      <a:srgbClr val="FFFFFF"/>
                    </a:solidFill>
                  </a:tcPr>
                </a:tc>
              </a:tr>
              <a:tr h="348343">
                <a:tc>
                  <a:txBody>
                    <a:bodyPr/>
                    <a:lstStyle/>
                    <a:p>
                      <a:r>
                        <a:rPr sz="1425" b="0">
                          <a:solidFill>
                            <a:srgbClr val="343D42"/>
                          </a:solidFill>
                          <a:latin typeface="Arial"/>
                          <a:ea typeface="Arial"/>
                          <a:cs typeface="Arial"/>
                        </a:rPr>
                        <a:t>Property Overview</a:t>
                      </a:r>
                    </a:p>
                  </a:txBody>
                  <a:tcPr marL="47625" marR="47625" marT="19050" marB="19050" anchor="ctr">
                    <a:solidFill>
                      <a:srgbClr val="F3F5F6"/>
                    </a:solidFill>
                  </a:tcPr>
                </a:tc>
                <a:tc>
                  <a:txBody>
                    <a:bodyPr/>
                    <a:lstStyle/>
                    <a:p>
                      <a:r>
                        <a:rPr sz="1425" b="0">
                          <a:solidFill>
                            <a:srgbClr val="343D42"/>
                          </a:solidFill>
                          <a:latin typeface="Arial"/>
                          <a:ea typeface="Arial"/>
                          <a:cs typeface="Arial"/>
                        </a:rPr>
                        <a:t>5</a:t>
                      </a:r>
                    </a:p>
                  </a:txBody>
                  <a:tcPr marL="47625" marR="47625" marT="19050" marB="19050" anchor="ctr">
                    <a:solidFill>
                      <a:srgbClr val="F3F5F6"/>
                    </a:solidFill>
                  </a:tcPr>
                </a:tc>
              </a:tr>
              <a:tr h="348343">
                <a:tc>
                  <a:txBody>
                    <a:bodyPr/>
                    <a:lstStyle/>
                    <a:p>
                      <a:r>
                        <a:rPr sz="1425" b="0">
                          <a:solidFill>
                            <a:srgbClr val="343D42"/>
                          </a:solidFill>
                          <a:latin typeface="Arial"/>
                          <a:ea typeface="Arial"/>
                          <a:cs typeface="Arial"/>
                        </a:rPr>
                        <a:t>Investment Highlights</a:t>
                      </a:r>
                    </a:p>
                  </a:txBody>
                  <a:tcPr marL="47625" marR="47625" marT="19050" marB="19050" anchor="ctr">
                    <a:solidFill>
                      <a:srgbClr val="FFFFFF"/>
                    </a:solidFill>
                  </a:tcPr>
                </a:tc>
                <a:tc>
                  <a:txBody>
                    <a:bodyPr/>
                    <a:lstStyle/>
                    <a:p>
                      <a:r>
                        <a:rPr sz="1425" b="0">
                          <a:solidFill>
                            <a:srgbClr val="343D42"/>
                          </a:solidFill>
                          <a:latin typeface="Arial"/>
                          <a:ea typeface="Arial"/>
                          <a:cs typeface="Arial"/>
                        </a:rPr>
                        <a:t>6–9</a:t>
                      </a:r>
                    </a:p>
                  </a:txBody>
                  <a:tcPr marL="47625" marR="47625" marT="19050" marB="19050" anchor="ctr">
                    <a:solidFill>
                      <a:srgbClr val="FFFFFF"/>
                    </a:solidFill>
                  </a:tcPr>
                </a:tc>
              </a:tr>
              <a:tr h="348343">
                <a:tc>
                  <a:txBody>
                    <a:bodyPr/>
                    <a:lstStyle/>
                    <a:p>
                      <a:r>
                        <a:rPr sz="1425" b="0">
                          <a:solidFill>
                            <a:srgbClr val="343D42"/>
                          </a:solidFill>
                          <a:latin typeface="Arial"/>
                          <a:ea typeface="Arial"/>
                          <a:cs typeface="Arial"/>
                        </a:rPr>
                        <a:t>Major Tenant Summary</a:t>
                      </a:r>
                    </a:p>
                  </a:txBody>
                  <a:tcPr marL="47625" marR="47625" marT="19050" marB="19050" anchor="ctr">
                    <a:solidFill>
                      <a:srgbClr val="F3F5F6"/>
                    </a:solidFill>
                  </a:tcPr>
                </a:tc>
                <a:tc>
                  <a:txBody>
                    <a:bodyPr/>
                    <a:lstStyle/>
                    <a:p>
                      <a:r>
                        <a:rPr sz="1425" b="0">
                          <a:solidFill>
                            <a:srgbClr val="343D42"/>
                          </a:solidFill>
                          <a:latin typeface="Arial"/>
                          <a:ea typeface="Arial"/>
                          <a:cs typeface="Arial"/>
                        </a:rPr>
                        <a:t>10</a:t>
                      </a:r>
                    </a:p>
                  </a:txBody>
                  <a:tcPr marL="47625" marR="47625" marT="19050" marB="19050" anchor="ctr">
                    <a:solidFill>
                      <a:srgbClr val="F3F5F6"/>
                    </a:solidFill>
                  </a:tcPr>
                </a:tc>
              </a:tr>
              <a:tr h="348343">
                <a:tc>
                  <a:txBody>
                    <a:bodyPr/>
                    <a:lstStyle/>
                    <a:p>
                      <a:r>
                        <a:rPr sz="1425" b="0">
                          <a:solidFill>
                            <a:srgbClr val="343D42"/>
                          </a:solidFill>
                          <a:latin typeface="Arial"/>
                          <a:ea typeface="Arial"/>
                          <a:cs typeface="Arial"/>
                        </a:rPr>
                        <a:t>Major Tenant Profiles</a:t>
                      </a:r>
                    </a:p>
                  </a:txBody>
                  <a:tcPr marL="47625" marR="47625" marT="19050" marB="19050" anchor="ctr">
                    <a:solidFill>
                      <a:srgbClr val="FFFFFF"/>
                    </a:solidFill>
                  </a:tcPr>
                </a:tc>
                <a:tc>
                  <a:txBody>
                    <a:bodyPr/>
                    <a:lstStyle/>
                    <a:p>
                      <a:r>
                        <a:rPr sz="1425" b="0">
                          <a:solidFill>
                            <a:srgbClr val="343D42"/>
                          </a:solidFill>
                          <a:latin typeface="Arial"/>
                          <a:ea typeface="Arial"/>
                          <a:cs typeface="Arial"/>
                        </a:rPr>
                        <a:t>11</a:t>
                      </a:r>
                    </a:p>
                  </a:txBody>
                  <a:tcPr marL="47625" marR="47625" marT="19050" marB="19050" anchor="ctr">
                    <a:solidFill>
                      <a:srgbClr val="FFFFFF"/>
                    </a:solidFill>
                  </a:tcPr>
                </a:tc>
              </a:tr>
              <a:tr h="348343">
                <a:tc>
                  <a:txBody>
                    <a:bodyPr/>
                    <a:lstStyle/>
                    <a:p>
                      <a:r>
                        <a:rPr sz="1425" b="0">
                          <a:solidFill>
                            <a:srgbClr val="343D42"/>
                          </a:solidFill>
                          <a:latin typeface="Arial"/>
                          <a:ea typeface="Arial"/>
                          <a:cs typeface="Arial"/>
                        </a:rPr>
                        <a:t>Location</a:t>
                      </a:r>
                    </a:p>
                  </a:txBody>
                  <a:tcPr marL="47625" marR="47625" marT="19050" marB="19050" anchor="ctr">
                    <a:solidFill>
                      <a:srgbClr val="F3F5F6"/>
                    </a:solidFill>
                  </a:tcPr>
                </a:tc>
                <a:tc>
                  <a:txBody>
                    <a:bodyPr/>
                    <a:lstStyle/>
                    <a:p>
                      <a:r>
                        <a:rPr sz="1425" b="0">
                          <a:solidFill>
                            <a:srgbClr val="343D42"/>
                          </a:solidFill>
                          <a:latin typeface="Arial"/>
                          <a:ea typeface="Arial"/>
                          <a:cs typeface="Arial"/>
                        </a:rPr>
                        <a:t>12–13</a:t>
                      </a:r>
                    </a:p>
                  </a:txBody>
                  <a:tcPr marL="47625" marR="47625" marT="19050" marB="19050" anchor="ctr">
                    <a:solidFill>
                      <a:srgbClr val="F3F5F6"/>
                    </a:solidFill>
                  </a:tcPr>
                </a:tc>
              </a:tr>
              <a:tr h="348343">
                <a:tc>
                  <a:txBody>
                    <a:bodyPr/>
                    <a:lstStyle/>
                    <a:p>
                      <a:r>
                        <a:rPr sz="1425" b="0">
                          <a:solidFill>
                            <a:srgbClr val="343D42"/>
                          </a:solidFill>
                          <a:latin typeface="Arial"/>
                          <a:ea typeface="Arial"/>
                          <a:cs typeface="Arial"/>
                        </a:rPr>
                        <a:t>Competitive Properties</a:t>
                      </a:r>
                    </a:p>
                  </a:txBody>
                  <a:tcPr marL="47625" marR="47625" marT="19050" marB="19050" anchor="ctr">
                    <a:solidFill>
                      <a:srgbClr val="FFFFFF"/>
                    </a:solidFill>
                  </a:tcPr>
                </a:tc>
                <a:tc>
                  <a:txBody>
                    <a:bodyPr/>
                    <a:lstStyle/>
                    <a:p>
                      <a:r>
                        <a:rPr sz="1425" b="0">
                          <a:solidFill>
                            <a:srgbClr val="343D42"/>
                          </a:solidFill>
                          <a:latin typeface="Arial"/>
                          <a:ea typeface="Arial"/>
                          <a:cs typeface="Arial"/>
                        </a:rPr>
                        <a:t>14</a:t>
                      </a:r>
                    </a:p>
                  </a:txBody>
                  <a:tcPr marL="47625" marR="47625" marT="19050" marB="19050" anchor="ctr">
                    <a:solidFill>
                      <a:srgbClr val="FFFFFF"/>
                    </a:solidFill>
                  </a:tcPr>
                </a:tc>
              </a:tr>
              <a:tr h="348343">
                <a:tc>
                  <a:txBody>
                    <a:bodyPr/>
                    <a:lstStyle/>
                    <a:p>
                      <a:r>
                        <a:rPr sz="1425" b="0">
                          <a:solidFill>
                            <a:srgbClr val="343D42"/>
                          </a:solidFill>
                          <a:latin typeface="Arial"/>
                          <a:ea typeface="Arial"/>
                          <a:cs typeface="Arial"/>
                        </a:rPr>
                        <a:t>Market Overview</a:t>
                      </a:r>
                    </a:p>
                  </a:txBody>
                  <a:tcPr marL="47625" marR="47625" marT="19050" marB="19050" anchor="ctr">
                    <a:solidFill>
                      <a:srgbClr val="F3F5F6"/>
                    </a:solidFill>
                  </a:tcPr>
                </a:tc>
                <a:tc>
                  <a:txBody>
                    <a:bodyPr/>
                    <a:lstStyle/>
                    <a:p>
                      <a:r>
                        <a:rPr sz="1425" b="0">
                          <a:solidFill>
                            <a:srgbClr val="343D42"/>
                          </a:solidFill>
                          <a:latin typeface="Arial"/>
                          <a:ea typeface="Arial"/>
                          <a:cs typeface="Arial"/>
                        </a:rPr>
                        <a:t>15</a:t>
                      </a:r>
                    </a:p>
                  </a:txBody>
                  <a:tcPr marL="47625" marR="47625" marT="19050" marB="19050" anchor="ctr">
                    <a:solidFill>
                      <a:srgbClr val="F3F5F6"/>
                    </a:solidFill>
                  </a:tcPr>
                </a:tc>
              </a:tr>
              <a:tr h="348343">
                <a:tc>
                  <a:txBody>
                    <a:bodyPr/>
                    <a:lstStyle/>
                    <a:p>
                      <a:r>
                        <a:rPr sz="1425" b="0">
                          <a:solidFill>
                            <a:srgbClr val="343D42"/>
                          </a:solidFill>
                          <a:latin typeface="Arial"/>
                          <a:ea typeface="Arial"/>
                          <a:cs typeface="Arial"/>
                        </a:rPr>
                        <a:t>Demographics</a:t>
                      </a:r>
                    </a:p>
                  </a:txBody>
                  <a:tcPr marL="47625" marR="47625" marT="19050" marB="19050" anchor="ctr">
                    <a:solidFill>
                      <a:srgbClr val="FFFFFF"/>
                    </a:solidFill>
                  </a:tcPr>
                </a:tc>
                <a:tc>
                  <a:txBody>
                    <a:bodyPr/>
                    <a:lstStyle/>
                    <a:p>
                      <a:r>
                        <a:rPr sz="1425" b="0">
                          <a:solidFill>
                            <a:srgbClr val="343D42"/>
                          </a:solidFill>
                          <a:latin typeface="Arial"/>
                          <a:ea typeface="Arial"/>
                          <a:cs typeface="Arial"/>
                        </a:rPr>
                        <a:t>16</a:t>
                      </a:r>
                    </a:p>
                  </a:txBody>
                  <a:tcPr marL="47625" marR="47625" marT="19050" marB="19050" anchor="ctr">
                    <a:solidFill>
                      <a:srgbClr val="FFFFFF"/>
                    </a:solidFill>
                  </a:tcPr>
                </a:tc>
              </a:tr>
              <a:tr h="348343">
                <a:tc>
                  <a:txBody>
                    <a:bodyPr/>
                    <a:lstStyle/>
                    <a:p>
                      <a:r>
                        <a:rPr sz="1425" b="0">
                          <a:solidFill>
                            <a:srgbClr val="343D42"/>
                          </a:solidFill>
                          <a:latin typeface="Arial"/>
                          <a:ea typeface="Arial"/>
                          <a:cs typeface="Arial"/>
                        </a:rPr>
                        <a:t>Comparable Sales</a:t>
                      </a:r>
                    </a:p>
                  </a:txBody>
                  <a:tcPr marL="47625" marR="47625" marT="19050" marB="19050" anchor="ctr">
                    <a:solidFill>
                      <a:srgbClr val="F3F5F6"/>
                    </a:solidFill>
                  </a:tcPr>
                </a:tc>
                <a:tc>
                  <a:txBody>
                    <a:bodyPr/>
                    <a:lstStyle/>
                    <a:p>
                      <a:r>
                        <a:rPr sz="1425" b="0">
                          <a:solidFill>
                            <a:srgbClr val="343D42"/>
                          </a:solidFill>
                          <a:latin typeface="Arial"/>
                          <a:ea typeface="Arial"/>
                          <a:cs typeface="Arial"/>
                        </a:rPr>
                        <a:t>17</a:t>
                      </a:r>
                    </a:p>
                  </a:txBody>
                  <a:tcPr marL="47625" marR="47625" marT="19050" marB="19050" anchor="ctr">
                    <a:solidFill>
                      <a:srgbClr val="F3F5F6"/>
                    </a:solidFill>
                  </a:tcPr>
                </a:tc>
              </a:tr>
              <a:tr h="348343">
                <a:tc>
                  <a:txBody>
                    <a:bodyPr/>
                    <a:lstStyle/>
                    <a:p>
                      <a:r>
                        <a:rPr sz="1425" b="0">
                          <a:solidFill>
                            <a:srgbClr val="343D42"/>
                          </a:solidFill>
                          <a:latin typeface="Arial"/>
                          <a:ea typeface="Arial"/>
                          <a:cs typeface="Arial"/>
                        </a:rPr>
                        <a:t>Financial Summary</a:t>
                      </a:r>
                    </a:p>
                  </a:txBody>
                  <a:tcPr marL="47625" marR="47625" marT="19050" marB="19050" anchor="ctr">
                    <a:solidFill>
                      <a:srgbClr val="FFFFFF"/>
                    </a:solidFill>
                  </a:tcPr>
                </a:tc>
                <a:tc>
                  <a:txBody>
                    <a:bodyPr/>
                    <a:lstStyle/>
                    <a:p>
                      <a:r>
                        <a:rPr sz="1425" b="0">
                          <a:solidFill>
                            <a:srgbClr val="343D42"/>
                          </a:solidFill>
                          <a:latin typeface="Arial"/>
                          <a:ea typeface="Arial"/>
                          <a:cs typeface="Arial"/>
                        </a:rPr>
                        <a:t>18</a:t>
                      </a:r>
                    </a:p>
                  </a:txBody>
                  <a:tcPr marL="47625" marR="47625" marT="19050" marB="19050" anchor="ctr">
                    <a:solidFill>
                      <a:srgbClr val="FFFFFF"/>
                    </a:solidFill>
                  </a:tcPr>
                </a:tc>
              </a:tr>
              <a:tr h="348343">
                <a:tc>
                  <a:txBody>
                    <a:bodyPr/>
                    <a:lstStyle/>
                    <a:p>
                      <a:r>
                        <a:rPr sz="1425" b="0">
                          <a:solidFill>
                            <a:srgbClr val="343D42"/>
                          </a:solidFill>
                          <a:latin typeface="Arial"/>
                          <a:ea typeface="Arial"/>
                          <a:cs typeface="Arial"/>
                        </a:rPr>
                        <a:t>Terms</a:t>
                      </a:r>
                    </a:p>
                  </a:txBody>
                  <a:tcPr marL="47625" marR="47625" marT="19050" marB="19050" anchor="ctr">
                    <a:solidFill>
                      <a:srgbClr val="F3F5F6"/>
                    </a:solidFill>
                  </a:tcPr>
                </a:tc>
                <a:tc>
                  <a:txBody>
                    <a:bodyPr/>
                    <a:lstStyle/>
                    <a:p>
                      <a:r>
                        <a:rPr sz="1425" b="0">
                          <a:solidFill>
                            <a:srgbClr val="343D42"/>
                          </a:solidFill>
                          <a:latin typeface="Arial"/>
                          <a:ea typeface="Arial"/>
                          <a:cs typeface="Arial"/>
                        </a:rPr>
                        <a:t>19</a:t>
                      </a:r>
                    </a:p>
                  </a:txBody>
                  <a:tcPr marL="47625" marR="47625" marT="19050" marB="19050" anchor="ctr">
                    <a:solidFill>
                      <a:srgbClr val="F3F5F6"/>
                    </a:solidFill>
                  </a:tcPr>
                </a:tc>
              </a:tr>
              <a:tr h="348343">
                <a:tc>
                  <a:txBody>
                    <a:bodyPr/>
                    <a:lstStyle/>
                    <a:p>
                      <a:r>
                        <a:rPr sz="1425" b="0">
                          <a:solidFill>
                            <a:srgbClr val="343D42"/>
                          </a:solidFill>
                          <a:latin typeface="Arial"/>
                          <a:ea typeface="Arial"/>
                          <a:cs typeface="Arial"/>
                        </a:rPr>
                        <a:t>Team</a:t>
                      </a:r>
                    </a:p>
                  </a:txBody>
                  <a:tcPr marL="47625" marR="47625" marT="19050" marB="19050" anchor="ctr">
                    <a:solidFill>
                      <a:srgbClr val="FFFFFF"/>
                    </a:solidFill>
                  </a:tcPr>
                </a:tc>
                <a:tc>
                  <a:txBody>
                    <a:bodyPr/>
                    <a:lstStyle/>
                    <a:p>
                      <a:r>
                        <a:rPr sz="1425" b="0">
                          <a:solidFill>
                            <a:srgbClr val="343D42"/>
                          </a:solidFill>
                          <a:latin typeface="Arial"/>
                          <a:ea typeface="Arial"/>
                          <a:cs typeface="Arial"/>
                        </a:rPr>
                        <a:t>20</a:t>
                      </a:r>
                    </a:p>
                  </a:txBody>
                  <a:tcPr marL="47625" marR="47625" marT="19050" marB="19050" anchor="ctr">
                    <a:solidFill>
                      <a:srgbClr val="FFFFFF"/>
                    </a:solidFill>
                  </a:tcPr>
                </a:tc>
              </a:tr>
            </a:tbl>
          </a:graphicData>
        </a:graphic>
      </p:graphicFrame>
    </p:spTree>
    <p:extLst>
      <p:ext uri="{BB962C8B-B14F-4D97-AF65-F5344CB8AC3E}">
        <p14:creationId xmlns:p14="http://schemas.microsoft.com/office/powerpoint/2010/main" val="159594190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5518223-9BBF-438E-9A47-094ED5861DC9}"/>
              </a:ext>
            </a:extLst>
          </p:cNvPr>
          <p:cNvSpPr>
            <a:spLocks xmlns:a="http://schemas.openxmlformats.org/drawingml/2006/main" noGrp="1"/>
          </p:cNvSpPr>
          <p:nvPr/>
        </p:nvSpPr>
        <p:spPr>
          <a:xfrm xmlns:a="http://schemas.openxmlformats.org/drawingml/2006/main">
            <a:off x="457200" y="276225"/>
            <a:ext cx="11277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343D42"/>
                </a:solidFill>
                <a:latin typeface="Arial"/>
                <a:ea typeface="Arial"/>
                <a:cs typeface="Arial"/>
              </a:defRPr>
            </a:defPPr>
          </a:lstStyle>
          <a:p xmlns:a="http://schemas.openxmlformats.org/drawingml/2006/main">
            <a:pPr>
              <a:defRPr sz="2100" b="1">
                <a:solidFill>
                  <a:srgbClr val="343D42"/>
                </a:solidFill>
                <a:latin typeface="Arial"/>
                <a:ea typeface="Arial"/>
                <a:cs typeface="Arial"/>
              </a:defRPr>
            </a:pPr>
            <a:r>
              <a:rPr sz="2100" b="1">
                <a:solidFill>
                  <a:srgbClr val="343D42"/>
                </a:solidFill>
                <a:latin typeface="Arial"/>
                <a:ea typeface="Arial"/>
                <a:cs typeface="Arial"/>
              </a:rPr>
              <a:t>Executive Summary</a:t>
            </a:r>
          </a:p>
        </p:txBody>
      </p:sp>
      <p:sp>
        <p:nvSpPr>
          <p:cNvPr id="2" name="">
            <a:extLst xmlns:a="http://schemas.openxmlformats.org/drawingml/2006/main">
              <a:ext uri="{FF2B5EF4-FFF2-40B4-BE49-F238E27FC236}">
                <a16:creationId xmlns:a16="http://schemas.microsoft.com/office/drawing/2014/main" id="{9E792BB2-88FF-47C5-A348-27716B68108D}"/>
              </a:ext>
            </a:extLst>
          </p:cNvPr>
          <p:cNvSpPr>
            <a:spLocks xmlns:a="http://schemas.openxmlformats.org/drawingml/2006/main" noGrp="1"/>
          </p:cNvSpPr>
          <p:nvPr/>
        </p:nvSpPr>
        <p:spPr>
          <a:xfrm xmlns:a="http://schemas.openxmlformats.org/drawingml/2006/main">
            <a:off x="457200" y="800100"/>
            <a:ext cx="11277600" cy="9525"/>
          </a:xfrm>
          <a:prstGeom xmlns:a="http://schemas.openxmlformats.org/drawingml/2006/main" prst="rect">
            <a:avLst/>
          </a:prstGeom>
          <a:solidFill xmlns:a="http://schemas.openxmlformats.org/drawingml/2006/main">
            <a:srgbClr val="B9B9B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A28E75F-2899-4277-8246-365119340FD9}"/>
              </a:ext>
            </a:extLst>
          </p:cNvPr>
          <p:cNvSpPr>
            <a:spLocks xmlns:a="http://schemas.openxmlformats.org/drawingml/2006/main" noGrp="1"/>
          </p:cNvSpPr>
          <p:nvPr/>
        </p:nvSpPr>
        <p:spPr>
          <a:xfrm xmlns:a="http://schemas.openxmlformats.org/drawingml/2006/main">
            <a:off x="457200" y="6257925"/>
            <a:ext cx="11277600" cy="38100"/>
          </a:xfrm>
          <a:prstGeom xmlns:a="http://schemas.openxmlformats.org/drawingml/2006/main" prst="rect">
            <a:avLst/>
          </a:prstGeom>
          <a:solidFill xmlns:a="http://schemas.openxmlformats.org/drawingml/2006/main">
            <a:srgbClr val="343D4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9AB8B10-1293-4AE1-8DE6-644FA27A22A5}"/>
              </a:ext>
            </a:extLst>
          </p:cNvPr>
          <p:cNvSpPr>
            <a:spLocks xmlns:a="http://schemas.openxmlformats.org/drawingml/2006/main" noGrp="1"/>
          </p:cNvSpPr>
          <p:nvPr/>
        </p:nvSpPr>
        <p:spPr>
          <a:xfrm xmlns:a="http://schemas.openxmlformats.org/drawingml/2006/main">
            <a:off x="457200" y="6238875"/>
            <a:ext cx="11277600" cy="19050"/>
          </a:xfrm>
          <a:prstGeom xmlns:a="http://schemas.openxmlformats.org/drawingml/2006/main" prst="rect">
            <a:avLst/>
          </a:prstGeom>
          <a:solidFill xmlns:a="http://schemas.openxmlformats.org/drawingml/2006/main">
            <a:srgbClr val="C2674B"/>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46D0088C-EE31-4C52-ACDB-0E6D95D12114}"/>
              </a:ext>
            </a:extLst>
          </p:cNvPr>
          <p:cNvPicPr>
            <a:picLocks xmlns:a="http://schemas.openxmlformats.org/drawingml/2006/main" noChangeAspect="1"/>
          </p:cNvPicPr>
          <p:nvPr/>
        </p:nvPicPr>
        <p:blipFill>
          <a:blip xmlns:r="http://schemas.openxmlformats.org/officeDocument/2006/relationships" xmlns:a="http://schemas.openxmlformats.org/drawingml/2006/main" r:embed="R77fb357d2e514f5d"/>
          <a:stretch xmlns:a="http://schemas.openxmlformats.org/drawingml/2006/main"/>
        </p:blipFill>
        <p:spPr>
          <a:xfrm xmlns:a="http://schemas.openxmlformats.org/drawingml/2006/main">
            <a:off x="457200" y="6387465"/>
            <a:ext cx="1609725" cy="32194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4F68A72-7C72-4578-AF24-716E77CCD763}"/>
              </a:ext>
            </a:extLst>
          </p:cNvPr>
          <p:cNvSpPr>
            <a:spLocks xmlns:a="http://schemas.openxmlformats.org/drawingml/2006/main" noGrp="1"/>
          </p:cNvSpPr>
          <p:nvPr/>
        </p:nvSpPr>
        <p:spPr>
          <a:xfrm xmlns:a="http://schemas.openxmlformats.org/drawingml/2006/main">
            <a:off x="11382375" y="64579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747474"/>
                </a:solidFill>
                <a:latin typeface="Arial"/>
                <a:ea typeface="Arial"/>
                <a:cs typeface="Arial"/>
              </a:defRPr>
            </a:defPPr>
          </a:lstStyle>
          <a:p xmlns:a="http://schemas.openxmlformats.org/drawingml/2006/main">
            <a:pPr>
              <a:defRPr sz="900" b="0">
                <a:solidFill>
                  <a:srgbClr val="747474"/>
                </a:solidFill>
                <a:latin typeface="Arial"/>
                <a:ea typeface="Arial"/>
                <a:cs typeface="Arial"/>
              </a:defRPr>
            </a:pPr>
            <a:r>
              <a:rPr sz="900" b="0">
                <a:solidFill>
                  <a:srgbClr val="747474"/>
                </a:solidFill>
                <a:latin typeface="Arial"/>
                <a:ea typeface="Arial"/>
                <a:cs typeface="Arial"/>
              </a:rPr>
              <a:t>4</a:t>
            </a:r>
          </a:p>
        </p:txBody>
      </p:sp>
      <p:sp>
        <p:nvSpPr>
          <p:cNvPr id="7" name="">
            <a:extLst xmlns:a="http://schemas.openxmlformats.org/drawingml/2006/main">
              <a:ext uri="{FF2B5EF4-FFF2-40B4-BE49-F238E27FC236}">
                <a16:creationId xmlns:a16="http://schemas.microsoft.com/office/drawing/2014/main" id="{7C99F684-9B77-4A4B-BC37-617485D94B56}"/>
              </a:ext>
            </a:extLst>
          </p:cNvPr>
          <p:cNvSpPr>
            <a:spLocks xmlns:a="http://schemas.openxmlformats.org/drawingml/2006/main" noGrp="1"/>
          </p:cNvSpPr>
          <p:nvPr/>
        </p:nvSpPr>
        <p:spPr>
          <a:xfrm xmlns:a="http://schemas.openxmlformats.org/drawingml/2006/main">
            <a:off x="457200" y="1038225"/>
            <a:ext cx="6000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343D42"/>
                </a:solidFill>
                <a:latin typeface="Arial"/>
                <a:ea typeface="Arial"/>
                <a:cs typeface="Arial"/>
              </a:defRPr>
            </a:defPPr>
          </a:lstStyle>
          <a:p xmlns:a="http://schemas.openxmlformats.org/drawingml/2006/main">
            <a:pPr>
              <a:defRPr sz="1500" b="0">
                <a:solidFill>
                  <a:srgbClr val="343D42"/>
                </a:solidFill>
                <a:latin typeface="Arial"/>
                <a:ea typeface="Arial"/>
                <a:cs typeface="Arial"/>
              </a:defRPr>
            </a:pPr>
            <a:r>
              <a:rPr sz="1500" b="0">
                <a:solidFill>
                  <a:srgbClr val="343D42"/>
                </a:solidFill>
                <a:latin typeface="Arial"/>
                <a:ea typeface="Arial"/>
                <a:cs typeface="Arial"/>
              </a:rPr>
              <a:t>Hollinswood Shopping Center is a 112,671-square-foot grocery-anchored retail center in Baltimore, Maryland. The property is anchored by LA Mart and is located just north of Baltimore Washington International Airport along West Patapsco Avenue.</a:t>
            </a:r>
          </a:p>
        </p:txBody>
      </p:sp>
      <p:graphicFrame>
        <p:nvGraphicFramePr>
          <p:cNvPr id="8" name="">
            <a:extLst xmlns:a="http://schemas.openxmlformats.org/drawingml/2006/main">
              <a:ext uri="{FF2B5EF4-FFF2-40B4-BE49-F238E27FC236}">
                <a16:creationId xmlns:a16="http://schemas.microsoft.com/office/drawing/2014/main" id="{7ABE6742-0EAB-4357-AA05-EFAA40730553}"/>
              </a:ext>
            </a:extLst>
          </p:cNvPr>
          <p:cNvGraphicFramePr/>
          <p:nvPr/>
        </p:nvGraphicFramePr>
        <p:xfrm>
          <a:off xmlns:a="http://schemas.openxmlformats.org/drawingml/2006/main" x="457200" y="2352675"/>
          <a:ext xmlns:a="http://schemas.openxmlformats.org/drawingml/2006/main" cx="6000750" cy="3495675"/>
        </p:xfrm>
        <a:graphic xmlns:a="http://schemas.openxmlformats.org/drawingml/2006/main">
          <a:graphicData uri="http://schemas.openxmlformats.org/drawingml/2006/table">
            <a:tbl>
              <a:tblPr/>
              <a:tblGrid>
                <a:gridCol w="2266950"/>
                <a:gridCol w="3733800"/>
              </a:tblGrid>
              <a:tr h="349568">
                <a:tc>
                  <a:txBody>
                    <a:bodyPr/>
                    <a:lstStyle/>
                    <a:p>
                      <a:r>
                        <a:rPr sz="1200" b="1">
                          <a:solidFill>
                            <a:srgbClr val="FFFFFF"/>
                          </a:solidFill>
                          <a:latin typeface="Arial"/>
                          <a:ea typeface="Arial"/>
                          <a:cs typeface="Arial"/>
                        </a:rPr>
                        <a:t>Property metric</a:t>
                      </a:r>
                    </a:p>
                  </a:txBody>
                  <a:tcPr marL="47625" marR="47625" marT="19050" marB="19050" anchor="ctr">
                    <a:solidFill>
                      <a:srgbClr val="213C66"/>
                    </a:solidFill>
                  </a:tcPr>
                </a:tc>
                <a:tc>
                  <a:txBody>
                    <a:bodyPr/>
                    <a:lstStyle/>
                    <a:p>
                      <a:r>
                        <a:rPr sz="1200" b="1">
                          <a:solidFill>
                            <a:srgbClr val="FFFFFF"/>
                          </a:solidFill>
                          <a:latin typeface="Arial"/>
                          <a:ea typeface="Arial"/>
                          <a:cs typeface="Arial"/>
                        </a:rPr>
                        <a:t>Summary</a:t>
                      </a:r>
                    </a:p>
                  </a:txBody>
                  <a:tcPr marL="47625" marR="47625" marT="19050" marB="19050" anchor="ctr">
                    <a:solidFill>
                      <a:srgbClr val="213C66"/>
                    </a:solidFill>
                  </a:tcPr>
                </a:tc>
              </a:tr>
              <a:tr h="349568">
                <a:tc>
                  <a:txBody>
                    <a:bodyPr/>
                    <a:lstStyle/>
                    <a:p>
                      <a:r>
                        <a:rPr sz="1200" b="0">
                          <a:solidFill>
                            <a:srgbClr val="343D42"/>
                          </a:solidFill>
                          <a:latin typeface="Arial"/>
                          <a:ea typeface="Arial"/>
                          <a:cs typeface="Arial"/>
                        </a:rPr>
                        <a:t>Address</a:t>
                      </a:r>
                    </a:p>
                  </a:txBody>
                  <a:tcPr marL="47625" marR="47625" marT="19050" marB="19050" anchor="ctr">
                    <a:solidFill>
                      <a:srgbClr val="FFFFFF"/>
                    </a:solidFill>
                  </a:tcPr>
                </a:tc>
                <a:tc>
                  <a:txBody>
                    <a:bodyPr/>
                    <a:lstStyle/>
                    <a:p>
                      <a:r>
                        <a:rPr sz="1200" b="0">
                          <a:solidFill>
                            <a:srgbClr val="343D42"/>
                          </a:solidFill>
                          <a:latin typeface="Arial"/>
                          <a:ea typeface="Arial"/>
                          <a:cs typeface="Arial"/>
                        </a:rPr>
                        <a:t>2157 W Patapsco Avenue, Baltimore, MD 21230</a:t>
                      </a:r>
                    </a:p>
                  </a:txBody>
                  <a:tcPr marL="47625" marR="47625" marT="19050" marB="19050" anchor="ctr">
                    <a:solidFill>
                      <a:srgbClr val="FFFFFF"/>
                    </a:solidFill>
                  </a:tcPr>
                </a:tc>
              </a:tr>
              <a:tr h="349568">
                <a:tc>
                  <a:txBody>
                    <a:bodyPr/>
                    <a:lstStyle/>
                    <a:p>
                      <a:r>
                        <a:rPr sz="1200" b="0">
                          <a:solidFill>
                            <a:srgbClr val="343D42"/>
                          </a:solidFill>
                          <a:latin typeface="Arial"/>
                          <a:ea typeface="Arial"/>
                          <a:cs typeface="Arial"/>
                        </a:rPr>
                        <a:t>Rentable building area</a:t>
                      </a:r>
                    </a:p>
                  </a:txBody>
                  <a:tcPr marL="47625" marR="47625" marT="19050" marB="19050" anchor="ctr">
                    <a:solidFill>
                      <a:srgbClr val="F3F5F6"/>
                    </a:solidFill>
                  </a:tcPr>
                </a:tc>
                <a:tc>
                  <a:txBody>
                    <a:bodyPr/>
                    <a:lstStyle/>
                    <a:p>
                      <a:r>
                        <a:rPr sz="1200" b="0">
                          <a:solidFill>
                            <a:srgbClr val="343D42"/>
                          </a:solidFill>
                          <a:latin typeface="Arial"/>
                          <a:ea typeface="Arial"/>
                          <a:cs typeface="Arial"/>
                        </a:rPr>
                        <a:t>112,671 SF</a:t>
                      </a:r>
                    </a:p>
                  </a:txBody>
                  <a:tcPr marL="47625" marR="47625" marT="19050" marB="19050" anchor="ctr">
                    <a:solidFill>
                      <a:srgbClr val="F3F5F6"/>
                    </a:solidFill>
                  </a:tcPr>
                </a:tc>
              </a:tr>
              <a:tr h="349568">
                <a:tc>
                  <a:txBody>
                    <a:bodyPr/>
                    <a:lstStyle/>
                    <a:p>
                      <a:r>
                        <a:rPr sz="1200" b="0">
                          <a:solidFill>
                            <a:srgbClr val="343D42"/>
                          </a:solidFill>
                          <a:latin typeface="Arial"/>
                          <a:ea typeface="Arial"/>
                          <a:cs typeface="Arial"/>
                        </a:rPr>
                        <a:t>Purchase price</a:t>
                      </a:r>
                    </a:p>
                  </a:txBody>
                  <a:tcPr marL="47625" marR="47625" marT="19050" marB="19050" anchor="ctr">
                    <a:solidFill>
                      <a:srgbClr val="FFFFFF"/>
                    </a:solidFill>
                  </a:tcPr>
                </a:tc>
                <a:tc>
                  <a:txBody>
                    <a:bodyPr/>
                    <a:lstStyle/>
                    <a:p>
                      <a:r>
                        <a:rPr sz="1200" b="0">
                          <a:solidFill>
                            <a:srgbClr val="343D42"/>
                          </a:solidFill>
                          <a:latin typeface="Arial"/>
                          <a:ea typeface="Arial"/>
                          <a:cs typeface="Arial"/>
                        </a:rPr>
                        <a:t>$20.2M</a:t>
                      </a:r>
                    </a:p>
                  </a:txBody>
                  <a:tcPr marL="47625" marR="47625" marT="19050" marB="19050" anchor="ctr">
                    <a:solidFill>
                      <a:srgbClr val="FFFFFF"/>
                    </a:solidFill>
                  </a:tcPr>
                </a:tc>
              </a:tr>
              <a:tr h="349568">
                <a:tc>
                  <a:txBody>
                    <a:bodyPr/>
                    <a:lstStyle/>
                    <a:p>
                      <a:r>
                        <a:rPr sz="1200" b="0">
                          <a:solidFill>
                            <a:srgbClr val="343D42"/>
                          </a:solidFill>
                          <a:latin typeface="Arial"/>
                          <a:ea typeface="Arial"/>
                          <a:cs typeface="Arial"/>
                        </a:rPr>
                        <a:t>Price per square foot</a:t>
                      </a:r>
                    </a:p>
                  </a:txBody>
                  <a:tcPr marL="47625" marR="47625" marT="19050" marB="19050" anchor="ctr">
                    <a:solidFill>
                      <a:srgbClr val="F3F5F6"/>
                    </a:solidFill>
                  </a:tcPr>
                </a:tc>
                <a:tc>
                  <a:txBody>
                    <a:bodyPr/>
                    <a:lstStyle/>
                    <a:p>
                      <a:r>
                        <a:rPr sz="1200" b="0">
                          <a:solidFill>
                            <a:srgbClr val="343D42"/>
                          </a:solidFill>
                          <a:latin typeface="Arial"/>
                          <a:ea typeface="Arial"/>
                          <a:cs typeface="Arial"/>
                        </a:rPr>
                        <a:t>$181 PSF</a:t>
                      </a:r>
                    </a:p>
                  </a:txBody>
                  <a:tcPr marL="47625" marR="47625" marT="19050" marB="19050" anchor="ctr">
                    <a:solidFill>
                      <a:srgbClr val="F3F5F6"/>
                    </a:solidFill>
                  </a:tcPr>
                </a:tc>
              </a:tr>
              <a:tr h="349568">
                <a:tc>
                  <a:txBody>
                    <a:bodyPr/>
                    <a:lstStyle/>
                    <a:p>
                      <a:r>
                        <a:rPr sz="1200" b="0">
                          <a:solidFill>
                            <a:srgbClr val="343D42"/>
                          </a:solidFill>
                          <a:latin typeface="Arial"/>
                          <a:ea typeface="Arial"/>
                          <a:cs typeface="Arial"/>
                        </a:rPr>
                        <a:t>Cap rate</a:t>
                      </a:r>
                    </a:p>
                  </a:txBody>
                  <a:tcPr marL="47625" marR="47625" marT="19050" marB="19050" anchor="ctr">
                    <a:solidFill>
                      <a:srgbClr val="FFFFFF"/>
                    </a:solidFill>
                  </a:tcPr>
                </a:tc>
                <a:tc>
                  <a:txBody>
                    <a:bodyPr/>
                    <a:lstStyle/>
                    <a:p>
                      <a:r>
                        <a:rPr sz="1200" b="0">
                          <a:solidFill>
                            <a:srgbClr val="343D42"/>
                          </a:solidFill>
                          <a:latin typeface="Arial"/>
                          <a:ea typeface="Arial"/>
                          <a:cs typeface="Arial"/>
                        </a:rPr>
                        <a:t>9.6%</a:t>
                      </a:r>
                    </a:p>
                  </a:txBody>
                  <a:tcPr marL="47625" marR="47625" marT="19050" marB="19050" anchor="ctr">
                    <a:solidFill>
                      <a:srgbClr val="FFFFFF"/>
                    </a:solidFill>
                  </a:tcPr>
                </a:tc>
              </a:tr>
              <a:tr h="349568">
                <a:tc>
                  <a:txBody>
                    <a:bodyPr/>
                    <a:lstStyle/>
                    <a:p>
                      <a:r>
                        <a:rPr sz="1200" b="0">
                          <a:solidFill>
                            <a:srgbClr val="343D42"/>
                          </a:solidFill>
                          <a:latin typeface="Arial"/>
                          <a:ea typeface="Arial"/>
                          <a:cs typeface="Arial"/>
                        </a:rPr>
                        <a:t>Land area</a:t>
                      </a:r>
                    </a:p>
                  </a:txBody>
                  <a:tcPr marL="47625" marR="47625" marT="19050" marB="19050" anchor="ctr">
                    <a:solidFill>
                      <a:srgbClr val="F3F5F6"/>
                    </a:solidFill>
                  </a:tcPr>
                </a:tc>
                <a:tc>
                  <a:txBody>
                    <a:bodyPr/>
                    <a:lstStyle/>
                    <a:p>
                      <a:r>
                        <a:rPr sz="1200" b="0">
                          <a:solidFill>
                            <a:srgbClr val="343D42"/>
                          </a:solidFill>
                          <a:latin typeface="Arial"/>
                          <a:ea typeface="Arial"/>
                          <a:cs typeface="Arial"/>
                        </a:rPr>
                        <a:t>15.1 acres</a:t>
                      </a:r>
                    </a:p>
                  </a:txBody>
                  <a:tcPr marL="47625" marR="47625" marT="19050" marB="19050" anchor="ctr">
                    <a:solidFill>
                      <a:srgbClr val="F3F5F6"/>
                    </a:solidFill>
                  </a:tcPr>
                </a:tc>
              </a:tr>
              <a:tr h="349568">
                <a:tc>
                  <a:txBody>
                    <a:bodyPr/>
                    <a:lstStyle/>
                    <a:p>
                      <a:r>
                        <a:rPr sz="1200" b="0">
                          <a:solidFill>
                            <a:srgbClr val="343D42"/>
                          </a:solidFill>
                          <a:latin typeface="Arial"/>
                          <a:ea typeface="Arial"/>
                          <a:cs typeface="Arial"/>
                        </a:rPr>
                        <a:t>Year built / renovated</a:t>
                      </a:r>
                    </a:p>
                  </a:txBody>
                  <a:tcPr marL="47625" marR="47625" marT="19050" marB="19050" anchor="ctr">
                    <a:solidFill>
                      <a:srgbClr val="FFFFFF"/>
                    </a:solidFill>
                  </a:tcPr>
                </a:tc>
                <a:tc>
                  <a:txBody>
                    <a:bodyPr/>
                    <a:lstStyle/>
                    <a:p>
                      <a:r>
                        <a:rPr sz="1200" b="0">
                          <a:solidFill>
                            <a:srgbClr val="343D42"/>
                          </a:solidFill>
                          <a:latin typeface="Arial"/>
                          <a:ea typeface="Arial"/>
                          <a:cs typeface="Arial"/>
                        </a:rPr>
                        <a:t>1965</a:t>
                      </a:r>
                    </a:p>
                  </a:txBody>
                  <a:tcPr marL="47625" marR="47625" marT="19050" marB="19050" anchor="ctr">
                    <a:solidFill>
                      <a:srgbClr val="FFFFFF"/>
                    </a:solidFill>
                  </a:tcPr>
                </a:tc>
              </a:tr>
              <a:tr h="349568">
                <a:tc>
                  <a:txBody>
                    <a:bodyPr/>
                    <a:lstStyle/>
                    <a:p>
                      <a:r>
                        <a:rPr sz="1200" b="0">
                          <a:solidFill>
                            <a:srgbClr val="343D42"/>
                          </a:solidFill>
                          <a:latin typeface="Arial"/>
                          <a:ea typeface="Arial"/>
                          <a:cs typeface="Arial"/>
                        </a:rPr>
                        <a:t>Occupancy</a:t>
                      </a:r>
                    </a:p>
                  </a:txBody>
                  <a:tcPr marL="47625" marR="47625" marT="19050" marB="19050" anchor="ctr">
                    <a:solidFill>
                      <a:srgbClr val="F3F5F6"/>
                    </a:solidFill>
                  </a:tcPr>
                </a:tc>
                <a:tc>
                  <a:txBody>
                    <a:bodyPr/>
                    <a:lstStyle/>
                    <a:p>
                      <a:r>
                        <a:rPr sz="1200" b="0">
                          <a:solidFill>
                            <a:srgbClr val="343D42"/>
                          </a:solidFill>
                          <a:latin typeface="Arial"/>
                          <a:ea typeface="Arial"/>
                          <a:cs typeface="Arial"/>
                        </a:rPr>
                        <a:t>100% leased</a:t>
                      </a:r>
                    </a:p>
                  </a:txBody>
                  <a:tcPr marL="47625" marR="47625" marT="19050" marB="19050" anchor="ctr">
                    <a:solidFill>
                      <a:srgbClr val="F3F5F6"/>
                    </a:solidFill>
                  </a:tcPr>
                </a:tc>
              </a:tr>
              <a:tr h="349568">
                <a:tc>
                  <a:txBody>
                    <a:bodyPr/>
                    <a:lstStyle/>
                    <a:p>
                      <a:r>
                        <a:rPr sz="1200" b="0">
                          <a:solidFill>
                            <a:srgbClr val="343D42"/>
                          </a:solidFill>
                          <a:latin typeface="Arial"/>
                          <a:ea typeface="Arial"/>
                          <a:cs typeface="Arial"/>
                        </a:rPr>
                        <a:t>WALT</a:t>
                      </a:r>
                    </a:p>
                  </a:txBody>
                  <a:tcPr marL="47625" marR="47625" marT="19050" marB="19050" anchor="ctr">
                    <a:solidFill>
                      <a:srgbClr val="FFFFFF"/>
                    </a:solidFill>
                  </a:tcPr>
                </a:tc>
                <a:tc>
                  <a:txBody>
                    <a:bodyPr/>
                    <a:lstStyle/>
                    <a:p>
                      <a:r>
                        <a:rPr sz="1200" b="0">
                          <a:solidFill>
                            <a:srgbClr val="343D42"/>
                          </a:solidFill>
                          <a:latin typeface="Arial"/>
                          <a:ea typeface="Arial"/>
                          <a:cs typeface="Arial"/>
                        </a:rPr>
                        <a:t>5.0 years</a:t>
                      </a:r>
                    </a:p>
                  </a:txBody>
                  <a:tcPr marL="47625" marR="47625" marT="19050" marB="19050" anchor="ctr">
                    <a:solidFill>
                      <a:srgbClr val="FFFFFF"/>
                    </a:solidFill>
                  </a:tcPr>
                </a:tc>
              </a:tr>
            </a:tbl>
          </a:graphicData>
        </a:graphic>
      </p:graphicFrame>
      <p:pic>
        <p:nvPicPr>
          <p:cNvPr id="9" name="">
            <a:extLst xmlns:a="http://schemas.openxmlformats.org/drawingml/2006/main">
              <a:ext uri="{FF2B5EF4-FFF2-40B4-BE49-F238E27FC236}">
                <a16:creationId xmlns:a16="http://schemas.microsoft.com/office/drawing/2014/main" id="{E7FCD4F8-8AA7-4969-84A5-6B043225E3F3}"/>
              </a:ext>
            </a:extLst>
          </p:cNvPr>
          <p:cNvPicPr>
            <a:picLocks xmlns:a="http://schemas.openxmlformats.org/drawingml/2006/main" noChangeAspect="1"/>
          </p:cNvPicPr>
          <p:nvPr/>
        </p:nvPicPr>
        <p:blipFill>
          <a:blip xmlns:r="http://schemas.openxmlformats.org/officeDocument/2006/relationships" xmlns:a="http://schemas.openxmlformats.org/drawingml/2006/main" r:embed="R0b4bbb466f8f4769"/>
          <a:stretch xmlns:a="http://schemas.openxmlformats.org/drawingml/2006/main"/>
        </p:blipFill>
        <p:spPr>
          <a:xfrm xmlns:a="http://schemas.openxmlformats.org/drawingml/2006/main">
            <a:off x="6772275" y="1445297"/>
            <a:ext cx="4953000" cy="4053131"/>
          </a:xfrm>
          <a:prstGeom xmlns:a="http://schemas.openxmlformats.org/drawingml/2006/main" prst="rect">
            <a:avLst/>
          </a:prstGeom>
        </p:spPr>
      </p:pic>
    </p:spTree>
    <p:extLst>
      <p:ext uri="{BB962C8B-B14F-4D97-AF65-F5344CB8AC3E}">
        <p14:creationId xmlns:p14="http://schemas.microsoft.com/office/powerpoint/2010/main" val="149434361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DA223CD-CAF1-4424-9779-92455199E83B}"/>
              </a:ext>
            </a:extLst>
          </p:cNvPr>
          <p:cNvSpPr>
            <a:spLocks xmlns:a="http://schemas.openxmlformats.org/drawingml/2006/main" noGrp="1"/>
          </p:cNvSpPr>
          <p:nvPr/>
        </p:nvSpPr>
        <p:spPr>
          <a:xfrm xmlns:a="http://schemas.openxmlformats.org/drawingml/2006/main">
            <a:off x="457200" y="276225"/>
            <a:ext cx="11277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343D42"/>
                </a:solidFill>
                <a:latin typeface="Arial"/>
                <a:ea typeface="Arial"/>
                <a:cs typeface="Arial"/>
              </a:defRPr>
            </a:defPPr>
          </a:lstStyle>
          <a:p xmlns:a="http://schemas.openxmlformats.org/drawingml/2006/main">
            <a:pPr>
              <a:defRPr sz="2100" b="1">
                <a:solidFill>
                  <a:srgbClr val="343D42"/>
                </a:solidFill>
                <a:latin typeface="Arial"/>
                <a:ea typeface="Arial"/>
                <a:cs typeface="Arial"/>
              </a:defRPr>
            </a:pPr>
            <a:r>
              <a:rPr sz="2100" b="1">
                <a:solidFill>
                  <a:srgbClr val="343D42"/>
                </a:solidFill>
                <a:latin typeface="Arial"/>
                <a:ea typeface="Arial"/>
                <a:cs typeface="Arial"/>
              </a:rPr>
              <a:t>Property Overview</a:t>
            </a:r>
          </a:p>
        </p:txBody>
      </p:sp>
      <p:sp>
        <p:nvSpPr>
          <p:cNvPr id="2" name="">
            <a:extLst xmlns:a="http://schemas.openxmlformats.org/drawingml/2006/main">
              <a:ext uri="{FF2B5EF4-FFF2-40B4-BE49-F238E27FC236}">
                <a16:creationId xmlns:a16="http://schemas.microsoft.com/office/drawing/2014/main" id="{D7A3628E-19BC-4254-B03A-B930B004E5F8}"/>
              </a:ext>
            </a:extLst>
          </p:cNvPr>
          <p:cNvSpPr>
            <a:spLocks xmlns:a="http://schemas.openxmlformats.org/drawingml/2006/main" noGrp="1"/>
          </p:cNvSpPr>
          <p:nvPr/>
        </p:nvSpPr>
        <p:spPr>
          <a:xfrm xmlns:a="http://schemas.openxmlformats.org/drawingml/2006/main">
            <a:off x="457200" y="800100"/>
            <a:ext cx="11277600" cy="9525"/>
          </a:xfrm>
          <a:prstGeom xmlns:a="http://schemas.openxmlformats.org/drawingml/2006/main" prst="rect">
            <a:avLst/>
          </a:prstGeom>
          <a:solidFill xmlns:a="http://schemas.openxmlformats.org/drawingml/2006/main">
            <a:srgbClr val="B9B9B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9AECDFE-A009-46EB-9B41-F1FB130A39EF}"/>
              </a:ext>
            </a:extLst>
          </p:cNvPr>
          <p:cNvSpPr>
            <a:spLocks xmlns:a="http://schemas.openxmlformats.org/drawingml/2006/main" noGrp="1"/>
          </p:cNvSpPr>
          <p:nvPr/>
        </p:nvSpPr>
        <p:spPr>
          <a:xfrm xmlns:a="http://schemas.openxmlformats.org/drawingml/2006/main">
            <a:off x="457200" y="6257925"/>
            <a:ext cx="11277600" cy="38100"/>
          </a:xfrm>
          <a:prstGeom xmlns:a="http://schemas.openxmlformats.org/drawingml/2006/main" prst="rect">
            <a:avLst/>
          </a:prstGeom>
          <a:solidFill xmlns:a="http://schemas.openxmlformats.org/drawingml/2006/main">
            <a:srgbClr val="343D4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B0AC2A4-0BC5-48C0-AFC6-73363982C9B9}"/>
              </a:ext>
            </a:extLst>
          </p:cNvPr>
          <p:cNvSpPr>
            <a:spLocks xmlns:a="http://schemas.openxmlformats.org/drawingml/2006/main" noGrp="1"/>
          </p:cNvSpPr>
          <p:nvPr/>
        </p:nvSpPr>
        <p:spPr>
          <a:xfrm xmlns:a="http://schemas.openxmlformats.org/drawingml/2006/main">
            <a:off x="457200" y="6238875"/>
            <a:ext cx="11277600" cy="19050"/>
          </a:xfrm>
          <a:prstGeom xmlns:a="http://schemas.openxmlformats.org/drawingml/2006/main" prst="rect">
            <a:avLst/>
          </a:prstGeom>
          <a:solidFill xmlns:a="http://schemas.openxmlformats.org/drawingml/2006/main">
            <a:srgbClr val="C2674B"/>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C522DF57-912E-4D75-A412-AE4172B5046D}"/>
              </a:ext>
            </a:extLst>
          </p:cNvPr>
          <p:cNvPicPr>
            <a:picLocks xmlns:a="http://schemas.openxmlformats.org/drawingml/2006/main" noChangeAspect="1"/>
          </p:cNvPicPr>
          <p:nvPr/>
        </p:nvPicPr>
        <p:blipFill>
          <a:blip xmlns:r="http://schemas.openxmlformats.org/officeDocument/2006/relationships" xmlns:a="http://schemas.openxmlformats.org/drawingml/2006/main" r:embed="R51546f45a3c946db"/>
          <a:stretch xmlns:a="http://schemas.openxmlformats.org/drawingml/2006/main"/>
        </p:blipFill>
        <p:spPr>
          <a:xfrm xmlns:a="http://schemas.openxmlformats.org/drawingml/2006/main">
            <a:off x="457200" y="6387465"/>
            <a:ext cx="1609725" cy="32194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ACDD63E-AFF1-449C-B594-4183E5095094}"/>
              </a:ext>
            </a:extLst>
          </p:cNvPr>
          <p:cNvSpPr>
            <a:spLocks xmlns:a="http://schemas.openxmlformats.org/drawingml/2006/main" noGrp="1"/>
          </p:cNvSpPr>
          <p:nvPr/>
        </p:nvSpPr>
        <p:spPr>
          <a:xfrm xmlns:a="http://schemas.openxmlformats.org/drawingml/2006/main">
            <a:off x="11382375" y="64579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747474"/>
                </a:solidFill>
                <a:latin typeface="Arial"/>
                <a:ea typeface="Arial"/>
                <a:cs typeface="Arial"/>
              </a:defRPr>
            </a:defPPr>
          </a:lstStyle>
          <a:p xmlns:a="http://schemas.openxmlformats.org/drawingml/2006/main">
            <a:pPr>
              <a:defRPr sz="900" b="0">
                <a:solidFill>
                  <a:srgbClr val="747474"/>
                </a:solidFill>
                <a:latin typeface="Arial"/>
                <a:ea typeface="Arial"/>
                <a:cs typeface="Arial"/>
              </a:defRPr>
            </a:pPr>
            <a:r>
              <a:rPr sz="900" b="0">
                <a:solidFill>
                  <a:srgbClr val="747474"/>
                </a:solidFill>
                <a:latin typeface="Arial"/>
                <a:ea typeface="Arial"/>
                <a:cs typeface="Arial"/>
              </a:rPr>
              <a:t>5</a:t>
            </a:r>
          </a:p>
        </p:txBody>
      </p:sp>
      <p:pic>
        <p:nvPicPr>
          <p:cNvPr id="7" name="">
            <a:extLst xmlns:a="http://schemas.openxmlformats.org/drawingml/2006/main">
              <a:ext uri="{FF2B5EF4-FFF2-40B4-BE49-F238E27FC236}">
                <a16:creationId xmlns:a16="http://schemas.microsoft.com/office/drawing/2014/main" id="{15C0B031-CEC0-45D4-8FBB-3A9113A9485B}"/>
              </a:ext>
            </a:extLst>
          </p:cNvPr>
          <p:cNvPicPr>
            <a:picLocks xmlns:a="http://schemas.openxmlformats.org/drawingml/2006/main" noChangeAspect="1"/>
          </p:cNvPicPr>
          <p:nvPr/>
        </p:nvPicPr>
        <p:blipFill>
          <a:blip xmlns:r="http://schemas.openxmlformats.org/officeDocument/2006/relationships" xmlns:a="http://schemas.openxmlformats.org/drawingml/2006/main" r:embed="Rb8e9d4d534d04322"/>
          <a:stretch xmlns:a="http://schemas.openxmlformats.org/drawingml/2006/main"/>
        </p:blipFill>
        <p:spPr>
          <a:xfrm xmlns:a="http://schemas.openxmlformats.org/drawingml/2006/main">
            <a:off x="698557" y="1047750"/>
            <a:ext cx="6718187" cy="4972050"/>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5C263312-44E0-456E-9369-7266A78BDAAD}"/>
              </a:ext>
            </a:extLst>
          </p:cNvPr>
          <p:cNvGraphicFramePr/>
          <p:nvPr/>
        </p:nvGraphicFramePr>
        <p:xfrm>
          <a:off xmlns:a="http://schemas.openxmlformats.org/drawingml/2006/main" x="7867650" y="1019175"/>
          <a:ext xmlns:a="http://schemas.openxmlformats.org/drawingml/2006/main" cx="3867150" cy="4972050"/>
        </p:xfrm>
        <a:graphic xmlns:a="http://schemas.openxmlformats.org/drawingml/2006/main">
          <a:graphicData uri="http://schemas.openxmlformats.org/drawingml/2006/table">
            <a:tbl>
              <a:tblPr/>
              <a:tblGrid>
                <a:gridCol w="781050"/>
                <a:gridCol w="2419350"/>
                <a:gridCol w="666750"/>
              </a:tblGrid>
              <a:tr h="198882">
                <a:tc>
                  <a:txBody>
                    <a:bodyPr/>
                    <a:lstStyle/>
                    <a:p>
                      <a:r>
                        <a:rPr sz="900" b="1">
                          <a:solidFill>
                            <a:srgbClr val="FFFFFF"/>
                          </a:solidFill>
                          <a:latin typeface="Arial"/>
                          <a:ea typeface="Arial"/>
                          <a:cs typeface="Arial"/>
                        </a:rPr>
                        <a:t>Suite</a:t>
                      </a:r>
                    </a:p>
                  </a:txBody>
                  <a:tcPr marL="47625" marR="47625" marT="19050" marB="19050" anchor="ctr">
                    <a:solidFill>
                      <a:srgbClr val="213C66"/>
                    </a:solidFill>
                  </a:tcPr>
                </a:tc>
                <a:tc>
                  <a:txBody>
                    <a:bodyPr/>
                    <a:lstStyle/>
                    <a:p>
                      <a:r>
                        <a:rPr sz="900" b="1">
                          <a:solidFill>
                            <a:srgbClr val="FFFFFF"/>
                          </a:solidFill>
                          <a:latin typeface="Arial"/>
                          <a:ea typeface="Arial"/>
                          <a:cs typeface="Arial"/>
                        </a:rPr>
                        <a:t>Tenant</a:t>
                      </a:r>
                    </a:p>
                  </a:txBody>
                  <a:tcPr marL="47625" marR="47625" marT="19050" marB="19050" anchor="ctr">
                    <a:solidFill>
                      <a:srgbClr val="213C66"/>
                    </a:solidFill>
                  </a:tcPr>
                </a:tc>
                <a:tc>
                  <a:txBody>
                    <a:bodyPr/>
                    <a:lstStyle/>
                    <a:p>
                      <a:r>
                        <a:rPr sz="900" b="1">
                          <a:solidFill>
                            <a:srgbClr val="FFFFFF"/>
                          </a:solidFill>
                          <a:latin typeface="Arial"/>
                          <a:ea typeface="Arial"/>
                          <a:cs typeface="Arial"/>
                        </a:rPr>
                        <a:t>SF</a:t>
                      </a:r>
                    </a:p>
                  </a:txBody>
                  <a:tcPr marL="47625" marR="47625" marT="19050" marB="19050" anchor="ctr">
                    <a:solidFill>
                      <a:srgbClr val="213C66"/>
                    </a:solidFill>
                  </a:tcPr>
                </a:tc>
              </a:tr>
              <a:tr h="198882">
                <a:tc>
                  <a:txBody>
                    <a:bodyPr/>
                    <a:lstStyle/>
                    <a:p>
                      <a:r>
                        <a:rPr sz="900" b="0">
                          <a:solidFill>
                            <a:srgbClr val="343D42"/>
                          </a:solidFill>
                          <a:latin typeface="Arial"/>
                          <a:ea typeface="Arial"/>
                          <a:cs typeface="Arial"/>
                        </a:rPr>
                        <a:t>2139</a:t>
                      </a:r>
                    </a:p>
                  </a:txBody>
                  <a:tcPr marL="47625" marR="47625" marT="19050" marB="19050" anchor="ctr">
                    <a:solidFill>
                      <a:srgbClr val="FFFFFF"/>
                    </a:solidFill>
                  </a:tcPr>
                </a:tc>
                <a:tc>
                  <a:txBody>
                    <a:bodyPr/>
                    <a:lstStyle/>
                    <a:p>
                      <a:r>
                        <a:rPr sz="900" b="0">
                          <a:solidFill>
                            <a:srgbClr val="343D42"/>
                          </a:solidFill>
                          <a:latin typeface="Arial"/>
                          <a:ea typeface="Arial"/>
                          <a:cs typeface="Arial"/>
                        </a:rPr>
                        <a:t>Nails One</a:t>
                      </a:r>
                    </a:p>
                  </a:txBody>
                  <a:tcPr marL="47625" marR="47625" marT="19050" marB="19050" anchor="ctr">
                    <a:solidFill>
                      <a:srgbClr val="FFFFFF"/>
                    </a:solidFill>
                  </a:tcPr>
                </a:tc>
                <a:tc>
                  <a:txBody>
                    <a:bodyPr/>
                    <a:lstStyle/>
                    <a:p>
                      <a:r>
                        <a:rPr sz="900" b="0">
                          <a:solidFill>
                            <a:srgbClr val="343D42"/>
                          </a:solidFill>
                          <a:latin typeface="Arial"/>
                          <a:ea typeface="Arial"/>
                          <a:cs typeface="Arial"/>
                        </a:rPr>
                        <a:t>1,200</a:t>
                      </a:r>
                    </a:p>
                  </a:txBody>
                  <a:tcPr marL="47625" marR="47625" marT="19050" marB="19050" anchor="ctr">
                    <a:solidFill>
                      <a:srgbClr val="FFFFFF"/>
                    </a:solidFill>
                  </a:tcPr>
                </a:tc>
              </a:tr>
              <a:tr h="198882">
                <a:tc>
                  <a:txBody>
                    <a:bodyPr/>
                    <a:lstStyle/>
                    <a:p>
                      <a:r>
                        <a:rPr sz="900" b="0">
                          <a:solidFill>
                            <a:srgbClr val="343D42"/>
                          </a:solidFill>
                          <a:latin typeface="Arial"/>
                          <a:ea typeface="Arial"/>
                          <a:cs typeface="Arial"/>
                        </a:rPr>
                        <a:t>2129</a:t>
                      </a:r>
                    </a:p>
                  </a:txBody>
                  <a:tcPr marL="47625" marR="47625" marT="19050" marB="19050" anchor="ctr">
                    <a:solidFill>
                      <a:srgbClr val="F3F5F6"/>
                    </a:solidFill>
                  </a:tcPr>
                </a:tc>
                <a:tc>
                  <a:txBody>
                    <a:bodyPr/>
                    <a:lstStyle/>
                    <a:p>
                      <a:r>
                        <a:rPr sz="900" b="0">
                          <a:solidFill>
                            <a:srgbClr val="343D42"/>
                          </a:solidFill>
                          <a:latin typeface="Arial"/>
                          <a:ea typeface="Arial"/>
                          <a:cs typeface="Arial"/>
                        </a:rPr>
                        <a:t>Chicken Shack Deli</a:t>
                      </a:r>
                    </a:p>
                  </a:txBody>
                  <a:tcPr marL="47625" marR="47625" marT="19050" marB="19050" anchor="ctr">
                    <a:solidFill>
                      <a:srgbClr val="F3F5F6"/>
                    </a:solidFill>
                  </a:tcPr>
                </a:tc>
                <a:tc>
                  <a:txBody>
                    <a:bodyPr/>
                    <a:lstStyle/>
                    <a:p>
                      <a:r>
                        <a:rPr sz="900" b="0">
                          <a:solidFill>
                            <a:srgbClr val="343D42"/>
                          </a:solidFill>
                          <a:latin typeface="Arial"/>
                          <a:ea typeface="Arial"/>
                          <a:cs typeface="Arial"/>
                        </a:rPr>
                        <a:t>1,500</a:t>
                      </a:r>
                    </a:p>
                  </a:txBody>
                  <a:tcPr marL="47625" marR="47625" marT="19050" marB="19050" anchor="ctr">
                    <a:solidFill>
                      <a:srgbClr val="F3F5F6"/>
                    </a:solidFill>
                  </a:tcPr>
                </a:tc>
              </a:tr>
              <a:tr h="198882">
                <a:tc>
                  <a:txBody>
                    <a:bodyPr/>
                    <a:lstStyle/>
                    <a:p>
                      <a:r>
                        <a:rPr sz="900" b="0">
                          <a:solidFill>
                            <a:srgbClr val="343D42"/>
                          </a:solidFill>
                          <a:latin typeface="Arial"/>
                          <a:ea typeface="Arial"/>
                          <a:cs typeface="Arial"/>
                        </a:rPr>
                        <a:t>2153</a:t>
                      </a:r>
                    </a:p>
                  </a:txBody>
                  <a:tcPr marL="47625" marR="47625" marT="19050" marB="19050" anchor="ctr">
                    <a:solidFill>
                      <a:srgbClr val="FFFFFF"/>
                    </a:solidFill>
                  </a:tcPr>
                </a:tc>
                <a:tc>
                  <a:txBody>
                    <a:bodyPr/>
                    <a:lstStyle/>
                    <a:p>
                      <a:r>
                        <a:rPr sz="900" b="0">
                          <a:solidFill>
                            <a:srgbClr val="343D42"/>
                          </a:solidFill>
                          <a:latin typeface="Arial"/>
                          <a:ea typeface="Arial"/>
                          <a:cs typeface="Arial"/>
                        </a:rPr>
                        <a:t>Le’s Barber Shop</a:t>
                      </a:r>
                    </a:p>
                  </a:txBody>
                  <a:tcPr marL="47625" marR="47625" marT="19050" marB="19050" anchor="ctr">
                    <a:solidFill>
                      <a:srgbClr val="FFFFFF"/>
                    </a:solidFill>
                  </a:tcPr>
                </a:tc>
                <a:tc>
                  <a:txBody>
                    <a:bodyPr/>
                    <a:lstStyle/>
                    <a:p>
                      <a:r>
                        <a:rPr sz="900" b="0">
                          <a:solidFill>
                            <a:srgbClr val="343D42"/>
                          </a:solidFill>
                          <a:latin typeface="Arial"/>
                          <a:ea typeface="Arial"/>
                          <a:cs typeface="Arial"/>
                        </a:rPr>
                        <a:t>1,855</a:t>
                      </a:r>
                    </a:p>
                  </a:txBody>
                  <a:tcPr marL="47625" marR="47625" marT="19050" marB="19050" anchor="ctr">
                    <a:solidFill>
                      <a:srgbClr val="FFFFFF"/>
                    </a:solidFill>
                  </a:tcPr>
                </a:tc>
              </a:tr>
              <a:tr h="198882">
                <a:tc>
                  <a:txBody>
                    <a:bodyPr/>
                    <a:lstStyle/>
                    <a:p>
                      <a:r>
                        <a:rPr sz="900" b="0">
                          <a:solidFill>
                            <a:srgbClr val="343D42"/>
                          </a:solidFill>
                          <a:latin typeface="Arial"/>
                          <a:ea typeface="Arial"/>
                          <a:cs typeface="Arial"/>
                        </a:rPr>
                        <a:t>2109</a:t>
                      </a:r>
                    </a:p>
                  </a:txBody>
                  <a:tcPr marL="47625" marR="47625" marT="19050" marB="19050" anchor="ctr">
                    <a:solidFill>
                      <a:srgbClr val="F3F5F6"/>
                    </a:solidFill>
                  </a:tcPr>
                </a:tc>
                <a:tc>
                  <a:txBody>
                    <a:bodyPr/>
                    <a:lstStyle/>
                    <a:p>
                      <a:r>
                        <a:rPr sz="900" b="0">
                          <a:solidFill>
                            <a:srgbClr val="343D42"/>
                          </a:solidFill>
                          <a:latin typeface="Arial"/>
                          <a:ea typeface="Arial"/>
                          <a:cs typeface="Arial"/>
                        </a:rPr>
                        <a:t>Bargain Outlet</a:t>
                      </a:r>
                    </a:p>
                  </a:txBody>
                  <a:tcPr marL="47625" marR="47625" marT="19050" marB="19050" anchor="ctr">
                    <a:solidFill>
                      <a:srgbClr val="F3F5F6"/>
                    </a:solidFill>
                  </a:tcPr>
                </a:tc>
                <a:tc>
                  <a:txBody>
                    <a:bodyPr/>
                    <a:lstStyle/>
                    <a:p>
                      <a:r>
                        <a:rPr sz="900" b="0">
                          <a:solidFill>
                            <a:srgbClr val="343D42"/>
                          </a:solidFill>
                          <a:latin typeface="Arial"/>
                          <a:ea typeface="Arial"/>
                          <a:cs typeface="Arial"/>
                        </a:rPr>
                        <a:t>2,646</a:t>
                      </a:r>
                    </a:p>
                  </a:txBody>
                  <a:tcPr marL="47625" marR="47625" marT="19050" marB="19050" anchor="ctr">
                    <a:solidFill>
                      <a:srgbClr val="F3F5F6"/>
                    </a:solidFill>
                  </a:tcPr>
                </a:tc>
              </a:tr>
              <a:tr h="198882">
                <a:tc>
                  <a:txBody>
                    <a:bodyPr/>
                    <a:lstStyle/>
                    <a:p>
                      <a:r>
                        <a:rPr sz="900" b="0">
                          <a:solidFill>
                            <a:srgbClr val="343D42"/>
                          </a:solidFill>
                          <a:latin typeface="Arial"/>
                          <a:ea typeface="Arial"/>
                          <a:cs typeface="Arial"/>
                        </a:rPr>
                        <a:t>2131</a:t>
                      </a:r>
                    </a:p>
                  </a:txBody>
                  <a:tcPr marL="47625" marR="47625" marT="19050" marB="19050" anchor="ctr">
                    <a:solidFill>
                      <a:srgbClr val="FFFFFF"/>
                    </a:solidFill>
                  </a:tcPr>
                </a:tc>
                <a:tc>
                  <a:txBody>
                    <a:bodyPr/>
                    <a:lstStyle/>
                    <a:p>
                      <a:r>
                        <a:rPr sz="900" b="0">
                          <a:solidFill>
                            <a:srgbClr val="343D42"/>
                          </a:solidFill>
                          <a:latin typeface="Arial"/>
                          <a:ea typeface="Arial"/>
                          <a:cs typeface="Arial"/>
                        </a:rPr>
                        <a:t>Little Caesar’s Pizza</a:t>
                      </a:r>
                    </a:p>
                  </a:txBody>
                  <a:tcPr marL="47625" marR="47625" marT="19050" marB="19050" anchor="ctr">
                    <a:solidFill>
                      <a:srgbClr val="FFFFFF"/>
                    </a:solidFill>
                  </a:tcPr>
                </a:tc>
                <a:tc>
                  <a:txBody>
                    <a:bodyPr/>
                    <a:lstStyle/>
                    <a:p>
                      <a:r>
                        <a:rPr sz="900" b="0">
                          <a:solidFill>
                            <a:srgbClr val="343D42"/>
                          </a:solidFill>
                          <a:latin typeface="Arial"/>
                          <a:ea typeface="Arial"/>
                          <a:cs typeface="Arial"/>
                        </a:rPr>
                        <a:t>1,920</a:t>
                      </a:r>
                    </a:p>
                  </a:txBody>
                  <a:tcPr marL="47625" marR="47625" marT="19050" marB="19050" anchor="ctr">
                    <a:solidFill>
                      <a:srgbClr val="FFFFFF"/>
                    </a:solidFill>
                  </a:tcPr>
                </a:tc>
              </a:tr>
              <a:tr h="198882">
                <a:tc>
                  <a:txBody>
                    <a:bodyPr/>
                    <a:lstStyle/>
                    <a:p>
                      <a:r>
                        <a:rPr sz="900" b="0">
                          <a:solidFill>
                            <a:srgbClr val="343D42"/>
                          </a:solidFill>
                          <a:latin typeface="Arial"/>
                          <a:ea typeface="Arial"/>
                          <a:cs typeface="Arial"/>
                        </a:rPr>
                        <a:t>2113</a:t>
                      </a:r>
                    </a:p>
                  </a:txBody>
                  <a:tcPr marL="47625" marR="47625" marT="19050" marB="19050" anchor="ctr">
                    <a:solidFill>
                      <a:srgbClr val="F3F5F6"/>
                    </a:solidFill>
                  </a:tcPr>
                </a:tc>
                <a:tc>
                  <a:txBody>
                    <a:bodyPr/>
                    <a:lstStyle/>
                    <a:p>
                      <a:r>
                        <a:rPr sz="900" b="0">
                          <a:solidFill>
                            <a:srgbClr val="343D42"/>
                          </a:solidFill>
                          <a:latin typeface="Arial"/>
                          <a:ea typeface="Arial"/>
                          <a:cs typeface="Arial"/>
                        </a:rPr>
                        <a:t>Dollar General</a:t>
                      </a:r>
                    </a:p>
                  </a:txBody>
                  <a:tcPr marL="47625" marR="47625" marT="19050" marB="19050" anchor="ctr">
                    <a:solidFill>
                      <a:srgbClr val="F3F5F6"/>
                    </a:solidFill>
                  </a:tcPr>
                </a:tc>
                <a:tc>
                  <a:txBody>
                    <a:bodyPr/>
                    <a:lstStyle/>
                    <a:p>
                      <a:r>
                        <a:rPr sz="900" b="0">
                          <a:solidFill>
                            <a:srgbClr val="343D42"/>
                          </a:solidFill>
                          <a:latin typeface="Arial"/>
                          <a:ea typeface="Arial"/>
                          <a:cs typeface="Arial"/>
                        </a:rPr>
                        <a:t>12,286</a:t>
                      </a:r>
                    </a:p>
                  </a:txBody>
                  <a:tcPr marL="47625" marR="47625" marT="19050" marB="19050" anchor="ctr">
                    <a:solidFill>
                      <a:srgbClr val="F3F5F6"/>
                    </a:solidFill>
                  </a:tcPr>
                </a:tc>
              </a:tr>
              <a:tr h="198882">
                <a:tc>
                  <a:txBody>
                    <a:bodyPr/>
                    <a:lstStyle/>
                    <a:p>
                      <a:r>
                        <a:rPr sz="900" b="0">
                          <a:solidFill>
                            <a:srgbClr val="343D42"/>
                          </a:solidFill>
                          <a:latin typeface="Arial"/>
                          <a:ea typeface="Arial"/>
                          <a:cs typeface="Arial"/>
                        </a:rPr>
                        <a:t>2157</a:t>
                      </a:r>
                    </a:p>
                  </a:txBody>
                  <a:tcPr marL="47625" marR="47625" marT="19050" marB="19050" anchor="ctr">
                    <a:solidFill>
                      <a:srgbClr val="FFFFFF"/>
                    </a:solidFill>
                  </a:tcPr>
                </a:tc>
                <a:tc>
                  <a:txBody>
                    <a:bodyPr/>
                    <a:lstStyle/>
                    <a:p>
                      <a:r>
                        <a:rPr sz="900" b="0">
                          <a:solidFill>
                            <a:srgbClr val="343D42"/>
                          </a:solidFill>
                          <a:latin typeface="Arial"/>
                          <a:ea typeface="Arial"/>
                          <a:cs typeface="Arial"/>
                        </a:rPr>
                        <a:t>Shanghai Carryout</a:t>
                      </a:r>
                    </a:p>
                  </a:txBody>
                  <a:tcPr marL="47625" marR="47625" marT="19050" marB="19050" anchor="ctr">
                    <a:solidFill>
                      <a:srgbClr val="FFFFFF"/>
                    </a:solidFill>
                  </a:tcPr>
                </a:tc>
                <a:tc>
                  <a:txBody>
                    <a:bodyPr/>
                    <a:lstStyle/>
                    <a:p>
                      <a:r>
                        <a:rPr sz="900" b="0">
                          <a:solidFill>
                            <a:srgbClr val="343D42"/>
                          </a:solidFill>
                          <a:latin typeface="Arial"/>
                          <a:ea typeface="Arial"/>
                          <a:cs typeface="Arial"/>
                        </a:rPr>
                        <a:t>1,125</a:t>
                      </a:r>
                    </a:p>
                  </a:txBody>
                  <a:tcPr marL="47625" marR="47625" marT="19050" marB="19050" anchor="ctr">
                    <a:solidFill>
                      <a:srgbClr val="FFFFFF"/>
                    </a:solidFill>
                  </a:tcPr>
                </a:tc>
              </a:tr>
              <a:tr h="198882">
                <a:tc>
                  <a:txBody>
                    <a:bodyPr/>
                    <a:lstStyle/>
                    <a:p>
                      <a:r>
                        <a:rPr sz="900" b="0">
                          <a:solidFill>
                            <a:srgbClr val="343D42"/>
                          </a:solidFill>
                          <a:latin typeface="Arial"/>
                          <a:ea typeface="Arial"/>
                          <a:cs typeface="Arial"/>
                        </a:rPr>
                        <a:t>2121</a:t>
                      </a:r>
                    </a:p>
                  </a:txBody>
                  <a:tcPr marL="47625" marR="47625" marT="19050" marB="19050" anchor="ctr">
                    <a:solidFill>
                      <a:srgbClr val="F3F5F6"/>
                    </a:solidFill>
                  </a:tcPr>
                </a:tc>
                <a:tc>
                  <a:txBody>
                    <a:bodyPr/>
                    <a:lstStyle/>
                    <a:p>
                      <a:r>
                        <a:rPr sz="900" b="0">
                          <a:solidFill>
                            <a:srgbClr val="343D42"/>
                          </a:solidFill>
                          <a:latin typeface="Arial"/>
                          <a:ea typeface="Arial"/>
                          <a:cs typeface="Arial"/>
                        </a:rPr>
                        <a:t>Hollins Beauty</a:t>
                      </a:r>
                    </a:p>
                  </a:txBody>
                  <a:tcPr marL="47625" marR="47625" marT="19050" marB="19050" anchor="ctr">
                    <a:solidFill>
                      <a:srgbClr val="F3F5F6"/>
                    </a:solidFill>
                  </a:tcPr>
                </a:tc>
                <a:tc>
                  <a:txBody>
                    <a:bodyPr/>
                    <a:lstStyle/>
                    <a:p>
                      <a:r>
                        <a:rPr sz="900" b="0">
                          <a:solidFill>
                            <a:srgbClr val="343D42"/>
                          </a:solidFill>
                          <a:latin typeface="Arial"/>
                          <a:ea typeface="Arial"/>
                          <a:cs typeface="Arial"/>
                        </a:rPr>
                        <a:t>3,600</a:t>
                      </a:r>
                    </a:p>
                  </a:txBody>
                  <a:tcPr marL="47625" marR="47625" marT="19050" marB="19050" anchor="ctr">
                    <a:solidFill>
                      <a:srgbClr val="F3F5F6"/>
                    </a:solidFill>
                  </a:tcPr>
                </a:tc>
              </a:tr>
              <a:tr h="198882">
                <a:tc>
                  <a:txBody>
                    <a:bodyPr/>
                    <a:lstStyle/>
                    <a:p>
                      <a:r>
                        <a:rPr sz="900" b="0">
                          <a:solidFill>
                            <a:srgbClr val="343D42"/>
                          </a:solidFill>
                          <a:latin typeface="Arial"/>
                          <a:ea typeface="Arial"/>
                          <a:cs typeface="Arial"/>
                        </a:rPr>
                        <a:t>2107</a:t>
                      </a:r>
                    </a:p>
                  </a:txBody>
                  <a:tcPr marL="47625" marR="47625" marT="19050" marB="19050" anchor="ctr">
                    <a:solidFill>
                      <a:srgbClr val="FFFFFF"/>
                    </a:solidFill>
                  </a:tcPr>
                </a:tc>
                <a:tc>
                  <a:txBody>
                    <a:bodyPr/>
                    <a:lstStyle/>
                    <a:p>
                      <a:r>
                        <a:rPr sz="900" b="0">
                          <a:solidFill>
                            <a:srgbClr val="343D42"/>
                          </a:solidFill>
                          <a:latin typeface="Arial"/>
                          <a:ea typeface="Arial"/>
                          <a:cs typeface="Arial"/>
                        </a:rPr>
                        <a:t>Total by Verizon (ABC Phones)</a:t>
                      </a:r>
                    </a:p>
                  </a:txBody>
                  <a:tcPr marL="47625" marR="47625" marT="19050" marB="19050" anchor="ctr">
                    <a:solidFill>
                      <a:srgbClr val="FFFFFF"/>
                    </a:solidFill>
                  </a:tcPr>
                </a:tc>
                <a:tc>
                  <a:txBody>
                    <a:bodyPr/>
                    <a:lstStyle/>
                    <a:p>
                      <a:r>
                        <a:rPr sz="900" b="0">
                          <a:solidFill>
                            <a:srgbClr val="343D42"/>
                          </a:solidFill>
                          <a:latin typeface="Arial"/>
                          <a:ea typeface="Arial"/>
                          <a:cs typeface="Arial"/>
                        </a:rPr>
                        <a:t>1,229</a:t>
                      </a:r>
                    </a:p>
                  </a:txBody>
                  <a:tcPr marL="47625" marR="47625" marT="19050" marB="19050" anchor="ctr">
                    <a:solidFill>
                      <a:srgbClr val="FFFFFF"/>
                    </a:solidFill>
                  </a:tcPr>
                </a:tc>
              </a:tr>
              <a:tr h="198882">
                <a:tc>
                  <a:txBody>
                    <a:bodyPr/>
                    <a:lstStyle/>
                    <a:p>
                      <a:r>
                        <a:rPr sz="900" b="0">
                          <a:solidFill>
                            <a:srgbClr val="343D42"/>
                          </a:solidFill>
                          <a:latin typeface="Arial"/>
                          <a:ea typeface="Arial"/>
                          <a:cs typeface="Arial"/>
                        </a:rPr>
                        <a:t>2149</a:t>
                      </a:r>
                    </a:p>
                  </a:txBody>
                  <a:tcPr marL="47625" marR="47625" marT="19050" marB="19050" anchor="ctr">
                    <a:solidFill>
                      <a:srgbClr val="F3F5F6"/>
                    </a:solidFill>
                  </a:tcPr>
                </a:tc>
                <a:tc>
                  <a:txBody>
                    <a:bodyPr/>
                    <a:lstStyle/>
                    <a:p>
                      <a:r>
                        <a:rPr sz="900" b="0">
                          <a:solidFill>
                            <a:srgbClr val="343D42"/>
                          </a:solidFill>
                          <a:latin typeface="Arial"/>
                          <a:ea typeface="Arial"/>
                          <a:cs typeface="Arial"/>
                        </a:rPr>
                        <a:t>Subway</a:t>
                      </a:r>
                    </a:p>
                  </a:txBody>
                  <a:tcPr marL="47625" marR="47625" marT="19050" marB="19050" anchor="ctr">
                    <a:solidFill>
                      <a:srgbClr val="F3F5F6"/>
                    </a:solidFill>
                  </a:tcPr>
                </a:tc>
                <a:tc>
                  <a:txBody>
                    <a:bodyPr/>
                    <a:lstStyle/>
                    <a:p>
                      <a:r>
                        <a:rPr sz="900" b="0">
                          <a:solidFill>
                            <a:srgbClr val="343D42"/>
                          </a:solidFill>
                          <a:latin typeface="Arial"/>
                          <a:ea typeface="Arial"/>
                          <a:cs typeface="Arial"/>
                        </a:rPr>
                        <a:t>1,125</a:t>
                      </a:r>
                    </a:p>
                  </a:txBody>
                  <a:tcPr marL="47625" marR="47625" marT="19050" marB="19050" anchor="ctr">
                    <a:solidFill>
                      <a:srgbClr val="F3F5F6"/>
                    </a:solidFill>
                  </a:tcPr>
                </a:tc>
              </a:tr>
              <a:tr h="198882">
                <a:tc>
                  <a:txBody>
                    <a:bodyPr/>
                    <a:lstStyle/>
                    <a:p>
                      <a:r>
                        <a:rPr sz="900" b="0">
                          <a:solidFill>
                            <a:srgbClr val="343D42"/>
                          </a:solidFill>
                          <a:latin typeface="Arial"/>
                          <a:ea typeface="Arial"/>
                          <a:cs typeface="Arial"/>
                        </a:rPr>
                        <a:t>2103</a:t>
                      </a:r>
                    </a:p>
                  </a:txBody>
                  <a:tcPr marL="47625" marR="47625" marT="19050" marB="19050" anchor="ctr">
                    <a:solidFill>
                      <a:srgbClr val="FFFFFF"/>
                    </a:solidFill>
                  </a:tcPr>
                </a:tc>
                <a:tc>
                  <a:txBody>
                    <a:bodyPr/>
                    <a:lstStyle/>
                    <a:p>
                      <a:r>
                        <a:rPr sz="900" b="0">
                          <a:solidFill>
                            <a:srgbClr val="343D42"/>
                          </a:solidFill>
                          <a:latin typeface="Arial"/>
                          <a:ea typeface="Arial"/>
                          <a:cs typeface="Arial"/>
                        </a:rPr>
                        <a:t>Healthy Dental</a:t>
                      </a:r>
                    </a:p>
                  </a:txBody>
                  <a:tcPr marL="47625" marR="47625" marT="19050" marB="19050" anchor="ctr">
                    <a:solidFill>
                      <a:srgbClr val="FFFFFF"/>
                    </a:solidFill>
                  </a:tcPr>
                </a:tc>
                <a:tc>
                  <a:txBody>
                    <a:bodyPr/>
                    <a:lstStyle/>
                    <a:p>
                      <a:r>
                        <a:rPr sz="900" b="0">
                          <a:solidFill>
                            <a:srgbClr val="343D42"/>
                          </a:solidFill>
                          <a:latin typeface="Arial"/>
                          <a:ea typeface="Arial"/>
                          <a:cs typeface="Arial"/>
                        </a:rPr>
                        <a:t>3,188</a:t>
                      </a:r>
                    </a:p>
                  </a:txBody>
                  <a:tcPr marL="47625" marR="47625" marT="19050" marB="19050" anchor="ctr">
                    <a:solidFill>
                      <a:srgbClr val="FFFFFF"/>
                    </a:solidFill>
                  </a:tcPr>
                </a:tc>
              </a:tr>
              <a:tr h="198882">
                <a:tc>
                  <a:txBody>
                    <a:bodyPr/>
                    <a:lstStyle/>
                    <a:p>
                      <a:r>
                        <a:rPr sz="900" b="0">
                          <a:solidFill>
                            <a:srgbClr val="343D42"/>
                          </a:solidFill>
                          <a:latin typeface="Arial"/>
                          <a:ea typeface="Arial"/>
                          <a:cs typeface="Arial"/>
                        </a:rPr>
                        <a:t>ATM</a:t>
                      </a:r>
                    </a:p>
                  </a:txBody>
                  <a:tcPr marL="47625" marR="47625" marT="19050" marB="19050" anchor="ctr">
                    <a:solidFill>
                      <a:srgbClr val="F3F5F6"/>
                    </a:solidFill>
                  </a:tcPr>
                </a:tc>
                <a:tc>
                  <a:txBody>
                    <a:bodyPr/>
                    <a:lstStyle/>
                    <a:p>
                      <a:r>
                        <a:rPr sz="900" b="0">
                          <a:solidFill>
                            <a:srgbClr val="343D42"/>
                          </a:solidFill>
                          <a:latin typeface="Arial"/>
                          <a:ea typeface="Arial"/>
                          <a:cs typeface="Arial"/>
                        </a:rPr>
                        <a:t>Bank of America (ATM)</a:t>
                      </a:r>
                    </a:p>
                  </a:txBody>
                  <a:tcPr marL="47625" marR="47625" marT="19050" marB="19050" anchor="ctr">
                    <a:solidFill>
                      <a:srgbClr val="F3F5F6"/>
                    </a:solidFill>
                  </a:tcPr>
                </a:tc>
                <a:tc>
                  <a:txBody>
                    <a:bodyPr/>
                    <a:lstStyle/>
                    <a:p>
                      <a:r>
                        <a:rPr sz="900" b="0">
                          <a:solidFill>
                            <a:srgbClr val="343D42"/>
                          </a:solidFill>
                          <a:latin typeface="Arial"/>
                          <a:ea typeface="Arial"/>
                          <a:cs typeface="Arial"/>
                        </a:rPr>
                        <a:t>–</a:t>
                      </a:r>
                    </a:p>
                  </a:txBody>
                  <a:tcPr marL="47625" marR="47625" marT="19050" marB="19050" anchor="ctr">
                    <a:solidFill>
                      <a:srgbClr val="F3F5F6"/>
                    </a:solidFill>
                  </a:tcPr>
                </a:tc>
              </a:tr>
              <a:tr h="198882">
                <a:tc>
                  <a:txBody>
                    <a:bodyPr/>
                    <a:lstStyle/>
                    <a:p>
                      <a:r>
                        <a:rPr sz="900" b="0">
                          <a:solidFill>
                            <a:srgbClr val="343D42"/>
                          </a:solidFill>
                          <a:latin typeface="Arial"/>
                          <a:ea typeface="Arial"/>
                          <a:cs typeface="Arial"/>
                        </a:rPr>
                        <a:t>2135</a:t>
                      </a:r>
                    </a:p>
                  </a:txBody>
                  <a:tcPr marL="47625" marR="47625" marT="19050" marB="19050" anchor="ctr">
                    <a:solidFill>
                      <a:srgbClr val="FFFFFF"/>
                    </a:solidFill>
                  </a:tcPr>
                </a:tc>
                <a:tc>
                  <a:txBody>
                    <a:bodyPr/>
                    <a:lstStyle/>
                    <a:p>
                      <a:r>
                        <a:rPr sz="900" b="0">
                          <a:solidFill>
                            <a:srgbClr val="343D42"/>
                          </a:solidFill>
                          <a:latin typeface="Arial"/>
                          <a:ea typeface="Arial"/>
                          <a:cs typeface="Arial"/>
                        </a:rPr>
                        <a:t>Famous Pawn Gold Broker</a:t>
                      </a:r>
                    </a:p>
                  </a:txBody>
                  <a:tcPr marL="47625" marR="47625" marT="19050" marB="19050" anchor="ctr">
                    <a:solidFill>
                      <a:srgbClr val="FFFFFF"/>
                    </a:solidFill>
                  </a:tcPr>
                </a:tc>
                <a:tc>
                  <a:txBody>
                    <a:bodyPr/>
                    <a:lstStyle/>
                    <a:p>
                      <a:r>
                        <a:rPr sz="900" b="0">
                          <a:solidFill>
                            <a:srgbClr val="343D42"/>
                          </a:solidFill>
                          <a:latin typeface="Arial"/>
                          <a:ea typeface="Arial"/>
                          <a:cs typeface="Arial"/>
                        </a:rPr>
                        <a:t>2,880</a:t>
                      </a:r>
                    </a:p>
                  </a:txBody>
                  <a:tcPr marL="47625" marR="47625" marT="19050" marB="19050" anchor="ctr">
                    <a:solidFill>
                      <a:srgbClr val="FFFFFF"/>
                    </a:solidFill>
                  </a:tcPr>
                </a:tc>
              </a:tr>
              <a:tr h="198882">
                <a:tc>
                  <a:txBody>
                    <a:bodyPr/>
                    <a:lstStyle/>
                    <a:p>
                      <a:r>
                        <a:rPr sz="900" b="0">
                          <a:solidFill>
                            <a:srgbClr val="343D42"/>
                          </a:solidFill>
                          <a:latin typeface="Arial"/>
                          <a:ea typeface="Arial"/>
                          <a:cs typeface="Arial"/>
                        </a:rPr>
                        <a:t>2205</a:t>
                      </a:r>
                    </a:p>
                  </a:txBody>
                  <a:tcPr marL="47625" marR="47625" marT="19050" marB="19050" anchor="ctr">
                    <a:solidFill>
                      <a:srgbClr val="F3F5F6"/>
                    </a:solidFill>
                  </a:tcPr>
                </a:tc>
                <a:tc>
                  <a:txBody>
                    <a:bodyPr/>
                    <a:lstStyle/>
                    <a:p>
                      <a:r>
                        <a:rPr sz="900" b="0">
                          <a:solidFill>
                            <a:srgbClr val="343D42"/>
                          </a:solidFill>
                          <a:latin typeface="Arial"/>
                          <a:ea typeface="Arial"/>
                          <a:cs typeface="Arial"/>
                        </a:rPr>
                        <a:t>Sonic Drive In (PAD)</a:t>
                      </a:r>
                    </a:p>
                  </a:txBody>
                  <a:tcPr marL="47625" marR="47625" marT="19050" marB="19050" anchor="ctr">
                    <a:solidFill>
                      <a:srgbClr val="F3F5F6"/>
                    </a:solidFill>
                  </a:tcPr>
                </a:tc>
                <a:tc>
                  <a:txBody>
                    <a:bodyPr/>
                    <a:lstStyle/>
                    <a:p>
                      <a:r>
                        <a:rPr sz="900" b="0">
                          <a:solidFill>
                            <a:srgbClr val="343D42"/>
                          </a:solidFill>
                          <a:latin typeface="Arial"/>
                          <a:ea typeface="Arial"/>
                          <a:cs typeface="Arial"/>
                        </a:rPr>
                        <a:t>2,290</a:t>
                      </a:r>
                    </a:p>
                  </a:txBody>
                  <a:tcPr marL="47625" marR="47625" marT="19050" marB="19050" anchor="ctr">
                    <a:solidFill>
                      <a:srgbClr val="F3F5F6"/>
                    </a:solidFill>
                  </a:tcPr>
                </a:tc>
              </a:tr>
              <a:tr h="198882">
                <a:tc>
                  <a:txBody>
                    <a:bodyPr/>
                    <a:lstStyle/>
                    <a:p>
                      <a:r>
                        <a:rPr sz="900" b="0">
                          <a:solidFill>
                            <a:srgbClr val="343D42"/>
                          </a:solidFill>
                          <a:latin typeface="Arial"/>
                          <a:ea typeface="Arial"/>
                          <a:cs typeface="Arial"/>
                        </a:rPr>
                        <a:t>2147</a:t>
                      </a:r>
                    </a:p>
                  </a:txBody>
                  <a:tcPr marL="47625" marR="47625" marT="19050" marB="19050" anchor="ctr">
                    <a:solidFill>
                      <a:srgbClr val="FFFFFF"/>
                    </a:solidFill>
                  </a:tcPr>
                </a:tc>
                <a:tc>
                  <a:txBody>
                    <a:bodyPr/>
                    <a:lstStyle/>
                    <a:p>
                      <a:r>
                        <a:rPr sz="900" b="0">
                          <a:solidFill>
                            <a:srgbClr val="343D42"/>
                          </a:solidFill>
                          <a:latin typeface="Arial"/>
                          <a:ea typeface="Arial"/>
                          <a:cs typeface="Arial"/>
                        </a:rPr>
                        <a:t>Cricket Wireless (LO)</a:t>
                      </a:r>
                    </a:p>
                  </a:txBody>
                  <a:tcPr marL="47625" marR="47625" marT="19050" marB="19050" anchor="ctr">
                    <a:solidFill>
                      <a:srgbClr val="FFFFFF"/>
                    </a:solidFill>
                  </a:tcPr>
                </a:tc>
                <a:tc>
                  <a:txBody>
                    <a:bodyPr/>
                    <a:lstStyle/>
                    <a:p>
                      <a:r>
                        <a:rPr sz="900" b="0">
                          <a:solidFill>
                            <a:srgbClr val="343D42"/>
                          </a:solidFill>
                          <a:latin typeface="Arial"/>
                          <a:ea typeface="Arial"/>
                          <a:cs typeface="Arial"/>
                        </a:rPr>
                        <a:t>2,470</a:t>
                      </a:r>
                    </a:p>
                  </a:txBody>
                  <a:tcPr marL="47625" marR="47625" marT="19050" marB="19050" anchor="ctr">
                    <a:solidFill>
                      <a:srgbClr val="FFFFFF"/>
                    </a:solidFill>
                  </a:tcPr>
                </a:tc>
              </a:tr>
              <a:tr h="198882">
                <a:tc>
                  <a:txBody>
                    <a:bodyPr/>
                    <a:lstStyle/>
                    <a:p>
                      <a:r>
                        <a:rPr sz="900" b="0">
                          <a:solidFill>
                            <a:srgbClr val="343D42"/>
                          </a:solidFill>
                          <a:latin typeface="Arial"/>
                          <a:ea typeface="Arial"/>
                          <a:cs typeface="Arial"/>
                        </a:rPr>
                        <a:t>2001</a:t>
                      </a:r>
                    </a:p>
                  </a:txBody>
                  <a:tcPr marL="47625" marR="47625" marT="19050" marB="19050" anchor="ctr">
                    <a:solidFill>
                      <a:srgbClr val="F3F5F6"/>
                    </a:solidFill>
                  </a:tcPr>
                </a:tc>
                <a:tc>
                  <a:txBody>
                    <a:bodyPr/>
                    <a:lstStyle/>
                    <a:p>
                      <a:r>
                        <a:rPr sz="900" b="0">
                          <a:solidFill>
                            <a:srgbClr val="343D42"/>
                          </a:solidFill>
                          <a:latin typeface="Arial"/>
                          <a:ea typeface="Arial"/>
                          <a:cs typeface="Arial"/>
                        </a:rPr>
                        <a:t>Walgreens (PAD)</a:t>
                      </a:r>
                    </a:p>
                  </a:txBody>
                  <a:tcPr marL="47625" marR="47625" marT="19050" marB="19050" anchor="ctr">
                    <a:solidFill>
                      <a:srgbClr val="F3F5F6"/>
                    </a:solidFill>
                  </a:tcPr>
                </a:tc>
                <a:tc>
                  <a:txBody>
                    <a:bodyPr/>
                    <a:lstStyle/>
                    <a:p>
                      <a:r>
                        <a:rPr sz="900" b="0">
                          <a:solidFill>
                            <a:srgbClr val="343D42"/>
                          </a:solidFill>
                          <a:latin typeface="Arial"/>
                          <a:ea typeface="Arial"/>
                          <a:cs typeface="Arial"/>
                        </a:rPr>
                        <a:t>2,955</a:t>
                      </a:r>
                    </a:p>
                  </a:txBody>
                  <a:tcPr marL="47625" marR="47625" marT="19050" marB="19050" anchor="ctr">
                    <a:solidFill>
                      <a:srgbClr val="F3F5F6"/>
                    </a:solidFill>
                  </a:tcPr>
                </a:tc>
              </a:tr>
              <a:tr h="198882">
                <a:tc>
                  <a:txBody>
                    <a:bodyPr/>
                    <a:lstStyle/>
                    <a:p>
                      <a:r>
                        <a:rPr sz="900" b="0">
                          <a:solidFill>
                            <a:srgbClr val="343D42"/>
                          </a:solidFill>
                          <a:latin typeface="Arial"/>
                          <a:ea typeface="Arial"/>
                          <a:cs typeface="Arial"/>
                        </a:rPr>
                        <a:t>2159</a:t>
                      </a:r>
                    </a:p>
                  </a:txBody>
                  <a:tcPr marL="47625" marR="47625" marT="19050" marB="19050" anchor="ctr">
                    <a:solidFill>
                      <a:srgbClr val="FFFFFF"/>
                    </a:solidFill>
                  </a:tcPr>
                </a:tc>
                <a:tc>
                  <a:txBody>
                    <a:bodyPr/>
                    <a:lstStyle/>
                    <a:p>
                      <a:r>
                        <a:rPr sz="900" b="0">
                          <a:solidFill>
                            <a:srgbClr val="343D42"/>
                          </a:solidFill>
                          <a:latin typeface="Arial"/>
                          <a:ea typeface="Arial"/>
                          <a:cs typeface="Arial"/>
                        </a:rPr>
                        <a:t>LA Mart</a:t>
                      </a:r>
                    </a:p>
                  </a:txBody>
                  <a:tcPr marL="47625" marR="47625" marT="19050" marB="19050" anchor="ctr">
                    <a:solidFill>
                      <a:srgbClr val="FFFFFF"/>
                    </a:solidFill>
                  </a:tcPr>
                </a:tc>
                <a:tc>
                  <a:txBody>
                    <a:bodyPr/>
                    <a:lstStyle/>
                    <a:p>
                      <a:r>
                        <a:rPr sz="900" b="0">
                          <a:solidFill>
                            <a:srgbClr val="343D42"/>
                          </a:solidFill>
                          <a:latin typeface="Arial"/>
                          <a:ea typeface="Arial"/>
                          <a:cs typeface="Arial"/>
                        </a:rPr>
                        <a:t>30,030</a:t>
                      </a:r>
                    </a:p>
                  </a:txBody>
                  <a:tcPr marL="47625" marR="47625" marT="19050" marB="19050" anchor="ctr">
                    <a:solidFill>
                      <a:srgbClr val="FFFFFF"/>
                    </a:solidFill>
                  </a:tcPr>
                </a:tc>
              </a:tr>
              <a:tr h="198882">
                <a:tc>
                  <a:txBody>
                    <a:bodyPr/>
                    <a:lstStyle/>
                    <a:p>
                      <a:r>
                        <a:rPr sz="900" b="0">
                          <a:solidFill>
                            <a:srgbClr val="343D42"/>
                          </a:solidFill>
                          <a:latin typeface="Arial"/>
                          <a:ea typeface="Arial"/>
                          <a:cs typeface="Arial"/>
                        </a:rPr>
                        <a:t>2123</a:t>
                      </a:r>
                    </a:p>
                  </a:txBody>
                  <a:tcPr marL="47625" marR="47625" marT="19050" marB="19050" anchor="ctr">
                    <a:solidFill>
                      <a:srgbClr val="F3F5F6"/>
                    </a:solidFill>
                  </a:tcPr>
                </a:tc>
                <a:tc>
                  <a:txBody>
                    <a:bodyPr/>
                    <a:lstStyle/>
                    <a:p>
                      <a:r>
                        <a:rPr sz="900" b="0">
                          <a:solidFill>
                            <a:srgbClr val="343D42"/>
                          </a:solidFill>
                          <a:latin typeface="Arial"/>
                          <a:ea typeface="Arial"/>
                          <a:cs typeface="Arial"/>
                        </a:rPr>
                        <a:t>CBI of MD Laundromat</a:t>
                      </a:r>
                    </a:p>
                  </a:txBody>
                  <a:tcPr marL="47625" marR="47625" marT="19050" marB="19050" anchor="ctr">
                    <a:solidFill>
                      <a:srgbClr val="F3F5F6"/>
                    </a:solidFill>
                  </a:tcPr>
                </a:tc>
                <a:tc>
                  <a:txBody>
                    <a:bodyPr/>
                    <a:lstStyle/>
                    <a:p>
                      <a:r>
                        <a:rPr sz="900" b="0">
                          <a:solidFill>
                            <a:srgbClr val="343D42"/>
                          </a:solidFill>
                          <a:latin typeface="Arial"/>
                          <a:ea typeface="Arial"/>
                          <a:cs typeface="Arial"/>
                        </a:rPr>
                        <a:t>3,600</a:t>
                      </a:r>
                    </a:p>
                  </a:txBody>
                  <a:tcPr marL="47625" marR="47625" marT="19050" marB="19050" anchor="ctr">
                    <a:solidFill>
                      <a:srgbClr val="F3F5F6"/>
                    </a:solidFill>
                  </a:tcPr>
                </a:tc>
              </a:tr>
              <a:tr h="198882">
                <a:tc>
                  <a:txBody>
                    <a:bodyPr/>
                    <a:lstStyle/>
                    <a:p>
                      <a:r>
                        <a:rPr sz="900" b="0">
                          <a:solidFill>
                            <a:srgbClr val="343D42"/>
                          </a:solidFill>
                          <a:latin typeface="Arial"/>
                          <a:ea typeface="Arial"/>
                          <a:cs typeface="Arial"/>
                        </a:rPr>
                        <a:t>2151</a:t>
                      </a:r>
                    </a:p>
                  </a:txBody>
                  <a:tcPr marL="47625" marR="47625" marT="19050" marB="19050" anchor="ctr">
                    <a:solidFill>
                      <a:srgbClr val="FFFFFF"/>
                    </a:solidFill>
                  </a:tcPr>
                </a:tc>
                <a:tc>
                  <a:txBody>
                    <a:bodyPr/>
                    <a:lstStyle/>
                    <a:p>
                      <a:r>
                        <a:rPr sz="900" b="0">
                          <a:solidFill>
                            <a:srgbClr val="343D42"/>
                          </a:solidFill>
                          <a:latin typeface="Arial"/>
                          <a:ea typeface="Arial"/>
                          <a:cs typeface="Arial"/>
                        </a:rPr>
                        <a:t>Cash Depot</a:t>
                      </a:r>
                    </a:p>
                  </a:txBody>
                  <a:tcPr marL="47625" marR="47625" marT="19050" marB="19050" anchor="ctr">
                    <a:solidFill>
                      <a:srgbClr val="FFFFFF"/>
                    </a:solidFill>
                  </a:tcPr>
                </a:tc>
                <a:tc>
                  <a:txBody>
                    <a:bodyPr/>
                    <a:lstStyle/>
                    <a:p>
                      <a:r>
                        <a:rPr sz="900" b="0">
                          <a:solidFill>
                            <a:srgbClr val="343D42"/>
                          </a:solidFill>
                          <a:latin typeface="Arial"/>
                          <a:ea typeface="Arial"/>
                          <a:cs typeface="Arial"/>
                        </a:rPr>
                        <a:t>1,500</a:t>
                      </a:r>
                    </a:p>
                  </a:txBody>
                  <a:tcPr marL="47625" marR="47625" marT="19050" marB="19050" anchor="ctr">
                    <a:solidFill>
                      <a:srgbClr val="FFFFFF"/>
                    </a:solidFill>
                  </a:tcPr>
                </a:tc>
              </a:tr>
              <a:tr h="198882">
                <a:tc>
                  <a:txBody>
                    <a:bodyPr/>
                    <a:lstStyle/>
                    <a:p>
                      <a:r>
                        <a:rPr sz="900" b="0">
                          <a:solidFill>
                            <a:srgbClr val="343D42"/>
                          </a:solidFill>
                          <a:latin typeface="Arial"/>
                          <a:ea typeface="Arial"/>
                          <a:cs typeface="Arial"/>
                        </a:rPr>
                        <a:t>2201</a:t>
                      </a:r>
                    </a:p>
                  </a:txBody>
                  <a:tcPr marL="47625" marR="47625" marT="19050" marB="19050" anchor="ctr">
                    <a:solidFill>
                      <a:srgbClr val="F3F5F6"/>
                    </a:solidFill>
                  </a:tcPr>
                </a:tc>
                <a:tc>
                  <a:txBody>
                    <a:bodyPr/>
                    <a:lstStyle/>
                    <a:p>
                      <a:r>
                        <a:rPr sz="900" b="0">
                          <a:solidFill>
                            <a:srgbClr val="343D42"/>
                          </a:solidFill>
                          <a:latin typeface="Arial"/>
                          <a:ea typeface="Arial"/>
                          <a:cs typeface="Arial"/>
                        </a:rPr>
                        <a:t>Popeyes Chicken (PAD)</a:t>
                      </a:r>
                    </a:p>
                  </a:txBody>
                  <a:tcPr marL="47625" marR="47625" marT="19050" marB="19050" anchor="ctr">
                    <a:solidFill>
                      <a:srgbClr val="F3F5F6"/>
                    </a:solidFill>
                  </a:tcPr>
                </a:tc>
                <a:tc>
                  <a:txBody>
                    <a:bodyPr/>
                    <a:lstStyle/>
                    <a:p>
                      <a:r>
                        <a:rPr sz="900" b="0">
                          <a:solidFill>
                            <a:srgbClr val="343D42"/>
                          </a:solidFill>
                          <a:latin typeface="Arial"/>
                          <a:ea typeface="Arial"/>
                          <a:cs typeface="Arial"/>
                        </a:rPr>
                        <a:t>5,291</a:t>
                      </a:r>
                    </a:p>
                  </a:txBody>
                  <a:tcPr marL="47625" marR="47625" marT="19050" marB="19050" anchor="ctr">
                    <a:solidFill>
                      <a:srgbClr val="F3F5F6"/>
                    </a:solidFill>
                  </a:tcPr>
                </a:tc>
              </a:tr>
              <a:tr h="198882">
                <a:tc>
                  <a:txBody>
                    <a:bodyPr/>
                    <a:lstStyle/>
                    <a:p>
                      <a:r>
                        <a:rPr sz="900" b="0">
                          <a:solidFill>
                            <a:srgbClr val="343D42"/>
                          </a:solidFill>
                          <a:latin typeface="Arial"/>
                          <a:ea typeface="Arial"/>
                          <a:cs typeface="Arial"/>
                        </a:rPr>
                        <a:t>2141/2145</a:t>
                      </a:r>
                    </a:p>
                  </a:txBody>
                  <a:tcPr marL="47625" marR="47625" marT="19050" marB="19050" anchor="ctr">
                    <a:solidFill>
                      <a:srgbClr val="FFFFFF"/>
                    </a:solidFill>
                  </a:tcPr>
                </a:tc>
                <a:tc>
                  <a:txBody>
                    <a:bodyPr/>
                    <a:lstStyle/>
                    <a:p>
                      <a:r>
                        <a:rPr sz="900" b="0">
                          <a:solidFill>
                            <a:srgbClr val="343D42"/>
                          </a:solidFill>
                          <a:latin typeface="Arial"/>
                          <a:ea typeface="Arial"/>
                          <a:cs typeface="Arial"/>
                        </a:rPr>
                        <a:t>Planet Fitness</a:t>
                      </a:r>
                    </a:p>
                  </a:txBody>
                  <a:tcPr marL="47625" marR="47625" marT="19050" marB="19050" anchor="ctr">
                    <a:solidFill>
                      <a:srgbClr val="FFFFFF"/>
                    </a:solidFill>
                  </a:tcPr>
                </a:tc>
                <a:tc>
                  <a:txBody>
                    <a:bodyPr/>
                    <a:lstStyle/>
                    <a:p>
                      <a:r>
                        <a:rPr sz="900" b="0">
                          <a:solidFill>
                            <a:srgbClr val="343D42"/>
                          </a:solidFill>
                          <a:latin typeface="Arial"/>
                          <a:ea typeface="Arial"/>
                          <a:cs typeface="Arial"/>
                        </a:rPr>
                        <a:t>15,118</a:t>
                      </a:r>
                    </a:p>
                  </a:txBody>
                  <a:tcPr marL="47625" marR="47625" marT="19050" marB="19050" anchor="ctr">
                    <a:solidFill>
                      <a:srgbClr val="FFFFFF"/>
                    </a:solidFill>
                  </a:tcPr>
                </a:tc>
              </a:tr>
              <a:tr h="198882">
                <a:tc>
                  <a:txBody>
                    <a:bodyPr/>
                    <a:lstStyle/>
                    <a:p>
                      <a:r>
                        <a:rPr sz="900" b="0">
                          <a:solidFill>
                            <a:srgbClr val="343D42"/>
                          </a:solidFill>
                          <a:latin typeface="Arial"/>
                          <a:ea typeface="Arial"/>
                          <a:cs typeface="Arial"/>
                        </a:rPr>
                        <a:t>2111</a:t>
                      </a:r>
                    </a:p>
                  </a:txBody>
                  <a:tcPr marL="47625" marR="47625" marT="19050" marB="19050" anchor="ctr">
                    <a:solidFill>
                      <a:srgbClr val="F3F5F6"/>
                    </a:solidFill>
                  </a:tcPr>
                </a:tc>
                <a:tc>
                  <a:txBody>
                    <a:bodyPr/>
                    <a:lstStyle/>
                    <a:p>
                      <a:r>
                        <a:rPr sz="900" b="0">
                          <a:solidFill>
                            <a:srgbClr val="343D42"/>
                          </a:solidFill>
                          <a:latin typeface="Arial"/>
                          <a:ea typeface="Arial"/>
                          <a:cs typeface="Arial"/>
                        </a:rPr>
                        <a:t>Shoe Show</a:t>
                      </a:r>
                    </a:p>
                  </a:txBody>
                  <a:tcPr marL="47625" marR="47625" marT="19050" marB="19050" anchor="ctr">
                    <a:solidFill>
                      <a:srgbClr val="F3F5F6"/>
                    </a:solidFill>
                  </a:tcPr>
                </a:tc>
                <a:tc>
                  <a:txBody>
                    <a:bodyPr/>
                    <a:lstStyle/>
                    <a:p>
                      <a:r>
                        <a:rPr sz="900" b="0">
                          <a:solidFill>
                            <a:srgbClr val="343D42"/>
                          </a:solidFill>
                          <a:latin typeface="Arial"/>
                          <a:ea typeface="Arial"/>
                          <a:cs typeface="Arial"/>
                        </a:rPr>
                        <a:t>7,815</a:t>
                      </a:r>
                    </a:p>
                  </a:txBody>
                  <a:tcPr marL="47625" marR="47625" marT="19050" marB="19050" anchor="ctr">
                    <a:solidFill>
                      <a:srgbClr val="F3F5F6"/>
                    </a:solidFill>
                  </a:tcPr>
                </a:tc>
              </a:tr>
              <a:tr h="198882">
                <a:tc>
                  <a:txBody>
                    <a:bodyPr/>
                    <a:lstStyle/>
                    <a:p>
                      <a:r>
                        <a:rPr sz="900" b="0">
                          <a:solidFill>
                            <a:srgbClr val="343D42"/>
                          </a:solidFill>
                          <a:latin typeface="Arial"/>
                          <a:ea typeface="Arial"/>
                          <a:cs typeface="Arial"/>
                        </a:rPr>
                        <a:t>2101</a:t>
                      </a:r>
                    </a:p>
                  </a:txBody>
                  <a:tcPr marL="47625" marR="47625" marT="19050" marB="19050" anchor="ctr">
                    <a:solidFill>
                      <a:srgbClr val="FFFFFF"/>
                    </a:solidFill>
                  </a:tcPr>
                </a:tc>
                <a:tc>
                  <a:txBody>
                    <a:bodyPr/>
                    <a:lstStyle/>
                    <a:p>
                      <a:r>
                        <a:rPr sz="900" b="0">
                          <a:solidFill>
                            <a:srgbClr val="343D42"/>
                          </a:solidFill>
                          <a:latin typeface="Arial"/>
                          <a:ea typeface="Arial"/>
                          <a:cs typeface="Arial"/>
                        </a:rPr>
                        <a:t>Advance Auto (PAD)</a:t>
                      </a:r>
                    </a:p>
                  </a:txBody>
                  <a:tcPr marL="47625" marR="47625" marT="19050" marB="19050" anchor="ctr">
                    <a:solidFill>
                      <a:srgbClr val="FFFFFF"/>
                    </a:solidFill>
                  </a:tcPr>
                </a:tc>
                <a:tc>
                  <a:txBody>
                    <a:bodyPr/>
                    <a:lstStyle/>
                    <a:p>
                      <a:r>
                        <a:rPr sz="900" b="0">
                          <a:solidFill>
                            <a:srgbClr val="343D42"/>
                          </a:solidFill>
                          <a:latin typeface="Arial"/>
                          <a:ea typeface="Arial"/>
                          <a:cs typeface="Arial"/>
                        </a:rPr>
                        <a:t>7,950</a:t>
                      </a:r>
                    </a:p>
                  </a:txBody>
                  <a:tcPr marL="47625" marR="47625" marT="19050" marB="19050" anchor="ctr">
                    <a:solidFill>
                      <a:srgbClr val="FFFFFF"/>
                    </a:solidFill>
                  </a:tcPr>
                </a:tc>
              </a:tr>
              <a:tr h="198882">
                <a:tc>
                  <a:txBody>
                    <a:bodyPr/>
                    <a:lstStyle/>
                    <a:p>
                      <a:r>
                        <a:rPr sz="900" b="0">
                          <a:solidFill>
                            <a:srgbClr val="343D42"/>
                          </a:solidFill>
                          <a:latin typeface="Arial"/>
                          <a:ea typeface="Arial"/>
                          <a:cs typeface="Arial"/>
                        </a:rPr>
                        <a:t>PAD</a:t>
                      </a:r>
                    </a:p>
                  </a:txBody>
                  <a:tcPr marL="47625" marR="47625" marT="19050" marB="19050" anchor="ctr">
                    <a:solidFill>
                      <a:srgbClr val="F3F5F6"/>
                    </a:solidFill>
                  </a:tcPr>
                </a:tc>
                <a:tc>
                  <a:txBody>
                    <a:bodyPr/>
                    <a:lstStyle/>
                    <a:p>
                      <a:r>
                        <a:rPr sz="900" b="0">
                          <a:solidFill>
                            <a:srgbClr val="343D42"/>
                          </a:solidFill>
                          <a:latin typeface="Arial"/>
                          <a:ea typeface="Arial"/>
                          <a:cs typeface="Arial"/>
                        </a:rPr>
                        <a:t>Royal Farms (PAD)</a:t>
                      </a:r>
                    </a:p>
                  </a:txBody>
                  <a:tcPr marL="47625" marR="47625" marT="19050" marB="19050" anchor="ctr">
                    <a:solidFill>
                      <a:srgbClr val="F3F5F6"/>
                    </a:solidFill>
                  </a:tcPr>
                </a:tc>
                <a:tc>
                  <a:txBody>
                    <a:bodyPr/>
                    <a:lstStyle/>
                    <a:p>
                      <a:r>
                        <a:rPr sz="900" b="0">
                          <a:solidFill>
                            <a:srgbClr val="343D42"/>
                          </a:solidFill>
                          <a:latin typeface="Arial"/>
                          <a:ea typeface="Arial"/>
                          <a:cs typeface="Arial"/>
                        </a:rPr>
                        <a:t>–</a:t>
                      </a:r>
                    </a:p>
                  </a:txBody>
                  <a:tcPr marL="47625" marR="47625" marT="19050" marB="19050" anchor="ctr">
                    <a:solidFill>
                      <a:srgbClr val="F3F5F6"/>
                    </a:solidFill>
                  </a:tcPr>
                </a:tc>
              </a:tr>
            </a:tbl>
          </a:graphicData>
        </a:graphic>
      </p:graphicFrame>
    </p:spTree>
    <p:extLst>
      <p:ext uri="{BB962C8B-B14F-4D97-AF65-F5344CB8AC3E}">
        <p14:creationId xmlns:p14="http://schemas.microsoft.com/office/powerpoint/2010/main" val="134862558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908EB71-0F8C-4B51-AA8D-301933FD9F44}"/>
              </a:ext>
            </a:extLst>
          </p:cNvPr>
          <p:cNvSpPr>
            <a:spLocks xmlns:a="http://schemas.openxmlformats.org/drawingml/2006/main" noGrp="1"/>
          </p:cNvSpPr>
          <p:nvPr/>
        </p:nvSpPr>
        <p:spPr>
          <a:xfrm xmlns:a="http://schemas.openxmlformats.org/drawingml/2006/main">
            <a:off x="457200" y="276225"/>
            <a:ext cx="11277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343D42"/>
                </a:solidFill>
                <a:latin typeface="Arial"/>
                <a:ea typeface="Arial"/>
                <a:cs typeface="Arial"/>
              </a:defRPr>
            </a:defPPr>
          </a:lstStyle>
          <a:p xmlns:a="http://schemas.openxmlformats.org/drawingml/2006/main">
            <a:pPr>
              <a:defRPr sz="2100" b="1">
                <a:solidFill>
                  <a:srgbClr val="343D42"/>
                </a:solidFill>
                <a:latin typeface="Arial"/>
                <a:ea typeface="Arial"/>
                <a:cs typeface="Arial"/>
              </a:defRPr>
            </a:pPr>
            <a:r>
              <a:rPr sz="2100" b="1">
                <a:solidFill>
                  <a:srgbClr val="343D42"/>
                </a:solidFill>
                <a:latin typeface="Arial"/>
                <a:ea typeface="Arial"/>
                <a:cs typeface="Arial"/>
              </a:rPr>
              <a:t>Investment Highlights</a:t>
            </a:r>
          </a:p>
        </p:txBody>
      </p:sp>
      <p:sp>
        <p:nvSpPr>
          <p:cNvPr id="2" name="">
            <a:extLst xmlns:a="http://schemas.openxmlformats.org/drawingml/2006/main">
              <a:ext uri="{FF2B5EF4-FFF2-40B4-BE49-F238E27FC236}">
                <a16:creationId xmlns:a16="http://schemas.microsoft.com/office/drawing/2014/main" id="{DA602FEB-57FF-400E-93B0-5423D60AF3EE}"/>
              </a:ext>
            </a:extLst>
          </p:cNvPr>
          <p:cNvSpPr>
            <a:spLocks xmlns:a="http://schemas.openxmlformats.org/drawingml/2006/main" noGrp="1"/>
          </p:cNvSpPr>
          <p:nvPr/>
        </p:nvSpPr>
        <p:spPr>
          <a:xfrm xmlns:a="http://schemas.openxmlformats.org/drawingml/2006/main">
            <a:off x="457200" y="800100"/>
            <a:ext cx="11277600" cy="9525"/>
          </a:xfrm>
          <a:prstGeom xmlns:a="http://schemas.openxmlformats.org/drawingml/2006/main" prst="rect">
            <a:avLst/>
          </a:prstGeom>
          <a:solidFill xmlns:a="http://schemas.openxmlformats.org/drawingml/2006/main">
            <a:srgbClr val="B9B9B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1CEF41E-E881-4D83-93A6-432C816DD8F0}"/>
              </a:ext>
            </a:extLst>
          </p:cNvPr>
          <p:cNvSpPr>
            <a:spLocks xmlns:a="http://schemas.openxmlformats.org/drawingml/2006/main" noGrp="1"/>
          </p:cNvSpPr>
          <p:nvPr/>
        </p:nvSpPr>
        <p:spPr>
          <a:xfrm xmlns:a="http://schemas.openxmlformats.org/drawingml/2006/main">
            <a:off x="457200" y="6257925"/>
            <a:ext cx="11277600" cy="38100"/>
          </a:xfrm>
          <a:prstGeom xmlns:a="http://schemas.openxmlformats.org/drawingml/2006/main" prst="rect">
            <a:avLst/>
          </a:prstGeom>
          <a:solidFill xmlns:a="http://schemas.openxmlformats.org/drawingml/2006/main">
            <a:srgbClr val="343D4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51B5CD1-6DCE-4120-A687-9B6EF28080D1}"/>
              </a:ext>
            </a:extLst>
          </p:cNvPr>
          <p:cNvSpPr>
            <a:spLocks xmlns:a="http://schemas.openxmlformats.org/drawingml/2006/main" noGrp="1"/>
          </p:cNvSpPr>
          <p:nvPr/>
        </p:nvSpPr>
        <p:spPr>
          <a:xfrm xmlns:a="http://schemas.openxmlformats.org/drawingml/2006/main">
            <a:off x="457200" y="6238875"/>
            <a:ext cx="11277600" cy="19050"/>
          </a:xfrm>
          <a:prstGeom xmlns:a="http://schemas.openxmlformats.org/drawingml/2006/main" prst="rect">
            <a:avLst/>
          </a:prstGeom>
          <a:solidFill xmlns:a="http://schemas.openxmlformats.org/drawingml/2006/main">
            <a:srgbClr val="C2674B"/>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E7AC95BE-29A8-4DF3-A556-3ED729930AB7}"/>
              </a:ext>
            </a:extLst>
          </p:cNvPr>
          <p:cNvPicPr>
            <a:picLocks xmlns:a="http://schemas.openxmlformats.org/drawingml/2006/main" noChangeAspect="1"/>
          </p:cNvPicPr>
          <p:nvPr/>
        </p:nvPicPr>
        <p:blipFill>
          <a:blip xmlns:r="http://schemas.openxmlformats.org/officeDocument/2006/relationships" xmlns:a="http://schemas.openxmlformats.org/drawingml/2006/main" r:embed="R6043b76458c14aac"/>
          <a:stretch xmlns:a="http://schemas.openxmlformats.org/drawingml/2006/main"/>
        </p:blipFill>
        <p:spPr>
          <a:xfrm xmlns:a="http://schemas.openxmlformats.org/drawingml/2006/main">
            <a:off x="457200" y="6387465"/>
            <a:ext cx="1609725" cy="32194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6D89A65-26F3-4920-B404-B31F15D7D6CA}"/>
              </a:ext>
            </a:extLst>
          </p:cNvPr>
          <p:cNvSpPr>
            <a:spLocks xmlns:a="http://schemas.openxmlformats.org/drawingml/2006/main" noGrp="1"/>
          </p:cNvSpPr>
          <p:nvPr/>
        </p:nvSpPr>
        <p:spPr>
          <a:xfrm xmlns:a="http://schemas.openxmlformats.org/drawingml/2006/main">
            <a:off x="11382375" y="64579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747474"/>
                </a:solidFill>
                <a:latin typeface="Arial"/>
                <a:ea typeface="Arial"/>
                <a:cs typeface="Arial"/>
              </a:defRPr>
            </a:defPPr>
          </a:lstStyle>
          <a:p xmlns:a="http://schemas.openxmlformats.org/drawingml/2006/main">
            <a:pPr>
              <a:defRPr sz="900" b="0">
                <a:solidFill>
                  <a:srgbClr val="747474"/>
                </a:solidFill>
                <a:latin typeface="Arial"/>
                <a:ea typeface="Arial"/>
                <a:cs typeface="Arial"/>
              </a:defRPr>
            </a:pPr>
            <a:r>
              <a:rPr sz="900" b="0">
                <a:solidFill>
                  <a:srgbClr val="747474"/>
                </a:solidFill>
                <a:latin typeface="Arial"/>
                <a:ea typeface="Arial"/>
                <a:cs typeface="Arial"/>
              </a:rPr>
              <a:t>6</a:t>
            </a:r>
          </a:p>
        </p:txBody>
      </p:sp>
      <p:sp>
        <p:nvSpPr>
          <p:cNvPr id="7" name="">
            <a:extLst xmlns:a="http://schemas.openxmlformats.org/drawingml/2006/main">
              <a:ext uri="{FF2B5EF4-FFF2-40B4-BE49-F238E27FC236}">
                <a16:creationId xmlns:a16="http://schemas.microsoft.com/office/drawing/2014/main" id="{606A6120-0846-42A5-AB9E-7DFBF35D56EE}"/>
              </a:ext>
            </a:extLst>
          </p:cNvPr>
          <p:cNvSpPr>
            <a:spLocks xmlns:a="http://schemas.openxmlformats.org/drawingml/2006/main" noGrp="1"/>
          </p:cNvSpPr>
          <p:nvPr/>
        </p:nvSpPr>
        <p:spPr>
          <a:xfrm xmlns:a="http://schemas.openxmlformats.org/drawingml/2006/main">
            <a:off x="457200" y="1343025"/>
            <a:ext cx="3467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213C66"/>
                </a:solidFill>
                <a:latin typeface="Arial"/>
                <a:ea typeface="Arial"/>
                <a:cs typeface="Arial"/>
              </a:defRPr>
            </a:defPPr>
          </a:lstStyle>
          <a:p xmlns:a="http://schemas.openxmlformats.org/drawingml/2006/main">
            <a:pPr>
              <a:defRPr sz="1800" b="1">
                <a:solidFill>
                  <a:srgbClr val="213C66"/>
                </a:solidFill>
                <a:latin typeface="Arial"/>
                <a:ea typeface="Arial"/>
                <a:cs typeface="Arial"/>
              </a:defRPr>
            </a:pPr>
            <a:r>
              <a:rPr sz="1800" b="1">
                <a:solidFill>
                  <a:srgbClr val="213C66"/>
                </a:solidFill>
                <a:latin typeface="Arial"/>
                <a:ea typeface="Arial"/>
                <a:cs typeface="Arial"/>
              </a:rPr>
              <a:t>Value-Add Opportunity: Walgreens Pad Site</a:t>
            </a:r>
          </a:p>
        </p:txBody>
      </p:sp>
      <p:sp>
        <p:nvSpPr>
          <p:cNvPr id="8" name="">
            <a:extLst xmlns:a="http://schemas.openxmlformats.org/drawingml/2006/main">
              <a:ext uri="{FF2B5EF4-FFF2-40B4-BE49-F238E27FC236}">
                <a16:creationId xmlns:a16="http://schemas.microsoft.com/office/drawing/2014/main" id="{C32FD16F-CC88-4F6B-8592-FE217337C5C1}"/>
              </a:ext>
            </a:extLst>
          </p:cNvPr>
          <p:cNvSpPr>
            <a:spLocks xmlns:a="http://schemas.openxmlformats.org/drawingml/2006/main" noGrp="1"/>
          </p:cNvSpPr>
          <p:nvPr/>
        </p:nvSpPr>
        <p:spPr>
          <a:xfrm xmlns:a="http://schemas.openxmlformats.org/drawingml/2006/main">
            <a:off x="457200" y="2400300"/>
            <a:ext cx="346710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343D42"/>
                </a:solidFill>
                <a:latin typeface="Arial"/>
                <a:ea typeface="Arial"/>
                <a:cs typeface="Arial"/>
              </a:defRPr>
            </a:defPPr>
          </a:lstStyle>
          <a:p xmlns:a="http://schemas.openxmlformats.org/drawingml/2006/main">
            <a:pPr>
              <a:defRPr sz="1650" b="0">
                <a:solidFill>
                  <a:srgbClr val="343D42"/>
                </a:solidFill>
                <a:latin typeface="Arial"/>
                <a:ea typeface="Arial"/>
                <a:cs typeface="Arial"/>
              </a:defRPr>
            </a:pPr>
            <a:r>
              <a:rPr sz="1650" b="0">
                <a:solidFill>
                  <a:srgbClr val="343D42"/>
                </a:solidFill>
                <a:latin typeface="Arial"/>
                <a:ea typeface="Arial"/>
                <a:cs typeface="Arial"/>
              </a:rPr>
              <a:t>Although Walgreens continues to fulfill its rent obligations, the store has ceased operations following a nationwide corporate restructuring. This presents an opportunity to negotiate an early lease termination and re-tenant the pad site.</a:t>
            </a:r>
          </a:p>
        </p:txBody>
      </p:sp>
      <p:sp>
        <p:nvSpPr>
          <p:cNvPr id="9" name="">
            <a:extLst xmlns:a="http://schemas.openxmlformats.org/drawingml/2006/main">
              <a:ext uri="{FF2B5EF4-FFF2-40B4-BE49-F238E27FC236}">
                <a16:creationId xmlns:a16="http://schemas.microsoft.com/office/drawing/2014/main" id="{6972C700-BEC8-44FF-BA5A-00222A66F286}"/>
              </a:ext>
            </a:extLst>
          </p:cNvPr>
          <p:cNvSpPr>
            <a:spLocks xmlns:a="http://schemas.openxmlformats.org/drawingml/2006/main" noGrp="1"/>
          </p:cNvSpPr>
          <p:nvPr/>
        </p:nvSpPr>
        <p:spPr>
          <a:xfrm xmlns:a="http://schemas.openxmlformats.org/drawingml/2006/main">
            <a:off x="4314825" y="1343025"/>
            <a:ext cx="3467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213C66"/>
                </a:solidFill>
                <a:latin typeface="Arial"/>
                <a:ea typeface="Arial"/>
                <a:cs typeface="Arial"/>
              </a:defRPr>
            </a:defPPr>
          </a:lstStyle>
          <a:p xmlns:a="http://schemas.openxmlformats.org/drawingml/2006/main">
            <a:pPr>
              <a:defRPr sz="1800" b="1">
                <a:solidFill>
                  <a:srgbClr val="213C66"/>
                </a:solidFill>
                <a:latin typeface="Arial"/>
                <a:ea typeface="Arial"/>
                <a:cs typeface="Arial"/>
              </a:defRPr>
            </a:pPr>
            <a:r>
              <a:rPr sz="1800" b="1">
                <a:solidFill>
                  <a:srgbClr val="213C66"/>
                </a:solidFill>
                <a:latin typeface="Arial"/>
                <a:ea typeface="Arial"/>
                <a:cs typeface="Arial"/>
              </a:rPr>
              <a:t>Core Location</a:t>
            </a:r>
          </a:p>
        </p:txBody>
      </p:sp>
      <p:sp>
        <p:nvSpPr>
          <p:cNvPr id="10" name="">
            <a:extLst xmlns:a="http://schemas.openxmlformats.org/drawingml/2006/main">
              <a:ext uri="{FF2B5EF4-FFF2-40B4-BE49-F238E27FC236}">
                <a16:creationId xmlns:a16="http://schemas.microsoft.com/office/drawing/2014/main" id="{A9820921-A499-4526-A18F-C8210596C27E}"/>
              </a:ext>
            </a:extLst>
          </p:cNvPr>
          <p:cNvSpPr>
            <a:spLocks xmlns:a="http://schemas.openxmlformats.org/drawingml/2006/main" noGrp="1"/>
          </p:cNvSpPr>
          <p:nvPr/>
        </p:nvSpPr>
        <p:spPr>
          <a:xfrm xmlns:a="http://schemas.openxmlformats.org/drawingml/2006/main">
            <a:off x="4314825" y="2400300"/>
            <a:ext cx="346710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343D42"/>
                </a:solidFill>
                <a:latin typeface="Arial"/>
                <a:ea typeface="Arial"/>
                <a:cs typeface="Arial"/>
              </a:defRPr>
            </a:defPPr>
          </a:lstStyle>
          <a:p xmlns:a="http://schemas.openxmlformats.org/drawingml/2006/main">
            <a:pPr>
              <a:defRPr sz="1650" b="0">
                <a:solidFill>
                  <a:srgbClr val="343D42"/>
                </a:solidFill>
                <a:latin typeface="Arial"/>
                <a:ea typeface="Arial"/>
                <a:cs typeface="Arial"/>
              </a:defRPr>
            </a:pPr>
            <a:r>
              <a:rPr sz="1650" b="0">
                <a:solidFill>
                  <a:srgbClr val="343D42"/>
                </a:solidFill>
                <a:latin typeface="Arial"/>
                <a:ea typeface="Arial"/>
                <a:cs typeface="Arial"/>
              </a:rPr>
              <a:t>Situated along the Baltimore City and County line, Hollinswood Shopping Center occupies a high-traffic corridor that draws a diverse customer base from both the urban core and neighboring suburbs.</a:t>
            </a:r>
          </a:p>
        </p:txBody>
      </p:sp>
      <p:sp>
        <p:nvSpPr>
          <p:cNvPr id="11" name="">
            <a:extLst xmlns:a="http://schemas.openxmlformats.org/drawingml/2006/main">
              <a:ext uri="{FF2B5EF4-FFF2-40B4-BE49-F238E27FC236}">
                <a16:creationId xmlns:a16="http://schemas.microsoft.com/office/drawing/2014/main" id="{E2EE00D2-D568-4BAF-B63B-E0614BC54BD9}"/>
              </a:ext>
            </a:extLst>
          </p:cNvPr>
          <p:cNvSpPr>
            <a:spLocks xmlns:a="http://schemas.openxmlformats.org/drawingml/2006/main" noGrp="1"/>
          </p:cNvSpPr>
          <p:nvPr/>
        </p:nvSpPr>
        <p:spPr>
          <a:xfrm xmlns:a="http://schemas.openxmlformats.org/drawingml/2006/main">
            <a:off x="8172450" y="1343025"/>
            <a:ext cx="3467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213C66"/>
                </a:solidFill>
                <a:latin typeface="Arial"/>
                <a:ea typeface="Arial"/>
                <a:cs typeface="Arial"/>
              </a:defRPr>
            </a:defPPr>
          </a:lstStyle>
          <a:p xmlns:a="http://schemas.openxmlformats.org/drawingml/2006/main">
            <a:pPr>
              <a:defRPr sz="1800" b="1">
                <a:solidFill>
                  <a:srgbClr val="213C66"/>
                </a:solidFill>
                <a:latin typeface="Arial"/>
                <a:ea typeface="Arial"/>
                <a:cs typeface="Arial"/>
              </a:defRPr>
            </a:pPr>
            <a:r>
              <a:rPr sz="1800" b="1">
                <a:solidFill>
                  <a:srgbClr val="213C66"/>
                </a:solidFill>
                <a:latin typeface="Arial"/>
                <a:ea typeface="Arial"/>
                <a:cs typeface="Arial"/>
              </a:rPr>
              <a:t>Strong Cap Rate Entry</a:t>
            </a:r>
          </a:p>
        </p:txBody>
      </p:sp>
      <p:sp>
        <p:nvSpPr>
          <p:cNvPr id="12" name="">
            <a:extLst xmlns:a="http://schemas.openxmlformats.org/drawingml/2006/main">
              <a:ext uri="{FF2B5EF4-FFF2-40B4-BE49-F238E27FC236}">
                <a16:creationId xmlns:a16="http://schemas.microsoft.com/office/drawing/2014/main" id="{4AA26C5B-A128-44B7-888B-9ED544F8DF3E}"/>
              </a:ext>
            </a:extLst>
          </p:cNvPr>
          <p:cNvSpPr>
            <a:spLocks xmlns:a="http://schemas.openxmlformats.org/drawingml/2006/main" noGrp="1"/>
          </p:cNvSpPr>
          <p:nvPr/>
        </p:nvSpPr>
        <p:spPr>
          <a:xfrm xmlns:a="http://schemas.openxmlformats.org/drawingml/2006/main">
            <a:off x="8172450" y="2400300"/>
            <a:ext cx="346710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343D42"/>
                </a:solidFill>
                <a:latin typeface="Arial"/>
                <a:ea typeface="Arial"/>
                <a:cs typeface="Arial"/>
              </a:defRPr>
            </a:defPPr>
          </a:lstStyle>
          <a:p xmlns:a="http://schemas.openxmlformats.org/drawingml/2006/main">
            <a:pPr>
              <a:defRPr sz="1650" b="0">
                <a:solidFill>
                  <a:srgbClr val="343D42"/>
                </a:solidFill>
                <a:latin typeface="Arial"/>
                <a:ea typeface="Arial"/>
                <a:cs typeface="Arial"/>
              </a:defRPr>
            </a:pPr>
            <a:r>
              <a:rPr sz="1650" b="0">
                <a:solidFill>
                  <a:srgbClr val="343D42"/>
                </a:solidFill>
                <a:latin typeface="Arial"/>
                <a:ea typeface="Arial"/>
                <a:cs typeface="Arial"/>
              </a:rPr>
              <a:t>By acquiring Hollinswood at a 9.6% cap rate in a market where assets typically trade around 7% cap rates, SCP is positioned to generate significant cash flow.</a:t>
            </a:r>
          </a:p>
        </p:txBody>
      </p:sp>
    </p:spTree>
    <p:extLst>
      <p:ext uri="{BB962C8B-B14F-4D97-AF65-F5344CB8AC3E}">
        <p14:creationId xmlns:p14="http://schemas.microsoft.com/office/powerpoint/2010/main" val="8391810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BB3DEBB-47B4-4D4E-8A2C-3200F8A8EC4F}"/>
              </a:ext>
            </a:extLst>
          </p:cNvPr>
          <p:cNvSpPr>
            <a:spLocks xmlns:a="http://schemas.openxmlformats.org/drawingml/2006/main" noGrp="1"/>
          </p:cNvSpPr>
          <p:nvPr/>
        </p:nvSpPr>
        <p:spPr>
          <a:xfrm xmlns:a="http://schemas.openxmlformats.org/drawingml/2006/main">
            <a:off x="457200" y="276225"/>
            <a:ext cx="11277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343D42"/>
                </a:solidFill>
                <a:latin typeface="Arial"/>
                <a:ea typeface="Arial"/>
                <a:cs typeface="Arial"/>
              </a:defRPr>
            </a:defPPr>
          </a:lstStyle>
          <a:p xmlns:a="http://schemas.openxmlformats.org/drawingml/2006/main">
            <a:pPr>
              <a:defRPr sz="2100" b="1">
                <a:solidFill>
                  <a:srgbClr val="343D42"/>
                </a:solidFill>
                <a:latin typeface="Arial"/>
                <a:ea typeface="Arial"/>
                <a:cs typeface="Arial"/>
              </a:defRPr>
            </a:pPr>
            <a:r>
              <a:rPr sz="2100" b="1">
                <a:solidFill>
                  <a:srgbClr val="343D42"/>
                </a:solidFill>
                <a:latin typeface="Arial"/>
                <a:ea typeface="Arial"/>
                <a:cs typeface="Arial"/>
              </a:rPr>
              <a:t>Investment Highlights - Walgreens Pad Site</a:t>
            </a:r>
          </a:p>
        </p:txBody>
      </p:sp>
      <p:sp>
        <p:nvSpPr>
          <p:cNvPr id="2" name="">
            <a:extLst xmlns:a="http://schemas.openxmlformats.org/drawingml/2006/main">
              <a:ext uri="{FF2B5EF4-FFF2-40B4-BE49-F238E27FC236}">
                <a16:creationId xmlns:a16="http://schemas.microsoft.com/office/drawing/2014/main" id="{F1454777-4E28-427A-A4A0-C7CCBD60C4AA}"/>
              </a:ext>
            </a:extLst>
          </p:cNvPr>
          <p:cNvSpPr>
            <a:spLocks xmlns:a="http://schemas.openxmlformats.org/drawingml/2006/main" noGrp="1"/>
          </p:cNvSpPr>
          <p:nvPr/>
        </p:nvSpPr>
        <p:spPr>
          <a:xfrm xmlns:a="http://schemas.openxmlformats.org/drawingml/2006/main">
            <a:off x="457200" y="800100"/>
            <a:ext cx="11277600" cy="9525"/>
          </a:xfrm>
          <a:prstGeom xmlns:a="http://schemas.openxmlformats.org/drawingml/2006/main" prst="rect">
            <a:avLst/>
          </a:prstGeom>
          <a:solidFill xmlns:a="http://schemas.openxmlformats.org/drawingml/2006/main">
            <a:srgbClr val="B9B9B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A89486F-5C01-4F49-BF88-5E92A45D9C92}"/>
              </a:ext>
            </a:extLst>
          </p:cNvPr>
          <p:cNvSpPr>
            <a:spLocks xmlns:a="http://schemas.openxmlformats.org/drawingml/2006/main" noGrp="1"/>
          </p:cNvSpPr>
          <p:nvPr/>
        </p:nvSpPr>
        <p:spPr>
          <a:xfrm xmlns:a="http://schemas.openxmlformats.org/drawingml/2006/main">
            <a:off x="457200" y="6257925"/>
            <a:ext cx="11277600" cy="38100"/>
          </a:xfrm>
          <a:prstGeom xmlns:a="http://schemas.openxmlformats.org/drawingml/2006/main" prst="rect">
            <a:avLst/>
          </a:prstGeom>
          <a:solidFill xmlns:a="http://schemas.openxmlformats.org/drawingml/2006/main">
            <a:srgbClr val="343D4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C74EC64-51BE-4A33-8D70-78DBD76D7A10}"/>
              </a:ext>
            </a:extLst>
          </p:cNvPr>
          <p:cNvSpPr>
            <a:spLocks xmlns:a="http://schemas.openxmlformats.org/drawingml/2006/main" noGrp="1"/>
          </p:cNvSpPr>
          <p:nvPr/>
        </p:nvSpPr>
        <p:spPr>
          <a:xfrm xmlns:a="http://schemas.openxmlformats.org/drawingml/2006/main">
            <a:off x="457200" y="6238875"/>
            <a:ext cx="11277600" cy="19050"/>
          </a:xfrm>
          <a:prstGeom xmlns:a="http://schemas.openxmlformats.org/drawingml/2006/main" prst="rect">
            <a:avLst/>
          </a:prstGeom>
          <a:solidFill xmlns:a="http://schemas.openxmlformats.org/drawingml/2006/main">
            <a:srgbClr val="C2674B"/>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6450C567-42A8-4C31-9FB8-012396554CC2}"/>
              </a:ext>
            </a:extLst>
          </p:cNvPr>
          <p:cNvPicPr>
            <a:picLocks xmlns:a="http://schemas.openxmlformats.org/drawingml/2006/main" noChangeAspect="1"/>
          </p:cNvPicPr>
          <p:nvPr/>
        </p:nvPicPr>
        <p:blipFill>
          <a:blip xmlns:r="http://schemas.openxmlformats.org/officeDocument/2006/relationships" xmlns:a="http://schemas.openxmlformats.org/drawingml/2006/main" r:embed="R3114bf1879134c09"/>
          <a:stretch xmlns:a="http://schemas.openxmlformats.org/drawingml/2006/main"/>
        </p:blipFill>
        <p:spPr>
          <a:xfrm xmlns:a="http://schemas.openxmlformats.org/drawingml/2006/main">
            <a:off x="457200" y="6387465"/>
            <a:ext cx="1609725" cy="32194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D908336-7FC7-4AB1-AE98-10358E4B36FC}"/>
              </a:ext>
            </a:extLst>
          </p:cNvPr>
          <p:cNvSpPr>
            <a:spLocks xmlns:a="http://schemas.openxmlformats.org/drawingml/2006/main" noGrp="1"/>
          </p:cNvSpPr>
          <p:nvPr/>
        </p:nvSpPr>
        <p:spPr>
          <a:xfrm xmlns:a="http://schemas.openxmlformats.org/drawingml/2006/main">
            <a:off x="11382375" y="64579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747474"/>
                </a:solidFill>
                <a:latin typeface="Arial"/>
                <a:ea typeface="Arial"/>
                <a:cs typeface="Arial"/>
              </a:defRPr>
            </a:defPPr>
          </a:lstStyle>
          <a:p xmlns:a="http://schemas.openxmlformats.org/drawingml/2006/main">
            <a:pPr>
              <a:defRPr sz="900" b="0">
                <a:solidFill>
                  <a:srgbClr val="747474"/>
                </a:solidFill>
                <a:latin typeface="Arial"/>
                <a:ea typeface="Arial"/>
                <a:cs typeface="Arial"/>
              </a:defRPr>
            </a:pPr>
            <a:r>
              <a:rPr sz="900" b="0">
                <a:solidFill>
                  <a:srgbClr val="747474"/>
                </a:solidFill>
                <a:latin typeface="Arial"/>
                <a:ea typeface="Arial"/>
                <a:cs typeface="Arial"/>
              </a:rPr>
              <a:t>7</a:t>
            </a:r>
          </a:p>
        </p:txBody>
      </p:sp>
      <p:sp>
        <p:nvSpPr>
          <p:cNvPr id="7" name="">
            <a:extLst xmlns:a="http://schemas.openxmlformats.org/drawingml/2006/main">
              <a:ext uri="{FF2B5EF4-FFF2-40B4-BE49-F238E27FC236}">
                <a16:creationId xmlns:a16="http://schemas.microsoft.com/office/drawing/2014/main" id="{7677BCAA-6405-4645-A49C-9B91B57EC53D}"/>
              </a:ext>
            </a:extLst>
          </p:cNvPr>
          <p:cNvSpPr>
            <a:spLocks xmlns:a="http://schemas.openxmlformats.org/drawingml/2006/main" noGrp="1"/>
          </p:cNvSpPr>
          <p:nvPr/>
        </p:nvSpPr>
        <p:spPr>
          <a:xfrm xmlns:a="http://schemas.openxmlformats.org/drawingml/2006/main">
            <a:off x="457200" y="1066800"/>
            <a:ext cx="11277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343D42"/>
                </a:solidFill>
                <a:latin typeface="Arial"/>
                <a:ea typeface="Arial"/>
                <a:cs typeface="Arial"/>
              </a:defRPr>
            </a:defPPr>
          </a:lstStyle>
          <a:p xmlns:a="http://schemas.openxmlformats.org/drawingml/2006/main">
            <a:pPr>
              <a:defRPr sz="1575" b="0">
                <a:solidFill>
                  <a:srgbClr val="343D42"/>
                </a:solidFill>
                <a:latin typeface="Arial"/>
                <a:ea typeface="Arial"/>
                <a:cs typeface="Arial"/>
              </a:defRPr>
            </a:pPr>
            <a:r>
              <a:rPr sz="1575" b="0">
                <a:solidFill>
                  <a:srgbClr val="343D42"/>
                </a:solidFill>
                <a:latin typeface="Arial"/>
                <a:ea typeface="Arial"/>
                <a:cs typeface="Arial"/>
              </a:rPr>
              <a:t>SCP has the opportunity to negotiate an early lease termination and re-tenant the Walgreens pad site.</a:t>
            </a:r>
          </a:p>
        </p:txBody>
      </p:sp>
      <p:sp>
        <p:nvSpPr>
          <p:cNvPr id="8" name="">
            <a:extLst xmlns:a="http://schemas.openxmlformats.org/drawingml/2006/main">
              <a:ext uri="{FF2B5EF4-FFF2-40B4-BE49-F238E27FC236}">
                <a16:creationId xmlns:a16="http://schemas.microsoft.com/office/drawing/2014/main" id="{22C1D13B-9BC4-4D53-AC1E-A33BB596F231}"/>
              </a:ext>
            </a:extLst>
          </p:cNvPr>
          <p:cNvSpPr>
            <a:spLocks xmlns:a="http://schemas.openxmlformats.org/drawingml/2006/main" noGrp="1"/>
          </p:cNvSpPr>
          <p:nvPr/>
        </p:nvSpPr>
        <p:spPr>
          <a:xfrm xmlns:a="http://schemas.openxmlformats.org/drawingml/2006/main">
            <a:off x="457200" y="1857375"/>
            <a:ext cx="65151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343D42"/>
                </a:solidFill>
                <a:latin typeface="Arial"/>
                <a:ea typeface="Arial"/>
                <a:cs typeface="Arial"/>
              </a:defRPr>
            </a:defPPr>
          </a:lstStyle>
          <a:p xmlns:a="http://schemas.openxmlformats.org/drawingml/2006/main">
            <a:pPr>
              <a:defRPr sz="1275" b="0">
                <a:solidFill>
                  <a:srgbClr val="343D42"/>
                </a:solidFill>
                <a:latin typeface="Arial"/>
                <a:ea typeface="Arial"/>
                <a:cs typeface="Arial"/>
              </a:defRPr>
            </a:pPr>
            <a:r>
              <a:rPr sz="1275" b="0">
                <a:solidFill>
                  <a:srgbClr val="343D42"/>
                </a:solidFill>
                <a:latin typeface="Arial"/>
                <a:ea typeface="Arial"/>
                <a:cs typeface="Arial"/>
              </a:rPr>
              <a:t>• Walgreens closed this location as part of a national corporate restructuring. In late 2024, the company announced approximately 1,200 closures through 2027, representing about 13%–15% of its U.S. footprint.</a:t>
            </a:r>
          </a:p>
        </p:txBody>
      </p:sp>
      <p:sp>
        <p:nvSpPr>
          <p:cNvPr id="9" name="">
            <a:extLst xmlns:a="http://schemas.openxmlformats.org/drawingml/2006/main">
              <a:ext uri="{FF2B5EF4-FFF2-40B4-BE49-F238E27FC236}">
                <a16:creationId xmlns:a16="http://schemas.microsoft.com/office/drawing/2014/main" id="{5A2F39E9-39E9-4E15-AE6F-A85016FC23AF}"/>
              </a:ext>
            </a:extLst>
          </p:cNvPr>
          <p:cNvSpPr>
            <a:spLocks xmlns:a="http://schemas.openxmlformats.org/drawingml/2006/main" noGrp="1"/>
          </p:cNvSpPr>
          <p:nvPr/>
        </p:nvSpPr>
        <p:spPr>
          <a:xfrm xmlns:a="http://schemas.openxmlformats.org/drawingml/2006/main">
            <a:off x="457200" y="2676525"/>
            <a:ext cx="65151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343D42"/>
                </a:solidFill>
                <a:latin typeface="Arial"/>
                <a:ea typeface="Arial"/>
                <a:cs typeface="Arial"/>
              </a:defRPr>
            </a:defPPr>
          </a:lstStyle>
          <a:p xmlns:a="http://schemas.openxmlformats.org/drawingml/2006/main">
            <a:pPr>
              <a:defRPr sz="1275" b="0">
                <a:solidFill>
                  <a:srgbClr val="343D42"/>
                </a:solidFill>
                <a:latin typeface="Arial"/>
                <a:ea typeface="Arial"/>
                <a:cs typeface="Arial"/>
              </a:defRPr>
            </a:pPr>
            <a:r>
              <a:rPr sz="1275" b="0">
                <a:solidFill>
                  <a:srgbClr val="343D42"/>
                </a:solidFill>
                <a:latin typeface="Arial"/>
                <a:ea typeface="Arial"/>
                <a:cs typeface="Arial"/>
              </a:rPr>
              <a:t>• The tenant remains legally bound by its lease and continues to pay rent. A dark store, however, reduces foot traffic for neighboring tenants.</a:t>
            </a:r>
          </a:p>
        </p:txBody>
      </p:sp>
      <p:sp>
        <p:nvSpPr>
          <p:cNvPr id="10" name="">
            <a:extLst xmlns:a="http://schemas.openxmlformats.org/drawingml/2006/main">
              <a:ext uri="{FF2B5EF4-FFF2-40B4-BE49-F238E27FC236}">
                <a16:creationId xmlns:a16="http://schemas.microsoft.com/office/drawing/2014/main" id="{044F6314-ACAF-4C0B-B56B-88609BCF90F0}"/>
              </a:ext>
            </a:extLst>
          </p:cNvPr>
          <p:cNvSpPr>
            <a:spLocks xmlns:a="http://schemas.openxmlformats.org/drawingml/2006/main" noGrp="1"/>
          </p:cNvSpPr>
          <p:nvPr/>
        </p:nvSpPr>
        <p:spPr>
          <a:xfrm xmlns:a="http://schemas.openxmlformats.org/drawingml/2006/main">
            <a:off x="457200" y="3495675"/>
            <a:ext cx="65151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343D42"/>
                </a:solidFill>
                <a:latin typeface="Arial"/>
                <a:ea typeface="Arial"/>
                <a:cs typeface="Arial"/>
              </a:defRPr>
            </a:defPPr>
          </a:lstStyle>
          <a:p xmlns:a="http://schemas.openxmlformats.org/drawingml/2006/main">
            <a:pPr>
              <a:defRPr sz="1275" b="0">
                <a:solidFill>
                  <a:srgbClr val="343D42"/>
                </a:solidFill>
                <a:latin typeface="Arial"/>
                <a:ea typeface="Arial"/>
                <a:cs typeface="Arial"/>
              </a:defRPr>
            </a:pPr>
            <a:r>
              <a:rPr sz="1275" b="0">
                <a:solidFill>
                  <a:srgbClr val="343D42"/>
                </a:solidFill>
                <a:latin typeface="Arial"/>
                <a:ea typeface="Arial"/>
                <a:cs typeface="Arial"/>
              </a:rPr>
              <a:t>• The 2,955-SF pad pays $38.50 PSF, or $113,768 annually. The lease expires in September 2030; remaining lease revenue is approximately $550,000.</a:t>
            </a:r>
          </a:p>
        </p:txBody>
      </p:sp>
      <p:sp>
        <p:nvSpPr>
          <p:cNvPr id="11" name="">
            <a:extLst xmlns:a="http://schemas.openxmlformats.org/drawingml/2006/main">
              <a:ext uri="{FF2B5EF4-FFF2-40B4-BE49-F238E27FC236}">
                <a16:creationId xmlns:a16="http://schemas.microsoft.com/office/drawing/2014/main" id="{2C1BE62A-F362-41D8-A498-5D480166AB12}"/>
              </a:ext>
            </a:extLst>
          </p:cNvPr>
          <p:cNvSpPr>
            <a:spLocks xmlns:a="http://schemas.openxmlformats.org/drawingml/2006/main" noGrp="1"/>
          </p:cNvSpPr>
          <p:nvPr/>
        </p:nvSpPr>
        <p:spPr>
          <a:xfrm xmlns:a="http://schemas.openxmlformats.org/drawingml/2006/main">
            <a:off x="457200" y="4314825"/>
            <a:ext cx="65151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343D42"/>
                </a:solidFill>
                <a:latin typeface="Arial"/>
                <a:ea typeface="Arial"/>
                <a:cs typeface="Arial"/>
              </a:defRPr>
            </a:defPPr>
          </a:lstStyle>
          <a:p xmlns:a="http://schemas.openxmlformats.org/drawingml/2006/main">
            <a:pPr>
              <a:defRPr sz="1275" b="0">
                <a:solidFill>
                  <a:srgbClr val="343D42"/>
                </a:solidFill>
                <a:latin typeface="Arial"/>
                <a:ea typeface="Arial"/>
                <a:cs typeface="Arial"/>
              </a:defRPr>
            </a:pPr>
            <a:r>
              <a:rPr sz="1275" b="0">
                <a:solidFill>
                  <a:srgbClr val="343D42"/>
                </a:solidFill>
                <a:latin typeface="Arial"/>
                <a:ea typeface="Arial"/>
                <a:cs typeface="Arial"/>
              </a:rPr>
              <a:t>• Lease buyout: negotiate a lump-sum payment, mitigating the tenant’s longer-term rent liability and providing immediate liquidity.</a:t>
            </a:r>
          </a:p>
        </p:txBody>
      </p:sp>
      <p:sp>
        <p:nvSpPr>
          <p:cNvPr id="12" name="">
            <a:extLst xmlns:a="http://schemas.openxmlformats.org/drawingml/2006/main">
              <a:ext uri="{FF2B5EF4-FFF2-40B4-BE49-F238E27FC236}">
                <a16:creationId xmlns:a16="http://schemas.microsoft.com/office/drawing/2014/main" id="{8176B57A-4EA4-42AE-B049-5B0EDF3BA93B}"/>
              </a:ext>
            </a:extLst>
          </p:cNvPr>
          <p:cNvSpPr>
            <a:spLocks xmlns:a="http://schemas.openxmlformats.org/drawingml/2006/main" noGrp="1"/>
          </p:cNvSpPr>
          <p:nvPr/>
        </p:nvSpPr>
        <p:spPr>
          <a:xfrm xmlns:a="http://schemas.openxmlformats.org/drawingml/2006/main">
            <a:off x="457200" y="5133975"/>
            <a:ext cx="65151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343D42"/>
                </a:solidFill>
                <a:latin typeface="Arial"/>
                <a:ea typeface="Arial"/>
                <a:cs typeface="Arial"/>
              </a:defRPr>
            </a:defPPr>
          </a:lstStyle>
          <a:p xmlns:a="http://schemas.openxmlformats.org/drawingml/2006/main">
            <a:pPr>
              <a:defRPr sz="1275" b="0">
                <a:solidFill>
                  <a:srgbClr val="343D42"/>
                </a:solidFill>
                <a:latin typeface="Arial"/>
                <a:ea typeface="Arial"/>
                <a:cs typeface="Arial"/>
              </a:defRPr>
            </a:pPr>
            <a:r>
              <a:rPr sz="1275" b="0">
                <a:solidFill>
                  <a:srgbClr val="343D42"/>
                </a:solidFill>
                <a:latin typeface="Arial"/>
                <a:ea typeface="Arial"/>
                <a:cs typeface="Arial"/>
              </a:rPr>
              <a:t>• Value-add re-leasing: renovate the pad with a drive-through and secure a creditworthy tenant on a new 10-year lease, potentially improving terminal value.</a:t>
            </a:r>
          </a:p>
        </p:txBody>
      </p:sp>
      <p:pic>
        <p:nvPicPr>
          <p:cNvPr id="13" name="">
            <a:extLst xmlns:a="http://schemas.openxmlformats.org/drawingml/2006/main">
              <a:ext uri="{FF2B5EF4-FFF2-40B4-BE49-F238E27FC236}">
                <a16:creationId xmlns:a16="http://schemas.microsoft.com/office/drawing/2014/main" id="{7682E340-176E-416E-9D46-1A5300C22275}"/>
              </a:ext>
            </a:extLst>
          </p:cNvPr>
          <p:cNvPicPr>
            <a:picLocks xmlns:a="http://schemas.openxmlformats.org/drawingml/2006/main" noChangeAspect="1"/>
          </p:cNvPicPr>
          <p:nvPr/>
        </p:nvPicPr>
        <p:blipFill>
          <a:blip xmlns:r="http://schemas.openxmlformats.org/officeDocument/2006/relationships" xmlns:a="http://schemas.openxmlformats.org/drawingml/2006/main" r:embed="R851081a453e54953"/>
          <a:stretch xmlns:a="http://schemas.openxmlformats.org/drawingml/2006/main"/>
        </p:blipFill>
        <p:spPr>
          <a:xfrm xmlns:a="http://schemas.openxmlformats.org/drawingml/2006/main">
            <a:off x="7381875" y="2336899"/>
            <a:ext cx="4191000" cy="2298502"/>
          </a:xfrm>
          <a:prstGeom xmlns:a="http://schemas.openxmlformats.org/drawingml/2006/main" prst="rect">
            <a:avLst/>
          </a:prstGeom>
        </p:spPr>
      </p:pic>
    </p:spTree>
    <p:extLst>
      <p:ext uri="{BB962C8B-B14F-4D97-AF65-F5344CB8AC3E}">
        <p14:creationId xmlns:p14="http://schemas.microsoft.com/office/powerpoint/2010/main" val="134331674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A0596D8-11D8-49CB-91D8-463B3A01B9DA}"/>
              </a:ext>
            </a:extLst>
          </p:cNvPr>
          <p:cNvSpPr>
            <a:spLocks xmlns:a="http://schemas.openxmlformats.org/drawingml/2006/main" noGrp="1"/>
          </p:cNvSpPr>
          <p:nvPr/>
        </p:nvSpPr>
        <p:spPr>
          <a:xfrm xmlns:a="http://schemas.openxmlformats.org/drawingml/2006/main">
            <a:off x="457200" y="276225"/>
            <a:ext cx="11277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343D42"/>
                </a:solidFill>
                <a:latin typeface="Arial"/>
                <a:ea typeface="Arial"/>
                <a:cs typeface="Arial"/>
              </a:defRPr>
            </a:defPPr>
          </a:lstStyle>
          <a:p xmlns:a="http://schemas.openxmlformats.org/drawingml/2006/main">
            <a:pPr>
              <a:defRPr sz="2100" b="1">
                <a:solidFill>
                  <a:srgbClr val="343D42"/>
                </a:solidFill>
                <a:latin typeface="Arial"/>
                <a:ea typeface="Arial"/>
                <a:cs typeface="Arial"/>
              </a:defRPr>
            </a:pPr>
            <a:r>
              <a:rPr sz="2100" b="1">
                <a:solidFill>
                  <a:srgbClr val="343D42"/>
                </a:solidFill>
                <a:latin typeface="Arial"/>
                <a:ea typeface="Arial"/>
                <a:cs typeface="Arial"/>
              </a:rPr>
              <a:t>Investment Highlights - Core Location</a:t>
            </a:r>
          </a:p>
        </p:txBody>
      </p:sp>
      <p:sp>
        <p:nvSpPr>
          <p:cNvPr id="2" name="">
            <a:extLst xmlns:a="http://schemas.openxmlformats.org/drawingml/2006/main">
              <a:ext uri="{FF2B5EF4-FFF2-40B4-BE49-F238E27FC236}">
                <a16:creationId xmlns:a16="http://schemas.microsoft.com/office/drawing/2014/main" id="{AFC4F048-C9A9-4DC0-AAF2-B60B726A4FF6}"/>
              </a:ext>
            </a:extLst>
          </p:cNvPr>
          <p:cNvSpPr>
            <a:spLocks xmlns:a="http://schemas.openxmlformats.org/drawingml/2006/main" noGrp="1"/>
          </p:cNvSpPr>
          <p:nvPr/>
        </p:nvSpPr>
        <p:spPr>
          <a:xfrm xmlns:a="http://schemas.openxmlformats.org/drawingml/2006/main">
            <a:off x="457200" y="800100"/>
            <a:ext cx="11277600" cy="9525"/>
          </a:xfrm>
          <a:prstGeom xmlns:a="http://schemas.openxmlformats.org/drawingml/2006/main" prst="rect">
            <a:avLst/>
          </a:prstGeom>
          <a:solidFill xmlns:a="http://schemas.openxmlformats.org/drawingml/2006/main">
            <a:srgbClr val="B9B9B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8A4A796-433D-4154-95C6-A1F79C80E7EC}"/>
              </a:ext>
            </a:extLst>
          </p:cNvPr>
          <p:cNvSpPr>
            <a:spLocks xmlns:a="http://schemas.openxmlformats.org/drawingml/2006/main" noGrp="1"/>
          </p:cNvSpPr>
          <p:nvPr/>
        </p:nvSpPr>
        <p:spPr>
          <a:xfrm xmlns:a="http://schemas.openxmlformats.org/drawingml/2006/main">
            <a:off x="457200" y="6257925"/>
            <a:ext cx="11277600" cy="38100"/>
          </a:xfrm>
          <a:prstGeom xmlns:a="http://schemas.openxmlformats.org/drawingml/2006/main" prst="rect">
            <a:avLst/>
          </a:prstGeom>
          <a:solidFill xmlns:a="http://schemas.openxmlformats.org/drawingml/2006/main">
            <a:srgbClr val="343D4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156AB71-FA8D-40EC-8812-6179FF52B9AF}"/>
              </a:ext>
            </a:extLst>
          </p:cNvPr>
          <p:cNvSpPr>
            <a:spLocks xmlns:a="http://schemas.openxmlformats.org/drawingml/2006/main" noGrp="1"/>
          </p:cNvSpPr>
          <p:nvPr/>
        </p:nvSpPr>
        <p:spPr>
          <a:xfrm xmlns:a="http://schemas.openxmlformats.org/drawingml/2006/main">
            <a:off x="457200" y="6238875"/>
            <a:ext cx="11277600" cy="19050"/>
          </a:xfrm>
          <a:prstGeom xmlns:a="http://schemas.openxmlformats.org/drawingml/2006/main" prst="rect">
            <a:avLst/>
          </a:prstGeom>
          <a:solidFill xmlns:a="http://schemas.openxmlformats.org/drawingml/2006/main">
            <a:srgbClr val="C2674B"/>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D9E9E097-D310-44E9-AB94-D66973EE1701}"/>
              </a:ext>
            </a:extLst>
          </p:cNvPr>
          <p:cNvPicPr>
            <a:picLocks xmlns:a="http://schemas.openxmlformats.org/drawingml/2006/main" noChangeAspect="1"/>
          </p:cNvPicPr>
          <p:nvPr/>
        </p:nvPicPr>
        <p:blipFill>
          <a:blip xmlns:r="http://schemas.openxmlformats.org/officeDocument/2006/relationships" xmlns:a="http://schemas.openxmlformats.org/drawingml/2006/main" r:embed="R7bba3e7198eb46d9"/>
          <a:stretch xmlns:a="http://schemas.openxmlformats.org/drawingml/2006/main"/>
        </p:blipFill>
        <p:spPr>
          <a:xfrm xmlns:a="http://schemas.openxmlformats.org/drawingml/2006/main">
            <a:off x="457200" y="6387465"/>
            <a:ext cx="1609725" cy="32194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1F2A67D-1A4B-47E6-A2EC-FBA47DB863D4}"/>
              </a:ext>
            </a:extLst>
          </p:cNvPr>
          <p:cNvSpPr>
            <a:spLocks xmlns:a="http://schemas.openxmlformats.org/drawingml/2006/main" noGrp="1"/>
          </p:cNvSpPr>
          <p:nvPr/>
        </p:nvSpPr>
        <p:spPr>
          <a:xfrm xmlns:a="http://schemas.openxmlformats.org/drawingml/2006/main">
            <a:off x="11382375" y="64579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747474"/>
                </a:solidFill>
                <a:latin typeface="Arial"/>
                <a:ea typeface="Arial"/>
                <a:cs typeface="Arial"/>
              </a:defRPr>
            </a:defPPr>
          </a:lstStyle>
          <a:p xmlns:a="http://schemas.openxmlformats.org/drawingml/2006/main">
            <a:pPr>
              <a:defRPr sz="900" b="0">
                <a:solidFill>
                  <a:srgbClr val="747474"/>
                </a:solidFill>
                <a:latin typeface="Arial"/>
                <a:ea typeface="Arial"/>
                <a:cs typeface="Arial"/>
              </a:defRPr>
            </a:pPr>
            <a:r>
              <a:rPr sz="900" b="0">
                <a:solidFill>
                  <a:srgbClr val="747474"/>
                </a:solidFill>
                <a:latin typeface="Arial"/>
                <a:ea typeface="Arial"/>
                <a:cs typeface="Arial"/>
              </a:rPr>
              <a:t>8</a:t>
            </a:r>
          </a:p>
        </p:txBody>
      </p:sp>
      <p:sp>
        <p:nvSpPr>
          <p:cNvPr id="7" name="">
            <a:extLst xmlns:a="http://schemas.openxmlformats.org/drawingml/2006/main">
              <a:ext uri="{FF2B5EF4-FFF2-40B4-BE49-F238E27FC236}">
                <a16:creationId xmlns:a16="http://schemas.microsoft.com/office/drawing/2014/main" id="{48E39E94-079A-487F-9BC8-F2B48648A42E}"/>
              </a:ext>
            </a:extLst>
          </p:cNvPr>
          <p:cNvSpPr>
            <a:spLocks xmlns:a="http://schemas.openxmlformats.org/drawingml/2006/main" noGrp="1"/>
          </p:cNvSpPr>
          <p:nvPr/>
        </p:nvSpPr>
        <p:spPr>
          <a:xfrm xmlns:a="http://schemas.openxmlformats.org/drawingml/2006/main">
            <a:off x="457200" y="1019175"/>
            <a:ext cx="11277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343D42"/>
                </a:solidFill>
                <a:latin typeface="Arial"/>
                <a:ea typeface="Arial"/>
                <a:cs typeface="Arial"/>
              </a:defRPr>
            </a:defPPr>
          </a:lstStyle>
          <a:p xmlns:a="http://schemas.openxmlformats.org/drawingml/2006/main">
            <a:pPr>
              <a:defRPr sz="1575" b="0">
                <a:solidFill>
                  <a:srgbClr val="343D42"/>
                </a:solidFill>
                <a:latin typeface="Arial"/>
                <a:ea typeface="Arial"/>
                <a:cs typeface="Arial"/>
              </a:defRPr>
            </a:pPr>
            <a:r>
              <a:rPr sz="1575" b="0">
                <a:solidFill>
                  <a:srgbClr val="343D42"/>
                </a:solidFill>
                <a:latin typeface="Arial"/>
                <a:ea typeface="Arial"/>
                <a:cs typeface="Arial"/>
              </a:rPr>
              <a:t>Located just north of Baltimore Washington International Airport, just inside the City/County line, the center sits along West Patapsco Avenue, attracting over 21,000 vehicles daily.</a:t>
            </a:r>
          </a:p>
        </p:txBody>
      </p:sp>
      <p:sp>
        <p:nvSpPr>
          <p:cNvPr id="8" name="">
            <a:extLst xmlns:a="http://schemas.openxmlformats.org/drawingml/2006/main">
              <a:ext uri="{FF2B5EF4-FFF2-40B4-BE49-F238E27FC236}">
                <a16:creationId xmlns:a16="http://schemas.microsoft.com/office/drawing/2014/main" id="{E4206588-C2D0-408A-8E7D-395A133822C3}"/>
              </a:ext>
            </a:extLst>
          </p:cNvPr>
          <p:cNvSpPr>
            <a:spLocks xmlns:a="http://schemas.openxmlformats.org/drawingml/2006/main" noGrp="1"/>
          </p:cNvSpPr>
          <p:nvPr/>
        </p:nvSpPr>
        <p:spPr>
          <a:xfrm xmlns:a="http://schemas.openxmlformats.org/drawingml/2006/main">
            <a:off x="457200" y="1809750"/>
            <a:ext cx="6286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343D42"/>
                </a:solidFill>
                <a:latin typeface="Arial"/>
                <a:ea typeface="Arial"/>
                <a:cs typeface="Arial"/>
              </a:defRPr>
            </a:defPPr>
          </a:lstStyle>
          <a:p xmlns:a="http://schemas.openxmlformats.org/drawingml/2006/main">
            <a:pPr>
              <a:defRPr sz="1275" b="0">
                <a:solidFill>
                  <a:srgbClr val="343D42"/>
                </a:solidFill>
                <a:latin typeface="Arial"/>
                <a:ea typeface="Arial"/>
                <a:cs typeface="Arial"/>
              </a:defRPr>
            </a:pPr>
            <a:r>
              <a:rPr sz="1275" b="0">
                <a:solidFill>
                  <a:srgbClr val="343D42"/>
                </a:solidFill>
                <a:latin typeface="Arial"/>
                <a:ea typeface="Arial"/>
                <a:cs typeface="Arial"/>
              </a:rPr>
              <a:t>• High-visibility intersection of West Patapsco Avenue and Hollins Ferry Road, with approximately 35,000 vehicles per day at the primary corner. The property is less than a mile from major interstates, including I-95, I-696 and I-895, and is bordered by the Baltimore–Washington Parkway (I-295), with over 78,000 VPD.</a:t>
            </a:r>
          </a:p>
        </p:txBody>
      </p:sp>
      <p:sp>
        <p:nvSpPr>
          <p:cNvPr id="9" name="">
            <a:extLst xmlns:a="http://schemas.openxmlformats.org/drawingml/2006/main">
              <a:ext uri="{FF2B5EF4-FFF2-40B4-BE49-F238E27FC236}">
                <a16:creationId xmlns:a16="http://schemas.microsoft.com/office/drawing/2014/main" id="{6EF642AD-CC8A-491E-8698-73E1D057A6EC}"/>
              </a:ext>
            </a:extLst>
          </p:cNvPr>
          <p:cNvSpPr>
            <a:spLocks xmlns:a="http://schemas.openxmlformats.org/drawingml/2006/main" noGrp="1"/>
          </p:cNvSpPr>
          <p:nvPr/>
        </p:nvSpPr>
        <p:spPr>
          <a:xfrm xmlns:a="http://schemas.openxmlformats.org/drawingml/2006/main">
            <a:off x="457200" y="2809875"/>
            <a:ext cx="6286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343D42"/>
                </a:solidFill>
                <a:latin typeface="Arial"/>
                <a:ea typeface="Arial"/>
                <a:cs typeface="Arial"/>
              </a:defRPr>
            </a:defPPr>
          </a:lstStyle>
          <a:p xmlns:a="http://schemas.openxmlformats.org/drawingml/2006/main">
            <a:pPr>
              <a:defRPr sz="1275" b="0">
                <a:solidFill>
                  <a:srgbClr val="343D42"/>
                </a:solidFill>
                <a:latin typeface="Arial"/>
                <a:ea typeface="Arial"/>
                <a:cs typeface="Arial"/>
              </a:defRPr>
            </a:pPr>
            <a:r>
              <a:rPr sz="1275" b="0">
                <a:solidFill>
                  <a:srgbClr val="343D42"/>
                </a:solidFill>
                <a:latin typeface="Arial"/>
                <a:ea typeface="Arial"/>
                <a:cs typeface="Arial"/>
              </a:rPr>
              <a:t>• Over 18,000 residents live within one mile and over 130,000 within three miles. Average household income within three miles is $81,000, with projected annual growth of 2.4% through 2030.</a:t>
            </a:r>
          </a:p>
        </p:txBody>
      </p:sp>
      <p:sp>
        <p:nvSpPr>
          <p:cNvPr id="10" name="">
            <a:extLst xmlns:a="http://schemas.openxmlformats.org/drawingml/2006/main">
              <a:ext uri="{FF2B5EF4-FFF2-40B4-BE49-F238E27FC236}">
                <a16:creationId xmlns:a16="http://schemas.microsoft.com/office/drawing/2014/main" id="{AD221CEA-1CB5-4A07-8178-BB6D043BB49A}"/>
              </a:ext>
            </a:extLst>
          </p:cNvPr>
          <p:cNvSpPr>
            <a:spLocks xmlns:a="http://schemas.openxmlformats.org/drawingml/2006/main" noGrp="1"/>
          </p:cNvSpPr>
          <p:nvPr/>
        </p:nvSpPr>
        <p:spPr>
          <a:xfrm xmlns:a="http://schemas.openxmlformats.org/drawingml/2006/main">
            <a:off x="457200" y="3810000"/>
            <a:ext cx="6286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343D42"/>
                </a:solidFill>
                <a:latin typeface="Arial"/>
                <a:ea typeface="Arial"/>
                <a:cs typeface="Arial"/>
              </a:defRPr>
            </a:defPPr>
          </a:lstStyle>
          <a:p xmlns:a="http://schemas.openxmlformats.org/drawingml/2006/main">
            <a:pPr>
              <a:defRPr sz="1275" b="0">
                <a:solidFill>
                  <a:srgbClr val="343D42"/>
                </a:solidFill>
                <a:latin typeface="Arial"/>
                <a:ea typeface="Arial"/>
                <a:cs typeface="Arial"/>
              </a:defRPr>
            </a:pPr>
            <a:r>
              <a:rPr sz="1275" b="0">
                <a:solidFill>
                  <a:srgbClr val="343D42"/>
                </a:solidFill>
                <a:latin typeface="Arial"/>
                <a:ea typeface="Arial"/>
                <a:cs typeface="Arial"/>
              </a:rPr>
              <a:t>• The Baltimore City/Baltimore County border location captures neighborhood shoppers from Lakeland and Cherry Hill and suburban commuters from Lansdowne and Baltimore Highlands.</a:t>
            </a:r>
          </a:p>
        </p:txBody>
      </p:sp>
      <p:sp>
        <p:nvSpPr>
          <p:cNvPr id="11" name="">
            <a:extLst xmlns:a="http://schemas.openxmlformats.org/drawingml/2006/main">
              <a:ext uri="{FF2B5EF4-FFF2-40B4-BE49-F238E27FC236}">
                <a16:creationId xmlns:a16="http://schemas.microsoft.com/office/drawing/2014/main" id="{B33118CB-55F6-4122-BBCD-9CF9BFD249FD}"/>
              </a:ext>
            </a:extLst>
          </p:cNvPr>
          <p:cNvSpPr>
            <a:spLocks xmlns:a="http://schemas.openxmlformats.org/drawingml/2006/main" noGrp="1"/>
          </p:cNvSpPr>
          <p:nvPr/>
        </p:nvSpPr>
        <p:spPr>
          <a:xfrm xmlns:a="http://schemas.openxmlformats.org/drawingml/2006/main">
            <a:off x="457200" y="4810125"/>
            <a:ext cx="6286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343D42"/>
                </a:solidFill>
                <a:latin typeface="Arial"/>
                <a:ea typeface="Arial"/>
                <a:cs typeface="Arial"/>
              </a:defRPr>
            </a:defPPr>
          </a:lstStyle>
          <a:p xmlns:a="http://schemas.openxmlformats.org/drawingml/2006/main">
            <a:pPr>
              <a:defRPr sz="1275" b="0">
                <a:solidFill>
                  <a:srgbClr val="343D42"/>
                </a:solidFill>
                <a:latin typeface="Arial"/>
                <a:ea typeface="Arial"/>
                <a:cs typeface="Arial"/>
              </a:defRPr>
            </a:pPr>
            <a:r>
              <a:rPr sz="1275" b="0">
                <a:solidFill>
                  <a:srgbClr val="343D42"/>
                </a:solidFill>
                <a:latin typeface="Arial"/>
                <a:ea typeface="Arial"/>
                <a:cs typeface="Arial"/>
              </a:rPr>
              <a:t>• The border position serves an under-retailed area where residents converge for essential services, supporting repeat foot traffic.</a:t>
            </a:r>
          </a:p>
        </p:txBody>
      </p:sp>
      <p:pic>
        <p:nvPicPr>
          <p:cNvPr id="12" name="">
            <a:extLst xmlns:a="http://schemas.openxmlformats.org/drawingml/2006/main">
              <a:ext uri="{FF2B5EF4-FFF2-40B4-BE49-F238E27FC236}">
                <a16:creationId xmlns:a16="http://schemas.microsoft.com/office/drawing/2014/main" id="{BED1DCDE-6B53-4741-BD03-EDA270FE4A11}"/>
              </a:ext>
            </a:extLst>
          </p:cNvPr>
          <p:cNvPicPr>
            <a:picLocks xmlns:a="http://schemas.openxmlformats.org/drawingml/2006/main" noChangeAspect="1"/>
          </p:cNvPicPr>
          <p:nvPr/>
        </p:nvPicPr>
        <p:blipFill>
          <a:blip xmlns:r="http://schemas.openxmlformats.org/officeDocument/2006/relationships" xmlns:a="http://schemas.openxmlformats.org/drawingml/2006/main" r:embed="R0f972c071ff344ba"/>
          <a:stretch xmlns:a="http://schemas.openxmlformats.org/drawingml/2006/main"/>
        </p:blipFill>
        <p:spPr>
          <a:xfrm xmlns:a="http://schemas.openxmlformats.org/drawingml/2006/main">
            <a:off x="7105650" y="2054574"/>
            <a:ext cx="4629150" cy="3453702"/>
          </a:xfrm>
          <a:prstGeom xmlns:a="http://schemas.openxmlformats.org/drawingml/2006/main" prst="rect">
            <a:avLst/>
          </a:prstGeom>
        </p:spPr>
      </p:pic>
    </p:spTree>
    <p:extLst>
      <p:ext uri="{BB962C8B-B14F-4D97-AF65-F5344CB8AC3E}">
        <p14:creationId xmlns:p14="http://schemas.microsoft.com/office/powerpoint/2010/main" val="45587906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CEA875E-5BC0-4122-A14F-CA4D0678DBA5}"/>
              </a:ext>
            </a:extLst>
          </p:cNvPr>
          <p:cNvSpPr>
            <a:spLocks xmlns:a="http://schemas.openxmlformats.org/drawingml/2006/main" noGrp="1"/>
          </p:cNvSpPr>
          <p:nvPr/>
        </p:nvSpPr>
        <p:spPr>
          <a:xfrm xmlns:a="http://schemas.openxmlformats.org/drawingml/2006/main">
            <a:off x="457200" y="276225"/>
            <a:ext cx="11277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343D42"/>
                </a:solidFill>
                <a:latin typeface="Arial"/>
                <a:ea typeface="Arial"/>
                <a:cs typeface="Arial"/>
              </a:defRPr>
            </a:defPPr>
          </a:lstStyle>
          <a:p xmlns:a="http://schemas.openxmlformats.org/drawingml/2006/main">
            <a:pPr>
              <a:defRPr sz="2100" b="1">
                <a:solidFill>
                  <a:srgbClr val="343D42"/>
                </a:solidFill>
                <a:latin typeface="Arial"/>
                <a:ea typeface="Arial"/>
                <a:cs typeface="Arial"/>
              </a:defRPr>
            </a:pPr>
            <a:r>
              <a:rPr sz="2100" b="1">
                <a:solidFill>
                  <a:srgbClr val="343D42"/>
                </a:solidFill>
                <a:latin typeface="Arial"/>
                <a:ea typeface="Arial"/>
                <a:cs typeface="Arial"/>
              </a:rPr>
              <a:t>Investment Highlights - Strong Cap Rate Entry</a:t>
            </a:r>
          </a:p>
        </p:txBody>
      </p:sp>
      <p:sp>
        <p:nvSpPr>
          <p:cNvPr id="2" name="">
            <a:extLst xmlns:a="http://schemas.openxmlformats.org/drawingml/2006/main">
              <a:ext uri="{FF2B5EF4-FFF2-40B4-BE49-F238E27FC236}">
                <a16:creationId xmlns:a16="http://schemas.microsoft.com/office/drawing/2014/main" id="{DA84410A-0287-49E8-B121-E8C11F84CDB5}"/>
              </a:ext>
            </a:extLst>
          </p:cNvPr>
          <p:cNvSpPr>
            <a:spLocks xmlns:a="http://schemas.openxmlformats.org/drawingml/2006/main" noGrp="1"/>
          </p:cNvSpPr>
          <p:nvPr/>
        </p:nvSpPr>
        <p:spPr>
          <a:xfrm xmlns:a="http://schemas.openxmlformats.org/drawingml/2006/main">
            <a:off x="457200" y="800100"/>
            <a:ext cx="11277600" cy="9525"/>
          </a:xfrm>
          <a:prstGeom xmlns:a="http://schemas.openxmlformats.org/drawingml/2006/main" prst="rect">
            <a:avLst/>
          </a:prstGeom>
          <a:solidFill xmlns:a="http://schemas.openxmlformats.org/drawingml/2006/main">
            <a:srgbClr val="B9B9B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81858EE-7D65-4DD9-BB07-CEB65C9CE5E7}"/>
              </a:ext>
            </a:extLst>
          </p:cNvPr>
          <p:cNvSpPr>
            <a:spLocks xmlns:a="http://schemas.openxmlformats.org/drawingml/2006/main" noGrp="1"/>
          </p:cNvSpPr>
          <p:nvPr/>
        </p:nvSpPr>
        <p:spPr>
          <a:xfrm xmlns:a="http://schemas.openxmlformats.org/drawingml/2006/main">
            <a:off x="457200" y="6257925"/>
            <a:ext cx="11277600" cy="38100"/>
          </a:xfrm>
          <a:prstGeom xmlns:a="http://schemas.openxmlformats.org/drawingml/2006/main" prst="rect">
            <a:avLst/>
          </a:prstGeom>
          <a:solidFill xmlns:a="http://schemas.openxmlformats.org/drawingml/2006/main">
            <a:srgbClr val="343D4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4C2BC9D-E533-47E3-B4DB-E2D18703655E}"/>
              </a:ext>
            </a:extLst>
          </p:cNvPr>
          <p:cNvSpPr>
            <a:spLocks xmlns:a="http://schemas.openxmlformats.org/drawingml/2006/main" noGrp="1"/>
          </p:cNvSpPr>
          <p:nvPr/>
        </p:nvSpPr>
        <p:spPr>
          <a:xfrm xmlns:a="http://schemas.openxmlformats.org/drawingml/2006/main">
            <a:off x="457200" y="6238875"/>
            <a:ext cx="11277600" cy="19050"/>
          </a:xfrm>
          <a:prstGeom xmlns:a="http://schemas.openxmlformats.org/drawingml/2006/main" prst="rect">
            <a:avLst/>
          </a:prstGeom>
          <a:solidFill xmlns:a="http://schemas.openxmlformats.org/drawingml/2006/main">
            <a:srgbClr val="C2674B"/>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EB02DAC4-51C7-499B-AC6F-7BC6DBE52D86}"/>
              </a:ext>
            </a:extLst>
          </p:cNvPr>
          <p:cNvPicPr>
            <a:picLocks xmlns:a="http://schemas.openxmlformats.org/drawingml/2006/main" noChangeAspect="1"/>
          </p:cNvPicPr>
          <p:nvPr/>
        </p:nvPicPr>
        <p:blipFill>
          <a:blip xmlns:r="http://schemas.openxmlformats.org/officeDocument/2006/relationships" xmlns:a="http://schemas.openxmlformats.org/drawingml/2006/main" r:embed="R4a699013022d4705"/>
          <a:stretch xmlns:a="http://schemas.openxmlformats.org/drawingml/2006/main"/>
        </p:blipFill>
        <p:spPr>
          <a:xfrm xmlns:a="http://schemas.openxmlformats.org/drawingml/2006/main">
            <a:off x="457200" y="6387465"/>
            <a:ext cx="1609725" cy="32194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F61450A-EBF7-4CE1-B475-38EAE859EADB}"/>
              </a:ext>
            </a:extLst>
          </p:cNvPr>
          <p:cNvSpPr>
            <a:spLocks xmlns:a="http://schemas.openxmlformats.org/drawingml/2006/main" noGrp="1"/>
          </p:cNvSpPr>
          <p:nvPr/>
        </p:nvSpPr>
        <p:spPr>
          <a:xfrm xmlns:a="http://schemas.openxmlformats.org/drawingml/2006/main">
            <a:off x="11382375" y="64579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747474"/>
                </a:solidFill>
                <a:latin typeface="Arial"/>
                <a:ea typeface="Arial"/>
                <a:cs typeface="Arial"/>
              </a:defRPr>
            </a:defPPr>
          </a:lstStyle>
          <a:p xmlns:a="http://schemas.openxmlformats.org/drawingml/2006/main">
            <a:pPr>
              <a:defRPr sz="900" b="0">
                <a:solidFill>
                  <a:srgbClr val="747474"/>
                </a:solidFill>
                <a:latin typeface="Arial"/>
                <a:ea typeface="Arial"/>
                <a:cs typeface="Arial"/>
              </a:defRPr>
            </a:pPr>
            <a:r>
              <a:rPr sz="900" b="0">
                <a:solidFill>
                  <a:srgbClr val="747474"/>
                </a:solidFill>
                <a:latin typeface="Arial"/>
                <a:ea typeface="Arial"/>
                <a:cs typeface="Arial"/>
              </a:rPr>
              <a:t>9</a:t>
            </a:r>
          </a:p>
        </p:txBody>
      </p:sp>
      <p:sp>
        <p:nvSpPr>
          <p:cNvPr id="7" name="">
            <a:extLst xmlns:a="http://schemas.openxmlformats.org/drawingml/2006/main">
              <a:ext uri="{FF2B5EF4-FFF2-40B4-BE49-F238E27FC236}">
                <a16:creationId xmlns:a16="http://schemas.microsoft.com/office/drawing/2014/main" id="{5BD7B30B-5896-4159-86FB-7C3F28DDC9E5}"/>
              </a:ext>
            </a:extLst>
          </p:cNvPr>
          <p:cNvSpPr>
            <a:spLocks xmlns:a="http://schemas.openxmlformats.org/drawingml/2006/main" noGrp="1"/>
          </p:cNvSpPr>
          <p:nvPr/>
        </p:nvSpPr>
        <p:spPr>
          <a:xfrm xmlns:a="http://schemas.openxmlformats.org/drawingml/2006/main">
            <a:off x="457200" y="1085850"/>
            <a:ext cx="68484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343D42"/>
                </a:solidFill>
                <a:latin typeface="Arial"/>
                <a:ea typeface="Arial"/>
                <a:cs typeface="Arial"/>
              </a:defRPr>
            </a:defPPr>
          </a:lstStyle>
          <a:p xmlns:a="http://schemas.openxmlformats.org/drawingml/2006/main">
            <a:pPr>
              <a:defRPr sz="1650" b="0">
                <a:solidFill>
                  <a:srgbClr val="343D42"/>
                </a:solidFill>
                <a:latin typeface="Arial"/>
                <a:ea typeface="Arial"/>
                <a:cs typeface="Arial"/>
              </a:defRPr>
            </a:pPr>
            <a:r>
              <a:rPr sz="1650" b="0">
                <a:solidFill>
                  <a:srgbClr val="343D42"/>
                </a:solidFill>
                <a:latin typeface="Arial"/>
                <a:ea typeface="Arial"/>
                <a:cs typeface="Arial"/>
              </a:rPr>
              <a:t>A 9.6% acquisition cap rate, compared with approximately 7% market cap rates, supports the property’s cash-flow potential.</a:t>
            </a:r>
          </a:p>
        </p:txBody>
      </p:sp>
      <p:sp>
        <p:nvSpPr>
          <p:cNvPr id="8" name="">
            <a:extLst xmlns:a="http://schemas.openxmlformats.org/drawingml/2006/main">
              <a:ext uri="{FF2B5EF4-FFF2-40B4-BE49-F238E27FC236}">
                <a16:creationId xmlns:a16="http://schemas.microsoft.com/office/drawing/2014/main" id="{1D726E08-2E62-45A4-A497-7A8334AD75C5}"/>
              </a:ext>
            </a:extLst>
          </p:cNvPr>
          <p:cNvSpPr>
            <a:spLocks xmlns:a="http://schemas.openxmlformats.org/drawingml/2006/main" noGrp="1"/>
          </p:cNvSpPr>
          <p:nvPr/>
        </p:nvSpPr>
        <p:spPr>
          <a:xfrm xmlns:a="http://schemas.openxmlformats.org/drawingml/2006/main">
            <a:off x="457200" y="2133600"/>
            <a:ext cx="6762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343D42"/>
                </a:solidFill>
                <a:latin typeface="Arial"/>
                <a:ea typeface="Arial"/>
                <a:cs typeface="Arial"/>
              </a:defRPr>
            </a:defPPr>
          </a:lstStyle>
          <a:p xmlns:a="http://schemas.openxmlformats.org/drawingml/2006/main">
            <a:pPr>
              <a:defRPr sz="1575" b="0">
                <a:solidFill>
                  <a:srgbClr val="343D42"/>
                </a:solidFill>
                <a:latin typeface="Arial"/>
                <a:ea typeface="Arial"/>
                <a:cs typeface="Arial"/>
              </a:defRPr>
            </a:pPr>
            <a:r>
              <a:rPr sz="1575" b="0">
                <a:solidFill>
                  <a:srgbClr val="343D42"/>
                </a:solidFill>
                <a:latin typeface="Arial"/>
                <a:ea typeface="Arial"/>
                <a:cs typeface="Arial"/>
              </a:rPr>
              <a:t>• The property has an attractive five-year WALT and 2.54% CAGR, supported by approximately 3% contractual annual rent escalations. Year-one NOI is projected at $1.96 million, excluding re-leasing of the Walgreens pad.</a:t>
            </a:r>
          </a:p>
        </p:txBody>
      </p:sp>
      <p:sp>
        <p:nvSpPr>
          <p:cNvPr id="9" name="">
            <a:extLst xmlns:a="http://schemas.openxmlformats.org/drawingml/2006/main">
              <a:ext uri="{FF2B5EF4-FFF2-40B4-BE49-F238E27FC236}">
                <a16:creationId xmlns:a16="http://schemas.microsoft.com/office/drawing/2014/main" id="{B574C68B-1E30-4CB6-86B3-D11C630C2E78}"/>
              </a:ext>
            </a:extLst>
          </p:cNvPr>
          <p:cNvSpPr>
            <a:spLocks xmlns:a="http://schemas.openxmlformats.org/drawingml/2006/main" noGrp="1"/>
          </p:cNvSpPr>
          <p:nvPr/>
        </p:nvSpPr>
        <p:spPr>
          <a:xfrm xmlns:a="http://schemas.openxmlformats.org/drawingml/2006/main">
            <a:off x="457200" y="3276600"/>
            <a:ext cx="6762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343D42"/>
                </a:solidFill>
                <a:latin typeface="Arial"/>
                <a:ea typeface="Arial"/>
                <a:cs typeface="Arial"/>
              </a:defRPr>
            </a:defPPr>
          </a:lstStyle>
          <a:p xmlns:a="http://schemas.openxmlformats.org/drawingml/2006/main">
            <a:pPr>
              <a:defRPr sz="1575" b="0">
                <a:solidFill>
                  <a:srgbClr val="343D42"/>
                </a:solidFill>
                <a:latin typeface="Arial"/>
                <a:ea typeface="Arial"/>
                <a:cs typeface="Arial"/>
              </a:defRPr>
            </a:pPr>
            <a:r>
              <a:rPr sz="1575" b="0">
                <a:solidFill>
                  <a:srgbClr val="343D42"/>
                </a:solidFill>
                <a:latin typeface="Arial"/>
                <a:ea typeface="Arial"/>
                <a:cs typeface="Arial"/>
              </a:rPr>
              <a:t>• Additional income includes percentage rent (approximately $9,000), EVgo charging stations (approximately $21,000), and solar revenue (approximately $17,000).</a:t>
            </a:r>
          </a:p>
        </p:txBody>
      </p:sp>
      <p:sp>
        <p:nvSpPr>
          <p:cNvPr id="10" name="">
            <a:extLst xmlns:a="http://schemas.openxmlformats.org/drawingml/2006/main">
              <a:ext uri="{FF2B5EF4-FFF2-40B4-BE49-F238E27FC236}">
                <a16:creationId xmlns:a16="http://schemas.microsoft.com/office/drawing/2014/main" id="{B865F56F-AB98-440F-80FD-F7B4646BA3BD}"/>
              </a:ext>
            </a:extLst>
          </p:cNvPr>
          <p:cNvSpPr>
            <a:spLocks xmlns:a="http://schemas.openxmlformats.org/drawingml/2006/main" noGrp="1"/>
          </p:cNvSpPr>
          <p:nvPr/>
        </p:nvSpPr>
        <p:spPr>
          <a:xfrm xmlns:a="http://schemas.openxmlformats.org/drawingml/2006/main">
            <a:off x="457200" y="4419600"/>
            <a:ext cx="6762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343D42"/>
                </a:solidFill>
                <a:latin typeface="Arial"/>
                <a:ea typeface="Arial"/>
                <a:cs typeface="Arial"/>
              </a:defRPr>
            </a:defPPr>
          </a:lstStyle>
          <a:p xmlns:a="http://schemas.openxmlformats.org/drawingml/2006/main">
            <a:pPr>
              <a:defRPr sz="1575" b="0">
                <a:solidFill>
                  <a:srgbClr val="343D42"/>
                </a:solidFill>
                <a:latin typeface="Arial"/>
                <a:ea typeface="Arial"/>
                <a:cs typeface="Arial"/>
              </a:defRPr>
            </a:pPr>
            <a:r>
              <a:rPr sz="1575" b="0">
                <a:solidFill>
                  <a:srgbClr val="343D42"/>
                </a:solidFill>
                <a:latin typeface="Arial"/>
                <a:ea typeface="Arial"/>
                <a:cs typeface="Arial"/>
              </a:rPr>
              <a:t>• The acquisition benefits from recent capital expenditures, including roof and façade renovations, parking-lot repaving in 2024, and a comprehensive roof replacement program.</a:t>
            </a:r>
          </a:p>
        </p:txBody>
      </p:sp>
      <p:pic>
        <p:nvPicPr>
          <p:cNvPr id="11" name="">
            <a:extLst xmlns:a="http://schemas.openxmlformats.org/drawingml/2006/main">
              <a:ext uri="{FF2B5EF4-FFF2-40B4-BE49-F238E27FC236}">
                <a16:creationId xmlns:a16="http://schemas.microsoft.com/office/drawing/2014/main" id="{E6E75195-D409-4920-B9BB-79500EF5AD42}"/>
              </a:ext>
            </a:extLst>
          </p:cNvPr>
          <p:cNvPicPr>
            <a:picLocks xmlns:a="http://schemas.openxmlformats.org/drawingml/2006/main" noChangeAspect="1"/>
          </p:cNvPicPr>
          <p:nvPr/>
        </p:nvPicPr>
        <p:blipFill>
          <a:blip xmlns:r="http://schemas.openxmlformats.org/officeDocument/2006/relationships" xmlns:a="http://schemas.openxmlformats.org/drawingml/2006/main" r:embed="Rd6ebefe6ef874750"/>
          <a:stretch xmlns:a="http://schemas.openxmlformats.org/drawingml/2006/main"/>
        </p:blipFill>
        <p:spPr>
          <a:xfrm xmlns:a="http://schemas.openxmlformats.org/drawingml/2006/main">
            <a:off x="8023237" y="1066800"/>
            <a:ext cx="3155926" cy="4962525"/>
          </a:xfrm>
          <a:prstGeom xmlns:a="http://schemas.openxmlformats.org/drawingml/2006/main" prst="rect">
            <a:avLst/>
          </a:prstGeom>
        </p:spPr>
      </p:pic>
    </p:spTree>
    <p:extLst>
      <p:ext uri="{BB962C8B-B14F-4D97-AF65-F5344CB8AC3E}">
        <p14:creationId xmlns:p14="http://schemas.microsoft.com/office/powerpoint/2010/main" val="12618255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589428B-570C-43E4-AF04-EB104D93EB68}"/>
              </a:ext>
            </a:extLst>
          </p:cNvPr>
          <p:cNvSpPr>
            <a:spLocks xmlns:a="http://schemas.openxmlformats.org/drawingml/2006/main" noGrp="1"/>
          </p:cNvSpPr>
          <p:nvPr/>
        </p:nvSpPr>
        <p:spPr>
          <a:xfrm xmlns:a="http://schemas.openxmlformats.org/drawingml/2006/main">
            <a:off x="457200" y="276225"/>
            <a:ext cx="11277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343D42"/>
                </a:solidFill>
                <a:latin typeface="Arial"/>
                <a:ea typeface="Arial"/>
                <a:cs typeface="Arial"/>
              </a:defRPr>
            </a:defPPr>
          </a:lstStyle>
          <a:p xmlns:a="http://schemas.openxmlformats.org/drawingml/2006/main">
            <a:pPr>
              <a:defRPr sz="2100" b="1">
                <a:solidFill>
                  <a:srgbClr val="343D42"/>
                </a:solidFill>
                <a:latin typeface="Arial"/>
                <a:ea typeface="Arial"/>
                <a:cs typeface="Arial"/>
              </a:defRPr>
            </a:pPr>
            <a:r>
              <a:rPr sz="2100" b="1">
                <a:solidFill>
                  <a:srgbClr val="343D42"/>
                </a:solidFill>
                <a:latin typeface="Arial"/>
                <a:ea typeface="Arial"/>
                <a:cs typeface="Arial"/>
              </a:rPr>
              <a:t>Major Tenant Summary</a:t>
            </a:r>
          </a:p>
        </p:txBody>
      </p:sp>
      <p:sp>
        <p:nvSpPr>
          <p:cNvPr id="2" name="">
            <a:extLst xmlns:a="http://schemas.openxmlformats.org/drawingml/2006/main">
              <a:ext uri="{FF2B5EF4-FFF2-40B4-BE49-F238E27FC236}">
                <a16:creationId xmlns:a16="http://schemas.microsoft.com/office/drawing/2014/main" id="{904DEABF-41D1-41DD-B029-25D6345F052F}"/>
              </a:ext>
            </a:extLst>
          </p:cNvPr>
          <p:cNvSpPr>
            <a:spLocks xmlns:a="http://schemas.openxmlformats.org/drawingml/2006/main" noGrp="1"/>
          </p:cNvSpPr>
          <p:nvPr/>
        </p:nvSpPr>
        <p:spPr>
          <a:xfrm xmlns:a="http://schemas.openxmlformats.org/drawingml/2006/main">
            <a:off x="457200" y="800100"/>
            <a:ext cx="11277600" cy="9525"/>
          </a:xfrm>
          <a:prstGeom xmlns:a="http://schemas.openxmlformats.org/drawingml/2006/main" prst="rect">
            <a:avLst/>
          </a:prstGeom>
          <a:solidFill xmlns:a="http://schemas.openxmlformats.org/drawingml/2006/main">
            <a:srgbClr val="B9B9B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7594FBE-9300-45FC-B692-231088F8F250}"/>
              </a:ext>
            </a:extLst>
          </p:cNvPr>
          <p:cNvSpPr>
            <a:spLocks xmlns:a="http://schemas.openxmlformats.org/drawingml/2006/main" noGrp="1"/>
          </p:cNvSpPr>
          <p:nvPr/>
        </p:nvSpPr>
        <p:spPr>
          <a:xfrm xmlns:a="http://schemas.openxmlformats.org/drawingml/2006/main">
            <a:off x="457200" y="6257925"/>
            <a:ext cx="11277600" cy="38100"/>
          </a:xfrm>
          <a:prstGeom xmlns:a="http://schemas.openxmlformats.org/drawingml/2006/main" prst="rect">
            <a:avLst/>
          </a:prstGeom>
          <a:solidFill xmlns:a="http://schemas.openxmlformats.org/drawingml/2006/main">
            <a:srgbClr val="343D4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37D507E-9ABB-4E16-890F-40E983529B00}"/>
              </a:ext>
            </a:extLst>
          </p:cNvPr>
          <p:cNvSpPr>
            <a:spLocks xmlns:a="http://schemas.openxmlformats.org/drawingml/2006/main" noGrp="1"/>
          </p:cNvSpPr>
          <p:nvPr/>
        </p:nvSpPr>
        <p:spPr>
          <a:xfrm xmlns:a="http://schemas.openxmlformats.org/drawingml/2006/main">
            <a:off x="457200" y="6238875"/>
            <a:ext cx="11277600" cy="19050"/>
          </a:xfrm>
          <a:prstGeom xmlns:a="http://schemas.openxmlformats.org/drawingml/2006/main" prst="rect">
            <a:avLst/>
          </a:prstGeom>
          <a:solidFill xmlns:a="http://schemas.openxmlformats.org/drawingml/2006/main">
            <a:srgbClr val="C2674B"/>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ECD43596-7DEA-4F39-B66B-1EF2D57810B7}"/>
              </a:ext>
            </a:extLst>
          </p:cNvPr>
          <p:cNvPicPr>
            <a:picLocks xmlns:a="http://schemas.openxmlformats.org/drawingml/2006/main" noChangeAspect="1"/>
          </p:cNvPicPr>
          <p:nvPr/>
        </p:nvPicPr>
        <p:blipFill>
          <a:blip xmlns:r="http://schemas.openxmlformats.org/officeDocument/2006/relationships" xmlns:a="http://schemas.openxmlformats.org/drawingml/2006/main" r:embed="Red6963fd229b4047"/>
          <a:stretch xmlns:a="http://schemas.openxmlformats.org/drawingml/2006/main"/>
        </p:blipFill>
        <p:spPr>
          <a:xfrm xmlns:a="http://schemas.openxmlformats.org/drawingml/2006/main">
            <a:off x="457200" y="6387465"/>
            <a:ext cx="1609725" cy="32194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AFE6533-A8AB-41D9-9664-BD8EBEEB9111}"/>
              </a:ext>
            </a:extLst>
          </p:cNvPr>
          <p:cNvSpPr>
            <a:spLocks xmlns:a="http://schemas.openxmlformats.org/drawingml/2006/main" noGrp="1"/>
          </p:cNvSpPr>
          <p:nvPr/>
        </p:nvSpPr>
        <p:spPr>
          <a:xfrm xmlns:a="http://schemas.openxmlformats.org/drawingml/2006/main">
            <a:off x="11382375" y="64579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747474"/>
                </a:solidFill>
                <a:latin typeface="Arial"/>
                <a:ea typeface="Arial"/>
                <a:cs typeface="Arial"/>
              </a:defRPr>
            </a:defPPr>
          </a:lstStyle>
          <a:p xmlns:a="http://schemas.openxmlformats.org/drawingml/2006/main">
            <a:pPr>
              <a:defRPr sz="900" b="0">
                <a:solidFill>
                  <a:srgbClr val="747474"/>
                </a:solidFill>
                <a:latin typeface="Arial"/>
                <a:ea typeface="Arial"/>
                <a:cs typeface="Arial"/>
              </a:defRPr>
            </a:pPr>
            <a:r>
              <a:rPr sz="900" b="0">
                <a:solidFill>
                  <a:srgbClr val="747474"/>
                </a:solidFill>
                <a:latin typeface="Arial"/>
                <a:ea typeface="Arial"/>
                <a:cs typeface="Arial"/>
              </a:rPr>
              <a:t>10</a:t>
            </a:r>
          </a:p>
        </p:txBody>
      </p:sp>
      <p:graphicFrame>
        <p:nvGraphicFramePr>
          <p:cNvPr id="7" name="">
            <a:extLst xmlns:a="http://schemas.openxmlformats.org/drawingml/2006/main">
              <a:ext uri="{FF2B5EF4-FFF2-40B4-BE49-F238E27FC236}">
                <a16:creationId xmlns:a16="http://schemas.microsoft.com/office/drawing/2014/main" id="{8FE214B0-1E82-4E39-AA63-D284D575A3A5}"/>
              </a:ext>
            </a:extLst>
          </p:cNvPr>
          <p:cNvGraphicFramePr/>
          <p:nvPr/>
        </p:nvGraphicFramePr>
        <p:xfrm>
          <a:off xmlns:a="http://schemas.openxmlformats.org/drawingml/2006/main" x="457200" y="990600"/>
          <a:ext xmlns:a="http://schemas.openxmlformats.org/drawingml/2006/main" cx="11277600" cy="2809875"/>
        </p:xfrm>
        <a:graphic xmlns:a="http://schemas.openxmlformats.org/drawingml/2006/main">
          <a:graphicData uri="http://schemas.openxmlformats.org/drawingml/2006/table">
            <a:tbl>
              <a:tblPr/>
              <a:tblGrid>
                <a:gridCol w="2647950"/>
                <a:gridCol w="1143000"/>
                <a:gridCol w="1066800"/>
                <a:gridCol w="1752600"/>
                <a:gridCol w="1371600"/>
                <a:gridCol w="1600200"/>
                <a:gridCol w="1695450"/>
              </a:tblGrid>
              <a:tr h="187325">
                <a:tc>
                  <a:txBody>
                    <a:bodyPr/>
                    <a:lstStyle/>
                    <a:p>
                      <a:r>
                        <a:rPr sz="975" b="1">
                          <a:solidFill>
                            <a:srgbClr val="FFFFFF"/>
                          </a:solidFill>
                          <a:latin typeface="Arial"/>
                          <a:ea typeface="Arial"/>
                          <a:cs typeface="Arial"/>
                        </a:rPr>
                        <a:t>Tenant</a:t>
                      </a:r>
                    </a:p>
                  </a:txBody>
                  <a:tcPr marL="47625" marR="47625" marT="19050" marB="19050" anchor="ctr">
                    <a:solidFill>
                      <a:srgbClr val="213C66"/>
                    </a:solidFill>
                  </a:tcPr>
                </a:tc>
                <a:tc>
                  <a:txBody>
                    <a:bodyPr/>
                    <a:lstStyle/>
                    <a:p>
                      <a:r>
                        <a:rPr sz="975" b="1">
                          <a:solidFill>
                            <a:srgbClr val="FFFFFF"/>
                          </a:solidFill>
                          <a:latin typeface="Arial"/>
                          <a:ea typeface="Arial"/>
                          <a:cs typeface="Arial"/>
                        </a:rPr>
                        <a:t>SF</a:t>
                      </a:r>
                    </a:p>
                  </a:txBody>
                  <a:tcPr marL="47625" marR="47625" marT="19050" marB="19050" anchor="ctr">
                    <a:solidFill>
                      <a:srgbClr val="213C66"/>
                    </a:solidFill>
                  </a:tcPr>
                </a:tc>
                <a:tc>
                  <a:txBody>
                    <a:bodyPr/>
                    <a:lstStyle/>
                    <a:p>
                      <a:r>
                        <a:rPr sz="975" b="1">
                          <a:solidFill>
                            <a:srgbClr val="FFFFFF"/>
                          </a:solidFill>
                          <a:latin typeface="Arial"/>
                          <a:ea typeface="Arial"/>
                          <a:cs typeface="Arial"/>
                        </a:rPr>
                        <a:t>% total</a:t>
                      </a:r>
                    </a:p>
                  </a:txBody>
                  <a:tcPr marL="47625" marR="47625" marT="19050" marB="19050" anchor="ctr">
                    <a:solidFill>
                      <a:srgbClr val="213C66"/>
                    </a:solidFill>
                  </a:tcPr>
                </a:tc>
                <a:tc>
                  <a:txBody>
                    <a:bodyPr/>
                    <a:lstStyle/>
                    <a:p>
                      <a:r>
                        <a:rPr sz="975" b="1">
                          <a:solidFill>
                            <a:srgbClr val="FFFFFF"/>
                          </a:solidFill>
                          <a:latin typeface="Arial"/>
                          <a:ea typeface="Arial"/>
                          <a:cs typeface="Arial"/>
                        </a:rPr>
                        <a:t>Lease expires</a:t>
                      </a:r>
                    </a:p>
                  </a:txBody>
                  <a:tcPr marL="47625" marR="47625" marT="19050" marB="19050" anchor="ctr">
                    <a:solidFill>
                      <a:srgbClr val="213C66"/>
                    </a:solidFill>
                  </a:tcPr>
                </a:tc>
                <a:tc>
                  <a:txBody>
                    <a:bodyPr/>
                    <a:lstStyle/>
                    <a:p>
                      <a:r>
                        <a:rPr sz="975" b="1">
                          <a:solidFill>
                            <a:srgbClr val="FFFFFF"/>
                          </a:solidFill>
                          <a:latin typeface="Arial"/>
                          <a:ea typeface="Arial"/>
                          <a:cs typeface="Arial"/>
                        </a:rPr>
                        <a:t>Health ratio</a:t>
                      </a:r>
                    </a:p>
                  </a:txBody>
                  <a:tcPr marL="47625" marR="47625" marT="19050" marB="19050" anchor="ctr">
                    <a:solidFill>
                      <a:srgbClr val="213C66"/>
                    </a:solidFill>
                  </a:tcPr>
                </a:tc>
                <a:tc>
                  <a:txBody>
                    <a:bodyPr/>
                    <a:lstStyle/>
                    <a:p>
                      <a:r>
                        <a:rPr sz="975" b="1">
                          <a:solidFill>
                            <a:srgbClr val="FFFFFF"/>
                          </a:solidFill>
                          <a:latin typeface="Arial"/>
                          <a:ea typeface="Arial"/>
                          <a:cs typeface="Arial"/>
                        </a:rPr>
                        <a:t>Current $/SF</a:t>
                      </a:r>
                    </a:p>
                  </a:txBody>
                  <a:tcPr marL="47625" marR="47625" marT="19050" marB="19050" anchor="ctr">
                    <a:solidFill>
                      <a:srgbClr val="213C66"/>
                    </a:solidFill>
                  </a:tcPr>
                </a:tc>
                <a:tc>
                  <a:txBody>
                    <a:bodyPr/>
                    <a:lstStyle/>
                    <a:p>
                      <a:r>
                        <a:rPr sz="975" b="1">
                          <a:solidFill>
                            <a:srgbClr val="FFFFFF"/>
                          </a:solidFill>
                          <a:latin typeface="Arial"/>
                          <a:ea typeface="Arial"/>
                          <a:cs typeface="Arial"/>
                        </a:rPr>
                        <a:t>Market $/SF</a:t>
                      </a:r>
                    </a:p>
                  </a:txBody>
                  <a:tcPr marL="47625" marR="47625" marT="19050" marB="19050" anchor="ctr">
                    <a:solidFill>
                      <a:srgbClr val="213C66"/>
                    </a:solidFill>
                  </a:tcPr>
                </a:tc>
              </a:tr>
              <a:tr h="187325">
                <a:tc>
                  <a:txBody>
                    <a:bodyPr/>
                    <a:lstStyle/>
                    <a:p>
                      <a:r>
                        <a:rPr sz="975" b="0">
                          <a:solidFill>
                            <a:srgbClr val="343D42"/>
                          </a:solidFill>
                          <a:latin typeface="Arial"/>
                          <a:ea typeface="Arial"/>
                          <a:cs typeface="Arial"/>
                        </a:rPr>
                        <a:t>LA Mart</a:t>
                      </a:r>
                    </a:p>
                  </a:txBody>
                  <a:tcPr marL="47625" marR="47625" marT="19050" marB="19050" anchor="ctr">
                    <a:solidFill>
                      <a:srgbClr val="FFFFFF"/>
                    </a:solidFill>
                  </a:tcPr>
                </a:tc>
                <a:tc>
                  <a:txBody>
                    <a:bodyPr/>
                    <a:lstStyle/>
                    <a:p>
                      <a:r>
                        <a:rPr sz="975" b="0">
                          <a:solidFill>
                            <a:srgbClr val="343D42"/>
                          </a:solidFill>
                          <a:latin typeface="Arial"/>
                          <a:ea typeface="Arial"/>
                          <a:cs typeface="Arial"/>
                        </a:rPr>
                        <a:t>30,030</a:t>
                      </a:r>
                    </a:p>
                  </a:txBody>
                  <a:tcPr marL="47625" marR="47625" marT="19050" marB="19050" anchor="ctr">
                    <a:solidFill>
                      <a:srgbClr val="FFFFFF"/>
                    </a:solidFill>
                  </a:tcPr>
                </a:tc>
                <a:tc>
                  <a:txBody>
                    <a:bodyPr/>
                    <a:lstStyle/>
                    <a:p>
                      <a:r>
                        <a:rPr sz="975" b="0">
                          <a:solidFill>
                            <a:srgbClr val="343D42"/>
                          </a:solidFill>
                          <a:latin typeface="Arial"/>
                          <a:ea typeface="Arial"/>
                          <a:cs typeface="Arial"/>
                        </a:rPr>
                        <a:t>26.7%</a:t>
                      </a:r>
                    </a:p>
                  </a:txBody>
                  <a:tcPr marL="47625" marR="47625" marT="19050" marB="19050" anchor="ctr">
                    <a:solidFill>
                      <a:srgbClr val="FFFFFF"/>
                    </a:solidFill>
                  </a:tcPr>
                </a:tc>
                <a:tc>
                  <a:txBody>
                    <a:bodyPr/>
                    <a:lstStyle/>
                    <a:p>
                      <a:r>
                        <a:rPr sz="975" b="0">
                          <a:solidFill>
                            <a:srgbClr val="343D42"/>
                          </a:solidFill>
                          <a:latin typeface="Arial"/>
                          <a:ea typeface="Arial"/>
                          <a:cs typeface="Arial"/>
                        </a:rPr>
                        <a:t>10/31/2030</a:t>
                      </a:r>
                    </a:p>
                  </a:txBody>
                  <a:tcPr marL="47625" marR="47625" marT="19050" marB="19050" anchor="ctr">
                    <a:solidFill>
                      <a:srgbClr val="FFFFFF"/>
                    </a:solidFill>
                  </a:tcPr>
                </a:tc>
                <a:tc>
                  <a:txBody>
                    <a:bodyPr/>
                    <a:lstStyle/>
                    <a:p>
                      <a:r>
                        <a:rPr sz="975" b="0">
                          <a:solidFill>
                            <a:srgbClr val="343D42"/>
                          </a:solidFill>
                          <a:latin typeface="Arial"/>
                          <a:ea typeface="Arial"/>
                          <a:cs typeface="Arial"/>
                        </a:rPr>
                        <a:t>3.1%</a:t>
                      </a:r>
                    </a:p>
                  </a:txBody>
                  <a:tcPr marL="47625" marR="47625" marT="19050" marB="19050" anchor="ctr">
                    <a:solidFill>
                      <a:srgbClr val="FFFFFF"/>
                    </a:solidFill>
                  </a:tcPr>
                </a:tc>
                <a:tc>
                  <a:txBody>
                    <a:bodyPr/>
                    <a:lstStyle/>
                    <a:p>
                      <a:r>
                        <a:rPr sz="975" b="0">
                          <a:solidFill>
                            <a:srgbClr val="343D42"/>
                          </a:solidFill>
                          <a:latin typeface="Arial"/>
                          <a:ea typeface="Arial"/>
                          <a:cs typeface="Arial"/>
                        </a:rPr>
                        <a:t>$11.01</a:t>
                      </a:r>
                    </a:p>
                  </a:txBody>
                  <a:tcPr marL="47625" marR="47625" marT="19050" marB="19050" anchor="ctr">
                    <a:solidFill>
                      <a:srgbClr val="FFFFFF"/>
                    </a:solidFill>
                  </a:tcPr>
                </a:tc>
                <a:tc>
                  <a:txBody>
                    <a:bodyPr/>
                    <a:lstStyle/>
                    <a:p>
                      <a:r>
                        <a:rPr sz="975" b="0">
                          <a:solidFill>
                            <a:srgbClr val="343D42"/>
                          </a:solidFill>
                          <a:latin typeface="Arial"/>
                          <a:ea typeface="Arial"/>
                          <a:cs typeface="Arial"/>
                        </a:rPr>
                        <a:t>$12.00</a:t>
                      </a:r>
                    </a:p>
                  </a:txBody>
                  <a:tcPr marL="47625" marR="47625" marT="19050" marB="19050" anchor="ctr">
                    <a:solidFill>
                      <a:srgbClr val="FFFFFF"/>
                    </a:solidFill>
                  </a:tcPr>
                </a:tc>
              </a:tr>
              <a:tr h="187325">
                <a:tc>
                  <a:txBody>
                    <a:bodyPr/>
                    <a:lstStyle/>
                    <a:p>
                      <a:r>
                        <a:rPr sz="975" b="0">
                          <a:solidFill>
                            <a:srgbClr val="343D42"/>
                          </a:solidFill>
                          <a:latin typeface="Arial"/>
                          <a:ea typeface="Arial"/>
                          <a:cs typeface="Arial"/>
                        </a:rPr>
                        <a:t>Planet Fitness</a:t>
                      </a:r>
                    </a:p>
                  </a:txBody>
                  <a:tcPr marL="47625" marR="47625" marT="19050" marB="19050" anchor="ctr">
                    <a:solidFill>
                      <a:srgbClr val="F3F5F6"/>
                    </a:solidFill>
                  </a:tcPr>
                </a:tc>
                <a:tc>
                  <a:txBody>
                    <a:bodyPr/>
                    <a:lstStyle/>
                    <a:p>
                      <a:r>
                        <a:rPr sz="975" b="0">
                          <a:solidFill>
                            <a:srgbClr val="343D42"/>
                          </a:solidFill>
                          <a:latin typeface="Arial"/>
                          <a:ea typeface="Arial"/>
                          <a:cs typeface="Arial"/>
                        </a:rPr>
                        <a:t>15,118</a:t>
                      </a:r>
                    </a:p>
                  </a:txBody>
                  <a:tcPr marL="47625" marR="47625" marT="19050" marB="19050" anchor="ctr">
                    <a:solidFill>
                      <a:srgbClr val="F3F5F6"/>
                    </a:solidFill>
                  </a:tcPr>
                </a:tc>
                <a:tc>
                  <a:txBody>
                    <a:bodyPr/>
                    <a:lstStyle/>
                    <a:p>
                      <a:r>
                        <a:rPr sz="975" b="0">
                          <a:solidFill>
                            <a:srgbClr val="343D42"/>
                          </a:solidFill>
                          <a:latin typeface="Arial"/>
                          <a:ea typeface="Arial"/>
                          <a:cs typeface="Arial"/>
                        </a:rPr>
                        <a:t>13.4%</a:t>
                      </a:r>
                    </a:p>
                  </a:txBody>
                  <a:tcPr marL="47625" marR="47625" marT="19050" marB="19050" anchor="ctr">
                    <a:solidFill>
                      <a:srgbClr val="F3F5F6"/>
                    </a:solidFill>
                  </a:tcPr>
                </a:tc>
                <a:tc>
                  <a:txBody>
                    <a:bodyPr/>
                    <a:lstStyle/>
                    <a:p>
                      <a:r>
                        <a:rPr sz="975" b="0">
                          <a:solidFill>
                            <a:srgbClr val="343D42"/>
                          </a:solidFill>
                          <a:latin typeface="Arial"/>
                          <a:ea typeface="Arial"/>
                          <a:cs typeface="Arial"/>
                        </a:rPr>
                        <a:t>1/31/2031</a:t>
                      </a:r>
                    </a:p>
                  </a:txBody>
                  <a:tcPr marL="47625" marR="47625" marT="19050" marB="19050" anchor="ctr">
                    <a:solidFill>
                      <a:srgbClr val="F3F5F6"/>
                    </a:solidFill>
                  </a:tcPr>
                </a:tc>
                <a:tc>
                  <a:txBody>
                    <a:bodyPr/>
                    <a:lstStyle/>
                    <a:p>
                      <a:r>
                        <a:rPr sz="975" b="0">
                          <a:solidFill>
                            <a:srgbClr val="343D42"/>
                          </a:solidFill>
                          <a:latin typeface="Arial"/>
                          <a:ea typeface="Arial"/>
                          <a:cs typeface="Arial"/>
                        </a:rPr>
                        <a:t>38.8%</a:t>
                      </a:r>
                    </a:p>
                  </a:txBody>
                  <a:tcPr marL="47625" marR="47625" marT="19050" marB="19050" anchor="ctr">
                    <a:solidFill>
                      <a:srgbClr val="F3F5F6"/>
                    </a:solidFill>
                  </a:tcPr>
                </a:tc>
                <a:tc>
                  <a:txBody>
                    <a:bodyPr/>
                    <a:lstStyle/>
                    <a:p>
                      <a:r>
                        <a:rPr sz="975" b="0">
                          <a:solidFill>
                            <a:srgbClr val="343D42"/>
                          </a:solidFill>
                          <a:latin typeface="Arial"/>
                          <a:ea typeface="Arial"/>
                          <a:cs typeface="Arial"/>
                        </a:rPr>
                        <a:t>$13.00</a:t>
                      </a:r>
                    </a:p>
                  </a:txBody>
                  <a:tcPr marL="47625" marR="47625" marT="19050" marB="19050" anchor="ctr">
                    <a:solidFill>
                      <a:srgbClr val="F3F5F6"/>
                    </a:solidFill>
                  </a:tcPr>
                </a:tc>
                <a:tc>
                  <a:txBody>
                    <a:bodyPr/>
                    <a:lstStyle/>
                    <a:p>
                      <a:r>
                        <a:rPr sz="975" b="0">
                          <a:solidFill>
                            <a:srgbClr val="343D42"/>
                          </a:solidFill>
                          <a:latin typeface="Arial"/>
                          <a:ea typeface="Arial"/>
                          <a:cs typeface="Arial"/>
                        </a:rPr>
                        <a:t>$13.00</a:t>
                      </a:r>
                    </a:p>
                  </a:txBody>
                  <a:tcPr marL="47625" marR="47625" marT="19050" marB="19050" anchor="ctr">
                    <a:solidFill>
                      <a:srgbClr val="F3F5F6"/>
                    </a:solidFill>
                  </a:tcPr>
                </a:tc>
              </a:tr>
              <a:tr h="187325">
                <a:tc>
                  <a:txBody>
                    <a:bodyPr/>
                    <a:lstStyle/>
                    <a:p>
                      <a:r>
                        <a:rPr sz="975" b="0">
                          <a:solidFill>
                            <a:srgbClr val="343D42"/>
                          </a:solidFill>
                          <a:latin typeface="Arial"/>
                          <a:ea typeface="Arial"/>
                          <a:cs typeface="Arial"/>
                        </a:rPr>
                        <a:t>Dollar General</a:t>
                      </a:r>
                    </a:p>
                  </a:txBody>
                  <a:tcPr marL="47625" marR="47625" marT="19050" marB="19050" anchor="ctr">
                    <a:solidFill>
                      <a:srgbClr val="FFFFFF"/>
                    </a:solidFill>
                  </a:tcPr>
                </a:tc>
                <a:tc>
                  <a:txBody>
                    <a:bodyPr/>
                    <a:lstStyle/>
                    <a:p>
                      <a:r>
                        <a:rPr sz="975" b="0">
                          <a:solidFill>
                            <a:srgbClr val="343D42"/>
                          </a:solidFill>
                          <a:latin typeface="Arial"/>
                          <a:ea typeface="Arial"/>
                          <a:cs typeface="Arial"/>
                        </a:rPr>
                        <a:t>12,286</a:t>
                      </a:r>
                    </a:p>
                  </a:txBody>
                  <a:tcPr marL="47625" marR="47625" marT="19050" marB="19050" anchor="ctr">
                    <a:solidFill>
                      <a:srgbClr val="FFFFFF"/>
                    </a:solidFill>
                  </a:tcPr>
                </a:tc>
                <a:tc>
                  <a:txBody>
                    <a:bodyPr/>
                    <a:lstStyle/>
                    <a:p>
                      <a:r>
                        <a:rPr sz="975" b="0">
                          <a:solidFill>
                            <a:srgbClr val="343D42"/>
                          </a:solidFill>
                          <a:latin typeface="Arial"/>
                          <a:ea typeface="Arial"/>
                          <a:cs typeface="Arial"/>
                        </a:rPr>
                        <a:t>10.9%</a:t>
                      </a:r>
                    </a:p>
                  </a:txBody>
                  <a:tcPr marL="47625" marR="47625" marT="19050" marB="19050" anchor="ctr">
                    <a:solidFill>
                      <a:srgbClr val="FFFFFF"/>
                    </a:solidFill>
                  </a:tcPr>
                </a:tc>
                <a:tc>
                  <a:txBody>
                    <a:bodyPr/>
                    <a:lstStyle/>
                    <a:p>
                      <a:r>
                        <a:rPr sz="975" b="0">
                          <a:solidFill>
                            <a:srgbClr val="343D42"/>
                          </a:solidFill>
                          <a:latin typeface="Arial"/>
                          <a:ea typeface="Arial"/>
                          <a:cs typeface="Arial"/>
                        </a:rPr>
                        <a:t>7/31/2027</a:t>
                      </a:r>
                    </a:p>
                  </a:txBody>
                  <a:tcPr marL="47625" marR="47625" marT="19050" marB="19050" anchor="ctr">
                    <a:solidFill>
                      <a:srgbClr val="FFFFFF"/>
                    </a:solidFill>
                  </a:tcPr>
                </a:tc>
                <a:tc>
                  <a:txBody>
                    <a:bodyPr/>
                    <a:lstStyle/>
                    <a:p>
                      <a:r>
                        <a:rPr sz="975" b="0">
                          <a:solidFill>
                            <a:srgbClr val="343D42"/>
                          </a:solidFill>
                          <a:latin typeface="Arial"/>
                          <a:ea typeface="Arial"/>
                          <a:cs typeface="Arial"/>
                        </a:rPr>
                        <a:t>–</a:t>
                      </a:r>
                    </a:p>
                  </a:txBody>
                  <a:tcPr marL="47625" marR="47625" marT="19050" marB="19050" anchor="ctr">
                    <a:solidFill>
                      <a:srgbClr val="FFFFFF"/>
                    </a:solidFill>
                  </a:tcPr>
                </a:tc>
                <a:tc>
                  <a:txBody>
                    <a:bodyPr/>
                    <a:lstStyle/>
                    <a:p>
                      <a:r>
                        <a:rPr sz="975" b="0">
                          <a:solidFill>
                            <a:srgbClr val="343D42"/>
                          </a:solidFill>
                          <a:latin typeface="Arial"/>
                          <a:ea typeface="Arial"/>
                          <a:cs typeface="Arial"/>
                        </a:rPr>
                        <a:t>$13.21</a:t>
                      </a:r>
                    </a:p>
                  </a:txBody>
                  <a:tcPr marL="47625" marR="47625" marT="19050" marB="19050" anchor="ctr">
                    <a:solidFill>
                      <a:srgbClr val="FFFFFF"/>
                    </a:solidFill>
                  </a:tcPr>
                </a:tc>
                <a:tc>
                  <a:txBody>
                    <a:bodyPr/>
                    <a:lstStyle/>
                    <a:p>
                      <a:r>
                        <a:rPr sz="975" b="0">
                          <a:solidFill>
                            <a:srgbClr val="343D42"/>
                          </a:solidFill>
                          <a:latin typeface="Arial"/>
                          <a:ea typeface="Arial"/>
                          <a:cs typeface="Arial"/>
                        </a:rPr>
                        <a:t>$13.00</a:t>
                      </a:r>
                    </a:p>
                  </a:txBody>
                  <a:tcPr marL="47625" marR="47625" marT="19050" marB="19050" anchor="ctr">
                    <a:solidFill>
                      <a:srgbClr val="FFFFFF"/>
                    </a:solidFill>
                  </a:tcPr>
                </a:tc>
              </a:tr>
              <a:tr h="187325">
                <a:tc>
                  <a:txBody>
                    <a:bodyPr/>
                    <a:lstStyle/>
                    <a:p>
                      <a:r>
                        <a:rPr sz="975" b="0">
                          <a:solidFill>
                            <a:srgbClr val="343D42"/>
                          </a:solidFill>
                          <a:latin typeface="Arial"/>
                          <a:ea typeface="Arial"/>
                          <a:cs typeface="Arial"/>
                        </a:rPr>
                        <a:t>Advance Auto (PAD)</a:t>
                      </a:r>
                    </a:p>
                  </a:txBody>
                  <a:tcPr marL="47625" marR="47625" marT="19050" marB="19050" anchor="ctr">
                    <a:solidFill>
                      <a:srgbClr val="F3F5F6"/>
                    </a:solidFill>
                  </a:tcPr>
                </a:tc>
                <a:tc>
                  <a:txBody>
                    <a:bodyPr/>
                    <a:lstStyle/>
                    <a:p>
                      <a:r>
                        <a:rPr sz="975" b="0">
                          <a:solidFill>
                            <a:srgbClr val="343D42"/>
                          </a:solidFill>
                          <a:latin typeface="Arial"/>
                          <a:ea typeface="Arial"/>
                          <a:cs typeface="Arial"/>
                        </a:rPr>
                        <a:t>7,950</a:t>
                      </a:r>
                    </a:p>
                  </a:txBody>
                  <a:tcPr marL="47625" marR="47625" marT="19050" marB="19050" anchor="ctr">
                    <a:solidFill>
                      <a:srgbClr val="F3F5F6"/>
                    </a:solidFill>
                  </a:tcPr>
                </a:tc>
                <a:tc>
                  <a:txBody>
                    <a:bodyPr/>
                    <a:lstStyle/>
                    <a:p>
                      <a:r>
                        <a:rPr sz="975" b="0">
                          <a:solidFill>
                            <a:srgbClr val="343D42"/>
                          </a:solidFill>
                          <a:latin typeface="Arial"/>
                          <a:ea typeface="Arial"/>
                          <a:cs typeface="Arial"/>
                        </a:rPr>
                        <a:t>7.1%</a:t>
                      </a:r>
                    </a:p>
                  </a:txBody>
                  <a:tcPr marL="47625" marR="47625" marT="19050" marB="19050" anchor="ctr">
                    <a:solidFill>
                      <a:srgbClr val="F3F5F6"/>
                    </a:solidFill>
                  </a:tcPr>
                </a:tc>
                <a:tc>
                  <a:txBody>
                    <a:bodyPr/>
                    <a:lstStyle/>
                    <a:p>
                      <a:r>
                        <a:rPr sz="975" b="0">
                          <a:solidFill>
                            <a:srgbClr val="343D42"/>
                          </a:solidFill>
                          <a:latin typeface="Arial"/>
                          <a:ea typeface="Arial"/>
                          <a:cs typeface="Arial"/>
                        </a:rPr>
                        <a:t>2/28/2034</a:t>
                      </a:r>
                    </a:p>
                  </a:txBody>
                  <a:tcPr marL="47625" marR="47625" marT="19050" marB="19050" anchor="ctr">
                    <a:solidFill>
                      <a:srgbClr val="F3F5F6"/>
                    </a:solidFill>
                  </a:tcPr>
                </a:tc>
                <a:tc>
                  <a:txBody>
                    <a:bodyPr/>
                    <a:lstStyle/>
                    <a:p>
                      <a:r>
                        <a:rPr sz="975" b="0">
                          <a:solidFill>
                            <a:srgbClr val="343D42"/>
                          </a:solidFill>
                          <a:latin typeface="Arial"/>
                          <a:ea typeface="Arial"/>
                          <a:cs typeface="Arial"/>
                        </a:rPr>
                        <a:t>–</a:t>
                      </a:r>
                    </a:p>
                  </a:txBody>
                  <a:tcPr marL="47625" marR="47625" marT="19050" marB="19050" anchor="ctr">
                    <a:solidFill>
                      <a:srgbClr val="F3F5F6"/>
                    </a:solidFill>
                  </a:tcPr>
                </a:tc>
                <a:tc>
                  <a:txBody>
                    <a:bodyPr/>
                    <a:lstStyle/>
                    <a:p>
                      <a:r>
                        <a:rPr sz="975" b="0">
                          <a:solidFill>
                            <a:srgbClr val="343D42"/>
                          </a:solidFill>
                          <a:latin typeface="Arial"/>
                          <a:ea typeface="Arial"/>
                          <a:cs typeface="Arial"/>
                        </a:rPr>
                        <a:t>$12.75</a:t>
                      </a:r>
                    </a:p>
                  </a:txBody>
                  <a:tcPr marL="47625" marR="47625" marT="19050" marB="19050" anchor="ctr">
                    <a:solidFill>
                      <a:srgbClr val="F3F5F6"/>
                    </a:solidFill>
                  </a:tcPr>
                </a:tc>
                <a:tc>
                  <a:txBody>
                    <a:bodyPr/>
                    <a:lstStyle/>
                    <a:p>
                      <a:r>
                        <a:rPr sz="975" b="0">
                          <a:solidFill>
                            <a:srgbClr val="343D42"/>
                          </a:solidFill>
                          <a:latin typeface="Arial"/>
                          <a:ea typeface="Arial"/>
                          <a:cs typeface="Arial"/>
                        </a:rPr>
                        <a:t>$17.00</a:t>
                      </a:r>
                    </a:p>
                  </a:txBody>
                  <a:tcPr marL="47625" marR="47625" marT="19050" marB="19050" anchor="ctr">
                    <a:solidFill>
                      <a:srgbClr val="F3F5F6"/>
                    </a:solidFill>
                  </a:tcPr>
                </a:tc>
              </a:tr>
              <a:tr h="187325">
                <a:tc>
                  <a:txBody>
                    <a:bodyPr/>
                    <a:lstStyle/>
                    <a:p>
                      <a:r>
                        <a:rPr sz="975" b="0">
                          <a:solidFill>
                            <a:srgbClr val="343D42"/>
                          </a:solidFill>
                          <a:latin typeface="Arial"/>
                          <a:ea typeface="Arial"/>
                          <a:cs typeface="Arial"/>
                        </a:rPr>
                        <a:t>Shoe Show</a:t>
                      </a:r>
                    </a:p>
                  </a:txBody>
                  <a:tcPr marL="47625" marR="47625" marT="19050" marB="19050" anchor="ctr">
                    <a:solidFill>
                      <a:srgbClr val="FFFFFF"/>
                    </a:solidFill>
                  </a:tcPr>
                </a:tc>
                <a:tc>
                  <a:txBody>
                    <a:bodyPr/>
                    <a:lstStyle/>
                    <a:p>
                      <a:r>
                        <a:rPr sz="975" b="0">
                          <a:solidFill>
                            <a:srgbClr val="343D42"/>
                          </a:solidFill>
                          <a:latin typeface="Arial"/>
                          <a:ea typeface="Arial"/>
                          <a:cs typeface="Arial"/>
                        </a:rPr>
                        <a:t>7,815</a:t>
                      </a:r>
                    </a:p>
                  </a:txBody>
                  <a:tcPr marL="47625" marR="47625" marT="19050" marB="19050" anchor="ctr">
                    <a:solidFill>
                      <a:srgbClr val="FFFFFF"/>
                    </a:solidFill>
                  </a:tcPr>
                </a:tc>
                <a:tc>
                  <a:txBody>
                    <a:bodyPr/>
                    <a:lstStyle/>
                    <a:p>
                      <a:r>
                        <a:rPr sz="975" b="0">
                          <a:solidFill>
                            <a:srgbClr val="343D42"/>
                          </a:solidFill>
                          <a:latin typeface="Arial"/>
                          <a:ea typeface="Arial"/>
                          <a:cs typeface="Arial"/>
                        </a:rPr>
                        <a:t>6.9%</a:t>
                      </a:r>
                    </a:p>
                  </a:txBody>
                  <a:tcPr marL="47625" marR="47625" marT="19050" marB="19050" anchor="ctr">
                    <a:solidFill>
                      <a:srgbClr val="FFFFFF"/>
                    </a:solidFill>
                  </a:tcPr>
                </a:tc>
                <a:tc>
                  <a:txBody>
                    <a:bodyPr/>
                    <a:lstStyle/>
                    <a:p>
                      <a:r>
                        <a:rPr sz="975" b="0">
                          <a:solidFill>
                            <a:srgbClr val="343D42"/>
                          </a:solidFill>
                          <a:latin typeface="Arial"/>
                          <a:ea typeface="Arial"/>
                          <a:cs typeface="Arial"/>
                        </a:rPr>
                        <a:t>1/31/2034</a:t>
                      </a:r>
                    </a:p>
                  </a:txBody>
                  <a:tcPr marL="47625" marR="47625" marT="19050" marB="19050" anchor="ctr">
                    <a:solidFill>
                      <a:srgbClr val="FFFFFF"/>
                    </a:solidFill>
                  </a:tcPr>
                </a:tc>
                <a:tc>
                  <a:txBody>
                    <a:bodyPr/>
                    <a:lstStyle/>
                    <a:p>
                      <a:r>
                        <a:rPr sz="975" b="0">
                          <a:solidFill>
                            <a:srgbClr val="343D42"/>
                          </a:solidFill>
                          <a:latin typeface="Arial"/>
                          <a:ea typeface="Arial"/>
                          <a:cs typeface="Arial"/>
                        </a:rPr>
                        <a:t>–</a:t>
                      </a:r>
                    </a:p>
                  </a:txBody>
                  <a:tcPr marL="47625" marR="47625" marT="19050" marB="19050" anchor="ctr">
                    <a:solidFill>
                      <a:srgbClr val="FFFFFF"/>
                    </a:solidFill>
                  </a:tcPr>
                </a:tc>
                <a:tc>
                  <a:txBody>
                    <a:bodyPr/>
                    <a:lstStyle/>
                    <a:p>
                      <a:r>
                        <a:rPr sz="975" b="0">
                          <a:solidFill>
                            <a:srgbClr val="343D42"/>
                          </a:solidFill>
                          <a:latin typeface="Arial"/>
                          <a:ea typeface="Arial"/>
                          <a:cs typeface="Arial"/>
                        </a:rPr>
                        <a:t>$6.50</a:t>
                      </a:r>
                    </a:p>
                  </a:txBody>
                  <a:tcPr marL="47625" marR="47625" marT="19050" marB="19050" anchor="ctr">
                    <a:solidFill>
                      <a:srgbClr val="FFFFFF"/>
                    </a:solidFill>
                  </a:tcPr>
                </a:tc>
                <a:tc>
                  <a:txBody>
                    <a:bodyPr/>
                    <a:lstStyle/>
                    <a:p>
                      <a:r>
                        <a:rPr sz="975" b="0">
                          <a:solidFill>
                            <a:srgbClr val="343D42"/>
                          </a:solidFill>
                          <a:latin typeface="Arial"/>
                          <a:ea typeface="Arial"/>
                          <a:cs typeface="Arial"/>
                        </a:rPr>
                        <a:t>$14.00</a:t>
                      </a:r>
                    </a:p>
                  </a:txBody>
                  <a:tcPr marL="47625" marR="47625" marT="19050" marB="19050" anchor="ctr">
                    <a:solidFill>
                      <a:srgbClr val="FFFFFF"/>
                    </a:solidFill>
                  </a:tcPr>
                </a:tc>
              </a:tr>
              <a:tr h="187325">
                <a:tc>
                  <a:txBody>
                    <a:bodyPr/>
                    <a:lstStyle/>
                    <a:p>
                      <a:r>
                        <a:rPr sz="975" b="0">
                          <a:solidFill>
                            <a:srgbClr val="343D42"/>
                          </a:solidFill>
                          <a:latin typeface="Arial"/>
                          <a:ea typeface="Arial"/>
                          <a:cs typeface="Arial"/>
                        </a:rPr>
                        <a:t>Popeyes Chicken (PAD)</a:t>
                      </a:r>
                    </a:p>
                  </a:txBody>
                  <a:tcPr marL="47625" marR="47625" marT="19050" marB="19050" anchor="ctr">
                    <a:solidFill>
                      <a:srgbClr val="F3F5F6"/>
                    </a:solidFill>
                  </a:tcPr>
                </a:tc>
                <a:tc>
                  <a:txBody>
                    <a:bodyPr/>
                    <a:lstStyle/>
                    <a:p>
                      <a:r>
                        <a:rPr sz="975" b="0">
                          <a:solidFill>
                            <a:srgbClr val="343D42"/>
                          </a:solidFill>
                          <a:latin typeface="Arial"/>
                          <a:ea typeface="Arial"/>
                          <a:cs typeface="Arial"/>
                        </a:rPr>
                        <a:t>5,291</a:t>
                      </a:r>
                    </a:p>
                  </a:txBody>
                  <a:tcPr marL="47625" marR="47625" marT="19050" marB="19050" anchor="ctr">
                    <a:solidFill>
                      <a:srgbClr val="F3F5F6"/>
                    </a:solidFill>
                  </a:tcPr>
                </a:tc>
                <a:tc>
                  <a:txBody>
                    <a:bodyPr/>
                    <a:lstStyle/>
                    <a:p>
                      <a:r>
                        <a:rPr sz="975" b="0">
                          <a:solidFill>
                            <a:srgbClr val="343D42"/>
                          </a:solidFill>
                          <a:latin typeface="Arial"/>
                          <a:ea typeface="Arial"/>
                          <a:cs typeface="Arial"/>
                        </a:rPr>
                        <a:t>4.7%</a:t>
                      </a:r>
                    </a:p>
                  </a:txBody>
                  <a:tcPr marL="47625" marR="47625" marT="19050" marB="19050" anchor="ctr">
                    <a:solidFill>
                      <a:srgbClr val="F3F5F6"/>
                    </a:solidFill>
                  </a:tcPr>
                </a:tc>
                <a:tc>
                  <a:txBody>
                    <a:bodyPr/>
                    <a:lstStyle/>
                    <a:p>
                      <a:r>
                        <a:rPr sz="975" b="0">
                          <a:solidFill>
                            <a:srgbClr val="343D42"/>
                          </a:solidFill>
                          <a:latin typeface="Arial"/>
                          <a:ea typeface="Arial"/>
                          <a:cs typeface="Arial"/>
                        </a:rPr>
                        <a:t>1/31/2031</a:t>
                      </a:r>
                    </a:p>
                  </a:txBody>
                  <a:tcPr marL="47625" marR="47625" marT="19050" marB="19050" anchor="ctr">
                    <a:solidFill>
                      <a:srgbClr val="F3F5F6"/>
                    </a:solidFill>
                  </a:tcPr>
                </a:tc>
                <a:tc>
                  <a:txBody>
                    <a:bodyPr/>
                    <a:lstStyle/>
                    <a:p>
                      <a:r>
                        <a:rPr sz="975" b="0">
                          <a:solidFill>
                            <a:srgbClr val="343D42"/>
                          </a:solidFill>
                          <a:latin typeface="Arial"/>
                          <a:ea typeface="Arial"/>
                          <a:cs typeface="Arial"/>
                        </a:rPr>
                        <a:t>4.2%</a:t>
                      </a:r>
                    </a:p>
                  </a:txBody>
                  <a:tcPr marL="47625" marR="47625" marT="19050" marB="19050" anchor="ctr">
                    <a:solidFill>
                      <a:srgbClr val="F3F5F6"/>
                    </a:solidFill>
                  </a:tcPr>
                </a:tc>
                <a:tc>
                  <a:txBody>
                    <a:bodyPr/>
                    <a:lstStyle/>
                    <a:p>
                      <a:r>
                        <a:rPr sz="975" b="0">
                          <a:solidFill>
                            <a:srgbClr val="343D42"/>
                          </a:solidFill>
                          <a:latin typeface="Arial"/>
                          <a:ea typeface="Arial"/>
                          <a:cs typeface="Arial"/>
                        </a:rPr>
                        <a:t>$15.63</a:t>
                      </a:r>
                    </a:p>
                  </a:txBody>
                  <a:tcPr marL="47625" marR="47625" marT="19050" marB="19050" anchor="ctr">
                    <a:solidFill>
                      <a:srgbClr val="F3F5F6"/>
                    </a:solidFill>
                  </a:tcPr>
                </a:tc>
                <a:tc>
                  <a:txBody>
                    <a:bodyPr/>
                    <a:lstStyle/>
                    <a:p>
                      <a:r>
                        <a:rPr sz="975" b="0">
                          <a:solidFill>
                            <a:srgbClr val="343D42"/>
                          </a:solidFill>
                          <a:latin typeface="Arial"/>
                          <a:ea typeface="Arial"/>
                          <a:cs typeface="Arial"/>
                        </a:rPr>
                        <a:t>$17.00</a:t>
                      </a:r>
                    </a:p>
                  </a:txBody>
                  <a:tcPr marL="47625" marR="47625" marT="19050" marB="19050" anchor="ctr">
                    <a:solidFill>
                      <a:srgbClr val="F3F5F6"/>
                    </a:solidFill>
                  </a:tcPr>
                </a:tc>
              </a:tr>
              <a:tr h="187325">
                <a:tc>
                  <a:txBody>
                    <a:bodyPr/>
                    <a:lstStyle/>
                    <a:p>
                      <a:r>
                        <a:rPr sz="975" b="0">
                          <a:solidFill>
                            <a:srgbClr val="343D42"/>
                          </a:solidFill>
                          <a:latin typeface="Arial"/>
                          <a:ea typeface="Arial"/>
                          <a:cs typeface="Arial"/>
                        </a:rPr>
                        <a:t>CBI of MD Laundromat</a:t>
                      </a:r>
                    </a:p>
                  </a:txBody>
                  <a:tcPr marL="47625" marR="47625" marT="19050" marB="19050" anchor="ctr">
                    <a:solidFill>
                      <a:srgbClr val="FFFFFF"/>
                    </a:solidFill>
                  </a:tcPr>
                </a:tc>
                <a:tc>
                  <a:txBody>
                    <a:bodyPr/>
                    <a:lstStyle/>
                    <a:p>
                      <a:r>
                        <a:rPr sz="975" b="0">
                          <a:solidFill>
                            <a:srgbClr val="343D42"/>
                          </a:solidFill>
                          <a:latin typeface="Arial"/>
                          <a:ea typeface="Arial"/>
                          <a:cs typeface="Arial"/>
                        </a:rPr>
                        <a:t>3,600</a:t>
                      </a:r>
                    </a:p>
                  </a:txBody>
                  <a:tcPr marL="47625" marR="47625" marT="19050" marB="19050" anchor="ctr">
                    <a:solidFill>
                      <a:srgbClr val="FFFFFF"/>
                    </a:solidFill>
                  </a:tcPr>
                </a:tc>
                <a:tc>
                  <a:txBody>
                    <a:bodyPr/>
                    <a:lstStyle/>
                    <a:p>
                      <a:r>
                        <a:rPr sz="975" b="0">
                          <a:solidFill>
                            <a:srgbClr val="343D42"/>
                          </a:solidFill>
                          <a:latin typeface="Arial"/>
                          <a:ea typeface="Arial"/>
                          <a:cs typeface="Arial"/>
                        </a:rPr>
                        <a:t>3.2%</a:t>
                      </a:r>
                    </a:p>
                  </a:txBody>
                  <a:tcPr marL="47625" marR="47625" marT="19050" marB="19050" anchor="ctr">
                    <a:solidFill>
                      <a:srgbClr val="FFFFFF"/>
                    </a:solidFill>
                  </a:tcPr>
                </a:tc>
                <a:tc>
                  <a:txBody>
                    <a:bodyPr/>
                    <a:lstStyle/>
                    <a:p>
                      <a:r>
                        <a:rPr sz="975" b="0">
                          <a:solidFill>
                            <a:srgbClr val="343D42"/>
                          </a:solidFill>
                          <a:latin typeface="Arial"/>
                          <a:ea typeface="Arial"/>
                          <a:cs typeface="Arial"/>
                        </a:rPr>
                        <a:t>11/30/2030</a:t>
                      </a:r>
                    </a:p>
                  </a:txBody>
                  <a:tcPr marL="47625" marR="47625" marT="19050" marB="19050" anchor="ctr">
                    <a:solidFill>
                      <a:srgbClr val="FFFFFF"/>
                    </a:solidFill>
                  </a:tcPr>
                </a:tc>
                <a:tc>
                  <a:txBody>
                    <a:bodyPr/>
                    <a:lstStyle/>
                    <a:p>
                      <a:r>
                        <a:rPr sz="975" b="0">
                          <a:solidFill>
                            <a:srgbClr val="343D42"/>
                          </a:solidFill>
                          <a:latin typeface="Arial"/>
                          <a:ea typeface="Arial"/>
                          <a:cs typeface="Arial"/>
                        </a:rPr>
                        <a:t>41.3%</a:t>
                      </a:r>
                    </a:p>
                  </a:txBody>
                  <a:tcPr marL="47625" marR="47625" marT="19050" marB="19050" anchor="ctr">
                    <a:solidFill>
                      <a:srgbClr val="FFFFFF"/>
                    </a:solidFill>
                  </a:tcPr>
                </a:tc>
                <a:tc>
                  <a:txBody>
                    <a:bodyPr/>
                    <a:lstStyle/>
                    <a:p>
                      <a:r>
                        <a:rPr sz="975" b="0">
                          <a:solidFill>
                            <a:srgbClr val="343D42"/>
                          </a:solidFill>
                          <a:latin typeface="Arial"/>
                          <a:ea typeface="Arial"/>
                          <a:cs typeface="Arial"/>
                        </a:rPr>
                        <a:t>$21.18</a:t>
                      </a:r>
                    </a:p>
                  </a:txBody>
                  <a:tcPr marL="47625" marR="47625" marT="19050" marB="19050" anchor="ctr">
                    <a:solidFill>
                      <a:srgbClr val="FFFFFF"/>
                    </a:solidFill>
                  </a:tcPr>
                </a:tc>
                <a:tc>
                  <a:txBody>
                    <a:bodyPr/>
                    <a:lstStyle/>
                    <a:p>
                      <a:r>
                        <a:rPr sz="975" b="0">
                          <a:solidFill>
                            <a:srgbClr val="343D42"/>
                          </a:solidFill>
                          <a:latin typeface="Arial"/>
                          <a:ea typeface="Arial"/>
                          <a:cs typeface="Arial"/>
                        </a:rPr>
                        <a:t>$23.00</a:t>
                      </a:r>
                    </a:p>
                  </a:txBody>
                  <a:tcPr marL="47625" marR="47625" marT="19050" marB="19050" anchor="ctr">
                    <a:solidFill>
                      <a:srgbClr val="FFFFFF"/>
                    </a:solidFill>
                  </a:tcPr>
                </a:tc>
              </a:tr>
              <a:tr h="187325">
                <a:tc>
                  <a:txBody>
                    <a:bodyPr/>
                    <a:lstStyle/>
                    <a:p>
                      <a:r>
                        <a:rPr sz="975" b="0">
                          <a:solidFill>
                            <a:srgbClr val="343D42"/>
                          </a:solidFill>
                          <a:latin typeface="Arial"/>
                          <a:ea typeface="Arial"/>
                          <a:cs typeface="Arial"/>
                        </a:rPr>
                        <a:t>Hollins Beauty</a:t>
                      </a:r>
                    </a:p>
                  </a:txBody>
                  <a:tcPr marL="47625" marR="47625" marT="19050" marB="19050" anchor="ctr">
                    <a:solidFill>
                      <a:srgbClr val="F3F5F6"/>
                    </a:solidFill>
                  </a:tcPr>
                </a:tc>
                <a:tc>
                  <a:txBody>
                    <a:bodyPr/>
                    <a:lstStyle/>
                    <a:p>
                      <a:r>
                        <a:rPr sz="975" b="0">
                          <a:solidFill>
                            <a:srgbClr val="343D42"/>
                          </a:solidFill>
                          <a:latin typeface="Arial"/>
                          <a:ea typeface="Arial"/>
                          <a:cs typeface="Arial"/>
                        </a:rPr>
                        <a:t>3,600</a:t>
                      </a:r>
                    </a:p>
                  </a:txBody>
                  <a:tcPr marL="47625" marR="47625" marT="19050" marB="19050" anchor="ctr">
                    <a:solidFill>
                      <a:srgbClr val="F3F5F6"/>
                    </a:solidFill>
                  </a:tcPr>
                </a:tc>
                <a:tc>
                  <a:txBody>
                    <a:bodyPr/>
                    <a:lstStyle/>
                    <a:p>
                      <a:r>
                        <a:rPr sz="975" b="0">
                          <a:solidFill>
                            <a:srgbClr val="343D42"/>
                          </a:solidFill>
                          <a:latin typeface="Arial"/>
                          <a:ea typeface="Arial"/>
                          <a:cs typeface="Arial"/>
                        </a:rPr>
                        <a:t>3.2%</a:t>
                      </a:r>
                    </a:p>
                  </a:txBody>
                  <a:tcPr marL="47625" marR="47625" marT="19050" marB="19050" anchor="ctr">
                    <a:solidFill>
                      <a:srgbClr val="F3F5F6"/>
                    </a:solidFill>
                  </a:tcPr>
                </a:tc>
                <a:tc>
                  <a:txBody>
                    <a:bodyPr/>
                    <a:lstStyle/>
                    <a:p>
                      <a:r>
                        <a:rPr sz="975" b="0">
                          <a:solidFill>
                            <a:srgbClr val="343D42"/>
                          </a:solidFill>
                          <a:latin typeface="Arial"/>
                          <a:ea typeface="Arial"/>
                          <a:cs typeface="Arial"/>
                        </a:rPr>
                        <a:t>1/31/2029</a:t>
                      </a:r>
                    </a:p>
                  </a:txBody>
                  <a:tcPr marL="47625" marR="47625" marT="19050" marB="19050" anchor="ctr">
                    <a:solidFill>
                      <a:srgbClr val="F3F5F6"/>
                    </a:solidFill>
                  </a:tcPr>
                </a:tc>
                <a:tc>
                  <a:txBody>
                    <a:bodyPr/>
                    <a:lstStyle/>
                    <a:p>
                      <a:r>
                        <a:rPr sz="975" b="0">
                          <a:solidFill>
                            <a:srgbClr val="343D42"/>
                          </a:solidFill>
                          <a:latin typeface="Arial"/>
                          <a:ea typeface="Arial"/>
                          <a:cs typeface="Arial"/>
                        </a:rPr>
                        <a:t>–</a:t>
                      </a:r>
                    </a:p>
                  </a:txBody>
                  <a:tcPr marL="47625" marR="47625" marT="19050" marB="19050" anchor="ctr">
                    <a:solidFill>
                      <a:srgbClr val="F3F5F6"/>
                    </a:solidFill>
                  </a:tcPr>
                </a:tc>
                <a:tc>
                  <a:txBody>
                    <a:bodyPr/>
                    <a:lstStyle/>
                    <a:p>
                      <a:r>
                        <a:rPr sz="975" b="0">
                          <a:solidFill>
                            <a:srgbClr val="343D42"/>
                          </a:solidFill>
                          <a:latin typeface="Arial"/>
                          <a:ea typeface="Arial"/>
                          <a:cs typeface="Arial"/>
                        </a:rPr>
                        <a:t>$22.51</a:t>
                      </a:r>
                    </a:p>
                  </a:txBody>
                  <a:tcPr marL="47625" marR="47625" marT="19050" marB="19050" anchor="ctr">
                    <a:solidFill>
                      <a:srgbClr val="F3F5F6"/>
                    </a:solidFill>
                  </a:tcPr>
                </a:tc>
                <a:tc>
                  <a:txBody>
                    <a:bodyPr/>
                    <a:lstStyle/>
                    <a:p>
                      <a:r>
                        <a:rPr sz="975" b="0">
                          <a:solidFill>
                            <a:srgbClr val="343D42"/>
                          </a:solidFill>
                          <a:latin typeface="Arial"/>
                          <a:ea typeface="Arial"/>
                          <a:cs typeface="Arial"/>
                        </a:rPr>
                        <a:t>$23.00</a:t>
                      </a:r>
                    </a:p>
                  </a:txBody>
                  <a:tcPr marL="47625" marR="47625" marT="19050" marB="19050" anchor="ctr">
                    <a:solidFill>
                      <a:srgbClr val="F3F5F6"/>
                    </a:solidFill>
                  </a:tcPr>
                </a:tc>
              </a:tr>
              <a:tr h="187325">
                <a:tc>
                  <a:txBody>
                    <a:bodyPr/>
                    <a:lstStyle/>
                    <a:p>
                      <a:r>
                        <a:rPr sz="975" b="0">
                          <a:solidFill>
                            <a:srgbClr val="343D42"/>
                          </a:solidFill>
                          <a:latin typeface="Arial"/>
                          <a:ea typeface="Arial"/>
                          <a:cs typeface="Arial"/>
                        </a:rPr>
                        <a:t>Healthy Dental</a:t>
                      </a:r>
                    </a:p>
                  </a:txBody>
                  <a:tcPr marL="47625" marR="47625" marT="19050" marB="19050" anchor="ctr">
                    <a:solidFill>
                      <a:srgbClr val="FFFFFF"/>
                    </a:solidFill>
                  </a:tcPr>
                </a:tc>
                <a:tc>
                  <a:txBody>
                    <a:bodyPr/>
                    <a:lstStyle/>
                    <a:p>
                      <a:r>
                        <a:rPr sz="975" b="0">
                          <a:solidFill>
                            <a:srgbClr val="343D42"/>
                          </a:solidFill>
                          <a:latin typeface="Arial"/>
                          <a:ea typeface="Arial"/>
                          <a:cs typeface="Arial"/>
                        </a:rPr>
                        <a:t>3,188</a:t>
                      </a:r>
                    </a:p>
                  </a:txBody>
                  <a:tcPr marL="47625" marR="47625" marT="19050" marB="19050" anchor="ctr">
                    <a:solidFill>
                      <a:srgbClr val="FFFFFF"/>
                    </a:solidFill>
                  </a:tcPr>
                </a:tc>
                <a:tc>
                  <a:txBody>
                    <a:bodyPr/>
                    <a:lstStyle/>
                    <a:p>
                      <a:r>
                        <a:rPr sz="975" b="0">
                          <a:solidFill>
                            <a:srgbClr val="343D42"/>
                          </a:solidFill>
                          <a:latin typeface="Arial"/>
                          <a:ea typeface="Arial"/>
                          <a:cs typeface="Arial"/>
                        </a:rPr>
                        <a:t>2.8%</a:t>
                      </a:r>
                    </a:p>
                  </a:txBody>
                  <a:tcPr marL="47625" marR="47625" marT="19050" marB="19050" anchor="ctr">
                    <a:solidFill>
                      <a:srgbClr val="FFFFFF"/>
                    </a:solidFill>
                  </a:tcPr>
                </a:tc>
                <a:tc>
                  <a:txBody>
                    <a:bodyPr/>
                    <a:lstStyle/>
                    <a:p>
                      <a:r>
                        <a:rPr sz="975" b="0">
                          <a:solidFill>
                            <a:srgbClr val="343D42"/>
                          </a:solidFill>
                          <a:latin typeface="Arial"/>
                          <a:ea typeface="Arial"/>
                          <a:cs typeface="Arial"/>
                        </a:rPr>
                        <a:t>1/31/2030</a:t>
                      </a:r>
                    </a:p>
                  </a:txBody>
                  <a:tcPr marL="47625" marR="47625" marT="19050" marB="19050" anchor="ctr">
                    <a:solidFill>
                      <a:srgbClr val="FFFFFF"/>
                    </a:solidFill>
                  </a:tcPr>
                </a:tc>
                <a:tc>
                  <a:txBody>
                    <a:bodyPr/>
                    <a:lstStyle/>
                    <a:p>
                      <a:r>
                        <a:rPr sz="975" b="0">
                          <a:solidFill>
                            <a:srgbClr val="343D42"/>
                          </a:solidFill>
                          <a:latin typeface="Arial"/>
                          <a:ea typeface="Arial"/>
                          <a:cs typeface="Arial"/>
                        </a:rPr>
                        <a:t>–</a:t>
                      </a:r>
                    </a:p>
                  </a:txBody>
                  <a:tcPr marL="47625" marR="47625" marT="19050" marB="19050" anchor="ctr">
                    <a:solidFill>
                      <a:srgbClr val="FFFFFF"/>
                    </a:solidFill>
                  </a:tcPr>
                </a:tc>
                <a:tc>
                  <a:txBody>
                    <a:bodyPr/>
                    <a:lstStyle/>
                    <a:p>
                      <a:r>
                        <a:rPr sz="975" b="0">
                          <a:solidFill>
                            <a:srgbClr val="343D42"/>
                          </a:solidFill>
                          <a:latin typeface="Arial"/>
                          <a:ea typeface="Arial"/>
                          <a:cs typeface="Arial"/>
                        </a:rPr>
                        <a:t>$12.75</a:t>
                      </a:r>
                    </a:p>
                  </a:txBody>
                  <a:tcPr marL="47625" marR="47625" marT="19050" marB="19050" anchor="ctr">
                    <a:solidFill>
                      <a:srgbClr val="FFFFFF"/>
                    </a:solidFill>
                  </a:tcPr>
                </a:tc>
                <a:tc>
                  <a:txBody>
                    <a:bodyPr/>
                    <a:lstStyle/>
                    <a:p>
                      <a:r>
                        <a:rPr sz="975" b="0">
                          <a:solidFill>
                            <a:srgbClr val="343D42"/>
                          </a:solidFill>
                          <a:latin typeface="Arial"/>
                          <a:ea typeface="Arial"/>
                          <a:cs typeface="Arial"/>
                        </a:rPr>
                        <a:t>$13.00</a:t>
                      </a:r>
                    </a:p>
                  </a:txBody>
                  <a:tcPr marL="47625" marR="47625" marT="19050" marB="19050" anchor="ctr">
                    <a:solidFill>
                      <a:srgbClr val="FFFFFF"/>
                    </a:solidFill>
                  </a:tcPr>
                </a:tc>
              </a:tr>
              <a:tr h="187325">
                <a:tc>
                  <a:txBody>
                    <a:bodyPr/>
                    <a:lstStyle/>
                    <a:p>
                      <a:r>
                        <a:rPr sz="975" b="0">
                          <a:solidFill>
                            <a:srgbClr val="343D42"/>
                          </a:solidFill>
                          <a:latin typeface="Arial"/>
                          <a:ea typeface="Arial"/>
                          <a:cs typeface="Arial"/>
                        </a:rPr>
                        <a:t>Walgreens (PAD)</a:t>
                      </a:r>
                    </a:p>
                  </a:txBody>
                  <a:tcPr marL="47625" marR="47625" marT="19050" marB="19050" anchor="ctr">
                    <a:solidFill>
                      <a:srgbClr val="F3F5F6"/>
                    </a:solidFill>
                  </a:tcPr>
                </a:tc>
                <a:tc>
                  <a:txBody>
                    <a:bodyPr/>
                    <a:lstStyle/>
                    <a:p>
                      <a:r>
                        <a:rPr sz="975" b="0">
                          <a:solidFill>
                            <a:srgbClr val="343D42"/>
                          </a:solidFill>
                          <a:latin typeface="Arial"/>
                          <a:ea typeface="Arial"/>
                          <a:cs typeface="Arial"/>
                        </a:rPr>
                        <a:t>2,955</a:t>
                      </a:r>
                    </a:p>
                  </a:txBody>
                  <a:tcPr marL="47625" marR="47625" marT="19050" marB="19050" anchor="ctr">
                    <a:solidFill>
                      <a:srgbClr val="F3F5F6"/>
                    </a:solidFill>
                  </a:tcPr>
                </a:tc>
                <a:tc>
                  <a:txBody>
                    <a:bodyPr/>
                    <a:lstStyle/>
                    <a:p>
                      <a:r>
                        <a:rPr sz="975" b="0">
                          <a:solidFill>
                            <a:srgbClr val="343D42"/>
                          </a:solidFill>
                          <a:latin typeface="Arial"/>
                          <a:ea typeface="Arial"/>
                          <a:cs typeface="Arial"/>
                        </a:rPr>
                        <a:t>2.6%</a:t>
                      </a:r>
                    </a:p>
                  </a:txBody>
                  <a:tcPr marL="47625" marR="47625" marT="19050" marB="19050" anchor="ctr">
                    <a:solidFill>
                      <a:srgbClr val="F3F5F6"/>
                    </a:solidFill>
                  </a:tcPr>
                </a:tc>
                <a:tc>
                  <a:txBody>
                    <a:bodyPr/>
                    <a:lstStyle/>
                    <a:p>
                      <a:r>
                        <a:rPr sz="975" b="0">
                          <a:solidFill>
                            <a:srgbClr val="343D42"/>
                          </a:solidFill>
                          <a:latin typeface="Arial"/>
                          <a:ea typeface="Arial"/>
                          <a:cs typeface="Arial"/>
                        </a:rPr>
                        <a:t>9/30/2030</a:t>
                      </a:r>
                    </a:p>
                  </a:txBody>
                  <a:tcPr marL="47625" marR="47625" marT="19050" marB="19050" anchor="ctr">
                    <a:solidFill>
                      <a:srgbClr val="F3F5F6"/>
                    </a:solidFill>
                  </a:tcPr>
                </a:tc>
                <a:tc>
                  <a:txBody>
                    <a:bodyPr/>
                    <a:lstStyle/>
                    <a:p>
                      <a:r>
                        <a:rPr sz="975" b="0">
                          <a:solidFill>
                            <a:srgbClr val="343D42"/>
                          </a:solidFill>
                          <a:latin typeface="Arial"/>
                          <a:ea typeface="Arial"/>
                          <a:cs typeface="Arial"/>
                        </a:rPr>
                        <a:t>–</a:t>
                      </a:r>
                    </a:p>
                  </a:txBody>
                  <a:tcPr marL="47625" marR="47625" marT="19050" marB="19050" anchor="ctr">
                    <a:solidFill>
                      <a:srgbClr val="F3F5F6"/>
                    </a:solidFill>
                  </a:tcPr>
                </a:tc>
                <a:tc>
                  <a:txBody>
                    <a:bodyPr/>
                    <a:lstStyle/>
                    <a:p>
                      <a:r>
                        <a:rPr sz="975" b="0">
                          <a:solidFill>
                            <a:srgbClr val="343D42"/>
                          </a:solidFill>
                          <a:latin typeface="Arial"/>
                          <a:ea typeface="Arial"/>
                          <a:cs typeface="Arial"/>
                        </a:rPr>
                        <a:t>$38.50</a:t>
                      </a:r>
                    </a:p>
                  </a:txBody>
                  <a:tcPr marL="47625" marR="47625" marT="19050" marB="19050" anchor="ctr">
                    <a:solidFill>
                      <a:srgbClr val="F3F5F6"/>
                    </a:solidFill>
                  </a:tcPr>
                </a:tc>
                <a:tc>
                  <a:txBody>
                    <a:bodyPr/>
                    <a:lstStyle/>
                    <a:p>
                      <a:r>
                        <a:rPr sz="975" b="0">
                          <a:solidFill>
                            <a:srgbClr val="343D42"/>
                          </a:solidFill>
                          <a:latin typeface="Arial"/>
                          <a:ea typeface="Arial"/>
                          <a:cs typeface="Arial"/>
                        </a:rPr>
                        <a:t>$35.00</a:t>
                      </a:r>
                    </a:p>
                  </a:txBody>
                  <a:tcPr marL="47625" marR="47625" marT="19050" marB="19050" anchor="ctr">
                    <a:solidFill>
                      <a:srgbClr val="F3F5F6"/>
                    </a:solidFill>
                  </a:tcPr>
                </a:tc>
              </a:tr>
              <a:tr h="187325">
                <a:tc>
                  <a:txBody>
                    <a:bodyPr/>
                    <a:lstStyle/>
                    <a:p>
                      <a:r>
                        <a:rPr sz="975" b="0">
                          <a:solidFill>
                            <a:srgbClr val="343D42"/>
                          </a:solidFill>
                          <a:latin typeface="Arial"/>
                          <a:ea typeface="Arial"/>
                          <a:cs typeface="Arial"/>
                        </a:rPr>
                        <a:t>Major tenants</a:t>
                      </a:r>
                    </a:p>
                  </a:txBody>
                  <a:tcPr marL="47625" marR="47625" marT="19050" marB="19050" anchor="ctr">
                    <a:solidFill>
                      <a:srgbClr val="FFFFFF"/>
                    </a:solidFill>
                  </a:tcPr>
                </a:tc>
                <a:tc>
                  <a:txBody>
                    <a:bodyPr/>
                    <a:lstStyle/>
                    <a:p>
                      <a:r>
                        <a:rPr sz="975" b="0">
                          <a:solidFill>
                            <a:srgbClr val="343D42"/>
                          </a:solidFill>
                          <a:latin typeface="Arial"/>
                          <a:ea typeface="Arial"/>
                          <a:cs typeface="Arial"/>
                        </a:rPr>
                        <a:t>91,833</a:t>
                      </a:r>
                    </a:p>
                  </a:txBody>
                  <a:tcPr marL="47625" marR="47625" marT="19050" marB="19050" anchor="ctr">
                    <a:solidFill>
                      <a:srgbClr val="FFFFFF"/>
                    </a:solidFill>
                  </a:tcPr>
                </a:tc>
                <a:tc>
                  <a:txBody>
                    <a:bodyPr/>
                    <a:lstStyle/>
                    <a:p>
                      <a:r>
                        <a:rPr sz="975" b="0">
                          <a:solidFill>
                            <a:srgbClr val="343D42"/>
                          </a:solidFill>
                          <a:latin typeface="Arial"/>
                          <a:ea typeface="Arial"/>
                          <a:cs typeface="Arial"/>
                        </a:rPr>
                        <a:t>81.5%</a:t>
                      </a:r>
                    </a:p>
                  </a:txBody>
                  <a:tcPr marL="47625" marR="47625" marT="19050" marB="19050" anchor="ctr">
                    <a:solidFill>
                      <a:srgbClr val="FFFFFF"/>
                    </a:solidFill>
                  </a:tcPr>
                </a:tc>
                <a:tc>
                  <a:txBody>
                    <a:bodyPr/>
                    <a:lstStyle/>
                    <a:p>
                      <a:r>
                        <a:rPr sz="975" b="0">
                          <a:solidFill>
                            <a:srgbClr val="343D42"/>
                          </a:solidFill>
                          <a:latin typeface="Arial"/>
                          <a:ea typeface="Arial"/>
                          <a:cs typeface="Arial"/>
                        </a:rPr>
                        <a:t>–</a:t>
                      </a:r>
                    </a:p>
                  </a:txBody>
                  <a:tcPr marL="47625" marR="47625" marT="19050" marB="19050" anchor="ctr">
                    <a:solidFill>
                      <a:srgbClr val="FFFFFF"/>
                    </a:solidFill>
                  </a:tcPr>
                </a:tc>
                <a:tc>
                  <a:txBody>
                    <a:bodyPr/>
                    <a:lstStyle/>
                    <a:p>
                      <a:r>
                        <a:rPr sz="975" b="0">
                          <a:solidFill>
                            <a:srgbClr val="343D42"/>
                          </a:solidFill>
                          <a:latin typeface="Arial"/>
                          <a:ea typeface="Arial"/>
                          <a:cs typeface="Arial"/>
                        </a:rPr>
                        <a:t>–</a:t>
                      </a:r>
                    </a:p>
                  </a:txBody>
                  <a:tcPr marL="47625" marR="47625" marT="19050" marB="19050" anchor="ctr">
                    <a:solidFill>
                      <a:srgbClr val="FFFFFF"/>
                    </a:solidFill>
                  </a:tcPr>
                </a:tc>
                <a:tc>
                  <a:txBody>
                    <a:bodyPr/>
                    <a:lstStyle/>
                    <a:p>
                      <a:r>
                        <a:rPr sz="975" b="0">
                          <a:solidFill>
                            <a:srgbClr val="343D42"/>
                          </a:solidFill>
                          <a:latin typeface="Arial"/>
                          <a:ea typeface="Arial"/>
                          <a:cs typeface="Arial"/>
                        </a:rPr>
                        <a:t>$13.46</a:t>
                      </a:r>
                    </a:p>
                  </a:txBody>
                  <a:tcPr marL="47625" marR="47625" marT="19050" marB="19050" anchor="ctr">
                    <a:solidFill>
                      <a:srgbClr val="FFFFFF"/>
                    </a:solidFill>
                  </a:tcPr>
                </a:tc>
                <a:tc>
                  <a:txBody>
                    <a:bodyPr/>
                    <a:lstStyle/>
                    <a:p>
                      <a:r>
                        <a:rPr sz="975" b="0">
                          <a:solidFill>
                            <a:srgbClr val="343D42"/>
                          </a:solidFill>
                          <a:latin typeface="Arial"/>
                          <a:ea typeface="Arial"/>
                          <a:cs typeface="Arial"/>
                        </a:rPr>
                        <a:t>$14.83</a:t>
                      </a:r>
                    </a:p>
                  </a:txBody>
                  <a:tcPr marL="47625" marR="47625" marT="19050" marB="19050" anchor="ctr">
                    <a:solidFill>
                      <a:srgbClr val="FFFFFF"/>
                    </a:solidFill>
                  </a:tcPr>
                </a:tc>
              </a:tr>
              <a:tr h="187325">
                <a:tc>
                  <a:txBody>
                    <a:bodyPr/>
                    <a:lstStyle/>
                    <a:p>
                      <a:r>
                        <a:rPr sz="975" b="0">
                          <a:solidFill>
                            <a:srgbClr val="343D42"/>
                          </a:solidFill>
                          <a:latin typeface="Arial"/>
                          <a:ea typeface="Arial"/>
                          <a:cs typeface="Arial"/>
                        </a:rPr>
                        <a:t>Other tenants</a:t>
                      </a:r>
                    </a:p>
                  </a:txBody>
                  <a:tcPr marL="47625" marR="47625" marT="19050" marB="19050" anchor="ctr">
                    <a:solidFill>
                      <a:srgbClr val="F3F5F6"/>
                    </a:solidFill>
                  </a:tcPr>
                </a:tc>
                <a:tc>
                  <a:txBody>
                    <a:bodyPr/>
                    <a:lstStyle/>
                    <a:p>
                      <a:r>
                        <a:rPr sz="975" b="0">
                          <a:solidFill>
                            <a:srgbClr val="343D42"/>
                          </a:solidFill>
                          <a:latin typeface="Arial"/>
                          <a:ea typeface="Arial"/>
                          <a:cs typeface="Arial"/>
                        </a:rPr>
                        <a:t>20,838</a:t>
                      </a:r>
                    </a:p>
                  </a:txBody>
                  <a:tcPr marL="47625" marR="47625" marT="19050" marB="19050" anchor="ctr">
                    <a:solidFill>
                      <a:srgbClr val="F3F5F6"/>
                    </a:solidFill>
                  </a:tcPr>
                </a:tc>
                <a:tc>
                  <a:txBody>
                    <a:bodyPr/>
                    <a:lstStyle/>
                    <a:p>
                      <a:r>
                        <a:rPr sz="975" b="0">
                          <a:solidFill>
                            <a:srgbClr val="343D42"/>
                          </a:solidFill>
                          <a:latin typeface="Arial"/>
                          <a:ea typeface="Arial"/>
                          <a:cs typeface="Arial"/>
                        </a:rPr>
                        <a:t>18.5%</a:t>
                      </a:r>
                    </a:p>
                  </a:txBody>
                  <a:tcPr marL="47625" marR="47625" marT="19050" marB="19050" anchor="ctr">
                    <a:solidFill>
                      <a:srgbClr val="F3F5F6"/>
                    </a:solidFill>
                  </a:tcPr>
                </a:tc>
                <a:tc>
                  <a:txBody>
                    <a:bodyPr/>
                    <a:lstStyle/>
                    <a:p>
                      <a:r>
                        <a:rPr sz="975" b="0">
                          <a:solidFill>
                            <a:srgbClr val="343D42"/>
                          </a:solidFill>
                          <a:latin typeface="Arial"/>
                          <a:ea typeface="Arial"/>
                          <a:cs typeface="Arial"/>
                        </a:rPr>
                        <a:t>–</a:t>
                      </a:r>
                    </a:p>
                  </a:txBody>
                  <a:tcPr marL="47625" marR="47625" marT="19050" marB="19050" anchor="ctr">
                    <a:solidFill>
                      <a:srgbClr val="F3F5F6"/>
                    </a:solidFill>
                  </a:tcPr>
                </a:tc>
                <a:tc>
                  <a:txBody>
                    <a:bodyPr/>
                    <a:lstStyle/>
                    <a:p>
                      <a:r>
                        <a:rPr sz="975" b="0">
                          <a:solidFill>
                            <a:srgbClr val="343D42"/>
                          </a:solidFill>
                          <a:latin typeface="Arial"/>
                          <a:ea typeface="Arial"/>
                          <a:cs typeface="Arial"/>
                        </a:rPr>
                        <a:t>–</a:t>
                      </a:r>
                    </a:p>
                  </a:txBody>
                  <a:tcPr marL="47625" marR="47625" marT="19050" marB="19050" anchor="ctr">
                    <a:solidFill>
                      <a:srgbClr val="F3F5F6"/>
                    </a:solidFill>
                  </a:tcPr>
                </a:tc>
                <a:tc>
                  <a:txBody>
                    <a:bodyPr/>
                    <a:lstStyle/>
                    <a:p>
                      <a:r>
                        <a:rPr sz="975" b="0">
                          <a:solidFill>
                            <a:srgbClr val="343D42"/>
                          </a:solidFill>
                          <a:latin typeface="Arial"/>
                          <a:ea typeface="Arial"/>
                          <a:cs typeface="Arial"/>
                        </a:rPr>
                        <a:t>$22.58</a:t>
                      </a:r>
                    </a:p>
                  </a:txBody>
                  <a:tcPr marL="47625" marR="47625" marT="19050" marB="19050" anchor="ctr">
                    <a:solidFill>
                      <a:srgbClr val="F3F5F6"/>
                    </a:solidFill>
                  </a:tcPr>
                </a:tc>
                <a:tc>
                  <a:txBody>
                    <a:bodyPr/>
                    <a:lstStyle/>
                    <a:p>
                      <a:r>
                        <a:rPr sz="975" b="0">
                          <a:solidFill>
                            <a:srgbClr val="343D42"/>
                          </a:solidFill>
                          <a:latin typeface="Arial"/>
                          <a:ea typeface="Arial"/>
                          <a:cs typeface="Arial"/>
                        </a:rPr>
                        <a:t>$25.25</a:t>
                      </a:r>
                    </a:p>
                  </a:txBody>
                  <a:tcPr marL="47625" marR="47625" marT="19050" marB="19050" anchor="ctr">
                    <a:solidFill>
                      <a:srgbClr val="F3F5F6"/>
                    </a:solidFill>
                  </a:tcPr>
                </a:tc>
              </a:tr>
              <a:tr h="187325">
                <a:tc>
                  <a:txBody>
                    <a:bodyPr/>
                    <a:lstStyle/>
                    <a:p>
                      <a:r>
                        <a:rPr sz="975" b="0">
                          <a:solidFill>
                            <a:srgbClr val="343D42"/>
                          </a:solidFill>
                          <a:latin typeface="Arial"/>
                          <a:ea typeface="Arial"/>
                          <a:cs typeface="Arial"/>
                        </a:rPr>
                        <a:t>Vacant</a:t>
                      </a:r>
                    </a:p>
                  </a:txBody>
                  <a:tcPr marL="47625" marR="47625" marT="19050" marB="19050" anchor="ctr">
                    <a:solidFill>
                      <a:srgbClr val="FFFFFF"/>
                    </a:solidFill>
                  </a:tcPr>
                </a:tc>
                <a:tc>
                  <a:txBody>
                    <a:bodyPr/>
                    <a:lstStyle/>
                    <a:p>
                      <a:r>
                        <a:rPr sz="975" b="0">
                          <a:solidFill>
                            <a:srgbClr val="343D42"/>
                          </a:solidFill>
                          <a:latin typeface="Arial"/>
                          <a:ea typeface="Arial"/>
                          <a:cs typeface="Arial"/>
                        </a:rPr>
                        <a:t>0</a:t>
                      </a:r>
                    </a:p>
                  </a:txBody>
                  <a:tcPr marL="47625" marR="47625" marT="19050" marB="19050" anchor="ctr">
                    <a:solidFill>
                      <a:srgbClr val="FFFFFF"/>
                    </a:solidFill>
                  </a:tcPr>
                </a:tc>
                <a:tc>
                  <a:txBody>
                    <a:bodyPr/>
                    <a:lstStyle/>
                    <a:p>
                      <a:r>
                        <a:rPr sz="975" b="0">
                          <a:solidFill>
                            <a:srgbClr val="343D42"/>
                          </a:solidFill>
                          <a:latin typeface="Arial"/>
                          <a:ea typeface="Arial"/>
                          <a:cs typeface="Arial"/>
                        </a:rPr>
                        <a:t>0.0%</a:t>
                      </a:r>
                    </a:p>
                  </a:txBody>
                  <a:tcPr marL="47625" marR="47625" marT="19050" marB="19050" anchor="ctr">
                    <a:solidFill>
                      <a:srgbClr val="FFFFFF"/>
                    </a:solidFill>
                  </a:tcPr>
                </a:tc>
                <a:tc>
                  <a:txBody>
                    <a:bodyPr/>
                    <a:lstStyle/>
                    <a:p>
                      <a:r>
                        <a:rPr sz="975" b="0">
                          <a:solidFill>
                            <a:srgbClr val="343D42"/>
                          </a:solidFill>
                          <a:latin typeface="Arial"/>
                          <a:ea typeface="Arial"/>
                          <a:cs typeface="Arial"/>
                        </a:rPr>
                        <a:t>–</a:t>
                      </a:r>
                    </a:p>
                  </a:txBody>
                  <a:tcPr marL="47625" marR="47625" marT="19050" marB="19050" anchor="ctr">
                    <a:solidFill>
                      <a:srgbClr val="FFFFFF"/>
                    </a:solidFill>
                  </a:tcPr>
                </a:tc>
                <a:tc>
                  <a:txBody>
                    <a:bodyPr/>
                    <a:lstStyle/>
                    <a:p>
                      <a:r>
                        <a:rPr sz="975" b="0">
                          <a:solidFill>
                            <a:srgbClr val="343D42"/>
                          </a:solidFill>
                          <a:latin typeface="Arial"/>
                          <a:ea typeface="Arial"/>
                          <a:cs typeface="Arial"/>
                        </a:rPr>
                        <a:t>–</a:t>
                      </a:r>
                    </a:p>
                  </a:txBody>
                  <a:tcPr marL="47625" marR="47625" marT="19050" marB="19050" anchor="ctr">
                    <a:solidFill>
                      <a:srgbClr val="FFFFFF"/>
                    </a:solidFill>
                  </a:tcPr>
                </a:tc>
                <a:tc>
                  <a:txBody>
                    <a:bodyPr/>
                    <a:lstStyle/>
                    <a:p>
                      <a:r>
                        <a:rPr sz="975" b="0">
                          <a:solidFill>
                            <a:srgbClr val="343D42"/>
                          </a:solidFill>
                          <a:latin typeface="Arial"/>
                          <a:ea typeface="Arial"/>
                          <a:cs typeface="Arial"/>
                        </a:rPr>
                        <a:t>–</a:t>
                      </a:r>
                    </a:p>
                  </a:txBody>
                  <a:tcPr marL="47625" marR="47625" marT="19050" marB="19050" anchor="ctr">
                    <a:solidFill>
                      <a:srgbClr val="FFFFFF"/>
                    </a:solidFill>
                  </a:tcPr>
                </a:tc>
                <a:tc>
                  <a:txBody>
                    <a:bodyPr/>
                    <a:lstStyle/>
                    <a:p>
                      <a:r>
                        <a:rPr sz="975" b="0">
                          <a:solidFill>
                            <a:srgbClr val="343D42"/>
                          </a:solidFill>
                          <a:latin typeface="Arial"/>
                          <a:ea typeface="Arial"/>
                          <a:cs typeface="Arial"/>
                        </a:rPr>
                        <a:t>–</a:t>
                      </a:r>
                    </a:p>
                  </a:txBody>
                  <a:tcPr marL="47625" marR="47625" marT="19050" marB="19050" anchor="ctr">
                    <a:solidFill>
                      <a:srgbClr val="FFFFFF"/>
                    </a:solidFill>
                  </a:tcPr>
                </a:tc>
              </a:tr>
              <a:tr h="187325">
                <a:tc>
                  <a:txBody>
                    <a:bodyPr/>
                    <a:lstStyle/>
                    <a:p>
                      <a:r>
                        <a:rPr sz="975" b="0">
                          <a:solidFill>
                            <a:srgbClr val="343D42"/>
                          </a:solidFill>
                          <a:latin typeface="Arial"/>
                          <a:ea typeface="Arial"/>
                          <a:cs typeface="Arial"/>
                        </a:rPr>
                        <a:t>TOTAL</a:t>
                      </a:r>
                    </a:p>
                  </a:txBody>
                  <a:tcPr marL="47625" marR="47625" marT="19050" marB="19050" anchor="ctr">
                    <a:solidFill>
                      <a:srgbClr val="F3F5F6"/>
                    </a:solidFill>
                  </a:tcPr>
                </a:tc>
                <a:tc>
                  <a:txBody>
                    <a:bodyPr/>
                    <a:lstStyle/>
                    <a:p>
                      <a:r>
                        <a:rPr sz="975" b="0">
                          <a:solidFill>
                            <a:srgbClr val="343D42"/>
                          </a:solidFill>
                          <a:latin typeface="Arial"/>
                          <a:ea typeface="Arial"/>
                          <a:cs typeface="Arial"/>
                        </a:rPr>
                        <a:t>112,671</a:t>
                      </a:r>
                    </a:p>
                  </a:txBody>
                  <a:tcPr marL="47625" marR="47625" marT="19050" marB="19050" anchor="ctr">
                    <a:solidFill>
                      <a:srgbClr val="F3F5F6"/>
                    </a:solidFill>
                  </a:tcPr>
                </a:tc>
                <a:tc>
                  <a:txBody>
                    <a:bodyPr/>
                    <a:lstStyle/>
                    <a:p>
                      <a:r>
                        <a:rPr sz="975" b="0">
                          <a:solidFill>
                            <a:srgbClr val="343D42"/>
                          </a:solidFill>
                          <a:latin typeface="Arial"/>
                          <a:ea typeface="Arial"/>
                          <a:cs typeface="Arial"/>
                        </a:rPr>
                        <a:t>100.0%</a:t>
                      </a:r>
                    </a:p>
                  </a:txBody>
                  <a:tcPr marL="47625" marR="47625" marT="19050" marB="19050" anchor="ctr">
                    <a:solidFill>
                      <a:srgbClr val="F3F5F6"/>
                    </a:solidFill>
                  </a:tcPr>
                </a:tc>
                <a:tc>
                  <a:txBody>
                    <a:bodyPr/>
                    <a:lstStyle/>
                    <a:p>
                      <a:r>
                        <a:rPr sz="975" b="0">
                          <a:solidFill>
                            <a:srgbClr val="343D42"/>
                          </a:solidFill>
                          <a:latin typeface="Arial"/>
                          <a:ea typeface="Arial"/>
                          <a:cs typeface="Arial"/>
                        </a:rPr>
                        <a:t>–</a:t>
                      </a:r>
                    </a:p>
                  </a:txBody>
                  <a:tcPr marL="47625" marR="47625" marT="19050" marB="19050" anchor="ctr">
                    <a:solidFill>
                      <a:srgbClr val="F3F5F6"/>
                    </a:solidFill>
                  </a:tcPr>
                </a:tc>
                <a:tc>
                  <a:txBody>
                    <a:bodyPr/>
                    <a:lstStyle/>
                    <a:p>
                      <a:r>
                        <a:rPr sz="975" b="0">
                          <a:solidFill>
                            <a:srgbClr val="343D42"/>
                          </a:solidFill>
                          <a:latin typeface="Arial"/>
                          <a:ea typeface="Arial"/>
                          <a:cs typeface="Arial"/>
                        </a:rPr>
                        <a:t>–</a:t>
                      </a:r>
                    </a:p>
                  </a:txBody>
                  <a:tcPr marL="47625" marR="47625" marT="19050" marB="19050" anchor="ctr">
                    <a:solidFill>
                      <a:srgbClr val="F3F5F6"/>
                    </a:solidFill>
                  </a:tcPr>
                </a:tc>
                <a:tc>
                  <a:txBody>
                    <a:bodyPr/>
                    <a:lstStyle/>
                    <a:p>
                      <a:r>
                        <a:rPr sz="975" b="0">
                          <a:solidFill>
                            <a:srgbClr val="343D42"/>
                          </a:solidFill>
                          <a:latin typeface="Arial"/>
                          <a:ea typeface="Arial"/>
                          <a:cs typeface="Arial"/>
                        </a:rPr>
                        <a:t>–</a:t>
                      </a:r>
                    </a:p>
                  </a:txBody>
                  <a:tcPr marL="47625" marR="47625" marT="19050" marB="19050" anchor="ctr">
                    <a:solidFill>
                      <a:srgbClr val="F3F5F6"/>
                    </a:solidFill>
                  </a:tcPr>
                </a:tc>
                <a:tc>
                  <a:txBody>
                    <a:bodyPr/>
                    <a:lstStyle/>
                    <a:p>
                      <a:r>
                        <a:rPr sz="975" b="0">
                          <a:solidFill>
                            <a:srgbClr val="343D42"/>
                          </a:solidFill>
                          <a:latin typeface="Arial"/>
                          <a:ea typeface="Arial"/>
                          <a:cs typeface="Arial"/>
                        </a:rPr>
                        <a:t>–</a:t>
                      </a:r>
                    </a:p>
                  </a:txBody>
                  <a:tcPr marL="47625" marR="47625" marT="19050" marB="19050" anchor="ctr">
                    <a:solidFill>
                      <a:srgbClr val="F3F5F6"/>
                    </a:solidFill>
                  </a:tcPr>
                </a:tc>
              </a:tr>
            </a:tbl>
          </a:graphicData>
        </a:graphic>
      </p:graphicFrame>
      <p:sp>
        <p:nvSpPr>
          <p:cNvPr id="8" name="">
            <a:extLst xmlns:a="http://schemas.openxmlformats.org/drawingml/2006/main">
              <a:ext uri="{FF2B5EF4-FFF2-40B4-BE49-F238E27FC236}">
                <a16:creationId xmlns:a16="http://schemas.microsoft.com/office/drawing/2014/main" id="{9F01440E-43CF-402A-BC5F-CFE3F02A722E}"/>
              </a:ext>
            </a:extLst>
          </p:cNvPr>
          <p:cNvSpPr>
            <a:spLocks xmlns:a="http://schemas.openxmlformats.org/drawingml/2006/main" noGrp="1"/>
          </p:cNvSpPr>
          <p:nvPr/>
        </p:nvSpPr>
        <p:spPr>
          <a:xfrm xmlns:a="http://schemas.openxmlformats.org/drawingml/2006/main">
            <a:off x="457200" y="38385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343D42"/>
                </a:solidFill>
                <a:latin typeface="Arial"/>
                <a:ea typeface="Arial"/>
                <a:cs typeface="Arial"/>
              </a:defRPr>
            </a:defPPr>
          </a:lstStyle>
          <a:p xmlns:a="http://schemas.openxmlformats.org/drawingml/2006/main">
            <a:pPr>
              <a:defRPr sz="975" b="0">
                <a:solidFill>
                  <a:srgbClr val="343D42"/>
                </a:solidFill>
                <a:latin typeface="Arial"/>
                <a:ea typeface="Arial"/>
                <a:cs typeface="Arial"/>
              </a:defRPr>
            </a:pPr>
            <a:r>
              <a:rPr sz="975" b="0">
                <a:solidFill>
                  <a:srgbClr val="343D42"/>
                </a:solidFill>
                <a:latin typeface="Arial"/>
                <a:ea typeface="Arial"/>
                <a:cs typeface="Arial"/>
              </a:rPr>
              <a:t>Current rent as of October 1, 2025. Market rent reflects initial rent for new tenants.</a:t>
            </a:r>
          </a:p>
        </p:txBody>
      </p:sp>
      <p:sp>
        <p:nvSpPr>
          <p:cNvPr id="9" name="">
            <a:extLst xmlns:a="http://schemas.openxmlformats.org/drawingml/2006/main">
              <a:ext uri="{FF2B5EF4-FFF2-40B4-BE49-F238E27FC236}">
                <a16:creationId xmlns:a16="http://schemas.microsoft.com/office/drawing/2014/main" id="{D5E51B3C-5BBA-4DB3-AA87-5FF562381F67}"/>
              </a:ext>
            </a:extLst>
          </p:cNvPr>
          <p:cNvSpPr>
            <a:spLocks xmlns:a="http://schemas.openxmlformats.org/drawingml/2006/main" noGrp="1"/>
          </p:cNvSpPr>
          <p:nvPr/>
        </p:nvSpPr>
        <p:spPr>
          <a:xfrm xmlns:a="http://schemas.openxmlformats.org/drawingml/2006/main">
            <a:off x="457200" y="4162425"/>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343D42"/>
                </a:solidFill>
                <a:latin typeface="Arial"/>
                <a:ea typeface="Arial"/>
                <a:cs typeface="Arial"/>
              </a:defRPr>
            </a:defPPr>
          </a:lstStyle>
          <a:p xmlns:a="http://schemas.openxmlformats.org/drawingml/2006/main">
            <a:pPr>
              <a:defRPr sz="1425" b="1">
                <a:solidFill>
                  <a:srgbClr val="343D42"/>
                </a:solidFill>
                <a:latin typeface="Arial"/>
                <a:ea typeface="Arial"/>
                <a:cs typeface="Arial"/>
              </a:defRPr>
            </a:pPr>
            <a:r>
              <a:rPr sz="1425" b="1">
                <a:solidFill>
                  <a:srgbClr val="343D42"/>
                </a:solidFill>
                <a:latin typeface="Arial"/>
                <a:ea typeface="Arial"/>
                <a:cs typeface="Arial"/>
              </a:rPr>
              <a:t>Tenant Sales Trends</a:t>
            </a:r>
          </a:p>
        </p:txBody>
      </p:sp>
      <p:graphicFrame>
        <p:nvGraphicFramePr>
          <p:cNvPr id="10" name="">
            <a:extLst xmlns:a="http://schemas.openxmlformats.org/drawingml/2006/main">
              <a:ext uri="{FF2B5EF4-FFF2-40B4-BE49-F238E27FC236}">
                <a16:creationId xmlns:a16="http://schemas.microsoft.com/office/drawing/2014/main" id="{E66CEF29-9E70-4100-8E95-0FCF75864421}"/>
              </a:ext>
            </a:extLst>
          </p:cNvPr>
          <p:cNvGraphicFramePr/>
          <p:nvPr/>
        </p:nvGraphicFramePr>
        <p:xfrm>
          <a:off xmlns:a="http://schemas.openxmlformats.org/drawingml/2006/main" x="457200" y="4476750"/>
          <a:ext xmlns:a="http://schemas.openxmlformats.org/drawingml/2006/main" cx="11277600" cy="1495425"/>
        </p:xfrm>
        <a:graphic xmlns:a="http://schemas.openxmlformats.org/drawingml/2006/main">
          <a:graphicData uri="http://schemas.openxmlformats.org/drawingml/2006/table">
            <a:tbl>
              <a:tblPr/>
              <a:tblGrid>
                <a:gridCol w="2447925"/>
                <a:gridCol w="666750"/>
                <a:gridCol w="666750"/>
                <a:gridCol w="1866900"/>
                <a:gridCol w="1866900"/>
                <a:gridCol w="1866900"/>
                <a:gridCol w="1895475"/>
              </a:tblGrid>
              <a:tr h="166158">
                <a:tc>
                  <a:txBody>
                    <a:bodyPr/>
                    <a:lstStyle/>
                    <a:p>
                      <a:r>
                        <a:rPr sz="825" b="1">
                          <a:solidFill>
                            <a:srgbClr val="FFFFFF"/>
                          </a:solidFill>
                          <a:latin typeface="Arial"/>
                          <a:ea typeface="Arial"/>
                          <a:cs typeface="Arial"/>
                        </a:rPr>
                        <a:t>Tenant</a:t>
                      </a:r>
                    </a:p>
                  </a:txBody>
                  <a:tcPr marL="47625" marR="47625" marT="19050" marB="19050" anchor="ctr">
                    <a:solidFill>
                      <a:srgbClr val="213C66"/>
                    </a:solidFill>
                  </a:tcPr>
                </a:tc>
                <a:tc>
                  <a:txBody>
                    <a:bodyPr/>
                    <a:lstStyle/>
                    <a:p>
                      <a:r>
                        <a:rPr sz="825" b="1">
                          <a:solidFill>
                            <a:srgbClr val="FFFFFF"/>
                          </a:solidFill>
                          <a:latin typeface="Arial"/>
                          <a:ea typeface="Arial"/>
                          <a:cs typeface="Arial"/>
                        </a:rPr>
                        <a:t>SF</a:t>
                      </a:r>
                    </a:p>
                  </a:txBody>
                  <a:tcPr marL="47625" marR="47625" marT="19050" marB="19050" anchor="ctr">
                    <a:solidFill>
                      <a:srgbClr val="213C66"/>
                    </a:solidFill>
                  </a:tcPr>
                </a:tc>
                <a:tc>
                  <a:txBody>
                    <a:bodyPr/>
                    <a:lstStyle/>
                    <a:p>
                      <a:r>
                        <a:rPr sz="825" b="1">
                          <a:solidFill>
                            <a:srgbClr val="FFFFFF"/>
                          </a:solidFill>
                          <a:latin typeface="Arial"/>
                          <a:ea typeface="Arial"/>
                          <a:cs typeface="Arial"/>
                        </a:rPr>
                        <a:t>Health</a:t>
                      </a:r>
                    </a:p>
                  </a:txBody>
                  <a:tcPr marL="47625" marR="47625" marT="19050" marB="19050" anchor="ctr">
                    <a:solidFill>
                      <a:srgbClr val="213C66"/>
                    </a:solidFill>
                  </a:tcPr>
                </a:tc>
                <a:tc>
                  <a:txBody>
                    <a:bodyPr/>
                    <a:lstStyle/>
                    <a:p>
                      <a:r>
                        <a:rPr sz="825" b="1">
                          <a:solidFill>
                            <a:srgbClr val="FFFFFF"/>
                          </a:solidFill>
                          <a:latin typeface="Arial"/>
                          <a:ea typeface="Arial"/>
                          <a:cs typeface="Arial"/>
                        </a:rPr>
                        <a:t>2024 sales / PSF</a:t>
                      </a:r>
                    </a:p>
                  </a:txBody>
                  <a:tcPr marL="47625" marR="47625" marT="19050" marB="19050" anchor="ctr">
                    <a:solidFill>
                      <a:srgbClr val="213C66"/>
                    </a:solidFill>
                  </a:tcPr>
                </a:tc>
                <a:tc>
                  <a:txBody>
                    <a:bodyPr/>
                    <a:lstStyle/>
                    <a:p>
                      <a:r>
                        <a:rPr sz="825" b="1">
                          <a:solidFill>
                            <a:srgbClr val="FFFFFF"/>
                          </a:solidFill>
                          <a:latin typeface="Arial"/>
                          <a:ea typeface="Arial"/>
                          <a:cs typeface="Arial"/>
                        </a:rPr>
                        <a:t>2023 sales / PSF</a:t>
                      </a:r>
                    </a:p>
                  </a:txBody>
                  <a:tcPr marL="47625" marR="47625" marT="19050" marB="19050" anchor="ctr">
                    <a:solidFill>
                      <a:srgbClr val="213C66"/>
                    </a:solidFill>
                  </a:tcPr>
                </a:tc>
                <a:tc>
                  <a:txBody>
                    <a:bodyPr/>
                    <a:lstStyle/>
                    <a:p>
                      <a:r>
                        <a:rPr sz="825" b="1">
                          <a:solidFill>
                            <a:srgbClr val="FFFFFF"/>
                          </a:solidFill>
                          <a:latin typeface="Arial"/>
                          <a:ea typeface="Arial"/>
                          <a:cs typeface="Arial"/>
                        </a:rPr>
                        <a:t>2022 sales / PSF</a:t>
                      </a:r>
                    </a:p>
                  </a:txBody>
                  <a:tcPr marL="47625" marR="47625" marT="19050" marB="19050" anchor="ctr">
                    <a:solidFill>
                      <a:srgbClr val="213C66"/>
                    </a:solidFill>
                  </a:tcPr>
                </a:tc>
                <a:tc>
                  <a:txBody>
                    <a:bodyPr/>
                    <a:lstStyle/>
                    <a:p>
                      <a:r>
                        <a:rPr sz="825" b="1">
                          <a:solidFill>
                            <a:srgbClr val="FFFFFF"/>
                          </a:solidFill>
                          <a:latin typeface="Arial"/>
                          <a:ea typeface="Arial"/>
                          <a:cs typeface="Arial"/>
                        </a:rPr>
                        <a:t>2021 sales / PSF</a:t>
                      </a:r>
                    </a:p>
                  </a:txBody>
                  <a:tcPr marL="47625" marR="47625" marT="19050" marB="19050" anchor="ctr">
                    <a:solidFill>
                      <a:srgbClr val="213C66"/>
                    </a:solidFill>
                  </a:tcPr>
                </a:tc>
              </a:tr>
              <a:tr h="166158">
                <a:tc>
                  <a:txBody>
                    <a:bodyPr/>
                    <a:lstStyle/>
                    <a:p>
                      <a:r>
                        <a:rPr sz="825" b="0">
                          <a:solidFill>
                            <a:srgbClr val="343D42"/>
                          </a:solidFill>
                          <a:latin typeface="Arial"/>
                          <a:ea typeface="Arial"/>
                          <a:cs typeface="Arial"/>
                        </a:rPr>
                        <a:t>Le’s Barber Shop</a:t>
                      </a:r>
                    </a:p>
                  </a:txBody>
                  <a:tcPr marL="47625" marR="47625" marT="19050" marB="19050" anchor="ctr">
                    <a:solidFill>
                      <a:srgbClr val="FFFFFF"/>
                    </a:solidFill>
                  </a:tcPr>
                </a:tc>
                <a:tc>
                  <a:txBody>
                    <a:bodyPr/>
                    <a:lstStyle/>
                    <a:p>
                      <a:r>
                        <a:rPr sz="825" b="0">
                          <a:solidFill>
                            <a:srgbClr val="343D42"/>
                          </a:solidFill>
                          <a:latin typeface="Arial"/>
                          <a:ea typeface="Arial"/>
                          <a:cs typeface="Arial"/>
                        </a:rPr>
                        <a:t>1,855</a:t>
                      </a:r>
                    </a:p>
                  </a:txBody>
                  <a:tcPr marL="47625" marR="47625" marT="19050" marB="19050" anchor="ctr">
                    <a:solidFill>
                      <a:srgbClr val="FFFFFF"/>
                    </a:solidFill>
                  </a:tcPr>
                </a:tc>
                <a:tc>
                  <a:txBody>
                    <a:bodyPr/>
                    <a:lstStyle/>
                    <a:p>
                      <a:r>
                        <a:rPr sz="825" b="0">
                          <a:solidFill>
                            <a:srgbClr val="343D42"/>
                          </a:solidFill>
                          <a:latin typeface="Arial"/>
                          <a:ea typeface="Arial"/>
                          <a:cs typeface="Arial"/>
                        </a:rPr>
                        <a:t>53.1%</a:t>
                      </a:r>
                    </a:p>
                  </a:txBody>
                  <a:tcPr marL="47625" marR="47625" marT="19050" marB="19050" anchor="ctr">
                    <a:solidFill>
                      <a:srgbClr val="FFFFFF"/>
                    </a:solidFill>
                  </a:tcPr>
                </a:tc>
                <a:tc>
                  <a:txBody>
                    <a:bodyPr/>
                    <a:lstStyle/>
                    <a:p>
                      <a:r>
                        <a:rPr sz="825" b="0">
                          <a:solidFill>
                            <a:srgbClr val="343D42"/>
                          </a:solidFill>
                          <a:latin typeface="Arial"/>
                          <a:ea typeface="Arial"/>
                          <a:cs typeface="Arial"/>
                        </a:rPr>
                        <a:t>$108,050 / $58</a:t>
                      </a:r>
                    </a:p>
                  </a:txBody>
                  <a:tcPr marL="47625" marR="47625" marT="19050" marB="19050" anchor="ctr">
                    <a:solidFill>
                      <a:srgbClr val="FFFFFF"/>
                    </a:solidFill>
                  </a:tcPr>
                </a:tc>
                <a:tc>
                  <a:txBody>
                    <a:bodyPr/>
                    <a:lstStyle/>
                    <a:p>
                      <a:r>
                        <a:rPr sz="825" b="0">
                          <a:solidFill>
                            <a:srgbClr val="343D42"/>
                          </a:solidFill>
                          <a:latin typeface="Arial"/>
                          <a:ea typeface="Arial"/>
                          <a:cs typeface="Arial"/>
                        </a:rPr>
                        <a:t>$111,250 / $60</a:t>
                      </a:r>
                    </a:p>
                  </a:txBody>
                  <a:tcPr marL="47625" marR="47625" marT="19050" marB="19050" anchor="ctr">
                    <a:solidFill>
                      <a:srgbClr val="FFFFFF"/>
                    </a:solidFill>
                  </a:tcPr>
                </a:tc>
                <a:tc>
                  <a:txBody>
                    <a:bodyPr/>
                    <a:lstStyle/>
                    <a:p>
                      <a:r>
                        <a:rPr sz="825" b="0">
                          <a:solidFill>
                            <a:srgbClr val="343D42"/>
                          </a:solidFill>
                          <a:latin typeface="Arial"/>
                          <a:ea typeface="Arial"/>
                          <a:cs typeface="Arial"/>
                        </a:rPr>
                        <a:t>$108,250 / $58</a:t>
                      </a:r>
                    </a:p>
                  </a:txBody>
                  <a:tcPr marL="47625" marR="47625" marT="19050" marB="19050" anchor="ctr">
                    <a:solidFill>
                      <a:srgbClr val="FFFFFF"/>
                    </a:solidFill>
                  </a:tcPr>
                </a:tc>
                <a:tc>
                  <a:txBody>
                    <a:bodyPr/>
                    <a:lstStyle/>
                    <a:p>
                      <a:r>
                        <a:rPr sz="825" b="0">
                          <a:solidFill>
                            <a:srgbClr val="343D42"/>
                          </a:solidFill>
                          <a:latin typeface="Arial"/>
                          <a:ea typeface="Arial"/>
                          <a:cs typeface="Arial"/>
                        </a:rPr>
                        <a:t>$135,050 / $73</a:t>
                      </a:r>
                    </a:p>
                  </a:txBody>
                  <a:tcPr marL="47625" marR="47625" marT="19050" marB="19050" anchor="ctr">
                    <a:solidFill>
                      <a:srgbClr val="FFFFFF"/>
                    </a:solidFill>
                  </a:tcPr>
                </a:tc>
              </a:tr>
              <a:tr h="166158">
                <a:tc>
                  <a:txBody>
                    <a:bodyPr/>
                    <a:lstStyle/>
                    <a:p>
                      <a:r>
                        <a:rPr sz="825" b="0">
                          <a:solidFill>
                            <a:srgbClr val="343D42"/>
                          </a:solidFill>
                          <a:latin typeface="Arial"/>
                          <a:ea typeface="Arial"/>
                          <a:cs typeface="Arial"/>
                        </a:rPr>
                        <a:t>Sonic Drive In (PAD)</a:t>
                      </a:r>
                    </a:p>
                  </a:txBody>
                  <a:tcPr marL="47625" marR="47625" marT="19050" marB="19050" anchor="ctr">
                    <a:solidFill>
                      <a:srgbClr val="F3F5F6"/>
                    </a:solidFill>
                  </a:tcPr>
                </a:tc>
                <a:tc>
                  <a:txBody>
                    <a:bodyPr/>
                    <a:lstStyle/>
                    <a:p>
                      <a:r>
                        <a:rPr sz="825" b="0">
                          <a:solidFill>
                            <a:srgbClr val="343D42"/>
                          </a:solidFill>
                          <a:latin typeface="Arial"/>
                          <a:ea typeface="Arial"/>
                          <a:cs typeface="Arial"/>
                        </a:rPr>
                        <a:t>2,290</a:t>
                      </a:r>
                    </a:p>
                  </a:txBody>
                  <a:tcPr marL="47625" marR="47625" marT="19050" marB="19050" anchor="ctr">
                    <a:solidFill>
                      <a:srgbClr val="F3F5F6"/>
                    </a:solidFill>
                  </a:tcPr>
                </a:tc>
                <a:tc>
                  <a:txBody>
                    <a:bodyPr/>
                    <a:lstStyle/>
                    <a:p>
                      <a:r>
                        <a:rPr sz="825" b="0">
                          <a:solidFill>
                            <a:srgbClr val="343D42"/>
                          </a:solidFill>
                          <a:latin typeface="Arial"/>
                          <a:ea typeface="Arial"/>
                          <a:cs typeface="Arial"/>
                        </a:rPr>
                        <a:t>6.9%</a:t>
                      </a:r>
                    </a:p>
                  </a:txBody>
                  <a:tcPr marL="47625" marR="47625" marT="19050" marB="19050" anchor="ctr">
                    <a:solidFill>
                      <a:srgbClr val="F3F5F6"/>
                    </a:solidFill>
                  </a:tcPr>
                </a:tc>
                <a:tc>
                  <a:txBody>
                    <a:bodyPr/>
                    <a:lstStyle/>
                    <a:p>
                      <a:r>
                        <a:rPr sz="825" b="0">
                          <a:solidFill>
                            <a:srgbClr val="343D42"/>
                          </a:solidFill>
                          <a:latin typeface="Arial"/>
                          <a:ea typeface="Arial"/>
                          <a:cs typeface="Arial"/>
                        </a:rPr>
                        <a:t>$937,454 / $409</a:t>
                      </a:r>
                    </a:p>
                  </a:txBody>
                  <a:tcPr marL="47625" marR="47625" marT="19050" marB="19050" anchor="ctr">
                    <a:solidFill>
                      <a:srgbClr val="F3F5F6"/>
                    </a:solidFill>
                  </a:tcPr>
                </a:tc>
                <a:tc>
                  <a:txBody>
                    <a:bodyPr/>
                    <a:lstStyle/>
                    <a:p>
                      <a:r>
                        <a:rPr sz="825" b="0">
                          <a:solidFill>
                            <a:srgbClr val="343D42"/>
                          </a:solidFill>
                          <a:latin typeface="Arial"/>
                          <a:ea typeface="Arial"/>
                          <a:cs typeface="Arial"/>
                        </a:rPr>
                        <a:t>$791,367 / $346</a:t>
                      </a:r>
                    </a:p>
                  </a:txBody>
                  <a:tcPr marL="47625" marR="47625" marT="19050" marB="19050" anchor="ctr">
                    <a:solidFill>
                      <a:srgbClr val="F3F5F6"/>
                    </a:solidFill>
                  </a:tcPr>
                </a:tc>
                <a:tc>
                  <a:txBody>
                    <a:bodyPr/>
                    <a:lstStyle/>
                    <a:p>
                      <a:r>
                        <a:rPr sz="825" b="0">
                          <a:solidFill>
                            <a:srgbClr val="343D42"/>
                          </a:solidFill>
                          <a:latin typeface="Arial"/>
                          <a:ea typeface="Arial"/>
                          <a:cs typeface="Arial"/>
                        </a:rPr>
                        <a:t>$990,357 / $432</a:t>
                      </a:r>
                    </a:p>
                  </a:txBody>
                  <a:tcPr marL="47625" marR="47625" marT="19050" marB="19050" anchor="ctr">
                    <a:solidFill>
                      <a:srgbClr val="F3F5F6"/>
                    </a:solidFill>
                  </a:tcPr>
                </a:tc>
                <a:tc>
                  <a:txBody>
                    <a:bodyPr/>
                    <a:lstStyle/>
                    <a:p>
                      <a:r>
                        <a:rPr sz="825" b="0">
                          <a:solidFill>
                            <a:srgbClr val="343D42"/>
                          </a:solidFill>
                          <a:latin typeface="Arial"/>
                          <a:ea typeface="Arial"/>
                          <a:cs typeface="Arial"/>
                        </a:rPr>
                        <a:t>$1,241,053 / $542</a:t>
                      </a:r>
                    </a:p>
                  </a:txBody>
                  <a:tcPr marL="47625" marR="47625" marT="19050" marB="19050" anchor="ctr">
                    <a:solidFill>
                      <a:srgbClr val="F3F5F6"/>
                    </a:solidFill>
                  </a:tcPr>
                </a:tc>
              </a:tr>
              <a:tr h="166158">
                <a:tc>
                  <a:txBody>
                    <a:bodyPr/>
                    <a:lstStyle/>
                    <a:p>
                      <a:r>
                        <a:rPr sz="825" b="0">
                          <a:solidFill>
                            <a:srgbClr val="343D42"/>
                          </a:solidFill>
                          <a:latin typeface="Arial"/>
                          <a:ea typeface="Arial"/>
                          <a:cs typeface="Arial"/>
                        </a:rPr>
                        <a:t>Popeyes Chicken (PAD)</a:t>
                      </a:r>
                    </a:p>
                  </a:txBody>
                  <a:tcPr marL="47625" marR="47625" marT="19050" marB="19050" anchor="ctr">
                    <a:solidFill>
                      <a:srgbClr val="FFFFFF"/>
                    </a:solidFill>
                  </a:tcPr>
                </a:tc>
                <a:tc>
                  <a:txBody>
                    <a:bodyPr/>
                    <a:lstStyle/>
                    <a:p>
                      <a:r>
                        <a:rPr sz="825" b="0">
                          <a:solidFill>
                            <a:srgbClr val="343D42"/>
                          </a:solidFill>
                          <a:latin typeface="Arial"/>
                          <a:ea typeface="Arial"/>
                          <a:cs typeface="Arial"/>
                        </a:rPr>
                        <a:t>5,291</a:t>
                      </a:r>
                    </a:p>
                  </a:txBody>
                  <a:tcPr marL="47625" marR="47625" marT="19050" marB="19050" anchor="ctr">
                    <a:solidFill>
                      <a:srgbClr val="FFFFFF"/>
                    </a:solidFill>
                  </a:tcPr>
                </a:tc>
                <a:tc>
                  <a:txBody>
                    <a:bodyPr/>
                    <a:lstStyle/>
                    <a:p>
                      <a:r>
                        <a:rPr sz="825" b="0">
                          <a:solidFill>
                            <a:srgbClr val="343D42"/>
                          </a:solidFill>
                          <a:latin typeface="Arial"/>
                          <a:ea typeface="Arial"/>
                          <a:cs typeface="Arial"/>
                        </a:rPr>
                        <a:t>4.2%</a:t>
                      </a:r>
                    </a:p>
                  </a:txBody>
                  <a:tcPr marL="47625" marR="47625" marT="19050" marB="19050" anchor="ctr">
                    <a:solidFill>
                      <a:srgbClr val="FFFFFF"/>
                    </a:solidFill>
                  </a:tcPr>
                </a:tc>
                <a:tc>
                  <a:txBody>
                    <a:bodyPr/>
                    <a:lstStyle/>
                    <a:p>
                      <a:r>
                        <a:rPr sz="825" b="0">
                          <a:solidFill>
                            <a:srgbClr val="343D42"/>
                          </a:solidFill>
                          <a:latin typeface="Arial"/>
                          <a:ea typeface="Arial"/>
                          <a:cs typeface="Arial"/>
                        </a:rPr>
                        <a:t>$2,827,287 / $534</a:t>
                      </a:r>
                    </a:p>
                  </a:txBody>
                  <a:tcPr marL="47625" marR="47625" marT="19050" marB="19050" anchor="ctr">
                    <a:solidFill>
                      <a:srgbClr val="FFFFFF"/>
                    </a:solidFill>
                  </a:tcPr>
                </a:tc>
                <a:tc>
                  <a:txBody>
                    <a:bodyPr/>
                    <a:lstStyle/>
                    <a:p>
                      <a:r>
                        <a:rPr sz="825" b="0">
                          <a:solidFill>
                            <a:srgbClr val="343D42"/>
                          </a:solidFill>
                          <a:latin typeface="Arial"/>
                          <a:ea typeface="Arial"/>
                          <a:cs typeface="Arial"/>
                        </a:rPr>
                        <a:t>$2,545,015 / $481</a:t>
                      </a:r>
                    </a:p>
                  </a:txBody>
                  <a:tcPr marL="47625" marR="47625" marT="19050" marB="19050" anchor="ctr">
                    <a:solidFill>
                      <a:srgbClr val="FFFFFF"/>
                    </a:solidFill>
                  </a:tcPr>
                </a:tc>
                <a:tc>
                  <a:txBody>
                    <a:bodyPr/>
                    <a:lstStyle/>
                    <a:p>
                      <a:r>
                        <a:rPr sz="825" b="0">
                          <a:solidFill>
                            <a:srgbClr val="343D42"/>
                          </a:solidFill>
                          <a:latin typeface="Arial"/>
                          <a:ea typeface="Arial"/>
                          <a:cs typeface="Arial"/>
                        </a:rPr>
                        <a:t>$2,757,635 / $521</a:t>
                      </a:r>
                    </a:p>
                  </a:txBody>
                  <a:tcPr marL="47625" marR="47625" marT="19050" marB="19050" anchor="ctr">
                    <a:solidFill>
                      <a:srgbClr val="FFFFFF"/>
                    </a:solidFill>
                  </a:tcPr>
                </a:tc>
                <a:tc>
                  <a:txBody>
                    <a:bodyPr/>
                    <a:lstStyle/>
                    <a:p>
                      <a:r>
                        <a:rPr sz="825" b="0">
                          <a:solidFill>
                            <a:srgbClr val="343D42"/>
                          </a:solidFill>
                          <a:latin typeface="Arial"/>
                          <a:ea typeface="Arial"/>
                          <a:cs typeface="Arial"/>
                        </a:rPr>
                        <a:t>$2,929,231 / $554</a:t>
                      </a:r>
                    </a:p>
                  </a:txBody>
                  <a:tcPr marL="47625" marR="47625" marT="19050" marB="19050" anchor="ctr">
                    <a:solidFill>
                      <a:srgbClr val="FFFFFF"/>
                    </a:solidFill>
                  </a:tcPr>
                </a:tc>
              </a:tr>
              <a:tr h="166158">
                <a:tc>
                  <a:txBody>
                    <a:bodyPr/>
                    <a:lstStyle/>
                    <a:p>
                      <a:r>
                        <a:rPr sz="825" b="0">
                          <a:solidFill>
                            <a:srgbClr val="343D42"/>
                          </a:solidFill>
                          <a:latin typeface="Arial"/>
                          <a:ea typeface="Arial"/>
                          <a:cs typeface="Arial"/>
                        </a:rPr>
                        <a:t>Nails One</a:t>
                      </a:r>
                    </a:p>
                  </a:txBody>
                  <a:tcPr marL="47625" marR="47625" marT="19050" marB="19050" anchor="ctr">
                    <a:solidFill>
                      <a:srgbClr val="F3F5F6"/>
                    </a:solidFill>
                  </a:tcPr>
                </a:tc>
                <a:tc>
                  <a:txBody>
                    <a:bodyPr/>
                    <a:lstStyle/>
                    <a:p>
                      <a:r>
                        <a:rPr sz="825" b="0">
                          <a:solidFill>
                            <a:srgbClr val="343D42"/>
                          </a:solidFill>
                          <a:latin typeface="Arial"/>
                          <a:ea typeface="Arial"/>
                          <a:cs typeface="Arial"/>
                        </a:rPr>
                        <a:t>1,200</a:t>
                      </a:r>
                    </a:p>
                  </a:txBody>
                  <a:tcPr marL="47625" marR="47625" marT="19050" marB="19050" anchor="ctr">
                    <a:solidFill>
                      <a:srgbClr val="F3F5F6"/>
                    </a:solidFill>
                  </a:tcPr>
                </a:tc>
                <a:tc>
                  <a:txBody>
                    <a:bodyPr/>
                    <a:lstStyle/>
                    <a:p>
                      <a:r>
                        <a:rPr sz="825" b="0">
                          <a:solidFill>
                            <a:srgbClr val="343D42"/>
                          </a:solidFill>
                          <a:latin typeface="Arial"/>
                          <a:ea typeface="Arial"/>
                          <a:cs typeface="Arial"/>
                        </a:rPr>
                        <a:t>27.8%</a:t>
                      </a:r>
                    </a:p>
                  </a:txBody>
                  <a:tcPr marL="47625" marR="47625" marT="19050" marB="19050" anchor="ctr">
                    <a:solidFill>
                      <a:srgbClr val="F3F5F6"/>
                    </a:solidFill>
                  </a:tcPr>
                </a:tc>
                <a:tc>
                  <a:txBody>
                    <a:bodyPr/>
                    <a:lstStyle/>
                    <a:p>
                      <a:r>
                        <a:rPr sz="825" b="0">
                          <a:solidFill>
                            <a:srgbClr val="343D42"/>
                          </a:solidFill>
                          <a:latin typeface="Arial"/>
                          <a:ea typeface="Arial"/>
                          <a:cs typeface="Arial"/>
                        </a:rPr>
                        <a:t>$189,663 / $158</a:t>
                      </a:r>
                    </a:p>
                  </a:txBody>
                  <a:tcPr marL="47625" marR="47625" marT="19050" marB="19050" anchor="ctr">
                    <a:solidFill>
                      <a:srgbClr val="F3F5F6"/>
                    </a:solidFill>
                  </a:tcPr>
                </a:tc>
                <a:tc>
                  <a:txBody>
                    <a:bodyPr/>
                    <a:lstStyle/>
                    <a:p>
                      <a:r>
                        <a:rPr sz="825" b="0">
                          <a:solidFill>
                            <a:srgbClr val="343D42"/>
                          </a:solidFill>
                          <a:latin typeface="Arial"/>
                          <a:ea typeface="Arial"/>
                          <a:cs typeface="Arial"/>
                        </a:rPr>
                        <a:t>$180,970 / $151</a:t>
                      </a:r>
                    </a:p>
                  </a:txBody>
                  <a:tcPr marL="47625" marR="47625" marT="19050" marB="19050" anchor="ctr">
                    <a:solidFill>
                      <a:srgbClr val="F3F5F6"/>
                    </a:solidFill>
                  </a:tcPr>
                </a:tc>
                <a:tc>
                  <a:txBody>
                    <a:bodyPr/>
                    <a:lstStyle/>
                    <a:p>
                      <a:r>
                        <a:rPr sz="825" b="0">
                          <a:solidFill>
                            <a:srgbClr val="343D42"/>
                          </a:solidFill>
                          <a:latin typeface="Arial"/>
                          <a:ea typeface="Arial"/>
                          <a:cs typeface="Arial"/>
                        </a:rPr>
                        <a:t>$159,084 / $133</a:t>
                      </a:r>
                    </a:p>
                  </a:txBody>
                  <a:tcPr marL="47625" marR="47625" marT="19050" marB="19050" anchor="ctr">
                    <a:solidFill>
                      <a:srgbClr val="F3F5F6"/>
                    </a:solidFill>
                  </a:tcPr>
                </a:tc>
                <a:tc>
                  <a:txBody>
                    <a:bodyPr/>
                    <a:lstStyle/>
                    <a:p>
                      <a:r>
                        <a:rPr sz="825" b="0">
                          <a:solidFill>
                            <a:srgbClr val="343D42"/>
                          </a:solidFill>
                          <a:latin typeface="Arial"/>
                          <a:ea typeface="Arial"/>
                          <a:cs typeface="Arial"/>
                        </a:rPr>
                        <a:t>$192,660 / $161</a:t>
                      </a:r>
                    </a:p>
                  </a:txBody>
                  <a:tcPr marL="47625" marR="47625" marT="19050" marB="19050" anchor="ctr">
                    <a:solidFill>
                      <a:srgbClr val="F3F5F6"/>
                    </a:solidFill>
                  </a:tcPr>
                </a:tc>
              </a:tr>
              <a:tr h="166158">
                <a:tc>
                  <a:txBody>
                    <a:bodyPr/>
                    <a:lstStyle/>
                    <a:p>
                      <a:r>
                        <a:rPr sz="825" b="0">
                          <a:solidFill>
                            <a:srgbClr val="343D42"/>
                          </a:solidFill>
                          <a:latin typeface="Arial"/>
                          <a:ea typeface="Arial"/>
                          <a:cs typeface="Arial"/>
                        </a:rPr>
                        <a:t>CBI of MD Laundromat</a:t>
                      </a:r>
                    </a:p>
                  </a:txBody>
                  <a:tcPr marL="47625" marR="47625" marT="19050" marB="19050" anchor="ctr">
                    <a:solidFill>
                      <a:srgbClr val="FFFFFF"/>
                    </a:solidFill>
                  </a:tcPr>
                </a:tc>
                <a:tc>
                  <a:txBody>
                    <a:bodyPr/>
                    <a:lstStyle/>
                    <a:p>
                      <a:r>
                        <a:rPr sz="825" b="0">
                          <a:solidFill>
                            <a:srgbClr val="343D42"/>
                          </a:solidFill>
                          <a:latin typeface="Arial"/>
                          <a:ea typeface="Arial"/>
                          <a:cs typeface="Arial"/>
                        </a:rPr>
                        <a:t>3,600</a:t>
                      </a:r>
                    </a:p>
                  </a:txBody>
                  <a:tcPr marL="47625" marR="47625" marT="19050" marB="19050" anchor="ctr">
                    <a:solidFill>
                      <a:srgbClr val="FFFFFF"/>
                    </a:solidFill>
                  </a:tcPr>
                </a:tc>
                <a:tc>
                  <a:txBody>
                    <a:bodyPr/>
                    <a:lstStyle/>
                    <a:p>
                      <a:r>
                        <a:rPr sz="825" b="0">
                          <a:solidFill>
                            <a:srgbClr val="343D42"/>
                          </a:solidFill>
                          <a:latin typeface="Arial"/>
                          <a:ea typeface="Arial"/>
                          <a:cs typeface="Arial"/>
                        </a:rPr>
                        <a:t>41.3%</a:t>
                      </a:r>
                    </a:p>
                  </a:txBody>
                  <a:tcPr marL="47625" marR="47625" marT="19050" marB="19050" anchor="ctr">
                    <a:solidFill>
                      <a:srgbClr val="FFFFFF"/>
                    </a:solidFill>
                  </a:tcPr>
                </a:tc>
                <a:tc>
                  <a:txBody>
                    <a:bodyPr/>
                    <a:lstStyle/>
                    <a:p>
                      <a:r>
                        <a:rPr sz="825" b="0">
                          <a:solidFill>
                            <a:srgbClr val="343D42"/>
                          </a:solidFill>
                          <a:latin typeface="Arial"/>
                          <a:ea typeface="Arial"/>
                          <a:cs typeface="Arial"/>
                        </a:rPr>
                        <a:t>–</a:t>
                      </a:r>
                    </a:p>
                  </a:txBody>
                  <a:tcPr marL="47625" marR="47625" marT="19050" marB="19050" anchor="ctr">
                    <a:solidFill>
                      <a:srgbClr val="FFFFFF"/>
                    </a:solidFill>
                  </a:tcPr>
                </a:tc>
                <a:tc>
                  <a:txBody>
                    <a:bodyPr/>
                    <a:lstStyle/>
                    <a:p>
                      <a:r>
                        <a:rPr sz="825" b="0">
                          <a:solidFill>
                            <a:srgbClr val="343D42"/>
                          </a:solidFill>
                          <a:latin typeface="Arial"/>
                          <a:ea typeface="Arial"/>
                          <a:cs typeface="Arial"/>
                        </a:rPr>
                        <a:t>–</a:t>
                      </a:r>
                    </a:p>
                  </a:txBody>
                  <a:tcPr marL="47625" marR="47625" marT="19050" marB="19050" anchor="ctr">
                    <a:solidFill>
                      <a:srgbClr val="FFFFFF"/>
                    </a:solidFill>
                  </a:tcPr>
                </a:tc>
                <a:tc>
                  <a:txBody>
                    <a:bodyPr/>
                    <a:lstStyle/>
                    <a:p>
                      <a:r>
                        <a:rPr sz="825" b="0">
                          <a:solidFill>
                            <a:srgbClr val="343D42"/>
                          </a:solidFill>
                          <a:latin typeface="Arial"/>
                          <a:ea typeface="Arial"/>
                          <a:cs typeface="Arial"/>
                        </a:rPr>
                        <a:t>$261,044 / $73</a:t>
                      </a:r>
                    </a:p>
                  </a:txBody>
                  <a:tcPr marL="47625" marR="47625" marT="19050" marB="19050" anchor="ctr">
                    <a:solidFill>
                      <a:srgbClr val="FFFFFF"/>
                    </a:solidFill>
                  </a:tcPr>
                </a:tc>
                <a:tc>
                  <a:txBody>
                    <a:bodyPr/>
                    <a:lstStyle/>
                    <a:p>
                      <a:r>
                        <a:rPr sz="825" b="0">
                          <a:solidFill>
                            <a:srgbClr val="343D42"/>
                          </a:solidFill>
                          <a:latin typeface="Arial"/>
                          <a:ea typeface="Arial"/>
                          <a:cs typeface="Arial"/>
                        </a:rPr>
                        <a:t>$248,463 / $69</a:t>
                      </a:r>
                    </a:p>
                  </a:txBody>
                  <a:tcPr marL="47625" marR="47625" marT="19050" marB="19050" anchor="ctr">
                    <a:solidFill>
                      <a:srgbClr val="FFFFFF"/>
                    </a:solidFill>
                  </a:tcPr>
                </a:tc>
              </a:tr>
              <a:tr h="166158">
                <a:tc>
                  <a:txBody>
                    <a:bodyPr/>
                    <a:lstStyle/>
                    <a:p>
                      <a:r>
                        <a:rPr sz="825" b="0">
                          <a:solidFill>
                            <a:srgbClr val="343D42"/>
                          </a:solidFill>
                          <a:latin typeface="Arial"/>
                          <a:ea typeface="Arial"/>
                          <a:cs typeface="Arial"/>
                        </a:rPr>
                        <a:t>Cash Depot</a:t>
                      </a:r>
                    </a:p>
                  </a:txBody>
                  <a:tcPr marL="47625" marR="47625" marT="19050" marB="19050" anchor="ctr">
                    <a:solidFill>
                      <a:srgbClr val="F3F5F6"/>
                    </a:solidFill>
                  </a:tcPr>
                </a:tc>
                <a:tc>
                  <a:txBody>
                    <a:bodyPr/>
                    <a:lstStyle/>
                    <a:p>
                      <a:r>
                        <a:rPr sz="825" b="0">
                          <a:solidFill>
                            <a:srgbClr val="343D42"/>
                          </a:solidFill>
                          <a:latin typeface="Arial"/>
                          <a:ea typeface="Arial"/>
                          <a:cs typeface="Arial"/>
                        </a:rPr>
                        <a:t>1,500</a:t>
                      </a:r>
                    </a:p>
                  </a:txBody>
                  <a:tcPr marL="47625" marR="47625" marT="19050" marB="19050" anchor="ctr">
                    <a:solidFill>
                      <a:srgbClr val="F3F5F6"/>
                    </a:solidFill>
                  </a:tcPr>
                </a:tc>
                <a:tc>
                  <a:txBody>
                    <a:bodyPr/>
                    <a:lstStyle/>
                    <a:p>
                      <a:r>
                        <a:rPr sz="825" b="0">
                          <a:solidFill>
                            <a:srgbClr val="343D42"/>
                          </a:solidFill>
                          <a:latin typeface="Arial"/>
                          <a:ea typeface="Arial"/>
                          <a:cs typeface="Arial"/>
                        </a:rPr>
                        <a:t>13.4%</a:t>
                      </a:r>
                    </a:p>
                  </a:txBody>
                  <a:tcPr marL="47625" marR="47625" marT="19050" marB="19050" anchor="ctr">
                    <a:solidFill>
                      <a:srgbClr val="F3F5F6"/>
                    </a:solidFill>
                  </a:tcPr>
                </a:tc>
                <a:tc>
                  <a:txBody>
                    <a:bodyPr/>
                    <a:lstStyle/>
                    <a:p>
                      <a:r>
                        <a:rPr sz="825" b="0">
                          <a:solidFill>
                            <a:srgbClr val="343D42"/>
                          </a:solidFill>
                          <a:latin typeface="Arial"/>
                          <a:ea typeface="Arial"/>
                          <a:cs typeface="Arial"/>
                        </a:rPr>
                        <a:t>–</a:t>
                      </a:r>
                    </a:p>
                  </a:txBody>
                  <a:tcPr marL="47625" marR="47625" marT="19050" marB="19050" anchor="ctr">
                    <a:solidFill>
                      <a:srgbClr val="F3F5F6"/>
                    </a:solidFill>
                  </a:tcPr>
                </a:tc>
                <a:tc>
                  <a:txBody>
                    <a:bodyPr/>
                    <a:lstStyle/>
                    <a:p>
                      <a:r>
                        <a:rPr sz="825" b="0">
                          <a:solidFill>
                            <a:srgbClr val="343D42"/>
                          </a:solidFill>
                          <a:latin typeface="Arial"/>
                          <a:ea typeface="Arial"/>
                          <a:cs typeface="Arial"/>
                        </a:rPr>
                        <a:t>–</a:t>
                      </a:r>
                    </a:p>
                  </a:txBody>
                  <a:tcPr marL="47625" marR="47625" marT="19050" marB="19050" anchor="ctr">
                    <a:solidFill>
                      <a:srgbClr val="F3F5F6"/>
                    </a:solidFill>
                  </a:tcPr>
                </a:tc>
                <a:tc>
                  <a:txBody>
                    <a:bodyPr/>
                    <a:lstStyle/>
                    <a:p>
                      <a:r>
                        <a:rPr sz="825" b="0">
                          <a:solidFill>
                            <a:srgbClr val="343D42"/>
                          </a:solidFill>
                          <a:latin typeface="Arial"/>
                          <a:ea typeface="Arial"/>
                          <a:cs typeface="Arial"/>
                        </a:rPr>
                        <a:t>$302,149 / $201</a:t>
                      </a:r>
                    </a:p>
                  </a:txBody>
                  <a:tcPr marL="47625" marR="47625" marT="19050" marB="19050" anchor="ctr">
                    <a:solidFill>
                      <a:srgbClr val="F3F5F6"/>
                    </a:solidFill>
                  </a:tcPr>
                </a:tc>
                <a:tc>
                  <a:txBody>
                    <a:bodyPr/>
                    <a:lstStyle/>
                    <a:p>
                      <a:r>
                        <a:rPr sz="825" b="0">
                          <a:solidFill>
                            <a:srgbClr val="343D42"/>
                          </a:solidFill>
                          <a:latin typeface="Arial"/>
                          <a:ea typeface="Arial"/>
                          <a:cs typeface="Arial"/>
                        </a:rPr>
                        <a:t>$280,844 / $187</a:t>
                      </a:r>
                    </a:p>
                  </a:txBody>
                  <a:tcPr marL="47625" marR="47625" marT="19050" marB="19050" anchor="ctr">
                    <a:solidFill>
                      <a:srgbClr val="F3F5F6"/>
                    </a:solidFill>
                  </a:tcPr>
                </a:tc>
              </a:tr>
              <a:tr h="166158">
                <a:tc>
                  <a:txBody>
                    <a:bodyPr/>
                    <a:lstStyle/>
                    <a:p>
                      <a:r>
                        <a:rPr sz="825" b="0">
                          <a:solidFill>
                            <a:srgbClr val="343D42"/>
                          </a:solidFill>
                          <a:latin typeface="Arial"/>
                          <a:ea typeface="Arial"/>
                          <a:cs typeface="Arial"/>
                        </a:rPr>
                        <a:t>LA Mart</a:t>
                      </a:r>
                    </a:p>
                  </a:txBody>
                  <a:tcPr marL="47625" marR="47625" marT="19050" marB="19050" anchor="ctr">
                    <a:solidFill>
                      <a:srgbClr val="FFFFFF"/>
                    </a:solidFill>
                  </a:tcPr>
                </a:tc>
                <a:tc>
                  <a:txBody>
                    <a:bodyPr/>
                    <a:lstStyle/>
                    <a:p>
                      <a:r>
                        <a:rPr sz="825" b="0">
                          <a:solidFill>
                            <a:srgbClr val="343D42"/>
                          </a:solidFill>
                          <a:latin typeface="Arial"/>
                          <a:ea typeface="Arial"/>
                          <a:cs typeface="Arial"/>
                        </a:rPr>
                        <a:t>30,030</a:t>
                      </a:r>
                    </a:p>
                  </a:txBody>
                  <a:tcPr marL="47625" marR="47625" marT="19050" marB="19050" anchor="ctr">
                    <a:solidFill>
                      <a:srgbClr val="FFFFFF"/>
                    </a:solidFill>
                  </a:tcPr>
                </a:tc>
                <a:tc>
                  <a:txBody>
                    <a:bodyPr/>
                    <a:lstStyle/>
                    <a:p>
                      <a:r>
                        <a:rPr sz="825" b="0">
                          <a:solidFill>
                            <a:srgbClr val="343D42"/>
                          </a:solidFill>
                          <a:latin typeface="Arial"/>
                          <a:ea typeface="Arial"/>
                          <a:cs typeface="Arial"/>
                        </a:rPr>
                        <a:t>3.1%</a:t>
                      </a:r>
                    </a:p>
                  </a:txBody>
                  <a:tcPr marL="47625" marR="47625" marT="19050" marB="19050" anchor="ctr">
                    <a:solidFill>
                      <a:srgbClr val="FFFFFF"/>
                    </a:solidFill>
                  </a:tcPr>
                </a:tc>
                <a:tc>
                  <a:txBody>
                    <a:bodyPr/>
                    <a:lstStyle/>
                    <a:p>
                      <a:r>
                        <a:rPr sz="825" b="0">
                          <a:solidFill>
                            <a:srgbClr val="343D42"/>
                          </a:solidFill>
                          <a:latin typeface="Arial"/>
                          <a:ea typeface="Arial"/>
                          <a:cs typeface="Arial"/>
                        </a:rPr>
                        <a:t>$17,912,152 / $596</a:t>
                      </a:r>
                    </a:p>
                  </a:txBody>
                  <a:tcPr marL="47625" marR="47625" marT="19050" marB="19050" anchor="ctr">
                    <a:solidFill>
                      <a:srgbClr val="FFFFFF"/>
                    </a:solidFill>
                  </a:tcPr>
                </a:tc>
                <a:tc>
                  <a:txBody>
                    <a:bodyPr/>
                    <a:lstStyle/>
                    <a:p>
                      <a:r>
                        <a:rPr sz="825" b="0">
                          <a:solidFill>
                            <a:srgbClr val="343D42"/>
                          </a:solidFill>
                          <a:latin typeface="Arial"/>
                          <a:ea typeface="Arial"/>
                          <a:cs typeface="Arial"/>
                        </a:rPr>
                        <a:t>$17,793,955 / $593</a:t>
                      </a:r>
                    </a:p>
                  </a:txBody>
                  <a:tcPr marL="47625" marR="47625" marT="19050" marB="19050" anchor="ctr">
                    <a:solidFill>
                      <a:srgbClr val="FFFFFF"/>
                    </a:solidFill>
                  </a:tcPr>
                </a:tc>
                <a:tc>
                  <a:txBody>
                    <a:bodyPr/>
                    <a:lstStyle/>
                    <a:p>
                      <a:r>
                        <a:rPr sz="825" b="0">
                          <a:solidFill>
                            <a:srgbClr val="343D42"/>
                          </a:solidFill>
                          <a:latin typeface="Arial"/>
                          <a:ea typeface="Arial"/>
                          <a:cs typeface="Arial"/>
                        </a:rPr>
                        <a:t>$18,054,127 / $601</a:t>
                      </a:r>
                    </a:p>
                  </a:txBody>
                  <a:tcPr marL="47625" marR="47625" marT="19050" marB="19050" anchor="ctr">
                    <a:solidFill>
                      <a:srgbClr val="FFFFFF"/>
                    </a:solidFill>
                  </a:tcPr>
                </a:tc>
                <a:tc>
                  <a:txBody>
                    <a:bodyPr/>
                    <a:lstStyle/>
                    <a:p>
                      <a:r>
                        <a:rPr sz="825" b="0">
                          <a:solidFill>
                            <a:srgbClr val="343D42"/>
                          </a:solidFill>
                          <a:latin typeface="Arial"/>
                          <a:ea typeface="Arial"/>
                          <a:cs typeface="Arial"/>
                        </a:rPr>
                        <a:t>$18,836,829 / $627</a:t>
                      </a:r>
                    </a:p>
                  </a:txBody>
                  <a:tcPr marL="47625" marR="47625" marT="19050" marB="19050" anchor="ctr">
                    <a:solidFill>
                      <a:srgbClr val="FFFFFF"/>
                    </a:solidFill>
                  </a:tcPr>
                </a:tc>
              </a:tr>
              <a:tr h="166158">
                <a:tc>
                  <a:txBody>
                    <a:bodyPr/>
                    <a:lstStyle/>
                    <a:p>
                      <a:r>
                        <a:rPr sz="825" b="0">
                          <a:solidFill>
                            <a:srgbClr val="343D42"/>
                          </a:solidFill>
                          <a:latin typeface="Arial"/>
                          <a:ea typeface="Arial"/>
                          <a:cs typeface="Arial"/>
                        </a:rPr>
                        <a:t>Planet Fitness</a:t>
                      </a:r>
                    </a:p>
                  </a:txBody>
                  <a:tcPr marL="47625" marR="47625" marT="19050" marB="19050" anchor="ctr">
                    <a:solidFill>
                      <a:srgbClr val="F3F5F6"/>
                    </a:solidFill>
                  </a:tcPr>
                </a:tc>
                <a:tc>
                  <a:txBody>
                    <a:bodyPr/>
                    <a:lstStyle/>
                    <a:p>
                      <a:r>
                        <a:rPr sz="825" b="0">
                          <a:solidFill>
                            <a:srgbClr val="343D42"/>
                          </a:solidFill>
                          <a:latin typeface="Arial"/>
                          <a:ea typeface="Arial"/>
                          <a:cs typeface="Arial"/>
                        </a:rPr>
                        <a:t>15,118</a:t>
                      </a:r>
                    </a:p>
                  </a:txBody>
                  <a:tcPr marL="47625" marR="47625" marT="19050" marB="19050" anchor="ctr">
                    <a:solidFill>
                      <a:srgbClr val="F3F5F6"/>
                    </a:solidFill>
                  </a:tcPr>
                </a:tc>
                <a:tc>
                  <a:txBody>
                    <a:bodyPr/>
                    <a:lstStyle/>
                    <a:p>
                      <a:r>
                        <a:rPr sz="825" b="0">
                          <a:solidFill>
                            <a:srgbClr val="343D42"/>
                          </a:solidFill>
                          <a:latin typeface="Arial"/>
                          <a:ea typeface="Arial"/>
                          <a:cs typeface="Arial"/>
                        </a:rPr>
                        <a:t>38.8%</a:t>
                      </a:r>
                    </a:p>
                  </a:txBody>
                  <a:tcPr marL="47625" marR="47625" marT="19050" marB="19050" anchor="ctr">
                    <a:solidFill>
                      <a:srgbClr val="F3F5F6"/>
                    </a:solidFill>
                  </a:tcPr>
                </a:tc>
                <a:tc>
                  <a:txBody>
                    <a:bodyPr/>
                    <a:lstStyle/>
                    <a:p>
                      <a:r>
                        <a:rPr sz="825" b="0">
                          <a:solidFill>
                            <a:srgbClr val="343D42"/>
                          </a:solidFill>
                          <a:latin typeface="Arial"/>
                          <a:ea typeface="Arial"/>
                          <a:cs typeface="Arial"/>
                        </a:rPr>
                        <a:t>–</a:t>
                      </a:r>
                    </a:p>
                  </a:txBody>
                  <a:tcPr marL="47625" marR="47625" marT="19050" marB="19050" anchor="ctr">
                    <a:solidFill>
                      <a:srgbClr val="F3F5F6"/>
                    </a:solidFill>
                  </a:tcPr>
                </a:tc>
                <a:tc>
                  <a:txBody>
                    <a:bodyPr/>
                    <a:lstStyle/>
                    <a:p>
                      <a:r>
                        <a:rPr sz="825" b="0">
                          <a:solidFill>
                            <a:srgbClr val="343D42"/>
                          </a:solidFill>
                          <a:latin typeface="Arial"/>
                          <a:ea typeface="Arial"/>
                          <a:cs typeface="Arial"/>
                        </a:rPr>
                        <a:t>$750,041 / $50</a:t>
                      </a:r>
                    </a:p>
                  </a:txBody>
                  <a:tcPr marL="47625" marR="47625" marT="19050" marB="19050" anchor="ctr">
                    <a:solidFill>
                      <a:srgbClr val="F3F5F6"/>
                    </a:solidFill>
                  </a:tcPr>
                </a:tc>
                <a:tc>
                  <a:txBody>
                    <a:bodyPr/>
                    <a:lstStyle/>
                    <a:p>
                      <a:r>
                        <a:rPr sz="825" b="0">
                          <a:solidFill>
                            <a:srgbClr val="343D42"/>
                          </a:solidFill>
                          <a:latin typeface="Arial"/>
                          <a:ea typeface="Arial"/>
                          <a:cs typeface="Arial"/>
                        </a:rPr>
                        <a:t>$563,852 / $37</a:t>
                      </a:r>
                    </a:p>
                  </a:txBody>
                  <a:tcPr marL="47625" marR="47625" marT="19050" marB="19050" anchor="ctr">
                    <a:solidFill>
                      <a:srgbClr val="F3F5F6"/>
                    </a:solidFill>
                  </a:tcPr>
                </a:tc>
                <a:tc>
                  <a:txBody>
                    <a:bodyPr/>
                    <a:lstStyle/>
                    <a:p>
                      <a:r>
                        <a:rPr sz="825" b="0">
                          <a:solidFill>
                            <a:srgbClr val="343D42"/>
                          </a:solidFill>
                          <a:latin typeface="Arial"/>
                          <a:ea typeface="Arial"/>
                          <a:cs typeface="Arial"/>
                        </a:rPr>
                        <a:t>$416,653 / $28</a:t>
                      </a:r>
                    </a:p>
                  </a:txBody>
                  <a:tcPr marL="47625" marR="47625" marT="19050" marB="19050" anchor="ctr">
                    <a:solidFill>
                      <a:srgbClr val="F3F5F6"/>
                    </a:solidFill>
                  </a:tcPr>
                </a:tc>
              </a:tr>
            </a:tbl>
          </a:graphicData>
        </a:graphic>
      </p:graphicFrame>
      <p:sp>
        <p:nvSpPr>
          <p:cNvPr id="11" name="">
            <a:extLst xmlns:a="http://schemas.openxmlformats.org/drawingml/2006/main">
              <a:ext uri="{FF2B5EF4-FFF2-40B4-BE49-F238E27FC236}">
                <a16:creationId xmlns:a16="http://schemas.microsoft.com/office/drawing/2014/main" id="{04A572A4-B3CD-457C-B3BE-C8E21E83D358}"/>
              </a:ext>
            </a:extLst>
          </p:cNvPr>
          <p:cNvSpPr>
            <a:spLocks xmlns:a="http://schemas.openxmlformats.org/drawingml/2006/main" noGrp="1"/>
          </p:cNvSpPr>
          <p:nvPr/>
        </p:nvSpPr>
        <p:spPr>
          <a:xfrm xmlns:a="http://schemas.openxmlformats.org/drawingml/2006/main">
            <a:off x="457200" y="6010275"/>
            <a:ext cx="11277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0">
                <a:solidFill>
                  <a:srgbClr val="343D42"/>
                </a:solidFill>
                <a:latin typeface="Arial"/>
                <a:ea typeface="Arial"/>
                <a:cs typeface="Arial"/>
              </a:defRPr>
            </a:defPPr>
          </a:lstStyle>
          <a:p xmlns:a="http://schemas.openxmlformats.org/drawingml/2006/main">
            <a:pPr>
              <a:defRPr sz="825" b="0">
                <a:solidFill>
                  <a:srgbClr val="343D42"/>
                </a:solidFill>
                <a:latin typeface="Arial"/>
                <a:ea typeface="Arial"/>
                <a:cs typeface="Arial"/>
              </a:defRPr>
            </a:pPr>
            <a:r>
              <a:rPr sz="825" b="0">
                <a:solidFill>
                  <a:srgbClr val="343D42"/>
                </a:solidFill>
                <a:latin typeface="Arial"/>
                <a:ea typeface="Arial"/>
                <a:cs typeface="Arial"/>
              </a:rPr>
              <a:t>Nails One 2022 sales are based on 11 months annualized.</a:t>
            </a:r>
          </a:p>
        </p:txBody>
      </p:sp>
    </p:spTree>
    <p:extLst>
      <p:ext uri="{BB962C8B-B14F-4D97-AF65-F5344CB8AC3E}">
        <p14:creationId xmlns:p14="http://schemas.microsoft.com/office/powerpoint/2010/main" val="92236526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2D49B59-4FDD-4938-9C29-E5DC6A936F31}"/>
              </a:ext>
            </a:extLst>
          </p:cNvPr>
          <p:cNvSpPr>
            <a:spLocks xmlns:a="http://schemas.openxmlformats.org/drawingml/2006/main" noGrp="1"/>
          </p:cNvSpPr>
          <p:nvPr/>
        </p:nvSpPr>
        <p:spPr>
          <a:xfrm xmlns:a="http://schemas.openxmlformats.org/drawingml/2006/main">
            <a:off x="457200" y="276225"/>
            <a:ext cx="11277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343D42"/>
                </a:solidFill>
                <a:latin typeface="Arial"/>
                <a:ea typeface="Arial"/>
                <a:cs typeface="Arial"/>
              </a:defRPr>
            </a:defPPr>
          </a:lstStyle>
          <a:p xmlns:a="http://schemas.openxmlformats.org/drawingml/2006/main">
            <a:pPr>
              <a:defRPr sz="2100" b="1">
                <a:solidFill>
                  <a:srgbClr val="343D42"/>
                </a:solidFill>
                <a:latin typeface="Arial"/>
                <a:ea typeface="Arial"/>
                <a:cs typeface="Arial"/>
              </a:defRPr>
            </a:pPr>
            <a:r>
              <a:rPr sz="2100" b="1">
                <a:solidFill>
                  <a:srgbClr val="343D42"/>
                </a:solidFill>
                <a:latin typeface="Arial"/>
                <a:ea typeface="Arial"/>
                <a:cs typeface="Arial"/>
              </a:rPr>
              <a:t>Major Tenant Profiles</a:t>
            </a:r>
          </a:p>
        </p:txBody>
      </p:sp>
      <p:sp>
        <p:nvSpPr>
          <p:cNvPr id="2" name="">
            <a:extLst xmlns:a="http://schemas.openxmlformats.org/drawingml/2006/main">
              <a:ext uri="{FF2B5EF4-FFF2-40B4-BE49-F238E27FC236}">
                <a16:creationId xmlns:a16="http://schemas.microsoft.com/office/drawing/2014/main" id="{34882599-DF1E-4BD9-B5FD-BA38BA371116}"/>
              </a:ext>
            </a:extLst>
          </p:cNvPr>
          <p:cNvSpPr>
            <a:spLocks xmlns:a="http://schemas.openxmlformats.org/drawingml/2006/main" noGrp="1"/>
          </p:cNvSpPr>
          <p:nvPr/>
        </p:nvSpPr>
        <p:spPr>
          <a:xfrm xmlns:a="http://schemas.openxmlformats.org/drawingml/2006/main">
            <a:off x="457200" y="800100"/>
            <a:ext cx="11277600" cy="9525"/>
          </a:xfrm>
          <a:prstGeom xmlns:a="http://schemas.openxmlformats.org/drawingml/2006/main" prst="rect">
            <a:avLst/>
          </a:prstGeom>
          <a:solidFill xmlns:a="http://schemas.openxmlformats.org/drawingml/2006/main">
            <a:srgbClr val="B9B9B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435862F-D418-4098-9D02-D4C0E5C2A0C8}"/>
              </a:ext>
            </a:extLst>
          </p:cNvPr>
          <p:cNvSpPr>
            <a:spLocks xmlns:a="http://schemas.openxmlformats.org/drawingml/2006/main" noGrp="1"/>
          </p:cNvSpPr>
          <p:nvPr/>
        </p:nvSpPr>
        <p:spPr>
          <a:xfrm xmlns:a="http://schemas.openxmlformats.org/drawingml/2006/main">
            <a:off x="457200" y="6257925"/>
            <a:ext cx="11277600" cy="38100"/>
          </a:xfrm>
          <a:prstGeom xmlns:a="http://schemas.openxmlformats.org/drawingml/2006/main" prst="rect">
            <a:avLst/>
          </a:prstGeom>
          <a:solidFill xmlns:a="http://schemas.openxmlformats.org/drawingml/2006/main">
            <a:srgbClr val="343D4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CE8290E-AA9B-43BC-B91C-8E4533F282C1}"/>
              </a:ext>
            </a:extLst>
          </p:cNvPr>
          <p:cNvSpPr>
            <a:spLocks xmlns:a="http://schemas.openxmlformats.org/drawingml/2006/main" noGrp="1"/>
          </p:cNvSpPr>
          <p:nvPr/>
        </p:nvSpPr>
        <p:spPr>
          <a:xfrm xmlns:a="http://schemas.openxmlformats.org/drawingml/2006/main">
            <a:off x="457200" y="6238875"/>
            <a:ext cx="11277600" cy="19050"/>
          </a:xfrm>
          <a:prstGeom xmlns:a="http://schemas.openxmlformats.org/drawingml/2006/main" prst="rect">
            <a:avLst/>
          </a:prstGeom>
          <a:solidFill xmlns:a="http://schemas.openxmlformats.org/drawingml/2006/main">
            <a:srgbClr val="C2674B"/>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09FADB1F-1093-46AB-93E4-67AFF7069371}"/>
              </a:ext>
            </a:extLst>
          </p:cNvPr>
          <p:cNvPicPr>
            <a:picLocks xmlns:a="http://schemas.openxmlformats.org/drawingml/2006/main" noChangeAspect="1"/>
          </p:cNvPicPr>
          <p:nvPr/>
        </p:nvPicPr>
        <p:blipFill>
          <a:blip xmlns:r="http://schemas.openxmlformats.org/officeDocument/2006/relationships" xmlns:a="http://schemas.openxmlformats.org/drawingml/2006/main" r:embed="R0892017d4d94441d"/>
          <a:stretch xmlns:a="http://schemas.openxmlformats.org/drawingml/2006/main"/>
        </p:blipFill>
        <p:spPr>
          <a:xfrm xmlns:a="http://schemas.openxmlformats.org/drawingml/2006/main">
            <a:off x="457200" y="6387465"/>
            <a:ext cx="1609725" cy="32194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D8A4E11-7A3A-4BB6-AF68-6A356DF79DA4}"/>
              </a:ext>
            </a:extLst>
          </p:cNvPr>
          <p:cNvSpPr>
            <a:spLocks xmlns:a="http://schemas.openxmlformats.org/drawingml/2006/main" noGrp="1"/>
          </p:cNvSpPr>
          <p:nvPr/>
        </p:nvSpPr>
        <p:spPr>
          <a:xfrm xmlns:a="http://schemas.openxmlformats.org/drawingml/2006/main">
            <a:off x="11382375" y="64579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747474"/>
                </a:solidFill>
                <a:latin typeface="Arial"/>
                <a:ea typeface="Arial"/>
                <a:cs typeface="Arial"/>
              </a:defRPr>
            </a:defPPr>
          </a:lstStyle>
          <a:p xmlns:a="http://schemas.openxmlformats.org/drawingml/2006/main">
            <a:pPr>
              <a:defRPr sz="900" b="0">
                <a:solidFill>
                  <a:srgbClr val="747474"/>
                </a:solidFill>
                <a:latin typeface="Arial"/>
                <a:ea typeface="Arial"/>
                <a:cs typeface="Arial"/>
              </a:defRPr>
            </a:pPr>
            <a:r>
              <a:rPr sz="900" b="0">
                <a:solidFill>
                  <a:srgbClr val="747474"/>
                </a:solidFill>
                <a:latin typeface="Arial"/>
                <a:ea typeface="Arial"/>
                <a:cs typeface="Arial"/>
              </a:rPr>
              <a:t>11</a:t>
            </a:r>
          </a:p>
        </p:txBody>
      </p:sp>
      <p:sp>
        <p:nvSpPr>
          <p:cNvPr id="7" name="">
            <a:extLst xmlns:a="http://schemas.openxmlformats.org/drawingml/2006/main">
              <a:ext uri="{FF2B5EF4-FFF2-40B4-BE49-F238E27FC236}">
                <a16:creationId xmlns:a16="http://schemas.microsoft.com/office/drawing/2014/main" id="{7FC74AC4-3C15-47AC-9412-8BA42AE4033F}"/>
              </a:ext>
            </a:extLst>
          </p:cNvPr>
          <p:cNvSpPr>
            <a:spLocks xmlns:a="http://schemas.openxmlformats.org/drawingml/2006/main" noGrp="1"/>
          </p:cNvSpPr>
          <p:nvPr/>
        </p:nvSpPr>
        <p:spPr>
          <a:xfrm xmlns:a="http://schemas.openxmlformats.org/drawingml/2006/main">
            <a:off x="457200" y="1057275"/>
            <a:ext cx="3486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13C66"/>
                </a:solidFill>
                <a:latin typeface="Arial"/>
                <a:ea typeface="Arial"/>
                <a:cs typeface="Arial"/>
              </a:defRPr>
            </a:defPPr>
          </a:lstStyle>
          <a:p xmlns:a="http://schemas.openxmlformats.org/drawingml/2006/main">
            <a:pPr>
              <a:defRPr sz="1875" b="1">
                <a:solidFill>
                  <a:srgbClr val="213C66"/>
                </a:solidFill>
                <a:latin typeface="Arial"/>
                <a:ea typeface="Arial"/>
                <a:cs typeface="Arial"/>
              </a:defRPr>
            </a:pPr>
            <a:r>
              <a:rPr sz="1875" b="1">
                <a:solidFill>
                  <a:srgbClr val="213C66"/>
                </a:solidFill>
                <a:latin typeface="Arial"/>
                <a:ea typeface="Arial"/>
                <a:cs typeface="Arial"/>
              </a:rPr>
              <a:t>LA Mart</a:t>
            </a:r>
          </a:p>
        </p:txBody>
      </p:sp>
      <p:sp>
        <p:nvSpPr>
          <p:cNvPr id="8" name="">
            <a:extLst xmlns:a="http://schemas.openxmlformats.org/drawingml/2006/main">
              <a:ext uri="{FF2B5EF4-FFF2-40B4-BE49-F238E27FC236}">
                <a16:creationId xmlns:a16="http://schemas.microsoft.com/office/drawing/2014/main" id="{E7AA5203-8880-4B2C-9725-A6205E6C7299}"/>
              </a:ext>
            </a:extLst>
          </p:cNvPr>
          <p:cNvSpPr>
            <a:spLocks xmlns:a="http://schemas.openxmlformats.org/drawingml/2006/main" noGrp="1"/>
          </p:cNvSpPr>
          <p:nvPr/>
        </p:nvSpPr>
        <p:spPr>
          <a:xfrm xmlns:a="http://schemas.openxmlformats.org/drawingml/2006/main">
            <a:off x="457200" y="1524000"/>
            <a:ext cx="34861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43D42"/>
                </a:solidFill>
                <a:latin typeface="Arial"/>
                <a:ea typeface="Arial"/>
                <a:cs typeface="Arial"/>
              </a:defRPr>
            </a:defPPr>
          </a:lstStyle>
          <a:p xmlns:a="http://schemas.openxmlformats.org/drawingml/2006/main">
            <a:pPr>
              <a:defRPr sz="1200" b="0">
                <a:solidFill>
                  <a:srgbClr val="343D42"/>
                </a:solidFill>
                <a:latin typeface="Arial"/>
                <a:ea typeface="Arial"/>
                <a:cs typeface="Arial"/>
              </a:defRPr>
            </a:pPr>
            <a:r>
              <a:rPr sz="1200" b="0">
                <a:solidFill>
                  <a:srgbClr val="343D42"/>
                </a:solidFill>
                <a:latin typeface="Arial"/>
                <a:ea typeface="Arial"/>
                <a:cs typeface="Arial"/>
              </a:rPr>
              <a:t>Family-owned international supermarket chain specializing in global groceries, including Latin, Asian and Middle Eastern products. Six stores across Maryland and Virginia.</a:t>
            </a:r>
          </a:p>
        </p:txBody>
      </p:sp>
      <p:sp>
        <p:nvSpPr>
          <p:cNvPr id="9" name="">
            <a:extLst xmlns:a="http://schemas.openxmlformats.org/drawingml/2006/main">
              <a:ext uri="{FF2B5EF4-FFF2-40B4-BE49-F238E27FC236}">
                <a16:creationId xmlns:a16="http://schemas.microsoft.com/office/drawing/2014/main" id="{1258ABEC-D715-4D98-BE5B-9955D594820D}"/>
              </a:ext>
            </a:extLst>
          </p:cNvPr>
          <p:cNvSpPr>
            <a:spLocks xmlns:a="http://schemas.openxmlformats.org/drawingml/2006/main" noGrp="1"/>
          </p:cNvSpPr>
          <p:nvPr/>
        </p:nvSpPr>
        <p:spPr>
          <a:xfrm xmlns:a="http://schemas.openxmlformats.org/drawingml/2006/main">
            <a:off x="457200" y="2838450"/>
            <a:ext cx="3486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343D42"/>
                </a:solidFill>
                <a:latin typeface="Arial"/>
                <a:ea typeface="Arial"/>
                <a:cs typeface="Arial"/>
              </a:defRPr>
            </a:defPPr>
          </a:lstStyle>
          <a:p xmlns:a="http://schemas.openxmlformats.org/drawingml/2006/main">
            <a:pPr>
              <a:defRPr sz="1200" b="1">
                <a:solidFill>
                  <a:srgbClr val="343D42"/>
                </a:solidFill>
                <a:latin typeface="Arial"/>
                <a:ea typeface="Arial"/>
                <a:cs typeface="Arial"/>
              </a:defRPr>
            </a:pPr>
            <a:r>
              <a:rPr sz="1200" b="1">
                <a:solidFill>
                  <a:srgbClr val="343D42"/>
                </a:solidFill>
                <a:latin typeface="Arial"/>
                <a:ea typeface="Arial"/>
                <a:cs typeface="Arial"/>
              </a:rPr>
              <a:t>Suite 2159 | 30,030 SF</a:t>
            </a:r>
          </a:p>
          <a:p xmlns:a="http://schemas.openxmlformats.org/drawingml/2006/main">
            <a:pPr>
              <a:defRPr sz="1200" b="1">
                <a:solidFill>
                  <a:srgbClr val="343D42"/>
                </a:solidFill>
                <a:latin typeface="Arial"/>
                <a:ea typeface="Arial"/>
                <a:cs typeface="Arial"/>
              </a:defRPr>
            </a:pPr>
            <a:r>
              <a:rPr sz="1200" b="1">
                <a:solidFill>
                  <a:srgbClr val="343D42"/>
                </a:solidFill>
                <a:latin typeface="Arial"/>
                <a:ea typeface="Arial"/>
                <a:cs typeface="Arial"/>
              </a:rPr>
              <a:t>Lease: October 2006 – October 2030</a:t>
            </a:r>
          </a:p>
        </p:txBody>
      </p:sp>
      <p:sp>
        <p:nvSpPr>
          <p:cNvPr id="10" name="">
            <a:extLst xmlns:a="http://schemas.openxmlformats.org/drawingml/2006/main">
              <a:ext uri="{FF2B5EF4-FFF2-40B4-BE49-F238E27FC236}">
                <a16:creationId xmlns:a16="http://schemas.microsoft.com/office/drawing/2014/main" id="{C2C0F48F-D210-4D29-8FD0-323CBDF039D8}"/>
              </a:ext>
            </a:extLst>
          </p:cNvPr>
          <p:cNvSpPr>
            <a:spLocks xmlns:a="http://schemas.openxmlformats.org/drawingml/2006/main" noGrp="1"/>
          </p:cNvSpPr>
          <p:nvPr/>
        </p:nvSpPr>
        <p:spPr>
          <a:xfrm xmlns:a="http://schemas.openxmlformats.org/drawingml/2006/main">
            <a:off x="4314825" y="1057275"/>
            <a:ext cx="3486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13C66"/>
                </a:solidFill>
                <a:latin typeface="Arial"/>
                <a:ea typeface="Arial"/>
                <a:cs typeface="Arial"/>
              </a:defRPr>
            </a:defPPr>
          </a:lstStyle>
          <a:p xmlns:a="http://schemas.openxmlformats.org/drawingml/2006/main">
            <a:pPr>
              <a:defRPr sz="1875" b="1">
                <a:solidFill>
                  <a:srgbClr val="213C66"/>
                </a:solidFill>
                <a:latin typeface="Arial"/>
                <a:ea typeface="Arial"/>
                <a:cs typeface="Arial"/>
              </a:defRPr>
            </a:pPr>
            <a:r>
              <a:rPr sz="1875" b="1">
                <a:solidFill>
                  <a:srgbClr val="213C66"/>
                </a:solidFill>
                <a:latin typeface="Arial"/>
                <a:ea typeface="Arial"/>
                <a:cs typeface="Arial"/>
              </a:rPr>
              <a:t>Planet Fitness</a:t>
            </a:r>
          </a:p>
        </p:txBody>
      </p:sp>
      <p:sp>
        <p:nvSpPr>
          <p:cNvPr id="11" name="">
            <a:extLst xmlns:a="http://schemas.openxmlformats.org/drawingml/2006/main">
              <a:ext uri="{FF2B5EF4-FFF2-40B4-BE49-F238E27FC236}">
                <a16:creationId xmlns:a16="http://schemas.microsoft.com/office/drawing/2014/main" id="{F4436C6F-E76F-48B0-829E-7FB032C5E12C}"/>
              </a:ext>
            </a:extLst>
          </p:cNvPr>
          <p:cNvSpPr>
            <a:spLocks xmlns:a="http://schemas.openxmlformats.org/drawingml/2006/main" noGrp="1"/>
          </p:cNvSpPr>
          <p:nvPr/>
        </p:nvSpPr>
        <p:spPr>
          <a:xfrm xmlns:a="http://schemas.openxmlformats.org/drawingml/2006/main">
            <a:off x="4314825" y="1524000"/>
            <a:ext cx="34861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43D42"/>
                </a:solidFill>
                <a:latin typeface="Arial"/>
                <a:ea typeface="Arial"/>
                <a:cs typeface="Arial"/>
              </a:defRPr>
            </a:defPPr>
          </a:lstStyle>
          <a:p xmlns:a="http://schemas.openxmlformats.org/drawingml/2006/main">
            <a:pPr>
              <a:defRPr sz="1200" b="0">
                <a:solidFill>
                  <a:srgbClr val="343D42"/>
                </a:solidFill>
                <a:latin typeface="Arial"/>
                <a:ea typeface="Arial"/>
                <a:cs typeface="Arial"/>
              </a:defRPr>
            </a:pPr>
            <a:r>
              <a:rPr sz="1200" b="0">
                <a:solidFill>
                  <a:srgbClr val="343D42"/>
                </a:solidFill>
                <a:latin typeface="Arial"/>
                <a:ea typeface="Arial"/>
                <a:cs typeface="Arial"/>
              </a:rPr>
              <a:t>Large fitness-center franchise serving casual gym-goers. The source presentation lists 2,896 clubs globally.</a:t>
            </a:r>
          </a:p>
        </p:txBody>
      </p:sp>
      <p:sp>
        <p:nvSpPr>
          <p:cNvPr id="12" name="">
            <a:extLst xmlns:a="http://schemas.openxmlformats.org/drawingml/2006/main">
              <a:ext uri="{FF2B5EF4-FFF2-40B4-BE49-F238E27FC236}">
                <a16:creationId xmlns:a16="http://schemas.microsoft.com/office/drawing/2014/main" id="{C70295BA-4ADB-45CB-AFE0-696700C261F2}"/>
              </a:ext>
            </a:extLst>
          </p:cNvPr>
          <p:cNvSpPr>
            <a:spLocks xmlns:a="http://schemas.openxmlformats.org/drawingml/2006/main" noGrp="1"/>
          </p:cNvSpPr>
          <p:nvPr/>
        </p:nvSpPr>
        <p:spPr>
          <a:xfrm xmlns:a="http://schemas.openxmlformats.org/drawingml/2006/main">
            <a:off x="4314825" y="2838450"/>
            <a:ext cx="3486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343D42"/>
                </a:solidFill>
                <a:latin typeface="Arial"/>
                <a:ea typeface="Arial"/>
                <a:cs typeface="Arial"/>
              </a:defRPr>
            </a:defPPr>
          </a:lstStyle>
          <a:p xmlns:a="http://schemas.openxmlformats.org/drawingml/2006/main">
            <a:pPr>
              <a:defRPr sz="1200" b="1">
                <a:solidFill>
                  <a:srgbClr val="343D42"/>
                </a:solidFill>
                <a:latin typeface="Arial"/>
                <a:ea typeface="Arial"/>
                <a:cs typeface="Arial"/>
              </a:defRPr>
            </a:pPr>
            <a:r>
              <a:rPr sz="1200" b="1">
                <a:solidFill>
                  <a:srgbClr val="343D42"/>
                </a:solidFill>
                <a:latin typeface="Arial"/>
                <a:ea typeface="Arial"/>
                <a:cs typeface="Arial"/>
              </a:rPr>
              <a:t>Suite 2145 | 15,000 SF</a:t>
            </a:r>
          </a:p>
          <a:p xmlns:a="http://schemas.openxmlformats.org/drawingml/2006/main">
            <a:pPr>
              <a:defRPr sz="1200" b="1">
                <a:solidFill>
                  <a:srgbClr val="343D42"/>
                </a:solidFill>
                <a:latin typeface="Arial"/>
                <a:ea typeface="Arial"/>
                <a:cs typeface="Arial"/>
              </a:defRPr>
            </a:pPr>
            <a:r>
              <a:rPr sz="1200" b="1">
                <a:solidFill>
                  <a:srgbClr val="343D42"/>
                </a:solidFill>
                <a:latin typeface="Arial"/>
                <a:ea typeface="Arial"/>
                <a:cs typeface="Arial"/>
              </a:rPr>
              <a:t>Lease: January 2021 – January 2031</a:t>
            </a:r>
          </a:p>
        </p:txBody>
      </p:sp>
      <p:sp>
        <p:nvSpPr>
          <p:cNvPr id="13" name="">
            <a:extLst xmlns:a="http://schemas.openxmlformats.org/drawingml/2006/main">
              <a:ext uri="{FF2B5EF4-FFF2-40B4-BE49-F238E27FC236}">
                <a16:creationId xmlns:a16="http://schemas.microsoft.com/office/drawing/2014/main" id="{0C84F3A3-D35E-4AAC-9551-D9936EFE234F}"/>
              </a:ext>
            </a:extLst>
          </p:cNvPr>
          <p:cNvSpPr>
            <a:spLocks xmlns:a="http://schemas.openxmlformats.org/drawingml/2006/main" noGrp="1"/>
          </p:cNvSpPr>
          <p:nvPr/>
        </p:nvSpPr>
        <p:spPr>
          <a:xfrm xmlns:a="http://schemas.openxmlformats.org/drawingml/2006/main">
            <a:off x="8172450" y="1057275"/>
            <a:ext cx="3486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13C66"/>
                </a:solidFill>
                <a:latin typeface="Arial"/>
                <a:ea typeface="Arial"/>
                <a:cs typeface="Arial"/>
              </a:defRPr>
            </a:defPPr>
          </a:lstStyle>
          <a:p xmlns:a="http://schemas.openxmlformats.org/drawingml/2006/main">
            <a:pPr>
              <a:defRPr sz="1875" b="1">
                <a:solidFill>
                  <a:srgbClr val="213C66"/>
                </a:solidFill>
                <a:latin typeface="Arial"/>
                <a:ea typeface="Arial"/>
                <a:cs typeface="Arial"/>
              </a:defRPr>
            </a:pPr>
            <a:r>
              <a:rPr sz="1875" b="1">
                <a:solidFill>
                  <a:srgbClr val="213C66"/>
                </a:solidFill>
                <a:latin typeface="Arial"/>
                <a:ea typeface="Arial"/>
                <a:cs typeface="Arial"/>
              </a:rPr>
              <a:t>Dollar General</a:t>
            </a:r>
          </a:p>
        </p:txBody>
      </p:sp>
      <p:sp>
        <p:nvSpPr>
          <p:cNvPr id="14" name="">
            <a:extLst xmlns:a="http://schemas.openxmlformats.org/drawingml/2006/main">
              <a:ext uri="{FF2B5EF4-FFF2-40B4-BE49-F238E27FC236}">
                <a16:creationId xmlns:a16="http://schemas.microsoft.com/office/drawing/2014/main" id="{0F6AD743-8136-43E3-89D6-CABA35638F90}"/>
              </a:ext>
            </a:extLst>
          </p:cNvPr>
          <p:cNvSpPr>
            <a:spLocks xmlns:a="http://schemas.openxmlformats.org/drawingml/2006/main" noGrp="1"/>
          </p:cNvSpPr>
          <p:nvPr/>
        </p:nvSpPr>
        <p:spPr>
          <a:xfrm xmlns:a="http://schemas.openxmlformats.org/drawingml/2006/main">
            <a:off x="8172450" y="1524000"/>
            <a:ext cx="34861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43D42"/>
                </a:solidFill>
                <a:latin typeface="Arial"/>
                <a:ea typeface="Arial"/>
                <a:cs typeface="Arial"/>
              </a:defRPr>
            </a:defPPr>
          </a:lstStyle>
          <a:p xmlns:a="http://schemas.openxmlformats.org/drawingml/2006/main">
            <a:pPr>
              <a:defRPr sz="1200" b="0">
                <a:solidFill>
                  <a:srgbClr val="343D42"/>
                </a:solidFill>
                <a:latin typeface="Arial"/>
                <a:ea typeface="Arial"/>
                <a:cs typeface="Arial"/>
              </a:defRPr>
            </a:pPr>
            <a:r>
              <a:rPr sz="1200" b="0">
                <a:solidFill>
                  <a:srgbClr val="343D42"/>
                </a:solidFill>
                <a:latin typeface="Arial"/>
                <a:ea typeface="Arial"/>
                <a:cs typeface="Arial"/>
              </a:rPr>
              <a:t>American variety-store chain offering affordable retail goods. The source presentation lists over 20,000 stores in 48 states.</a:t>
            </a:r>
          </a:p>
        </p:txBody>
      </p:sp>
      <p:sp>
        <p:nvSpPr>
          <p:cNvPr id="15" name="">
            <a:extLst xmlns:a="http://schemas.openxmlformats.org/drawingml/2006/main">
              <a:ext uri="{FF2B5EF4-FFF2-40B4-BE49-F238E27FC236}">
                <a16:creationId xmlns:a16="http://schemas.microsoft.com/office/drawing/2014/main" id="{6383EB50-B533-4973-9328-6F1D06584F89}"/>
              </a:ext>
            </a:extLst>
          </p:cNvPr>
          <p:cNvSpPr>
            <a:spLocks xmlns:a="http://schemas.openxmlformats.org/drawingml/2006/main" noGrp="1"/>
          </p:cNvSpPr>
          <p:nvPr/>
        </p:nvSpPr>
        <p:spPr>
          <a:xfrm xmlns:a="http://schemas.openxmlformats.org/drawingml/2006/main">
            <a:off x="8172450" y="2838450"/>
            <a:ext cx="3486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343D42"/>
                </a:solidFill>
                <a:latin typeface="Arial"/>
                <a:ea typeface="Arial"/>
                <a:cs typeface="Arial"/>
              </a:defRPr>
            </a:defPPr>
          </a:lstStyle>
          <a:p xmlns:a="http://schemas.openxmlformats.org/drawingml/2006/main">
            <a:pPr>
              <a:defRPr sz="1200" b="1">
                <a:solidFill>
                  <a:srgbClr val="343D42"/>
                </a:solidFill>
                <a:latin typeface="Arial"/>
                <a:ea typeface="Arial"/>
                <a:cs typeface="Arial"/>
              </a:defRPr>
            </a:pPr>
            <a:r>
              <a:rPr sz="1200" b="1">
                <a:solidFill>
                  <a:srgbClr val="343D42"/>
                </a:solidFill>
                <a:latin typeface="Arial"/>
                <a:ea typeface="Arial"/>
                <a:cs typeface="Arial"/>
              </a:rPr>
              <a:t>Suite 2113 | 12,286 SF</a:t>
            </a:r>
          </a:p>
          <a:p xmlns:a="http://schemas.openxmlformats.org/drawingml/2006/main">
            <a:pPr>
              <a:defRPr sz="1200" b="1">
                <a:solidFill>
                  <a:srgbClr val="343D42"/>
                </a:solidFill>
                <a:latin typeface="Arial"/>
                <a:ea typeface="Arial"/>
                <a:cs typeface="Arial"/>
              </a:defRPr>
            </a:pPr>
            <a:r>
              <a:rPr sz="1200" b="1">
                <a:solidFill>
                  <a:srgbClr val="343D42"/>
                </a:solidFill>
                <a:latin typeface="Arial"/>
                <a:ea typeface="Arial"/>
                <a:cs typeface="Arial"/>
              </a:rPr>
              <a:t>Lease: July 2010 – July 2027</a:t>
            </a:r>
          </a:p>
        </p:txBody>
      </p:sp>
      <p:sp>
        <p:nvSpPr>
          <p:cNvPr id="16" name="">
            <a:extLst xmlns:a="http://schemas.openxmlformats.org/drawingml/2006/main">
              <a:ext uri="{FF2B5EF4-FFF2-40B4-BE49-F238E27FC236}">
                <a16:creationId xmlns:a16="http://schemas.microsoft.com/office/drawing/2014/main" id="{474FDDAE-90B9-49E1-802F-F8AF86408091}"/>
              </a:ext>
            </a:extLst>
          </p:cNvPr>
          <p:cNvSpPr>
            <a:spLocks xmlns:a="http://schemas.openxmlformats.org/drawingml/2006/main" noGrp="1"/>
          </p:cNvSpPr>
          <p:nvPr/>
        </p:nvSpPr>
        <p:spPr>
          <a:xfrm xmlns:a="http://schemas.openxmlformats.org/drawingml/2006/main">
            <a:off x="457200" y="3562350"/>
            <a:ext cx="3486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13C66"/>
                </a:solidFill>
                <a:latin typeface="Arial"/>
                <a:ea typeface="Arial"/>
                <a:cs typeface="Arial"/>
              </a:defRPr>
            </a:defPPr>
          </a:lstStyle>
          <a:p xmlns:a="http://schemas.openxmlformats.org/drawingml/2006/main">
            <a:pPr>
              <a:defRPr sz="1875" b="1">
                <a:solidFill>
                  <a:srgbClr val="213C66"/>
                </a:solidFill>
                <a:latin typeface="Arial"/>
                <a:ea typeface="Arial"/>
                <a:cs typeface="Arial"/>
              </a:defRPr>
            </a:pPr>
            <a:r>
              <a:rPr sz="1875" b="1">
                <a:solidFill>
                  <a:srgbClr val="213C66"/>
                </a:solidFill>
                <a:latin typeface="Arial"/>
                <a:ea typeface="Arial"/>
                <a:cs typeface="Arial"/>
              </a:rPr>
              <a:t>Shoe Show</a:t>
            </a:r>
          </a:p>
        </p:txBody>
      </p:sp>
      <p:sp>
        <p:nvSpPr>
          <p:cNvPr id="17" name="">
            <a:extLst xmlns:a="http://schemas.openxmlformats.org/drawingml/2006/main">
              <a:ext uri="{FF2B5EF4-FFF2-40B4-BE49-F238E27FC236}">
                <a16:creationId xmlns:a16="http://schemas.microsoft.com/office/drawing/2014/main" id="{BDA36F96-F236-4788-A96E-CFB2BB764DB2}"/>
              </a:ext>
            </a:extLst>
          </p:cNvPr>
          <p:cNvSpPr>
            <a:spLocks xmlns:a="http://schemas.openxmlformats.org/drawingml/2006/main" noGrp="1"/>
          </p:cNvSpPr>
          <p:nvPr/>
        </p:nvSpPr>
        <p:spPr>
          <a:xfrm xmlns:a="http://schemas.openxmlformats.org/drawingml/2006/main">
            <a:off x="457200" y="4029075"/>
            <a:ext cx="34861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43D42"/>
                </a:solidFill>
                <a:latin typeface="Arial"/>
                <a:ea typeface="Arial"/>
                <a:cs typeface="Arial"/>
              </a:defRPr>
            </a:defPPr>
          </a:lstStyle>
          <a:p xmlns:a="http://schemas.openxmlformats.org/drawingml/2006/main">
            <a:pPr>
              <a:defRPr sz="1200" b="0">
                <a:solidFill>
                  <a:srgbClr val="343D42"/>
                </a:solidFill>
                <a:latin typeface="Arial"/>
                <a:ea typeface="Arial"/>
                <a:cs typeface="Arial"/>
              </a:defRPr>
            </a:pPr>
            <a:r>
              <a:rPr sz="1200" b="0">
                <a:solidFill>
                  <a:srgbClr val="343D42"/>
                </a:solidFill>
                <a:latin typeface="Arial"/>
                <a:ea typeface="Arial"/>
                <a:cs typeface="Arial"/>
              </a:rPr>
              <a:t>American footwear retailer founded in 1960, focused on accessible pricing across suburban and rural markets. Over 1,100 stores in 47 states.</a:t>
            </a:r>
          </a:p>
        </p:txBody>
      </p:sp>
      <p:sp>
        <p:nvSpPr>
          <p:cNvPr id="18" name="">
            <a:extLst xmlns:a="http://schemas.openxmlformats.org/drawingml/2006/main">
              <a:ext uri="{FF2B5EF4-FFF2-40B4-BE49-F238E27FC236}">
                <a16:creationId xmlns:a16="http://schemas.microsoft.com/office/drawing/2014/main" id="{701980C4-7554-4AE2-BC54-A9289C681628}"/>
              </a:ext>
            </a:extLst>
          </p:cNvPr>
          <p:cNvSpPr>
            <a:spLocks xmlns:a="http://schemas.openxmlformats.org/drawingml/2006/main" noGrp="1"/>
          </p:cNvSpPr>
          <p:nvPr/>
        </p:nvSpPr>
        <p:spPr>
          <a:xfrm xmlns:a="http://schemas.openxmlformats.org/drawingml/2006/main">
            <a:off x="457200" y="5343525"/>
            <a:ext cx="3486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343D42"/>
                </a:solidFill>
                <a:latin typeface="Arial"/>
                <a:ea typeface="Arial"/>
                <a:cs typeface="Arial"/>
              </a:defRPr>
            </a:defPPr>
          </a:lstStyle>
          <a:p xmlns:a="http://schemas.openxmlformats.org/drawingml/2006/main">
            <a:pPr>
              <a:defRPr sz="1200" b="1">
                <a:solidFill>
                  <a:srgbClr val="343D42"/>
                </a:solidFill>
                <a:latin typeface="Arial"/>
                <a:ea typeface="Arial"/>
                <a:cs typeface="Arial"/>
              </a:defRPr>
            </a:pPr>
            <a:r>
              <a:rPr sz="1200" b="1">
                <a:solidFill>
                  <a:srgbClr val="343D42"/>
                </a:solidFill>
                <a:latin typeface="Arial"/>
                <a:ea typeface="Arial"/>
                <a:cs typeface="Arial"/>
              </a:rPr>
              <a:t>Suite 2111 | 7,815 SF</a:t>
            </a:r>
          </a:p>
          <a:p xmlns:a="http://schemas.openxmlformats.org/drawingml/2006/main">
            <a:pPr>
              <a:defRPr sz="1200" b="1">
                <a:solidFill>
                  <a:srgbClr val="343D42"/>
                </a:solidFill>
                <a:latin typeface="Arial"/>
                <a:ea typeface="Arial"/>
                <a:cs typeface="Arial"/>
              </a:defRPr>
            </a:pPr>
            <a:r>
              <a:rPr sz="1200" b="1">
                <a:solidFill>
                  <a:srgbClr val="343D42"/>
                </a:solidFill>
                <a:latin typeface="Arial"/>
                <a:ea typeface="Arial"/>
                <a:cs typeface="Arial"/>
              </a:rPr>
              <a:t>Lease: January 2024 – January 2034</a:t>
            </a:r>
          </a:p>
        </p:txBody>
      </p:sp>
      <p:sp>
        <p:nvSpPr>
          <p:cNvPr id="19" name="">
            <a:extLst xmlns:a="http://schemas.openxmlformats.org/drawingml/2006/main">
              <a:ext uri="{FF2B5EF4-FFF2-40B4-BE49-F238E27FC236}">
                <a16:creationId xmlns:a16="http://schemas.microsoft.com/office/drawing/2014/main" id="{771FCB0E-0443-4B0E-A1DC-C235D02F78E3}"/>
              </a:ext>
            </a:extLst>
          </p:cNvPr>
          <p:cNvSpPr>
            <a:spLocks xmlns:a="http://schemas.openxmlformats.org/drawingml/2006/main" noGrp="1"/>
          </p:cNvSpPr>
          <p:nvPr/>
        </p:nvSpPr>
        <p:spPr>
          <a:xfrm xmlns:a="http://schemas.openxmlformats.org/drawingml/2006/main">
            <a:off x="4314825" y="3562350"/>
            <a:ext cx="3486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13C66"/>
                </a:solidFill>
                <a:latin typeface="Arial"/>
                <a:ea typeface="Arial"/>
                <a:cs typeface="Arial"/>
              </a:defRPr>
            </a:defPPr>
          </a:lstStyle>
          <a:p xmlns:a="http://schemas.openxmlformats.org/drawingml/2006/main">
            <a:pPr>
              <a:defRPr sz="1875" b="1">
                <a:solidFill>
                  <a:srgbClr val="213C66"/>
                </a:solidFill>
                <a:latin typeface="Arial"/>
                <a:ea typeface="Arial"/>
                <a:cs typeface="Arial"/>
              </a:defRPr>
            </a:pPr>
            <a:r>
              <a:rPr sz="1875" b="1">
                <a:solidFill>
                  <a:srgbClr val="213C66"/>
                </a:solidFill>
                <a:latin typeface="Arial"/>
                <a:ea typeface="Arial"/>
                <a:cs typeface="Arial"/>
              </a:rPr>
              <a:t>Popeyes</a:t>
            </a:r>
          </a:p>
        </p:txBody>
      </p:sp>
      <p:sp>
        <p:nvSpPr>
          <p:cNvPr id="20" name="">
            <a:extLst xmlns:a="http://schemas.openxmlformats.org/drawingml/2006/main">
              <a:ext uri="{FF2B5EF4-FFF2-40B4-BE49-F238E27FC236}">
                <a16:creationId xmlns:a16="http://schemas.microsoft.com/office/drawing/2014/main" id="{EA6DB251-857D-4035-ACD3-71CEE58FFD66}"/>
              </a:ext>
            </a:extLst>
          </p:cNvPr>
          <p:cNvSpPr>
            <a:spLocks xmlns:a="http://schemas.openxmlformats.org/drawingml/2006/main" noGrp="1"/>
          </p:cNvSpPr>
          <p:nvPr/>
        </p:nvSpPr>
        <p:spPr>
          <a:xfrm xmlns:a="http://schemas.openxmlformats.org/drawingml/2006/main">
            <a:off x="4314825" y="4029075"/>
            <a:ext cx="34861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43D42"/>
                </a:solidFill>
                <a:latin typeface="Arial"/>
                <a:ea typeface="Arial"/>
                <a:cs typeface="Arial"/>
              </a:defRPr>
            </a:defPPr>
          </a:lstStyle>
          <a:p xmlns:a="http://schemas.openxmlformats.org/drawingml/2006/main">
            <a:pPr>
              <a:defRPr sz="1200" b="0">
                <a:solidFill>
                  <a:srgbClr val="343D42"/>
                </a:solidFill>
                <a:latin typeface="Arial"/>
                <a:ea typeface="Arial"/>
                <a:cs typeface="Arial"/>
              </a:defRPr>
            </a:pPr>
            <a:r>
              <a:rPr sz="1200" b="0">
                <a:solidFill>
                  <a:srgbClr val="343D42"/>
                </a:solidFill>
                <a:latin typeface="Arial"/>
                <a:ea typeface="Arial"/>
                <a:cs typeface="Arial"/>
              </a:rPr>
              <a:t>Global fast-food chain founded in New Orleans in 1972, specializing in Louisiana-style chicken. Over 4,300 locations globally.</a:t>
            </a:r>
          </a:p>
        </p:txBody>
      </p:sp>
      <p:sp>
        <p:nvSpPr>
          <p:cNvPr id="21" name="">
            <a:extLst xmlns:a="http://schemas.openxmlformats.org/drawingml/2006/main">
              <a:ext uri="{FF2B5EF4-FFF2-40B4-BE49-F238E27FC236}">
                <a16:creationId xmlns:a16="http://schemas.microsoft.com/office/drawing/2014/main" id="{F3BF30A5-4D6B-4672-BE05-B007CAB199B5}"/>
              </a:ext>
            </a:extLst>
          </p:cNvPr>
          <p:cNvSpPr>
            <a:spLocks xmlns:a="http://schemas.openxmlformats.org/drawingml/2006/main" noGrp="1"/>
          </p:cNvSpPr>
          <p:nvPr/>
        </p:nvSpPr>
        <p:spPr>
          <a:xfrm xmlns:a="http://schemas.openxmlformats.org/drawingml/2006/main">
            <a:off x="4314825" y="5343525"/>
            <a:ext cx="3486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343D42"/>
                </a:solidFill>
                <a:latin typeface="Arial"/>
                <a:ea typeface="Arial"/>
                <a:cs typeface="Arial"/>
              </a:defRPr>
            </a:defPPr>
          </a:lstStyle>
          <a:p xmlns:a="http://schemas.openxmlformats.org/drawingml/2006/main">
            <a:pPr>
              <a:defRPr sz="1200" b="1">
                <a:solidFill>
                  <a:srgbClr val="343D42"/>
                </a:solidFill>
                <a:latin typeface="Arial"/>
                <a:ea typeface="Arial"/>
                <a:cs typeface="Arial"/>
              </a:defRPr>
            </a:pPr>
            <a:r>
              <a:rPr sz="1200" b="1">
                <a:solidFill>
                  <a:srgbClr val="343D42"/>
                </a:solidFill>
                <a:latin typeface="Arial"/>
                <a:ea typeface="Arial"/>
                <a:cs typeface="Arial"/>
              </a:rPr>
              <a:t>Suite 2201 | 5,291 SF</a:t>
            </a:r>
          </a:p>
          <a:p xmlns:a="http://schemas.openxmlformats.org/drawingml/2006/main">
            <a:pPr>
              <a:defRPr sz="1200" b="1">
                <a:solidFill>
                  <a:srgbClr val="343D42"/>
                </a:solidFill>
                <a:latin typeface="Arial"/>
                <a:ea typeface="Arial"/>
                <a:cs typeface="Arial"/>
              </a:defRPr>
            </a:pPr>
            <a:r>
              <a:rPr sz="1200" b="1">
                <a:solidFill>
                  <a:srgbClr val="343D42"/>
                </a:solidFill>
                <a:latin typeface="Arial"/>
                <a:ea typeface="Arial"/>
                <a:cs typeface="Arial"/>
              </a:rPr>
              <a:t>Lease: December 2015 – January 2031</a:t>
            </a:r>
          </a:p>
        </p:txBody>
      </p:sp>
      <p:sp>
        <p:nvSpPr>
          <p:cNvPr id="22" name="">
            <a:extLst xmlns:a="http://schemas.openxmlformats.org/drawingml/2006/main">
              <a:ext uri="{FF2B5EF4-FFF2-40B4-BE49-F238E27FC236}">
                <a16:creationId xmlns:a16="http://schemas.microsoft.com/office/drawing/2014/main" id="{B743A0AD-1459-47A7-94D3-A1BC60F40F05}"/>
              </a:ext>
            </a:extLst>
          </p:cNvPr>
          <p:cNvSpPr>
            <a:spLocks xmlns:a="http://schemas.openxmlformats.org/drawingml/2006/main" noGrp="1"/>
          </p:cNvSpPr>
          <p:nvPr/>
        </p:nvSpPr>
        <p:spPr>
          <a:xfrm xmlns:a="http://schemas.openxmlformats.org/drawingml/2006/main">
            <a:off x="8172450" y="3562350"/>
            <a:ext cx="3486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13C66"/>
                </a:solidFill>
                <a:latin typeface="Arial"/>
                <a:ea typeface="Arial"/>
                <a:cs typeface="Arial"/>
              </a:defRPr>
            </a:defPPr>
          </a:lstStyle>
          <a:p xmlns:a="http://schemas.openxmlformats.org/drawingml/2006/main">
            <a:pPr>
              <a:defRPr sz="1875" b="1">
                <a:solidFill>
                  <a:srgbClr val="213C66"/>
                </a:solidFill>
                <a:latin typeface="Arial"/>
                <a:ea typeface="Arial"/>
                <a:cs typeface="Arial"/>
              </a:defRPr>
            </a:pPr>
            <a:r>
              <a:rPr sz="1875" b="1">
                <a:solidFill>
                  <a:srgbClr val="213C66"/>
                </a:solidFill>
                <a:latin typeface="Arial"/>
                <a:ea typeface="Arial"/>
                <a:cs typeface="Arial"/>
              </a:rPr>
              <a:t>Advance Auto Parts</a:t>
            </a:r>
          </a:p>
        </p:txBody>
      </p:sp>
      <p:sp>
        <p:nvSpPr>
          <p:cNvPr id="23" name="">
            <a:extLst xmlns:a="http://schemas.openxmlformats.org/drawingml/2006/main">
              <a:ext uri="{FF2B5EF4-FFF2-40B4-BE49-F238E27FC236}">
                <a16:creationId xmlns:a16="http://schemas.microsoft.com/office/drawing/2014/main" id="{1EA8F4F1-9305-433D-8FC6-D18623EC6EC5}"/>
              </a:ext>
            </a:extLst>
          </p:cNvPr>
          <p:cNvSpPr>
            <a:spLocks xmlns:a="http://schemas.openxmlformats.org/drawingml/2006/main" noGrp="1"/>
          </p:cNvSpPr>
          <p:nvPr/>
        </p:nvSpPr>
        <p:spPr>
          <a:xfrm xmlns:a="http://schemas.openxmlformats.org/drawingml/2006/main">
            <a:off x="8172450" y="4029075"/>
            <a:ext cx="34861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43D42"/>
                </a:solidFill>
                <a:latin typeface="Arial"/>
                <a:ea typeface="Arial"/>
                <a:cs typeface="Arial"/>
              </a:defRPr>
            </a:defPPr>
          </a:lstStyle>
          <a:p xmlns:a="http://schemas.openxmlformats.org/drawingml/2006/main">
            <a:pPr>
              <a:defRPr sz="1200" b="0">
                <a:solidFill>
                  <a:srgbClr val="343D42"/>
                </a:solidFill>
                <a:latin typeface="Arial"/>
                <a:ea typeface="Arial"/>
                <a:cs typeface="Arial"/>
              </a:defRPr>
            </a:pPr>
            <a:r>
              <a:rPr sz="1200" b="0">
                <a:solidFill>
                  <a:srgbClr val="343D42"/>
                </a:solidFill>
                <a:latin typeface="Arial"/>
                <a:ea typeface="Arial"/>
                <a:cs typeface="Arial"/>
              </a:rPr>
              <a:t>Aftermarket automotive-parts retailer with over 4,300 stores and branches across the United States, Canada, Puerto Rico and the U.S. Virgin Islands.</a:t>
            </a:r>
          </a:p>
        </p:txBody>
      </p:sp>
      <p:sp>
        <p:nvSpPr>
          <p:cNvPr id="24" name="">
            <a:extLst xmlns:a="http://schemas.openxmlformats.org/drawingml/2006/main">
              <a:ext uri="{FF2B5EF4-FFF2-40B4-BE49-F238E27FC236}">
                <a16:creationId xmlns:a16="http://schemas.microsoft.com/office/drawing/2014/main" id="{7B6B9B8B-6DAE-40B8-B8C4-7329FE5F3E88}"/>
              </a:ext>
            </a:extLst>
          </p:cNvPr>
          <p:cNvSpPr>
            <a:spLocks xmlns:a="http://schemas.openxmlformats.org/drawingml/2006/main" noGrp="1"/>
          </p:cNvSpPr>
          <p:nvPr/>
        </p:nvSpPr>
        <p:spPr>
          <a:xfrm xmlns:a="http://schemas.openxmlformats.org/drawingml/2006/main">
            <a:off x="8172450" y="5343525"/>
            <a:ext cx="3486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343D42"/>
                </a:solidFill>
                <a:latin typeface="Arial"/>
                <a:ea typeface="Arial"/>
                <a:cs typeface="Arial"/>
              </a:defRPr>
            </a:defPPr>
          </a:lstStyle>
          <a:p xmlns:a="http://schemas.openxmlformats.org/drawingml/2006/main">
            <a:pPr>
              <a:defRPr sz="1200" b="1">
                <a:solidFill>
                  <a:srgbClr val="343D42"/>
                </a:solidFill>
                <a:latin typeface="Arial"/>
                <a:ea typeface="Arial"/>
                <a:cs typeface="Arial"/>
              </a:defRPr>
            </a:pPr>
            <a:r>
              <a:rPr sz="1200" b="1">
                <a:solidFill>
                  <a:srgbClr val="343D42"/>
                </a:solidFill>
                <a:latin typeface="Arial"/>
                <a:ea typeface="Arial"/>
                <a:cs typeface="Arial"/>
              </a:rPr>
              <a:t>Suite 2101 | 7,950 SF</a:t>
            </a:r>
          </a:p>
          <a:p xmlns:a="http://schemas.openxmlformats.org/drawingml/2006/main">
            <a:pPr>
              <a:defRPr sz="1200" b="1">
                <a:solidFill>
                  <a:srgbClr val="343D42"/>
                </a:solidFill>
                <a:latin typeface="Arial"/>
                <a:ea typeface="Arial"/>
                <a:cs typeface="Arial"/>
              </a:defRPr>
            </a:pPr>
            <a:r>
              <a:rPr sz="1200" b="1">
                <a:solidFill>
                  <a:srgbClr val="343D42"/>
                </a:solidFill>
                <a:latin typeface="Arial"/>
                <a:ea typeface="Arial"/>
                <a:cs typeface="Arial"/>
              </a:rPr>
              <a:t>Lease: January 2007 – February 2034</a:t>
            </a:r>
          </a:p>
        </p:txBody>
      </p:sp>
    </p:spTree>
    <p:extLst>
      <p:ext uri="{BB962C8B-B14F-4D97-AF65-F5344CB8AC3E}">
        <p14:creationId xmlns:p14="http://schemas.microsoft.com/office/powerpoint/2010/main" val="178603179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F786AC0-A3F3-4AD3-853A-D88C2339AA81}"/>
              </a:ext>
            </a:extLst>
          </p:cNvPr>
          <p:cNvSpPr>
            <a:spLocks xmlns:a="http://schemas.openxmlformats.org/drawingml/2006/main" noGrp="1"/>
          </p:cNvSpPr>
          <p:nvPr/>
        </p:nvSpPr>
        <p:spPr>
          <a:xfrm xmlns:a="http://schemas.openxmlformats.org/drawingml/2006/main">
            <a:off x="457200" y="276225"/>
            <a:ext cx="11277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343D42"/>
                </a:solidFill>
                <a:latin typeface="Arial"/>
                <a:ea typeface="Arial"/>
                <a:cs typeface="Arial"/>
              </a:defRPr>
            </a:defPPr>
          </a:lstStyle>
          <a:p xmlns:a="http://schemas.openxmlformats.org/drawingml/2006/main">
            <a:pPr>
              <a:defRPr sz="2100" b="1">
                <a:solidFill>
                  <a:srgbClr val="343D42"/>
                </a:solidFill>
                <a:latin typeface="Arial"/>
                <a:ea typeface="Arial"/>
                <a:cs typeface="Arial"/>
              </a:defRPr>
            </a:pPr>
            <a:r>
              <a:rPr sz="2100" b="1">
                <a:solidFill>
                  <a:srgbClr val="343D42"/>
                </a:solidFill>
                <a:latin typeface="Arial"/>
                <a:ea typeface="Arial"/>
                <a:cs typeface="Arial"/>
              </a:rPr>
              <a:t>Location</a:t>
            </a:r>
          </a:p>
        </p:txBody>
      </p:sp>
      <p:sp>
        <p:nvSpPr>
          <p:cNvPr id="2" name="">
            <a:extLst xmlns:a="http://schemas.openxmlformats.org/drawingml/2006/main">
              <a:ext uri="{FF2B5EF4-FFF2-40B4-BE49-F238E27FC236}">
                <a16:creationId xmlns:a16="http://schemas.microsoft.com/office/drawing/2014/main" id="{5F36C3B8-6420-429F-81B6-2044188357AD}"/>
              </a:ext>
            </a:extLst>
          </p:cNvPr>
          <p:cNvSpPr>
            <a:spLocks xmlns:a="http://schemas.openxmlformats.org/drawingml/2006/main" noGrp="1"/>
          </p:cNvSpPr>
          <p:nvPr/>
        </p:nvSpPr>
        <p:spPr>
          <a:xfrm xmlns:a="http://schemas.openxmlformats.org/drawingml/2006/main">
            <a:off x="457200" y="800100"/>
            <a:ext cx="11277600" cy="9525"/>
          </a:xfrm>
          <a:prstGeom xmlns:a="http://schemas.openxmlformats.org/drawingml/2006/main" prst="rect">
            <a:avLst/>
          </a:prstGeom>
          <a:solidFill xmlns:a="http://schemas.openxmlformats.org/drawingml/2006/main">
            <a:srgbClr val="B9B9B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322FB79-BF56-4F9B-9EA8-1C28F79DDF44}"/>
              </a:ext>
            </a:extLst>
          </p:cNvPr>
          <p:cNvSpPr>
            <a:spLocks xmlns:a="http://schemas.openxmlformats.org/drawingml/2006/main" noGrp="1"/>
          </p:cNvSpPr>
          <p:nvPr/>
        </p:nvSpPr>
        <p:spPr>
          <a:xfrm xmlns:a="http://schemas.openxmlformats.org/drawingml/2006/main">
            <a:off x="457200" y="6257925"/>
            <a:ext cx="11277600" cy="38100"/>
          </a:xfrm>
          <a:prstGeom xmlns:a="http://schemas.openxmlformats.org/drawingml/2006/main" prst="rect">
            <a:avLst/>
          </a:prstGeom>
          <a:solidFill xmlns:a="http://schemas.openxmlformats.org/drawingml/2006/main">
            <a:srgbClr val="343D4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E982943-BFE2-458C-9F7E-BB442672DC50}"/>
              </a:ext>
            </a:extLst>
          </p:cNvPr>
          <p:cNvSpPr>
            <a:spLocks xmlns:a="http://schemas.openxmlformats.org/drawingml/2006/main" noGrp="1"/>
          </p:cNvSpPr>
          <p:nvPr/>
        </p:nvSpPr>
        <p:spPr>
          <a:xfrm xmlns:a="http://schemas.openxmlformats.org/drawingml/2006/main">
            <a:off x="457200" y="6238875"/>
            <a:ext cx="11277600" cy="19050"/>
          </a:xfrm>
          <a:prstGeom xmlns:a="http://schemas.openxmlformats.org/drawingml/2006/main" prst="rect">
            <a:avLst/>
          </a:prstGeom>
          <a:solidFill xmlns:a="http://schemas.openxmlformats.org/drawingml/2006/main">
            <a:srgbClr val="C2674B"/>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BC2DD18D-A702-4AC7-A162-BC8F43868A6A}"/>
              </a:ext>
            </a:extLst>
          </p:cNvPr>
          <p:cNvPicPr>
            <a:picLocks xmlns:a="http://schemas.openxmlformats.org/drawingml/2006/main" noChangeAspect="1"/>
          </p:cNvPicPr>
          <p:nvPr/>
        </p:nvPicPr>
        <p:blipFill>
          <a:blip xmlns:r="http://schemas.openxmlformats.org/officeDocument/2006/relationships" xmlns:a="http://schemas.openxmlformats.org/drawingml/2006/main" r:embed="Ra5ce2d68fa3340d6"/>
          <a:stretch xmlns:a="http://schemas.openxmlformats.org/drawingml/2006/main"/>
        </p:blipFill>
        <p:spPr>
          <a:xfrm xmlns:a="http://schemas.openxmlformats.org/drawingml/2006/main">
            <a:off x="457200" y="6387465"/>
            <a:ext cx="1609725" cy="32194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5015896-19E1-486C-B922-F117E6B51123}"/>
              </a:ext>
            </a:extLst>
          </p:cNvPr>
          <p:cNvSpPr>
            <a:spLocks xmlns:a="http://schemas.openxmlformats.org/drawingml/2006/main" noGrp="1"/>
          </p:cNvSpPr>
          <p:nvPr/>
        </p:nvSpPr>
        <p:spPr>
          <a:xfrm xmlns:a="http://schemas.openxmlformats.org/drawingml/2006/main">
            <a:off x="11382375" y="64579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747474"/>
                </a:solidFill>
                <a:latin typeface="Arial"/>
                <a:ea typeface="Arial"/>
                <a:cs typeface="Arial"/>
              </a:defRPr>
            </a:defPPr>
          </a:lstStyle>
          <a:p xmlns:a="http://schemas.openxmlformats.org/drawingml/2006/main">
            <a:pPr>
              <a:defRPr sz="900" b="0">
                <a:solidFill>
                  <a:srgbClr val="747474"/>
                </a:solidFill>
                <a:latin typeface="Arial"/>
                <a:ea typeface="Arial"/>
                <a:cs typeface="Arial"/>
              </a:defRPr>
            </a:pPr>
            <a:r>
              <a:rPr sz="900" b="0">
                <a:solidFill>
                  <a:srgbClr val="747474"/>
                </a:solidFill>
                <a:latin typeface="Arial"/>
                <a:ea typeface="Arial"/>
                <a:cs typeface="Arial"/>
              </a:rPr>
              <a:t>12</a:t>
            </a:r>
          </a:p>
        </p:txBody>
      </p:sp>
      <p:pic>
        <p:nvPicPr>
          <p:cNvPr id="7" name="">
            <a:extLst xmlns:a="http://schemas.openxmlformats.org/drawingml/2006/main">
              <a:ext uri="{FF2B5EF4-FFF2-40B4-BE49-F238E27FC236}">
                <a16:creationId xmlns:a16="http://schemas.microsoft.com/office/drawing/2014/main" id="{EEF92A1F-7435-4795-901F-134445EB6B4D}"/>
              </a:ext>
            </a:extLst>
          </p:cNvPr>
          <p:cNvPicPr>
            <a:picLocks xmlns:a="http://schemas.openxmlformats.org/drawingml/2006/main" noChangeAspect="1"/>
          </p:cNvPicPr>
          <p:nvPr/>
        </p:nvPicPr>
        <p:blipFill>
          <a:blip xmlns:r="http://schemas.openxmlformats.org/officeDocument/2006/relationships" xmlns:a="http://schemas.openxmlformats.org/drawingml/2006/main" r:embed="R82f5f11ed7144cd6"/>
          <a:stretch xmlns:a="http://schemas.openxmlformats.org/drawingml/2006/main"/>
        </p:blipFill>
        <p:spPr>
          <a:xfrm xmlns:a="http://schemas.openxmlformats.org/drawingml/2006/main">
            <a:off x="2762250" y="1245487"/>
            <a:ext cx="6667500" cy="4633726"/>
          </a:xfrm>
          <a:prstGeom xmlns:a="http://schemas.openxmlformats.org/drawingml/2006/main" prst="rect">
            <a:avLst/>
          </a:prstGeom>
        </p:spPr>
      </p:pic>
    </p:spTree>
    <p:extLst>
      <p:ext uri="{BB962C8B-B14F-4D97-AF65-F5344CB8AC3E}">
        <p14:creationId xmlns:p14="http://schemas.microsoft.com/office/powerpoint/2010/main" val="163720562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382EF47-B737-47FC-9D85-691C3FA0BA39}"/>
              </a:ext>
            </a:extLst>
          </p:cNvPr>
          <p:cNvSpPr>
            <a:spLocks xmlns:a="http://schemas.openxmlformats.org/drawingml/2006/main" noGrp="1"/>
          </p:cNvSpPr>
          <p:nvPr/>
        </p:nvSpPr>
        <p:spPr>
          <a:xfrm xmlns:a="http://schemas.openxmlformats.org/drawingml/2006/main">
            <a:off x="457200" y="276225"/>
            <a:ext cx="11277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343D42"/>
                </a:solidFill>
                <a:latin typeface="Arial"/>
                <a:ea typeface="Arial"/>
                <a:cs typeface="Arial"/>
              </a:defRPr>
            </a:defPPr>
          </a:lstStyle>
          <a:p xmlns:a="http://schemas.openxmlformats.org/drawingml/2006/main">
            <a:pPr>
              <a:defRPr sz="2100" b="1">
                <a:solidFill>
                  <a:srgbClr val="343D42"/>
                </a:solidFill>
                <a:latin typeface="Arial"/>
                <a:ea typeface="Arial"/>
                <a:cs typeface="Arial"/>
              </a:defRPr>
            </a:pPr>
            <a:r>
              <a:rPr sz="2100" b="1">
                <a:solidFill>
                  <a:srgbClr val="343D42"/>
                </a:solidFill>
                <a:latin typeface="Arial"/>
                <a:ea typeface="Arial"/>
                <a:cs typeface="Arial"/>
              </a:rPr>
              <a:t>Location - Surrounding Retail</a:t>
            </a:r>
          </a:p>
        </p:txBody>
      </p:sp>
      <p:sp>
        <p:nvSpPr>
          <p:cNvPr id="2" name="">
            <a:extLst xmlns:a="http://schemas.openxmlformats.org/drawingml/2006/main">
              <a:ext uri="{FF2B5EF4-FFF2-40B4-BE49-F238E27FC236}">
                <a16:creationId xmlns:a16="http://schemas.microsoft.com/office/drawing/2014/main" id="{AA5AEB56-8BE4-4179-B476-CD7CB1F6247E}"/>
              </a:ext>
            </a:extLst>
          </p:cNvPr>
          <p:cNvSpPr>
            <a:spLocks xmlns:a="http://schemas.openxmlformats.org/drawingml/2006/main" noGrp="1"/>
          </p:cNvSpPr>
          <p:nvPr/>
        </p:nvSpPr>
        <p:spPr>
          <a:xfrm xmlns:a="http://schemas.openxmlformats.org/drawingml/2006/main">
            <a:off x="457200" y="800100"/>
            <a:ext cx="11277600" cy="9525"/>
          </a:xfrm>
          <a:prstGeom xmlns:a="http://schemas.openxmlformats.org/drawingml/2006/main" prst="rect">
            <a:avLst/>
          </a:prstGeom>
          <a:solidFill xmlns:a="http://schemas.openxmlformats.org/drawingml/2006/main">
            <a:srgbClr val="B9B9B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FFCAF7A-832E-492B-BCAC-F6844354E59F}"/>
              </a:ext>
            </a:extLst>
          </p:cNvPr>
          <p:cNvSpPr>
            <a:spLocks xmlns:a="http://schemas.openxmlformats.org/drawingml/2006/main" noGrp="1"/>
          </p:cNvSpPr>
          <p:nvPr/>
        </p:nvSpPr>
        <p:spPr>
          <a:xfrm xmlns:a="http://schemas.openxmlformats.org/drawingml/2006/main">
            <a:off x="457200" y="6257925"/>
            <a:ext cx="11277600" cy="38100"/>
          </a:xfrm>
          <a:prstGeom xmlns:a="http://schemas.openxmlformats.org/drawingml/2006/main" prst="rect">
            <a:avLst/>
          </a:prstGeom>
          <a:solidFill xmlns:a="http://schemas.openxmlformats.org/drawingml/2006/main">
            <a:srgbClr val="343D4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D79DA13-7723-4653-A114-1E98192E5AC5}"/>
              </a:ext>
            </a:extLst>
          </p:cNvPr>
          <p:cNvSpPr>
            <a:spLocks xmlns:a="http://schemas.openxmlformats.org/drawingml/2006/main" noGrp="1"/>
          </p:cNvSpPr>
          <p:nvPr/>
        </p:nvSpPr>
        <p:spPr>
          <a:xfrm xmlns:a="http://schemas.openxmlformats.org/drawingml/2006/main">
            <a:off x="457200" y="6238875"/>
            <a:ext cx="11277600" cy="19050"/>
          </a:xfrm>
          <a:prstGeom xmlns:a="http://schemas.openxmlformats.org/drawingml/2006/main" prst="rect">
            <a:avLst/>
          </a:prstGeom>
          <a:solidFill xmlns:a="http://schemas.openxmlformats.org/drawingml/2006/main">
            <a:srgbClr val="C2674B"/>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7A735FDA-AC1E-4C5F-B89C-1AC14624647D}"/>
              </a:ext>
            </a:extLst>
          </p:cNvPr>
          <p:cNvPicPr>
            <a:picLocks xmlns:a="http://schemas.openxmlformats.org/drawingml/2006/main" noChangeAspect="1"/>
          </p:cNvPicPr>
          <p:nvPr/>
        </p:nvPicPr>
        <p:blipFill>
          <a:blip xmlns:r="http://schemas.openxmlformats.org/officeDocument/2006/relationships" xmlns:a="http://schemas.openxmlformats.org/drawingml/2006/main" r:embed="Re3cc32ded6c6432e"/>
          <a:stretch xmlns:a="http://schemas.openxmlformats.org/drawingml/2006/main"/>
        </p:blipFill>
        <p:spPr>
          <a:xfrm xmlns:a="http://schemas.openxmlformats.org/drawingml/2006/main">
            <a:off x="457200" y="6387465"/>
            <a:ext cx="1609725" cy="32194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09A07EC-8005-48E3-886D-DA1BA3E5E2A8}"/>
              </a:ext>
            </a:extLst>
          </p:cNvPr>
          <p:cNvSpPr>
            <a:spLocks xmlns:a="http://schemas.openxmlformats.org/drawingml/2006/main" noGrp="1"/>
          </p:cNvSpPr>
          <p:nvPr/>
        </p:nvSpPr>
        <p:spPr>
          <a:xfrm xmlns:a="http://schemas.openxmlformats.org/drawingml/2006/main">
            <a:off x="11382375" y="64579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747474"/>
                </a:solidFill>
                <a:latin typeface="Arial"/>
                <a:ea typeface="Arial"/>
                <a:cs typeface="Arial"/>
              </a:defRPr>
            </a:defPPr>
          </a:lstStyle>
          <a:p xmlns:a="http://schemas.openxmlformats.org/drawingml/2006/main">
            <a:pPr>
              <a:defRPr sz="900" b="0">
                <a:solidFill>
                  <a:srgbClr val="747474"/>
                </a:solidFill>
                <a:latin typeface="Arial"/>
                <a:ea typeface="Arial"/>
                <a:cs typeface="Arial"/>
              </a:defRPr>
            </a:pPr>
            <a:r>
              <a:rPr sz="900" b="0">
                <a:solidFill>
                  <a:srgbClr val="747474"/>
                </a:solidFill>
                <a:latin typeface="Arial"/>
                <a:ea typeface="Arial"/>
                <a:cs typeface="Arial"/>
              </a:rPr>
              <a:t>13</a:t>
            </a:r>
          </a:p>
        </p:txBody>
      </p:sp>
      <p:pic>
        <p:nvPicPr>
          <p:cNvPr id="7" name="">
            <a:extLst xmlns:a="http://schemas.openxmlformats.org/drawingml/2006/main">
              <a:ext uri="{FF2B5EF4-FFF2-40B4-BE49-F238E27FC236}">
                <a16:creationId xmlns:a16="http://schemas.microsoft.com/office/drawing/2014/main" id="{83A3B721-09AD-4963-B5A4-553C1FB277D7}"/>
              </a:ext>
            </a:extLst>
          </p:cNvPr>
          <p:cNvPicPr>
            <a:picLocks xmlns:a="http://schemas.openxmlformats.org/drawingml/2006/main" noChangeAspect="1"/>
          </p:cNvPicPr>
          <p:nvPr/>
        </p:nvPicPr>
        <p:blipFill>
          <a:blip xmlns:r="http://schemas.openxmlformats.org/officeDocument/2006/relationships" xmlns:a="http://schemas.openxmlformats.org/drawingml/2006/main" r:embed="R33d1191c33a34dd4"/>
          <a:stretch xmlns:a="http://schemas.openxmlformats.org/drawingml/2006/main"/>
        </p:blipFill>
        <p:spPr>
          <a:xfrm xmlns:a="http://schemas.openxmlformats.org/drawingml/2006/main">
            <a:off x="2478621" y="981075"/>
            <a:ext cx="7244282" cy="5114925"/>
          </a:xfrm>
          <a:prstGeom xmlns:a="http://schemas.openxmlformats.org/drawingml/2006/main" prst="rect">
            <a:avLst/>
          </a:prstGeom>
        </p:spPr>
      </p:pic>
    </p:spTree>
    <p:extLst>
      <p:ext uri="{BB962C8B-B14F-4D97-AF65-F5344CB8AC3E}">
        <p14:creationId xmlns:p14="http://schemas.microsoft.com/office/powerpoint/2010/main" val="171439125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478A388-BA0C-4C2A-B90B-127538B86A3F}"/>
              </a:ext>
            </a:extLst>
          </p:cNvPr>
          <p:cNvSpPr>
            <a:spLocks xmlns:a="http://schemas.openxmlformats.org/drawingml/2006/main" noGrp="1"/>
          </p:cNvSpPr>
          <p:nvPr/>
        </p:nvSpPr>
        <p:spPr>
          <a:xfrm xmlns:a="http://schemas.openxmlformats.org/drawingml/2006/main">
            <a:off x="457200" y="276225"/>
            <a:ext cx="11277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343D42"/>
                </a:solidFill>
                <a:latin typeface="Arial"/>
                <a:ea typeface="Arial"/>
                <a:cs typeface="Arial"/>
              </a:defRPr>
            </a:defPPr>
          </a:lstStyle>
          <a:p xmlns:a="http://schemas.openxmlformats.org/drawingml/2006/main">
            <a:pPr>
              <a:defRPr sz="2100" b="1">
                <a:solidFill>
                  <a:srgbClr val="343D42"/>
                </a:solidFill>
                <a:latin typeface="Arial"/>
                <a:ea typeface="Arial"/>
                <a:cs typeface="Arial"/>
              </a:defRPr>
            </a:pPr>
            <a:r>
              <a:rPr sz="2100" b="1">
                <a:solidFill>
                  <a:srgbClr val="343D42"/>
                </a:solidFill>
                <a:latin typeface="Arial"/>
                <a:ea typeface="Arial"/>
                <a:cs typeface="Arial"/>
              </a:rPr>
              <a:t>Competitive Properties</a:t>
            </a:r>
          </a:p>
        </p:txBody>
      </p:sp>
      <p:sp>
        <p:nvSpPr>
          <p:cNvPr id="2" name="">
            <a:extLst xmlns:a="http://schemas.openxmlformats.org/drawingml/2006/main">
              <a:ext uri="{FF2B5EF4-FFF2-40B4-BE49-F238E27FC236}">
                <a16:creationId xmlns:a16="http://schemas.microsoft.com/office/drawing/2014/main" id="{12CFD673-4515-4020-9B17-ACCAD8F1685E}"/>
              </a:ext>
            </a:extLst>
          </p:cNvPr>
          <p:cNvSpPr>
            <a:spLocks xmlns:a="http://schemas.openxmlformats.org/drawingml/2006/main" noGrp="1"/>
          </p:cNvSpPr>
          <p:nvPr/>
        </p:nvSpPr>
        <p:spPr>
          <a:xfrm xmlns:a="http://schemas.openxmlformats.org/drawingml/2006/main">
            <a:off x="457200" y="800100"/>
            <a:ext cx="11277600" cy="9525"/>
          </a:xfrm>
          <a:prstGeom xmlns:a="http://schemas.openxmlformats.org/drawingml/2006/main" prst="rect">
            <a:avLst/>
          </a:prstGeom>
          <a:solidFill xmlns:a="http://schemas.openxmlformats.org/drawingml/2006/main">
            <a:srgbClr val="B9B9B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4440C03-9391-4A28-9EEF-CD28A573092A}"/>
              </a:ext>
            </a:extLst>
          </p:cNvPr>
          <p:cNvSpPr>
            <a:spLocks xmlns:a="http://schemas.openxmlformats.org/drawingml/2006/main" noGrp="1"/>
          </p:cNvSpPr>
          <p:nvPr/>
        </p:nvSpPr>
        <p:spPr>
          <a:xfrm xmlns:a="http://schemas.openxmlformats.org/drawingml/2006/main">
            <a:off x="457200" y="6257925"/>
            <a:ext cx="11277600" cy="38100"/>
          </a:xfrm>
          <a:prstGeom xmlns:a="http://schemas.openxmlformats.org/drawingml/2006/main" prst="rect">
            <a:avLst/>
          </a:prstGeom>
          <a:solidFill xmlns:a="http://schemas.openxmlformats.org/drawingml/2006/main">
            <a:srgbClr val="343D4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75C9955-CC94-461B-993B-B7A866D17258}"/>
              </a:ext>
            </a:extLst>
          </p:cNvPr>
          <p:cNvSpPr>
            <a:spLocks xmlns:a="http://schemas.openxmlformats.org/drawingml/2006/main" noGrp="1"/>
          </p:cNvSpPr>
          <p:nvPr/>
        </p:nvSpPr>
        <p:spPr>
          <a:xfrm xmlns:a="http://schemas.openxmlformats.org/drawingml/2006/main">
            <a:off x="457200" y="6238875"/>
            <a:ext cx="11277600" cy="19050"/>
          </a:xfrm>
          <a:prstGeom xmlns:a="http://schemas.openxmlformats.org/drawingml/2006/main" prst="rect">
            <a:avLst/>
          </a:prstGeom>
          <a:solidFill xmlns:a="http://schemas.openxmlformats.org/drawingml/2006/main">
            <a:srgbClr val="C2674B"/>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E8324673-BB33-45CA-B593-0DF5B8188046}"/>
              </a:ext>
            </a:extLst>
          </p:cNvPr>
          <p:cNvPicPr>
            <a:picLocks xmlns:a="http://schemas.openxmlformats.org/drawingml/2006/main" noChangeAspect="1"/>
          </p:cNvPicPr>
          <p:nvPr/>
        </p:nvPicPr>
        <p:blipFill>
          <a:blip xmlns:r="http://schemas.openxmlformats.org/officeDocument/2006/relationships" xmlns:a="http://schemas.openxmlformats.org/drawingml/2006/main" r:embed="R2a3d0ffc61ec4b5a"/>
          <a:stretch xmlns:a="http://schemas.openxmlformats.org/drawingml/2006/main"/>
        </p:blipFill>
        <p:spPr>
          <a:xfrm xmlns:a="http://schemas.openxmlformats.org/drawingml/2006/main">
            <a:off x="457200" y="6387465"/>
            <a:ext cx="1609725" cy="32194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2771735-7EAC-4546-B786-5C2612B97519}"/>
              </a:ext>
            </a:extLst>
          </p:cNvPr>
          <p:cNvSpPr>
            <a:spLocks xmlns:a="http://schemas.openxmlformats.org/drawingml/2006/main" noGrp="1"/>
          </p:cNvSpPr>
          <p:nvPr/>
        </p:nvSpPr>
        <p:spPr>
          <a:xfrm xmlns:a="http://schemas.openxmlformats.org/drawingml/2006/main">
            <a:off x="11382375" y="64579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747474"/>
                </a:solidFill>
                <a:latin typeface="Arial"/>
                <a:ea typeface="Arial"/>
                <a:cs typeface="Arial"/>
              </a:defRPr>
            </a:defPPr>
          </a:lstStyle>
          <a:p xmlns:a="http://schemas.openxmlformats.org/drawingml/2006/main">
            <a:pPr>
              <a:defRPr sz="900" b="0">
                <a:solidFill>
                  <a:srgbClr val="747474"/>
                </a:solidFill>
                <a:latin typeface="Arial"/>
                <a:ea typeface="Arial"/>
                <a:cs typeface="Arial"/>
              </a:defRPr>
            </a:pPr>
            <a:r>
              <a:rPr sz="900" b="0">
                <a:solidFill>
                  <a:srgbClr val="747474"/>
                </a:solidFill>
                <a:latin typeface="Arial"/>
                <a:ea typeface="Arial"/>
                <a:cs typeface="Arial"/>
              </a:rPr>
              <a:t>14</a:t>
            </a:r>
          </a:p>
        </p:txBody>
      </p:sp>
      <p:sp>
        <p:nvSpPr>
          <p:cNvPr id="7" name="">
            <a:extLst xmlns:a="http://schemas.openxmlformats.org/drawingml/2006/main">
              <a:ext uri="{FF2B5EF4-FFF2-40B4-BE49-F238E27FC236}">
                <a16:creationId xmlns:a16="http://schemas.microsoft.com/office/drawing/2014/main" id="{6566008B-D71A-405C-BF81-7B394A775868}"/>
              </a:ext>
            </a:extLst>
          </p:cNvPr>
          <p:cNvSpPr>
            <a:spLocks xmlns:a="http://schemas.openxmlformats.org/drawingml/2006/main" noGrp="1"/>
          </p:cNvSpPr>
          <p:nvPr/>
        </p:nvSpPr>
        <p:spPr>
          <a:xfrm xmlns:a="http://schemas.openxmlformats.org/drawingml/2006/main">
            <a:off x="457200" y="1019175"/>
            <a:ext cx="11277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343D42"/>
                </a:solidFill>
                <a:latin typeface="Arial"/>
                <a:ea typeface="Arial"/>
                <a:cs typeface="Arial"/>
              </a:defRPr>
            </a:defPPr>
          </a:lstStyle>
          <a:p xmlns:a="http://schemas.openxmlformats.org/drawingml/2006/main">
            <a:pPr>
              <a:defRPr sz="1500" b="0">
                <a:solidFill>
                  <a:srgbClr val="343D42"/>
                </a:solidFill>
                <a:latin typeface="Arial"/>
                <a:ea typeface="Arial"/>
                <a:cs typeface="Arial"/>
              </a:defRPr>
            </a:pPr>
            <a:r>
              <a:rPr sz="1500" b="0">
                <a:solidFill>
                  <a:srgbClr val="343D42"/>
                </a:solidFill>
                <a:latin typeface="Arial"/>
                <a:ea typeface="Arial"/>
                <a:cs typeface="Arial"/>
              </a:rPr>
              <a:t>Hollinswood benefits from its diverse tenant mix, high visibility, easy access from the Baltimore–Washington Parkway, and LA Mart’s two-decade presence in the community.</a:t>
            </a:r>
          </a:p>
        </p:txBody>
      </p:sp>
      <p:graphicFrame>
        <p:nvGraphicFramePr>
          <p:cNvPr id="8" name="">
            <a:extLst xmlns:a="http://schemas.openxmlformats.org/drawingml/2006/main">
              <a:ext uri="{FF2B5EF4-FFF2-40B4-BE49-F238E27FC236}">
                <a16:creationId xmlns:a16="http://schemas.microsoft.com/office/drawing/2014/main" id="{71EE8791-E37B-4391-B4EC-28FC9F9E540A}"/>
              </a:ext>
            </a:extLst>
          </p:cNvPr>
          <p:cNvGraphicFramePr/>
          <p:nvPr/>
        </p:nvGraphicFramePr>
        <p:xfrm>
          <a:off xmlns:a="http://schemas.openxmlformats.org/drawingml/2006/main" x="1009650" y="1838325"/>
          <a:ext xmlns:a="http://schemas.openxmlformats.org/drawingml/2006/main" cx="10172700" cy="4086225"/>
        </p:xfrm>
        <a:graphic xmlns:a="http://schemas.openxmlformats.org/drawingml/2006/main">
          <a:graphicData uri="http://schemas.openxmlformats.org/drawingml/2006/table">
            <a:tbl>
              <a:tblPr/>
              <a:tblGrid>
                <a:gridCol w="571500"/>
                <a:gridCol w="3609975"/>
                <a:gridCol w="4591050"/>
                <a:gridCol w="1400175"/>
              </a:tblGrid>
              <a:tr h="371475">
                <a:tc>
                  <a:txBody>
                    <a:bodyPr/>
                    <a:lstStyle/>
                    <a:p>
                      <a:r>
                        <a:rPr sz="1350" b="1">
                          <a:solidFill>
                            <a:srgbClr val="FFFFFF"/>
                          </a:solidFill>
                          <a:latin typeface="Arial"/>
                          <a:ea typeface="Arial"/>
                          <a:cs typeface="Arial"/>
                        </a:rPr>
                        <a:t>#</a:t>
                      </a:r>
                    </a:p>
                  </a:txBody>
                  <a:tcPr marL="47625" marR="47625" marT="19050" marB="19050" anchor="ctr">
                    <a:solidFill>
                      <a:srgbClr val="213C66"/>
                    </a:solidFill>
                  </a:tcPr>
                </a:tc>
                <a:tc>
                  <a:txBody>
                    <a:bodyPr/>
                    <a:lstStyle/>
                    <a:p>
                      <a:r>
                        <a:rPr sz="1350" b="1">
                          <a:solidFill>
                            <a:srgbClr val="FFFFFF"/>
                          </a:solidFill>
                          <a:latin typeface="Arial"/>
                          <a:ea typeface="Arial"/>
                          <a:cs typeface="Arial"/>
                        </a:rPr>
                        <a:t>Property</a:t>
                      </a:r>
                    </a:p>
                  </a:txBody>
                  <a:tcPr marL="47625" marR="47625" marT="19050" marB="19050" anchor="ctr">
                    <a:solidFill>
                      <a:srgbClr val="213C66"/>
                    </a:solidFill>
                  </a:tcPr>
                </a:tc>
                <a:tc>
                  <a:txBody>
                    <a:bodyPr/>
                    <a:lstStyle/>
                    <a:p>
                      <a:r>
                        <a:rPr sz="1350" b="1">
                          <a:solidFill>
                            <a:srgbClr val="FFFFFF"/>
                          </a:solidFill>
                          <a:latin typeface="Arial"/>
                          <a:ea typeface="Arial"/>
                          <a:cs typeface="Arial"/>
                        </a:rPr>
                        <a:t>Major tenants</a:t>
                      </a:r>
                    </a:p>
                  </a:txBody>
                  <a:tcPr marL="47625" marR="47625" marT="19050" marB="19050" anchor="ctr">
                    <a:solidFill>
                      <a:srgbClr val="213C66"/>
                    </a:solidFill>
                  </a:tcPr>
                </a:tc>
                <a:tc>
                  <a:txBody>
                    <a:bodyPr/>
                    <a:lstStyle/>
                    <a:p>
                      <a:r>
                        <a:rPr sz="1350" b="1">
                          <a:solidFill>
                            <a:srgbClr val="FFFFFF"/>
                          </a:solidFill>
                          <a:latin typeface="Arial"/>
                          <a:ea typeface="Arial"/>
                          <a:cs typeface="Arial"/>
                        </a:rPr>
                        <a:t>Visits</a:t>
                      </a:r>
                    </a:p>
                  </a:txBody>
                  <a:tcPr marL="47625" marR="47625" marT="19050" marB="19050" anchor="ctr">
                    <a:solidFill>
                      <a:srgbClr val="213C66"/>
                    </a:solidFill>
                  </a:tcPr>
                </a:tc>
              </a:tr>
              <a:tr h="371475">
                <a:tc>
                  <a:txBody>
                    <a:bodyPr/>
                    <a:lstStyle/>
                    <a:p>
                      <a:r>
                        <a:rPr sz="1350" b="0">
                          <a:solidFill>
                            <a:srgbClr val="343D42"/>
                          </a:solidFill>
                          <a:latin typeface="Arial"/>
                          <a:ea typeface="Arial"/>
                          <a:cs typeface="Arial"/>
                        </a:rPr>
                        <a:t>1</a:t>
                      </a:r>
                    </a:p>
                  </a:txBody>
                  <a:tcPr marL="47625" marR="47625" marT="19050" marB="19050" anchor="ctr">
                    <a:solidFill>
                      <a:srgbClr val="FFFFFF"/>
                    </a:solidFill>
                  </a:tcPr>
                </a:tc>
                <a:tc>
                  <a:txBody>
                    <a:bodyPr/>
                    <a:lstStyle/>
                    <a:p>
                      <a:r>
                        <a:rPr sz="1350" b="0">
                          <a:solidFill>
                            <a:srgbClr val="343D42"/>
                          </a:solidFill>
                          <a:latin typeface="Arial"/>
                          <a:ea typeface="Arial"/>
                          <a:cs typeface="Arial"/>
                        </a:rPr>
                        <a:t>Lansdowne Station</a:t>
                      </a:r>
                    </a:p>
                  </a:txBody>
                  <a:tcPr marL="47625" marR="47625" marT="19050" marB="19050" anchor="ctr">
                    <a:solidFill>
                      <a:srgbClr val="FFFFFF"/>
                    </a:solidFill>
                  </a:tcPr>
                </a:tc>
                <a:tc>
                  <a:txBody>
                    <a:bodyPr/>
                    <a:lstStyle/>
                    <a:p>
                      <a:r>
                        <a:rPr sz="1350" b="0">
                          <a:solidFill>
                            <a:srgbClr val="343D42"/>
                          </a:solidFill>
                          <a:latin typeface="Arial"/>
                          <a:ea typeface="Arial"/>
                          <a:cs typeface="Arial"/>
                        </a:rPr>
                        <a:t>Walmart, Ross, Petco</a:t>
                      </a:r>
                    </a:p>
                  </a:txBody>
                  <a:tcPr marL="47625" marR="47625" marT="19050" marB="19050" anchor="ctr">
                    <a:solidFill>
                      <a:srgbClr val="FFFFFF"/>
                    </a:solidFill>
                  </a:tcPr>
                </a:tc>
                <a:tc>
                  <a:txBody>
                    <a:bodyPr/>
                    <a:lstStyle/>
                    <a:p>
                      <a:r>
                        <a:rPr sz="1350" b="0">
                          <a:solidFill>
                            <a:srgbClr val="343D42"/>
                          </a:solidFill>
                          <a:latin typeface="Arial"/>
                          <a:ea typeface="Arial"/>
                          <a:cs typeface="Arial"/>
                        </a:rPr>
                        <a:t>5.6M</a:t>
                      </a:r>
                    </a:p>
                  </a:txBody>
                  <a:tcPr marL="47625" marR="47625" marT="19050" marB="19050" anchor="ctr">
                    <a:solidFill>
                      <a:srgbClr val="FFFFFF"/>
                    </a:solidFill>
                  </a:tcPr>
                </a:tc>
              </a:tr>
              <a:tr h="371475">
                <a:tc>
                  <a:txBody>
                    <a:bodyPr/>
                    <a:lstStyle/>
                    <a:p>
                      <a:r>
                        <a:rPr sz="1350" b="0">
                          <a:solidFill>
                            <a:srgbClr val="343D42"/>
                          </a:solidFill>
                          <a:latin typeface="Arial"/>
                          <a:ea typeface="Arial"/>
                          <a:cs typeface="Arial"/>
                        </a:rPr>
                        <a:t>2</a:t>
                      </a:r>
                    </a:p>
                  </a:txBody>
                  <a:tcPr marL="47625" marR="47625" marT="19050" marB="19050" anchor="ctr">
                    <a:solidFill>
                      <a:srgbClr val="F3F5F6"/>
                    </a:solidFill>
                  </a:tcPr>
                </a:tc>
                <a:tc>
                  <a:txBody>
                    <a:bodyPr/>
                    <a:lstStyle/>
                    <a:p>
                      <a:r>
                        <a:rPr sz="1350" b="0">
                          <a:solidFill>
                            <a:srgbClr val="343D42"/>
                          </a:solidFill>
                          <a:latin typeface="Arial"/>
                          <a:ea typeface="Arial"/>
                          <a:cs typeface="Arial"/>
                        </a:rPr>
                        <a:t>Wilkens Beltway Plaza</a:t>
                      </a:r>
                    </a:p>
                  </a:txBody>
                  <a:tcPr marL="47625" marR="47625" marT="19050" marB="19050" anchor="ctr">
                    <a:solidFill>
                      <a:srgbClr val="F3F5F6"/>
                    </a:solidFill>
                  </a:tcPr>
                </a:tc>
                <a:tc>
                  <a:txBody>
                    <a:bodyPr/>
                    <a:lstStyle/>
                    <a:p>
                      <a:r>
                        <a:rPr sz="1350" b="0">
                          <a:solidFill>
                            <a:srgbClr val="343D42"/>
                          </a:solidFill>
                          <a:latin typeface="Arial"/>
                          <a:ea typeface="Arial"/>
                          <a:cs typeface="Arial"/>
                        </a:rPr>
                        <a:t>Giant, Ledo Pizza</a:t>
                      </a:r>
                    </a:p>
                  </a:txBody>
                  <a:tcPr marL="47625" marR="47625" marT="19050" marB="19050" anchor="ctr">
                    <a:solidFill>
                      <a:srgbClr val="F3F5F6"/>
                    </a:solidFill>
                  </a:tcPr>
                </a:tc>
                <a:tc>
                  <a:txBody>
                    <a:bodyPr/>
                    <a:lstStyle/>
                    <a:p>
                      <a:r>
                        <a:rPr sz="1350" b="0">
                          <a:solidFill>
                            <a:srgbClr val="343D42"/>
                          </a:solidFill>
                          <a:latin typeface="Arial"/>
                          <a:ea typeface="Arial"/>
                          <a:cs typeface="Arial"/>
                        </a:rPr>
                        <a:t>2.6M</a:t>
                      </a:r>
                    </a:p>
                  </a:txBody>
                  <a:tcPr marL="47625" marR="47625" marT="19050" marB="19050" anchor="ctr">
                    <a:solidFill>
                      <a:srgbClr val="F3F5F6"/>
                    </a:solidFill>
                  </a:tcPr>
                </a:tc>
              </a:tr>
              <a:tr h="371475">
                <a:tc>
                  <a:txBody>
                    <a:bodyPr/>
                    <a:lstStyle/>
                    <a:p>
                      <a:r>
                        <a:rPr sz="1350" b="0">
                          <a:solidFill>
                            <a:srgbClr val="343D42"/>
                          </a:solidFill>
                          <a:latin typeface="Arial"/>
                          <a:ea typeface="Arial"/>
                          <a:cs typeface="Arial"/>
                        </a:rPr>
                        <a:t>3</a:t>
                      </a:r>
                    </a:p>
                  </a:txBody>
                  <a:tcPr marL="47625" marR="47625" marT="19050" marB="19050" anchor="ctr">
                    <a:solidFill>
                      <a:srgbClr val="D5EBA3"/>
                    </a:solidFill>
                  </a:tcPr>
                </a:tc>
                <a:tc>
                  <a:txBody>
                    <a:bodyPr/>
                    <a:lstStyle/>
                    <a:p>
                      <a:r>
                        <a:rPr sz="1350" b="0">
                          <a:solidFill>
                            <a:srgbClr val="343D42"/>
                          </a:solidFill>
                          <a:latin typeface="Arial"/>
                          <a:ea typeface="Arial"/>
                          <a:cs typeface="Arial"/>
                        </a:rPr>
                        <a:t>Hollinswood Shopping Center</a:t>
                      </a:r>
                    </a:p>
                  </a:txBody>
                  <a:tcPr marL="47625" marR="47625" marT="19050" marB="19050" anchor="ctr">
                    <a:solidFill>
                      <a:srgbClr val="D5EBA3"/>
                    </a:solidFill>
                  </a:tcPr>
                </a:tc>
                <a:tc>
                  <a:txBody>
                    <a:bodyPr/>
                    <a:lstStyle/>
                    <a:p>
                      <a:r>
                        <a:rPr sz="1350" b="0">
                          <a:solidFill>
                            <a:srgbClr val="343D42"/>
                          </a:solidFill>
                          <a:latin typeface="Arial"/>
                          <a:ea typeface="Arial"/>
                          <a:cs typeface="Arial"/>
                        </a:rPr>
                        <a:t>LA Mart, Planet Fitness, Dollar General</a:t>
                      </a:r>
                    </a:p>
                  </a:txBody>
                  <a:tcPr marL="47625" marR="47625" marT="19050" marB="19050" anchor="ctr">
                    <a:solidFill>
                      <a:srgbClr val="D5EBA3"/>
                    </a:solidFill>
                  </a:tcPr>
                </a:tc>
                <a:tc>
                  <a:txBody>
                    <a:bodyPr/>
                    <a:lstStyle/>
                    <a:p>
                      <a:r>
                        <a:rPr sz="1350" b="0">
                          <a:solidFill>
                            <a:srgbClr val="343D42"/>
                          </a:solidFill>
                          <a:latin typeface="Arial"/>
                          <a:ea typeface="Arial"/>
                          <a:cs typeface="Arial"/>
                        </a:rPr>
                        <a:t>1.7M</a:t>
                      </a:r>
                    </a:p>
                  </a:txBody>
                  <a:tcPr marL="47625" marR="47625" marT="19050" marB="19050" anchor="ctr">
                    <a:solidFill>
                      <a:srgbClr val="D5EBA3"/>
                    </a:solidFill>
                  </a:tcPr>
                </a:tc>
              </a:tr>
              <a:tr h="371475">
                <a:tc>
                  <a:txBody>
                    <a:bodyPr/>
                    <a:lstStyle/>
                    <a:p>
                      <a:r>
                        <a:rPr sz="1350" b="0">
                          <a:solidFill>
                            <a:srgbClr val="343D42"/>
                          </a:solidFill>
                          <a:latin typeface="Arial"/>
                          <a:ea typeface="Arial"/>
                          <a:cs typeface="Arial"/>
                        </a:rPr>
                        <a:t>4</a:t>
                      </a:r>
                    </a:p>
                  </a:txBody>
                  <a:tcPr marL="47625" marR="47625" marT="19050" marB="19050" anchor="ctr">
                    <a:solidFill>
                      <a:srgbClr val="F3F5F6"/>
                    </a:solidFill>
                  </a:tcPr>
                </a:tc>
                <a:tc>
                  <a:txBody>
                    <a:bodyPr/>
                    <a:lstStyle/>
                    <a:p>
                      <a:r>
                        <a:rPr sz="1350" b="0">
                          <a:solidFill>
                            <a:srgbClr val="343D42"/>
                          </a:solidFill>
                          <a:latin typeface="Arial"/>
                          <a:ea typeface="Arial"/>
                          <a:cs typeface="Arial"/>
                        </a:rPr>
                        <a:t>Southside Marketplace</a:t>
                      </a:r>
                    </a:p>
                  </a:txBody>
                  <a:tcPr marL="47625" marR="47625" marT="19050" marB="19050" anchor="ctr">
                    <a:solidFill>
                      <a:srgbClr val="F3F5F6"/>
                    </a:solidFill>
                  </a:tcPr>
                </a:tc>
                <a:tc>
                  <a:txBody>
                    <a:bodyPr/>
                    <a:lstStyle/>
                    <a:p>
                      <a:r>
                        <a:rPr sz="1350" b="0">
                          <a:solidFill>
                            <a:srgbClr val="343D42"/>
                          </a:solidFill>
                          <a:latin typeface="Arial"/>
                          <a:ea typeface="Arial"/>
                          <a:cs typeface="Arial"/>
                        </a:rPr>
                        <a:t>Giant, Starbucks, McDonald’s</a:t>
                      </a:r>
                    </a:p>
                  </a:txBody>
                  <a:tcPr marL="47625" marR="47625" marT="19050" marB="19050" anchor="ctr">
                    <a:solidFill>
                      <a:srgbClr val="F3F5F6"/>
                    </a:solidFill>
                  </a:tcPr>
                </a:tc>
                <a:tc>
                  <a:txBody>
                    <a:bodyPr/>
                    <a:lstStyle/>
                    <a:p>
                      <a:r>
                        <a:rPr sz="1350" b="0">
                          <a:solidFill>
                            <a:srgbClr val="343D42"/>
                          </a:solidFill>
                          <a:latin typeface="Arial"/>
                          <a:ea typeface="Arial"/>
                          <a:cs typeface="Arial"/>
                        </a:rPr>
                        <a:t>1.5M</a:t>
                      </a:r>
                    </a:p>
                  </a:txBody>
                  <a:tcPr marL="47625" marR="47625" marT="19050" marB="19050" anchor="ctr">
                    <a:solidFill>
                      <a:srgbClr val="F3F5F6"/>
                    </a:solidFill>
                  </a:tcPr>
                </a:tc>
              </a:tr>
              <a:tr h="371475">
                <a:tc>
                  <a:txBody>
                    <a:bodyPr/>
                    <a:lstStyle/>
                    <a:p>
                      <a:r>
                        <a:rPr sz="1350" b="0">
                          <a:solidFill>
                            <a:srgbClr val="343D42"/>
                          </a:solidFill>
                          <a:latin typeface="Arial"/>
                          <a:ea typeface="Arial"/>
                          <a:cs typeface="Arial"/>
                        </a:rPr>
                        <a:t>5</a:t>
                      </a:r>
                    </a:p>
                  </a:txBody>
                  <a:tcPr marL="47625" marR="47625" marT="19050" marB="19050" anchor="ctr">
                    <a:solidFill>
                      <a:srgbClr val="FFFFFF"/>
                    </a:solidFill>
                  </a:tcPr>
                </a:tc>
                <a:tc>
                  <a:txBody>
                    <a:bodyPr/>
                    <a:lstStyle/>
                    <a:p>
                      <a:r>
                        <a:rPr sz="1350" b="0">
                          <a:solidFill>
                            <a:srgbClr val="343D42"/>
                          </a:solidFill>
                          <a:latin typeface="Arial"/>
                          <a:ea typeface="Arial"/>
                          <a:cs typeface="Arial"/>
                        </a:rPr>
                        <a:t>Arbutus Shopping Center</a:t>
                      </a:r>
                    </a:p>
                  </a:txBody>
                  <a:tcPr marL="47625" marR="47625" marT="19050" marB="19050" anchor="ctr">
                    <a:solidFill>
                      <a:srgbClr val="FFFFFF"/>
                    </a:solidFill>
                  </a:tcPr>
                </a:tc>
                <a:tc>
                  <a:txBody>
                    <a:bodyPr/>
                    <a:lstStyle/>
                    <a:p>
                      <a:r>
                        <a:rPr sz="1350" b="0">
                          <a:solidFill>
                            <a:srgbClr val="343D42"/>
                          </a:solidFill>
                          <a:latin typeface="Arial"/>
                          <a:ea typeface="Arial"/>
                          <a:cs typeface="Arial"/>
                        </a:rPr>
                        <a:t>Weis, Dollar Tree, Truist</a:t>
                      </a:r>
                    </a:p>
                  </a:txBody>
                  <a:tcPr marL="47625" marR="47625" marT="19050" marB="19050" anchor="ctr">
                    <a:solidFill>
                      <a:srgbClr val="FFFFFF"/>
                    </a:solidFill>
                  </a:tcPr>
                </a:tc>
                <a:tc>
                  <a:txBody>
                    <a:bodyPr/>
                    <a:lstStyle/>
                    <a:p>
                      <a:r>
                        <a:rPr sz="1350" b="0">
                          <a:solidFill>
                            <a:srgbClr val="343D42"/>
                          </a:solidFill>
                          <a:latin typeface="Arial"/>
                          <a:ea typeface="Arial"/>
                          <a:cs typeface="Arial"/>
                        </a:rPr>
                        <a:t>1.3M</a:t>
                      </a:r>
                    </a:p>
                  </a:txBody>
                  <a:tcPr marL="47625" marR="47625" marT="19050" marB="19050" anchor="ctr">
                    <a:solidFill>
                      <a:srgbClr val="FFFFFF"/>
                    </a:solidFill>
                  </a:tcPr>
                </a:tc>
              </a:tr>
              <a:tr h="371475">
                <a:tc>
                  <a:txBody>
                    <a:bodyPr/>
                    <a:lstStyle/>
                    <a:p>
                      <a:r>
                        <a:rPr sz="1350" b="0">
                          <a:solidFill>
                            <a:srgbClr val="343D42"/>
                          </a:solidFill>
                          <a:latin typeface="Arial"/>
                          <a:ea typeface="Arial"/>
                          <a:cs typeface="Arial"/>
                        </a:rPr>
                        <a:t>6</a:t>
                      </a:r>
                    </a:p>
                  </a:txBody>
                  <a:tcPr marL="47625" marR="47625" marT="19050" marB="19050" anchor="ctr">
                    <a:solidFill>
                      <a:srgbClr val="F3F5F6"/>
                    </a:solidFill>
                  </a:tcPr>
                </a:tc>
                <a:tc>
                  <a:txBody>
                    <a:bodyPr/>
                    <a:lstStyle/>
                    <a:p>
                      <a:r>
                        <a:rPr sz="1350" b="0">
                          <a:solidFill>
                            <a:srgbClr val="343D42"/>
                          </a:solidFill>
                          <a:latin typeface="Arial"/>
                          <a:ea typeface="Arial"/>
                          <a:cs typeface="Arial"/>
                        </a:rPr>
                        <a:t>Patapsco Village</a:t>
                      </a:r>
                    </a:p>
                  </a:txBody>
                  <a:tcPr marL="47625" marR="47625" marT="19050" marB="19050" anchor="ctr">
                    <a:solidFill>
                      <a:srgbClr val="F3F5F6"/>
                    </a:solidFill>
                  </a:tcPr>
                </a:tc>
                <a:tc>
                  <a:txBody>
                    <a:bodyPr/>
                    <a:lstStyle/>
                    <a:p>
                      <a:r>
                        <a:rPr sz="1350" b="0">
                          <a:solidFill>
                            <a:srgbClr val="343D42"/>
                          </a:solidFill>
                          <a:latin typeface="Arial"/>
                          <a:ea typeface="Arial"/>
                          <a:cs typeface="Arial"/>
                        </a:rPr>
                        <a:t>Megamart, RAC, Rainbow</a:t>
                      </a:r>
                    </a:p>
                  </a:txBody>
                  <a:tcPr marL="47625" marR="47625" marT="19050" marB="19050" anchor="ctr">
                    <a:solidFill>
                      <a:srgbClr val="F3F5F6"/>
                    </a:solidFill>
                  </a:tcPr>
                </a:tc>
                <a:tc>
                  <a:txBody>
                    <a:bodyPr/>
                    <a:lstStyle/>
                    <a:p>
                      <a:r>
                        <a:rPr sz="1350" b="0">
                          <a:solidFill>
                            <a:srgbClr val="343D42"/>
                          </a:solidFill>
                          <a:latin typeface="Arial"/>
                          <a:ea typeface="Arial"/>
                          <a:cs typeface="Arial"/>
                        </a:rPr>
                        <a:t>1.1M</a:t>
                      </a:r>
                    </a:p>
                  </a:txBody>
                  <a:tcPr marL="47625" marR="47625" marT="19050" marB="19050" anchor="ctr">
                    <a:solidFill>
                      <a:srgbClr val="F3F5F6"/>
                    </a:solidFill>
                  </a:tcPr>
                </a:tc>
              </a:tr>
              <a:tr h="371475">
                <a:tc>
                  <a:txBody>
                    <a:bodyPr/>
                    <a:lstStyle/>
                    <a:p>
                      <a:r>
                        <a:rPr sz="1350" b="0">
                          <a:solidFill>
                            <a:srgbClr val="343D42"/>
                          </a:solidFill>
                          <a:latin typeface="Arial"/>
                          <a:ea typeface="Arial"/>
                          <a:cs typeface="Arial"/>
                        </a:rPr>
                        <a:t>7</a:t>
                      </a:r>
                    </a:p>
                  </a:txBody>
                  <a:tcPr marL="47625" marR="47625" marT="19050" marB="19050" anchor="ctr">
                    <a:solidFill>
                      <a:srgbClr val="FFFFFF"/>
                    </a:solidFill>
                  </a:tcPr>
                </a:tc>
                <a:tc>
                  <a:txBody>
                    <a:bodyPr/>
                    <a:lstStyle/>
                    <a:p>
                      <a:r>
                        <a:rPr sz="1350" b="0">
                          <a:solidFill>
                            <a:srgbClr val="343D42"/>
                          </a:solidFill>
                          <a:latin typeface="Arial"/>
                          <a:ea typeface="Arial"/>
                          <a:cs typeface="Arial"/>
                        </a:rPr>
                        <a:t>McHenry Row</a:t>
                      </a:r>
                    </a:p>
                  </a:txBody>
                  <a:tcPr marL="47625" marR="47625" marT="19050" marB="19050" anchor="ctr">
                    <a:solidFill>
                      <a:srgbClr val="FFFFFF"/>
                    </a:solidFill>
                  </a:tcPr>
                </a:tc>
                <a:tc>
                  <a:txBody>
                    <a:bodyPr/>
                    <a:lstStyle/>
                    <a:p>
                      <a:r>
                        <a:rPr sz="1350" b="0">
                          <a:solidFill>
                            <a:srgbClr val="343D42"/>
                          </a:solidFill>
                          <a:latin typeface="Arial"/>
                          <a:ea typeface="Arial"/>
                          <a:cs typeface="Arial"/>
                        </a:rPr>
                        <a:t>Harris Teeter, M&amp;T Bank, Starbucks</a:t>
                      </a:r>
                    </a:p>
                  </a:txBody>
                  <a:tcPr marL="47625" marR="47625" marT="19050" marB="19050" anchor="ctr">
                    <a:solidFill>
                      <a:srgbClr val="FFFFFF"/>
                    </a:solidFill>
                  </a:tcPr>
                </a:tc>
                <a:tc>
                  <a:txBody>
                    <a:bodyPr/>
                    <a:lstStyle/>
                    <a:p>
                      <a:r>
                        <a:rPr sz="1350" b="0">
                          <a:solidFill>
                            <a:srgbClr val="343D42"/>
                          </a:solidFill>
                          <a:latin typeface="Arial"/>
                          <a:ea typeface="Arial"/>
                          <a:cs typeface="Arial"/>
                        </a:rPr>
                        <a:t>1.1M</a:t>
                      </a:r>
                    </a:p>
                  </a:txBody>
                  <a:tcPr marL="47625" marR="47625" marT="19050" marB="19050" anchor="ctr">
                    <a:solidFill>
                      <a:srgbClr val="FFFFFF"/>
                    </a:solidFill>
                  </a:tcPr>
                </a:tc>
              </a:tr>
              <a:tr h="371475">
                <a:tc>
                  <a:txBody>
                    <a:bodyPr/>
                    <a:lstStyle/>
                    <a:p>
                      <a:r>
                        <a:rPr sz="1350" b="0">
                          <a:solidFill>
                            <a:srgbClr val="343D42"/>
                          </a:solidFill>
                          <a:latin typeface="Arial"/>
                          <a:ea typeface="Arial"/>
                          <a:cs typeface="Arial"/>
                        </a:rPr>
                        <a:t>8</a:t>
                      </a:r>
                    </a:p>
                  </a:txBody>
                  <a:tcPr marL="47625" marR="47625" marT="19050" marB="19050" anchor="ctr">
                    <a:solidFill>
                      <a:srgbClr val="F3F5F6"/>
                    </a:solidFill>
                  </a:tcPr>
                </a:tc>
                <a:tc>
                  <a:txBody>
                    <a:bodyPr/>
                    <a:lstStyle/>
                    <a:p>
                      <a:r>
                        <a:rPr sz="1350" b="0">
                          <a:solidFill>
                            <a:srgbClr val="343D42"/>
                          </a:solidFill>
                          <a:latin typeface="Arial"/>
                          <a:ea typeface="Arial"/>
                          <a:cs typeface="Arial"/>
                        </a:rPr>
                        <a:t>Brooklyn Park Plaza</a:t>
                      </a:r>
                    </a:p>
                  </a:txBody>
                  <a:tcPr marL="47625" marR="47625" marT="19050" marB="19050" anchor="ctr">
                    <a:solidFill>
                      <a:srgbClr val="F3F5F6"/>
                    </a:solidFill>
                  </a:tcPr>
                </a:tc>
                <a:tc>
                  <a:txBody>
                    <a:bodyPr/>
                    <a:lstStyle/>
                    <a:p>
                      <a:r>
                        <a:rPr sz="1350" b="0">
                          <a:solidFill>
                            <a:srgbClr val="343D42"/>
                          </a:solidFill>
                          <a:latin typeface="Arial"/>
                          <a:ea typeface="Arial"/>
                          <a:cs typeface="Arial"/>
                        </a:rPr>
                        <a:t>Save a Lot, AutoZone, McDonald’s</a:t>
                      </a:r>
                    </a:p>
                  </a:txBody>
                  <a:tcPr marL="47625" marR="47625" marT="19050" marB="19050" anchor="ctr">
                    <a:solidFill>
                      <a:srgbClr val="F3F5F6"/>
                    </a:solidFill>
                  </a:tcPr>
                </a:tc>
                <a:tc>
                  <a:txBody>
                    <a:bodyPr/>
                    <a:lstStyle/>
                    <a:p>
                      <a:r>
                        <a:rPr sz="1350" b="0">
                          <a:solidFill>
                            <a:srgbClr val="343D42"/>
                          </a:solidFill>
                          <a:latin typeface="Arial"/>
                          <a:ea typeface="Arial"/>
                          <a:cs typeface="Arial"/>
                        </a:rPr>
                        <a:t>1.1M</a:t>
                      </a:r>
                    </a:p>
                  </a:txBody>
                  <a:tcPr marL="47625" marR="47625" marT="19050" marB="19050" anchor="ctr">
                    <a:solidFill>
                      <a:srgbClr val="F3F5F6"/>
                    </a:solidFill>
                  </a:tcPr>
                </a:tc>
              </a:tr>
              <a:tr h="371475">
                <a:tc>
                  <a:txBody>
                    <a:bodyPr/>
                    <a:lstStyle/>
                    <a:p>
                      <a:r>
                        <a:rPr sz="1350" b="0">
                          <a:solidFill>
                            <a:srgbClr val="343D42"/>
                          </a:solidFill>
                          <a:latin typeface="Arial"/>
                          <a:ea typeface="Arial"/>
                          <a:cs typeface="Arial"/>
                        </a:rPr>
                        <a:t>9</a:t>
                      </a:r>
                    </a:p>
                  </a:txBody>
                  <a:tcPr marL="47625" marR="47625" marT="19050" marB="19050" anchor="ctr">
                    <a:solidFill>
                      <a:srgbClr val="FFFFFF"/>
                    </a:solidFill>
                  </a:tcPr>
                </a:tc>
                <a:tc>
                  <a:txBody>
                    <a:bodyPr/>
                    <a:lstStyle/>
                    <a:p>
                      <a:r>
                        <a:rPr sz="1350" b="0">
                          <a:solidFill>
                            <a:srgbClr val="343D42"/>
                          </a:solidFill>
                          <a:latin typeface="Arial"/>
                          <a:ea typeface="Arial"/>
                          <a:cs typeface="Arial"/>
                        </a:rPr>
                        <a:t>Ritchie Highway Shopping Center</a:t>
                      </a:r>
                    </a:p>
                  </a:txBody>
                  <a:tcPr marL="47625" marR="47625" marT="19050" marB="19050" anchor="ctr">
                    <a:solidFill>
                      <a:srgbClr val="FFFFFF"/>
                    </a:solidFill>
                  </a:tcPr>
                </a:tc>
                <a:tc>
                  <a:txBody>
                    <a:bodyPr/>
                    <a:lstStyle/>
                    <a:p>
                      <a:r>
                        <a:rPr sz="1350" b="0">
                          <a:solidFill>
                            <a:srgbClr val="343D42"/>
                          </a:solidFill>
                          <a:latin typeface="Arial"/>
                          <a:ea typeface="Arial"/>
                          <a:cs typeface="Arial"/>
                        </a:rPr>
                        <a:t>Shell, U-Haul, Subway</a:t>
                      </a:r>
                    </a:p>
                  </a:txBody>
                  <a:tcPr marL="47625" marR="47625" marT="19050" marB="19050" anchor="ctr">
                    <a:solidFill>
                      <a:srgbClr val="FFFFFF"/>
                    </a:solidFill>
                  </a:tcPr>
                </a:tc>
                <a:tc>
                  <a:txBody>
                    <a:bodyPr/>
                    <a:lstStyle/>
                    <a:p>
                      <a:r>
                        <a:rPr sz="1350" b="0">
                          <a:solidFill>
                            <a:srgbClr val="343D42"/>
                          </a:solidFill>
                          <a:latin typeface="Arial"/>
                          <a:ea typeface="Arial"/>
                          <a:cs typeface="Arial"/>
                        </a:rPr>
                        <a:t>782K</a:t>
                      </a:r>
                    </a:p>
                  </a:txBody>
                  <a:tcPr marL="47625" marR="47625" marT="19050" marB="19050" anchor="ctr">
                    <a:solidFill>
                      <a:srgbClr val="FFFFFF"/>
                    </a:solidFill>
                  </a:tcPr>
                </a:tc>
              </a:tr>
              <a:tr h="371475">
                <a:tc>
                  <a:txBody>
                    <a:bodyPr/>
                    <a:lstStyle/>
                    <a:p>
                      <a:r>
                        <a:rPr sz="1350" b="0">
                          <a:solidFill>
                            <a:srgbClr val="343D42"/>
                          </a:solidFill>
                          <a:latin typeface="Arial"/>
                          <a:ea typeface="Arial"/>
                          <a:cs typeface="Arial"/>
                        </a:rPr>
                        <a:t>10</a:t>
                      </a:r>
                    </a:p>
                  </a:txBody>
                  <a:tcPr marL="47625" marR="47625" marT="19050" marB="19050" anchor="ctr">
                    <a:solidFill>
                      <a:srgbClr val="F3F5F6"/>
                    </a:solidFill>
                  </a:tcPr>
                </a:tc>
                <a:tc>
                  <a:txBody>
                    <a:bodyPr/>
                    <a:lstStyle/>
                    <a:p>
                      <a:r>
                        <a:rPr sz="1350" b="0">
                          <a:solidFill>
                            <a:srgbClr val="343D42"/>
                          </a:solidFill>
                          <a:latin typeface="Arial"/>
                          <a:ea typeface="Arial"/>
                          <a:cs typeface="Arial"/>
                        </a:rPr>
                        <a:t>East Drive Shopping Center</a:t>
                      </a:r>
                    </a:p>
                  </a:txBody>
                  <a:tcPr marL="47625" marR="47625" marT="19050" marB="19050" anchor="ctr">
                    <a:solidFill>
                      <a:srgbClr val="F3F5F6"/>
                    </a:solidFill>
                  </a:tcPr>
                </a:tc>
                <a:tc>
                  <a:txBody>
                    <a:bodyPr/>
                    <a:lstStyle/>
                    <a:p>
                      <a:r>
                        <a:rPr sz="1350" b="0">
                          <a:solidFill>
                            <a:srgbClr val="343D42"/>
                          </a:solidFill>
                          <a:latin typeface="Arial"/>
                          <a:ea typeface="Arial"/>
                          <a:cs typeface="Arial"/>
                        </a:rPr>
                        <a:t>Dollar General, Save a Lot, Hallmark</a:t>
                      </a:r>
                    </a:p>
                  </a:txBody>
                  <a:tcPr marL="47625" marR="47625" marT="19050" marB="19050" anchor="ctr">
                    <a:solidFill>
                      <a:srgbClr val="F3F5F6"/>
                    </a:solidFill>
                  </a:tcPr>
                </a:tc>
                <a:tc>
                  <a:txBody>
                    <a:bodyPr/>
                    <a:lstStyle/>
                    <a:p>
                      <a:r>
                        <a:rPr sz="1350" b="0">
                          <a:solidFill>
                            <a:srgbClr val="343D42"/>
                          </a:solidFill>
                          <a:latin typeface="Arial"/>
                          <a:ea typeface="Arial"/>
                          <a:cs typeface="Arial"/>
                        </a:rPr>
                        <a:t>707K</a:t>
                      </a:r>
                    </a:p>
                  </a:txBody>
                  <a:tcPr marL="47625" marR="47625" marT="19050" marB="19050" anchor="ctr">
                    <a:solidFill>
                      <a:srgbClr val="F3F5F6"/>
                    </a:solidFill>
                  </a:tcPr>
                </a:tc>
              </a:tr>
            </a:tbl>
          </a:graphicData>
        </a:graphic>
      </p:graphicFrame>
    </p:spTree>
    <p:extLst>
      <p:ext uri="{BB962C8B-B14F-4D97-AF65-F5344CB8AC3E}">
        <p14:creationId xmlns:p14="http://schemas.microsoft.com/office/powerpoint/2010/main" val="8969702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B9B6D9A-AC2B-4CF1-B946-BE383E97DBBC}"/>
              </a:ext>
            </a:extLst>
          </p:cNvPr>
          <p:cNvSpPr>
            <a:spLocks xmlns:a="http://schemas.openxmlformats.org/drawingml/2006/main" noGrp="1"/>
          </p:cNvSpPr>
          <p:nvPr/>
        </p:nvSpPr>
        <p:spPr>
          <a:xfrm xmlns:a="http://schemas.openxmlformats.org/drawingml/2006/main">
            <a:off x="457200" y="276225"/>
            <a:ext cx="11277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343D42"/>
                </a:solidFill>
                <a:latin typeface="Arial"/>
                <a:ea typeface="Arial"/>
                <a:cs typeface="Arial"/>
              </a:defRPr>
            </a:defPPr>
          </a:lstStyle>
          <a:p xmlns:a="http://schemas.openxmlformats.org/drawingml/2006/main">
            <a:pPr>
              <a:defRPr sz="2100" b="1">
                <a:solidFill>
                  <a:srgbClr val="343D42"/>
                </a:solidFill>
                <a:latin typeface="Arial"/>
                <a:ea typeface="Arial"/>
                <a:cs typeface="Arial"/>
              </a:defRPr>
            </a:pPr>
            <a:r>
              <a:rPr sz="2100" b="1">
                <a:solidFill>
                  <a:srgbClr val="343D42"/>
                </a:solidFill>
                <a:latin typeface="Arial"/>
                <a:ea typeface="Arial"/>
                <a:cs typeface="Arial"/>
              </a:rPr>
              <a:t>Market Overview</a:t>
            </a:r>
          </a:p>
        </p:txBody>
      </p:sp>
      <p:sp>
        <p:nvSpPr>
          <p:cNvPr id="2" name="">
            <a:extLst xmlns:a="http://schemas.openxmlformats.org/drawingml/2006/main">
              <a:ext uri="{FF2B5EF4-FFF2-40B4-BE49-F238E27FC236}">
                <a16:creationId xmlns:a16="http://schemas.microsoft.com/office/drawing/2014/main" id="{3036D93A-FB50-49A5-BA76-2A82FDF236CC}"/>
              </a:ext>
            </a:extLst>
          </p:cNvPr>
          <p:cNvSpPr>
            <a:spLocks xmlns:a="http://schemas.openxmlformats.org/drawingml/2006/main" noGrp="1"/>
          </p:cNvSpPr>
          <p:nvPr/>
        </p:nvSpPr>
        <p:spPr>
          <a:xfrm xmlns:a="http://schemas.openxmlformats.org/drawingml/2006/main">
            <a:off x="457200" y="800100"/>
            <a:ext cx="11277600" cy="9525"/>
          </a:xfrm>
          <a:prstGeom xmlns:a="http://schemas.openxmlformats.org/drawingml/2006/main" prst="rect">
            <a:avLst/>
          </a:prstGeom>
          <a:solidFill xmlns:a="http://schemas.openxmlformats.org/drawingml/2006/main">
            <a:srgbClr val="B9B9B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CB3910C-AD9B-4E36-A694-86E041F18B25}"/>
              </a:ext>
            </a:extLst>
          </p:cNvPr>
          <p:cNvSpPr>
            <a:spLocks xmlns:a="http://schemas.openxmlformats.org/drawingml/2006/main" noGrp="1"/>
          </p:cNvSpPr>
          <p:nvPr/>
        </p:nvSpPr>
        <p:spPr>
          <a:xfrm xmlns:a="http://schemas.openxmlformats.org/drawingml/2006/main">
            <a:off x="457200" y="6257925"/>
            <a:ext cx="11277600" cy="38100"/>
          </a:xfrm>
          <a:prstGeom xmlns:a="http://schemas.openxmlformats.org/drawingml/2006/main" prst="rect">
            <a:avLst/>
          </a:prstGeom>
          <a:solidFill xmlns:a="http://schemas.openxmlformats.org/drawingml/2006/main">
            <a:srgbClr val="343D4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B5040C6-9471-4B9A-869B-9293CE1C3E6B}"/>
              </a:ext>
            </a:extLst>
          </p:cNvPr>
          <p:cNvSpPr>
            <a:spLocks xmlns:a="http://schemas.openxmlformats.org/drawingml/2006/main" noGrp="1"/>
          </p:cNvSpPr>
          <p:nvPr/>
        </p:nvSpPr>
        <p:spPr>
          <a:xfrm xmlns:a="http://schemas.openxmlformats.org/drawingml/2006/main">
            <a:off x="457200" y="6238875"/>
            <a:ext cx="11277600" cy="19050"/>
          </a:xfrm>
          <a:prstGeom xmlns:a="http://schemas.openxmlformats.org/drawingml/2006/main" prst="rect">
            <a:avLst/>
          </a:prstGeom>
          <a:solidFill xmlns:a="http://schemas.openxmlformats.org/drawingml/2006/main">
            <a:srgbClr val="C2674B"/>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4ED0EC56-1CEC-4310-8457-1FF0AF402D85}"/>
              </a:ext>
            </a:extLst>
          </p:cNvPr>
          <p:cNvPicPr>
            <a:picLocks xmlns:a="http://schemas.openxmlformats.org/drawingml/2006/main" noChangeAspect="1"/>
          </p:cNvPicPr>
          <p:nvPr/>
        </p:nvPicPr>
        <p:blipFill>
          <a:blip xmlns:r="http://schemas.openxmlformats.org/officeDocument/2006/relationships" xmlns:a="http://schemas.openxmlformats.org/drawingml/2006/main" r:embed="Rf2dd2dd25e2b4464"/>
          <a:stretch xmlns:a="http://schemas.openxmlformats.org/drawingml/2006/main"/>
        </p:blipFill>
        <p:spPr>
          <a:xfrm xmlns:a="http://schemas.openxmlformats.org/drawingml/2006/main">
            <a:off x="457200" y="6387465"/>
            <a:ext cx="1609725" cy="32194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4EB8527-15FA-4A82-9A89-FD89A2B3F839}"/>
              </a:ext>
            </a:extLst>
          </p:cNvPr>
          <p:cNvSpPr>
            <a:spLocks xmlns:a="http://schemas.openxmlformats.org/drawingml/2006/main" noGrp="1"/>
          </p:cNvSpPr>
          <p:nvPr/>
        </p:nvSpPr>
        <p:spPr>
          <a:xfrm xmlns:a="http://schemas.openxmlformats.org/drawingml/2006/main">
            <a:off x="11382375" y="64579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747474"/>
                </a:solidFill>
                <a:latin typeface="Arial"/>
                <a:ea typeface="Arial"/>
                <a:cs typeface="Arial"/>
              </a:defRPr>
            </a:defPPr>
          </a:lstStyle>
          <a:p xmlns:a="http://schemas.openxmlformats.org/drawingml/2006/main">
            <a:pPr>
              <a:defRPr sz="900" b="0">
                <a:solidFill>
                  <a:srgbClr val="747474"/>
                </a:solidFill>
                <a:latin typeface="Arial"/>
                <a:ea typeface="Arial"/>
                <a:cs typeface="Arial"/>
              </a:defRPr>
            </a:pPr>
            <a:r>
              <a:rPr sz="900" b="0">
                <a:solidFill>
                  <a:srgbClr val="747474"/>
                </a:solidFill>
                <a:latin typeface="Arial"/>
                <a:ea typeface="Arial"/>
                <a:cs typeface="Arial"/>
              </a:rPr>
              <a:t>15</a:t>
            </a:r>
          </a:p>
        </p:txBody>
      </p:sp>
      <p:sp>
        <p:nvSpPr>
          <p:cNvPr id="7" name="">
            <a:extLst xmlns:a="http://schemas.openxmlformats.org/drawingml/2006/main">
              <a:ext uri="{FF2B5EF4-FFF2-40B4-BE49-F238E27FC236}">
                <a16:creationId xmlns:a16="http://schemas.microsoft.com/office/drawing/2014/main" id="{478DB0AD-73AC-46A2-9751-740A8D7228B5}"/>
              </a:ext>
            </a:extLst>
          </p:cNvPr>
          <p:cNvSpPr>
            <a:spLocks xmlns:a="http://schemas.openxmlformats.org/drawingml/2006/main" noGrp="1"/>
          </p:cNvSpPr>
          <p:nvPr/>
        </p:nvSpPr>
        <p:spPr>
          <a:xfrm xmlns:a="http://schemas.openxmlformats.org/drawingml/2006/main">
            <a:off x="457200" y="1066800"/>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13C66"/>
                </a:solidFill>
                <a:latin typeface="Arial"/>
                <a:ea typeface="Arial"/>
                <a:cs typeface="Arial"/>
              </a:defRPr>
            </a:defPPr>
          </a:lstStyle>
          <a:p xmlns:a="http://schemas.openxmlformats.org/drawingml/2006/main">
            <a:pPr>
              <a:defRPr sz="1875" b="1">
                <a:solidFill>
                  <a:srgbClr val="213C66"/>
                </a:solidFill>
                <a:latin typeface="Arial"/>
                <a:ea typeface="Arial"/>
                <a:cs typeface="Arial"/>
              </a:defRPr>
            </a:pPr>
            <a:r>
              <a:rPr sz="1875" b="1">
                <a:solidFill>
                  <a:srgbClr val="213C66"/>
                </a:solidFill>
                <a:latin typeface="Arial"/>
                <a:ea typeface="Arial"/>
                <a:cs typeface="Arial"/>
              </a:rPr>
              <a:t>Baltimore, Maryland</a:t>
            </a:r>
          </a:p>
        </p:txBody>
      </p:sp>
      <p:sp>
        <p:nvSpPr>
          <p:cNvPr id="8" name="">
            <a:extLst xmlns:a="http://schemas.openxmlformats.org/drawingml/2006/main">
              <a:ext uri="{FF2B5EF4-FFF2-40B4-BE49-F238E27FC236}">
                <a16:creationId xmlns:a16="http://schemas.microsoft.com/office/drawing/2014/main" id="{57D0A126-21A7-4FCF-8FC6-C617873922ED}"/>
              </a:ext>
            </a:extLst>
          </p:cNvPr>
          <p:cNvSpPr>
            <a:spLocks xmlns:a="http://schemas.openxmlformats.org/drawingml/2006/main" noGrp="1"/>
          </p:cNvSpPr>
          <p:nvPr/>
        </p:nvSpPr>
        <p:spPr>
          <a:xfrm xmlns:a="http://schemas.openxmlformats.org/drawingml/2006/main">
            <a:off x="457200" y="1590675"/>
            <a:ext cx="6572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343D42"/>
                </a:solidFill>
                <a:latin typeface="Arial"/>
                <a:ea typeface="Arial"/>
                <a:cs typeface="Arial"/>
              </a:defRPr>
            </a:defPPr>
          </a:lstStyle>
          <a:p xmlns:a="http://schemas.openxmlformats.org/drawingml/2006/main">
            <a:pPr>
              <a:defRPr sz="1425" b="0">
                <a:solidFill>
                  <a:srgbClr val="343D42"/>
                </a:solidFill>
                <a:latin typeface="Arial"/>
                <a:ea typeface="Arial"/>
                <a:cs typeface="Arial"/>
              </a:defRPr>
            </a:pPr>
            <a:r>
              <a:rPr sz="1425" b="0">
                <a:solidFill>
                  <a:srgbClr val="343D42"/>
                </a:solidFill>
                <a:latin typeface="Arial"/>
                <a:ea typeface="Arial"/>
                <a:cs typeface="Arial"/>
              </a:rPr>
              <a:t>Baltimore is Maryland’s largest city and the northeastern hub of the Baltimore–Washington combined statistical area. The source presentation describes a city population of more than 565,000 and a wider combined region of approximately 10 million people. The Baltimore–Columbia–Towson MSA has approximately 2.859 million people and includes Baltimore City, Baltimore County, Anne Arundel, Carroll, Howard, Harford and Montgomery counties.</a:t>
            </a:r>
          </a:p>
        </p:txBody>
      </p:sp>
      <p:sp>
        <p:nvSpPr>
          <p:cNvPr id="9" name="">
            <a:extLst xmlns:a="http://schemas.openxmlformats.org/drawingml/2006/main">
              <a:ext uri="{FF2B5EF4-FFF2-40B4-BE49-F238E27FC236}">
                <a16:creationId xmlns:a16="http://schemas.microsoft.com/office/drawing/2014/main" id="{1806BF0D-29BE-4B5D-B17E-FC6505DDB6BC}"/>
              </a:ext>
            </a:extLst>
          </p:cNvPr>
          <p:cNvSpPr>
            <a:spLocks xmlns:a="http://schemas.openxmlformats.org/drawingml/2006/main" noGrp="1"/>
          </p:cNvSpPr>
          <p:nvPr/>
        </p:nvSpPr>
        <p:spPr>
          <a:xfrm xmlns:a="http://schemas.openxmlformats.org/drawingml/2006/main">
            <a:off x="457200" y="3390900"/>
            <a:ext cx="6572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213C66"/>
                </a:solidFill>
                <a:latin typeface="Arial"/>
                <a:ea typeface="Arial"/>
                <a:cs typeface="Arial"/>
              </a:defRPr>
            </a:defPPr>
          </a:lstStyle>
          <a:p xmlns:a="http://schemas.openxmlformats.org/drawingml/2006/main">
            <a:pPr>
              <a:defRPr sz="1800" b="1">
                <a:solidFill>
                  <a:srgbClr val="213C66"/>
                </a:solidFill>
                <a:latin typeface="Arial"/>
                <a:ea typeface="Arial"/>
                <a:cs typeface="Arial"/>
              </a:defRPr>
            </a:pPr>
            <a:r>
              <a:rPr sz="1800" b="1">
                <a:solidFill>
                  <a:srgbClr val="213C66"/>
                </a:solidFill>
                <a:latin typeface="Arial"/>
                <a:ea typeface="Arial"/>
                <a:cs typeface="Arial"/>
              </a:rPr>
              <a:t>Economic Overview</a:t>
            </a:r>
          </a:p>
        </p:txBody>
      </p:sp>
      <p:sp>
        <p:nvSpPr>
          <p:cNvPr id="10" name="">
            <a:extLst xmlns:a="http://schemas.openxmlformats.org/drawingml/2006/main">
              <a:ext uri="{FF2B5EF4-FFF2-40B4-BE49-F238E27FC236}">
                <a16:creationId xmlns:a16="http://schemas.microsoft.com/office/drawing/2014/main" id="{DD2F0A47-BDE2-424E-9374-BCDDA02B2B92}"/>
              </a:ext>
            </a:extLst>
          </p:cNvPr>
          <p:cNvSpPr>
            <a:spLocks xmlns:a="http://schemas.openxmlformats.org/drawingml/2006/main" noGrp="1"/>
          </p:cNvSpPr>
          <p:nvPr/>
        </p:nvSpPr>
        <p:spPr>
          <a:xfrm xmlns:a="http://schemas.openxmlformats.org/drawingml/2006/main">
            <a:off x="457200" y="3857625"/>
            <a:ext cx="65722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343D42"/>
                </a:solidFill>
                <a:latin typeface="Arial"/>
                <a:ea typeface="Arial"/>
                <a:cs typeface="Arial"/>
              </a:defRPr>
            </a:defPPr>
          </a:lstStyle>
          <a:p xmlns:a="http://schemas.openxmlformats.org/drawingml/2006/main">
            <a:pPr>
              <a:defRPr sz="1425" b="0">
                <a:solidFill>
                  <a:srgbClr val="343D42"/>
                </a:solidFill>
                <a:latin typeface="Arial"/>
                <a:ea typeface="Arial"/>
                <a:cs typeface="Arial"/>
              </a:defRPr>
            </a:pPr>
            <a:r>
              <a:rPr sz="1425" b="0">
                <a:solidFill>
                  <a:srgbClr val="343D42"/>
                </a:solidFill>
                <a:latin typeface="Arial"/>
                <a:ea typeface="Arial"/>
                <a:cs typeface="Arial"/>
              </a:rPr>
              <a:t>Key industries include healthcare and life sciences, education and research, finance, technology, manufacturing, and maritime activity. Johns Hopkins University and Johns Hopkins Hospital support substantial local employment. The Port of Baltimore handled 45.9 million tons of cargo in 2024, while cruise operations served more than 444,000 passengers.</a:t>
            </a:r>
          </a:p>
        </p:txBody>
      </p:sp>
      <p:sp>
        <p:nvSpPr>
          <p:cNvPr id="11" name="">
            <a:extLst xmlns:a="http://schemas.openxmlformats.org/drawingml/2006/main">
              <a:ext uri="{FF2B5EF4-FFF2-40B4-BE49-F238E27FC236}">
                <a16:creationId xmlns:a16="http://schemas.microsoft.com/office/drawing/2014/main" id="{8D52C1FD-35C0-43E6-B837-8A04BDDDA131}"/>
              </a:ext>
            </a:extLst>
          </p:cNvPr>
          <p:cNvSpPr>
            <a:spLocks xmlns:a="http://schemas.openxmlformats.org/drawingml/2006/main" noGrp="1"/>
          </p:cNvSpPr>
          <p:nvPr/>
        </p:nvSpPr>
        <p:spPr>
          <a:xfrm xmlns:a="http://schemas.openxmlformats.org/drawingml/2006/main">
            <a:off x="457200" y="5429250"/>
            <a:ext cx="6572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43D42"/>
                </a:solidFill>
                <a:latin typeface="Arial"/>
                <a:ea typeface="Arial"/>
                <a:cs typeface="Arial"/>
              </a:defRPr>
            </a:defPPr>
          </a:lstStyle>
          <a:p xmlns:a="http://schemas.openxmlformats.org/drawingml/2006/main">
            <a:pPr>
              <a:defRPr sz="1200" b="0">
                <a:solidFill>
                  <a:srgbClr val="343D42"/>
                </a:solidFill>
                <a:latin typeface="Arial"/>
                <a:ea typeface="Arial"/>
                <a:cs typeface="Arial"/>
              </a:defRPr>
            </a:pPr>
            <a:r>
              <a:rPr sz="1200" b="0">
                <a:solidFill>
                  <a:srgbClr val="343D42"/>
                </a:solidFill>
                <a:latin typeface="Arial"/>
                <a:ea typeface="Arial"/>
                <a:cs typeface="Arial"/>
              </a:rPr>
              <a:t>Corporate presence: Under Armour, T. Rowe Price, McCormick, Constellation, and CareFirst.</a:t>
            </a:r>
          </a:p>
          <a:p xmlns:a="http://schemas.openxmlformats.org/drawingml/2006/main">
            <a:pPr>
              <a:defRPr sz="1200" b="0">
                <a:solidFill>
                  <a:srgbClr val="343D42"/>
                </a:solidFill>
                <a:latin typeface="Arial"/>
                <a:ea typeface="Arial"/>
                <a:cs typeface="Arial"/>
              </a:defRPr>
            </a:pPr>
            <a:r>
              <a:rPr sz="1200" b="0">
                <a:solidFill>
                  <a:srgbClr val="343D42"/>
                </a:solidFill>
                <a:latin typeface="Arial"/>
                <a:ea typeface="Arial"/>
                <a:cs typeface="Arial"/>
              </a:rPr>
              <a:t>Maryland Fortune 500 companies: Lockheed Martin, CareFirst, and Marriott.</a:t>
            </a:r>
          </a:p>
          <a:p xmlns:a="http://schemas.openxmlformats.org/drawingml/2006/main">
            <a:pPr>
              <a:defRPr sz="1200" b="0">
                <a:solidFill>
                  <a:srgbClr val="343D42"/>
                </a:solidFill>
                <a:latin typeface="Arial"/>
                <a:ea typeface="Arial"/>
                <a:cs typeface="Arial"/>
              </a:defRPr>
            </a:pPr>
            <a:r>
              <a:rPr sz="1200" b="0">
                <a:solidFill>
                  <a:srgbClr val="343D42"/>
                </a:solidFill>
                <a:latin typeface="Arial"/>
                <a:ea typeface="Arial"/>
                <a:cs typeface="Arial"/>
              </a:rPr>
              <a:t>Professional sports: Baltimore Ravens and Baltimore Orioles.</a:t>
            </a:r>
          </a:p>
        </p:txBody>
      </p:sp>
      <p:graphicFrame>
        <p:nvGraphicFramePr>
          <p:cNvPr id="12" name="">
            <a:extLst xmlns:a="http://schemas.openxmlformats.org/drawingml/2006/main">
              <a:ext uri="{FF2B5EF4-FFF2-40B4-BE49-F238E27FC236}">
                <a16:creationId xmlns:a16="http://schemas.microsoft.com/office/drawing/2014/main" id="{2F7D8BA0-878D-4910-8A4A-158202DF9B40}"/>
              </a:ext>
            </a:extLst>
          </p:cNvPr>
          <p:cNvGraphicFramePr/>
          <p:nvPr/>
        </p:nvGraphicFramePr>
        <p:xfrm>
          <a:off xmlns:a="http://schemas.openxmlformats.org/drawingml/2006/main" x="7334250" y="1047750"/>
          <a:ext xmlns:a="http://schemas.openxmlformats.org/drawingml/2006/main" cx="4400550" cy="4981575"/>
        </p:xfrm>
        <a:graphic xmlns:a="http://schemas.openxmlformats.org/drawingml/2006/main">
          <a:graphicData uri="http://schemas.openxmlformats.org/drawingml/2006/table">
            <a:tbl>
              <a:tblPr/>
              <a:tblGrid>
                <a:gridCol w="2476500"/>
                <a:gridCol w="1095375"/>
                <a:gridCol w="828675"/>
              </a:tblGrid>
              <a:tr h="311348">
                <a:tc>
                  <a:txBody>
                    <a:bodyPr/>
                    <a:lstStyle/>
                    <a:p>
                      <a:r>
                        <a:rPr sz="900" b="1">
                          <a:solidFill>
                            <a:srgbClr val="FFFFFF"/>
                          </a:solidFill>
                          <a:latin typeface="Arial"/>
                          <a:ea typeface="Arial"/>
                          <a:cs typeface="Arial"/>
                        </a:rPr>
                        <a:t>Largest employers</a:t>
                      </a:r>
                    </a:p>
                  </a:txBody>
                  <a:tcPr marL="47625" marR="47625" marT="19050" marB="19050" anchor="ctr">
                    <a:solidFill>
                      <a:srgbClr val="213C66"/>
                    </a:solidFill>
                  </a:tcPr>
                </a:tc>
                <a:tc>
                  <a:txBody>
                    <a:bodyPr/>
                    <a:lstStyle/>
                    <a:p>
                      <a:r>
                        <a:rPr sz="900" b="1">
                          <a:solidFill>
                            <a:srgbClr val="FFFFFF"/>
                          </a:solidFill>
                          <a:latin typeface="Arial"/>
                          <a:ea typeface="Arial"/>
                          <a:cs typeface="Arial"/>
                        </a:rPr>
                        <a:t>Industry</a:t>
                      </a:r>
                    </a:p>
                  </a:txBody>
                  <a:tcPr marL="47625" marR="47625" marT="19050" marB="19050" anchor="ctr">
                    <a:solidFill>
                      <a:srgbClr val="213C66"/>
                    </a:solidFill>
                  </a:tcPr>
                </a:tc>
                <a:tc>
                  <a:txBody>
                    <a:bodyPr/>
                    <a:lstStyle/>
                    <a:p>
                      <a:r>
                        <a:rPr sz="900" b="1">
                          <a:solidFill>
                            <a:srgbClr val="FFFFFF"/>
                          </a:solidFill>
                          <a:latin typeface="Arial"/>
                          <a:ea typeface="Arial"/>
                          <a:cs typeface="Arial"/>
                        </a:rPr>
                        <a:t>Employees</a:t>
                      </a:r>
                    </a:p>
                  </a:txBody>
                  <a:tcPr marL="47625" marR="47625" marT="19050" marB="19050" anchor="ctr">
                    <a:solidFill>
                      <a:srgbClr val="213C66"/>
                    </a:solidFill>
                  </a:tcPr>
                </a:tc>
              </a:tr>
              <a:tr h="311348">
                <a:tc>
                  <a:txBody>
                    <a:bodyPr/>
                    <a:lstStyle/>
                    <a:p>
                      <a:r>
                        <a:rPr sz="900" b="0">
                          <a:solidFill>
                            <a:srgbClr val="343D42"/>
                          </a:solidFill>
                          <a:latin typeface="Arial"/>
                          <a:ea typeface="Arial"/>
                          <a:cs typeface="Arial"/>
                        </a:rPr>
                        <a:t>Baltimore County Public Schools</a:t>
                      </a:r>
                    </a:p>
                  </a:txBody>
                  <a:tcPr marL="47625" marR="47625" marT="19050" marB="19050" anchor="ctr">
                    <a:solidFill>
                      <a:srgbClr val="FFFFFF"/>
                    </a:solidFill>
                  </a:tcPr>
                </a:tc>
                <a:tc>
                  <a:txBody>
                    <a:bodyPr/>
                    <a:lstStyle/>
                    <a:p>
                      <a:r>
                        <a:rPr sz="900" b="0">
                          <a:solidFill>
                            <a:srgbClr val="343D42"/>
                          </a:solidFill>
                          <a:latin typeface="Arial"/>
                          <a:ea typeface="Arial"/>
                          <a:cs typeface="Arial"/>
                        </a:rPr>
                        <a:t>Government</a:t>
                      </a:r>
                    </a:p>
                  </a:txBody>
                  <a:tcPr marL="47625" marR="47625" marT="19050" marB="19050" anchor="ctr">
                    <a:solidFill>
                      <a:srgbClr val="FFFFFF"/>
                    </a:solidFill>
                  </a:tcPr>
                </a:tc>
                <a:tc>
                  <a:txBody>
                    <a:bodyPr/>
                    <a:lstStyle/>
                    <a:p>
                      <a:r>
                        <a:rPr sz="900" b="0">
                          <a:solidFill>
                            <a:srgbClr val="343D42"/>
                          </a:solidFill>
                          <a:latin typeface="Arial"/>
                          <a:ea typeface="Arial"/>
                          <a:cs typeface="Arial"/>
                        </a:rPr>
                        <a:t>15,778</a:t>
                      </a:r>
                    </a:p>
                  </a:txBody>
                  <a:tcPr marL="47625" marR="47625" marT="19050" marB="19050" anchor="ctr">
                    <a:solidFill>
                      <a:srgbClr val="FFFFFF"/>
                    </a:solidFill>
                  </a:tcPr>
                </a:tc>
              </a:tr>
              <a:tr h="311348">
                <a:tc>
                  <a:txBody>
                    <a:bodyPr/>
                    <a:lstStyle/>
                    <a:p>
                      <a:r>
                        <a:rPr sz="900" b="0">
                          <a:solidFill>
                            <a:srgbClr val="343D42"/>
                          </a:solidFill>
                          <a:latin typeface="Arial"/>
                          <a:ea typeface="Arial"/>
                          <a:cs typeface="Arial"/>
                        </a:rPr>
                        <a:t>U.S. Social Security Administration</a:t>
                      </a:r>
                    </a:p>
                  </a:txBody>
                  <a:tcPr marL="47625" marR="47625" marT="19050" marB="19050" anchor="ctr">
                    <a:solidFill>
                      <a:srgbClr val="F3F5F6"/>
                    </a:solidFill>
                  </a:tcPr>
                </a:tc>
                <a:tc>
                  <a:txBody>
                    <a:bodyPr/>
                    <a:lstStyle/>
                    <a:p>
                      <a:r>
                        <a:rPr sz="900" b="0">
                          <a:solidFill>
                            <a:srgbClr val="343D42"/>
                          </a:solidFill>
                          <a:latin typeface="Arial"/>
                          <a:ea typeface="Arial"/>
                          <a:cs typeface="Arial"/>
                        </a:rPr>
                        <a:t>Government</a:t>
                      </a:r>
                    </a:p>
                  </a:txBody>
                  <a:tcPr marL="47625" marR="47625" marT="19050" marB="19050" anchor="ctr">
                    <a:solidFill>
                      <a:srgbClr val="F3F5F6"/>
                    </a:solidFill>
                  </a:tcPr>
                </a:tc>
                <a:tc>
                  <a:txBody>
                    <a:bodyPr/>
                    <a:lstStyle/>
                    <a:p>
                      <a:r>
                        <a:rPr sz="900" b="0">
                          <a:solidFill>
                            <a:srgbClr val="343D42"/>
                          </a:solidFill>
                          <a:latin typeface="Arial"/>
                          <a:ea typeface="Arial"/>
                          <a:cs typeface="Arial"/>
                        </a:rPr>
                        <a:t>11,479</a:t>
                      </a:r>
                    </a:p>
                  </a:txBody>
                  <a:tcPr marL="47625" marR="47625" marT="19050" marB="19050" anchor="ctr">
                    <a:solidFill>
                      <a:srgbClr val="F3F5F6"/>
                    </a:solidFill>
                  </a:tcPr>
                </a:tc>
              </a:tr>
              <a:tr h="311348">
                <a:tc>
                  <a:txBody>
                    <a:bodyPr/>
                    <a:lstStyle/>
                    <a:p>
                      <a:r>
                        <a:rPr sz="900" b="0">
                          <a:solidFill>
                            <a:srgbClr val="343D42"/>
                          </a:solidFill>
                          <a:latin typeface="Arial"/>
                          <a:ea typeface="Arial"/>
                          <a:cs typeface="Arial"/>
                        </a:rPr>
                        <a:t>Amazon</a:t>
                      </a:r>
                    </a:p>
                  </a:txBody>
                  <a:tcPr marL="47625" marR="47625" marT="19050" marB="19050" anchor="ctr">
                    <a:solidFill>
                      <a:srgbClr val="FFFFFF"/>
                    </a:solidFill>
                  </a:tcPr>
                </a:tc>
                <a:tc>
                  <a:txBody>
                    <a:bodyPr/>
                    <a:lstStyle/>
                    <a:p>
                      <a:r>
                        <a:rPr sz="900" b="0">
                          <a:solidFill>
                            <a:srgbClr val="343D42"/>
                          </a:solidFill>
                          <a:latin typeface="Arial"/>
                          <a:ea typeface="Arial"/>
                          <a:cs typeface="Arial"/>
                        </a:rPr>
                        <a:t>E-commerce</a:t>
                      </a:r>
                    </a:p>
                  </a:txBody>
                  <a:tcPr marL="47625" marR="47625" marT="19050" marB="19050" anchor="ctr">
                    <a:solidFill>
                      <a:srgbClr val="FFFFFF"/>
                    </a:solidFill>
                  </a:tcPr>
                </a:tc>
                <a:tc>
                  <a:txBody>
                    <a:bodyPr/>
                    <a:lstStyle/>
                    <a:p>
                      <a:r>
                        <a:rPr sz="900" b="0">
                          <a:solidFill>
                            <a:srgbClr val="343D42"/>
                          </a:solidFill>
                          <a:latin typeface="Arial"/>
                          <a:ea typeface="Arial"/>
                          <a:cs typeface="Arial"/>
                        </a:rPr>
                        <a:t>9,000</a:t>
                      </a:r>
                    </a:p>
                  </a:txBody>
                  <a:tcPr marL="47625" marR="47625" marT="19050" marB="19050" anchor="ctr">
                    <a:solidFill>
                      <a:srgbClr val="FFFFFF"/>
                    </a:solidFill>
                  </a:tcPr>
                </a:tc>
              </a:tr>
              <a:tr h="311348">
                <a:tc>
                  <a:txBody>
                    <a:bodyPr/>
                    <a:lstStyle/>
                    <a:p>
                      <a:r>
                        <a:rPr sz="900" b="0">
                          <a:solidFill>
                            <a:srgbClr val="343D42"/>
                          </a:solidFill>
                          <a:latin typeface="Arial"/>
                          <a:ea typeface="Arial"/>
                          <a:cs typeface="Arial"/>
                        </a:rPr>
                        <a:t>Baltimore County Government</a:t>
                      </a:r>
                    </a:p>
                  </a:txBody>
                  <a:tcPr marL="47625" marR="47625" marT="19050" marB="19050" anchor="ctr">
                    <a:solidFill>
                      <a:srgbClr val="F3F5F6"/>
                    </a:solidFill>
                  </a:tcPr>
                </a:tc>
                <a:tc>
                  <a:txBody>
                    <a:bodyPr/>
                    <a:lstStyle/>
                    <a:p>
                      <a:r>
                        <a:rPr sz="900" b="0">
                          <a:solidFill>
                            <a:srgbClr val="343D42"/>
                          </a:solidFill>
                          <a:latin typeface="Arial"/>
                          <a:ea typeface="Arial"/>
                          <a:cs typeface="Arial"/>
                        </a:rPr>
                        <a:t>Government</a:t>
                      </a:r>
                    </a:p>
                  </a:txBody>
                  <a:tcPr marL="47625" marR="47625" marT="19050" marB="19050" anchor="ctr">
                    <a:solidFill>
                      <a:srgbClr val="F3F5F6"/>
                    </a:solidFill>
                  </a:tcPr>
                </a:tc>
                <a:tc>
                  <a:txBody>
                    <a:bodyPr/>
                    <a:lstStyle/>
                    <a:p>
                      <a:r>
                        <a:rPr sz="900" b="0">
                          <a:solidFill>
                            <a:srgbClr val="343D42"/>
                          </a:solidFill>
                          <a:latin typeface="Arial"/>
                          <a:ea typeface="Arial"/>
                          <a:cs typeface="Arial"/>
                        </a:rPr>
                        <a:t>7,580</a:t>
                      </a:r>
                    </a:p>
                  </a:txBody>
                  <a:tcPr marL="47625" marR="47625" marT="19050" marB="19050" anchor="ctr">
                    <a:solidFill>
                      <a:srgbClr val="F3F5F6"/>
                    </a:solidFill>
                  </a:tcPr>
                </a:tc>
              </a:tr>
              <a:tr h="311348">
                <a:tc>
                  <a:txBody>
                    <a:bodyPr/>
                    <a:lstStyle/>
                    <a:p>
                      <a:r>
                        <a:rPr sz="900" b="0">
                          <a:solidFill>
                            <a:srgbClr val="343D42"/>
                          </a:solidFill>
                          <a:latin typeface="Arial"/>
                          <a:ea typeface="Arial"/>
                          <a:cs typeface="Arial"/>
                        </a:rPr>
                        <a:t>University System of Maryland</a:t>
                      </a:r>
                    </a:p>
                  </a:txBody>
                  <a:tcPr marL="47625" marR="47625" marT="19050" marB="19050" anchor="ctr">
                    <a:solidFill>
                      <a:srgbClr val="FFFFFF"/>
                    </a:solidFill>
                  </a:tcPr>
                </a:tc>
                <a:tc>
                  <a:txBody>
                    <a:bodyPr/>
                    <a:lstStyle/>
                    <a:p>
                      <a:r>
                        <a:rPr sz="900" b="0">
                          <a:solidFill>
                            <a:srgbClr val="343D42"/>
                          </a:solidFill>
                          <a:latin typeface="Arial"/>
                          <a:ea typeface="Arial"/>
                          <a:cs typeface="Arial"/>
                        </a:rPr>
                        <a:t>University</a:t>
                      </a:r>
                    </a:p>
                  </a:txBody>
                  <a:tcPr marL="47625" marR="47625" marT="19050" marB="19050" anchor="ctr">
                    <a:solidFill>
                      <a:srgbClr val="FFFFFF"/>
                    </a:solidFill>
                  </a:tcPr>
                </a:tc>
                <a:tc>
                  <a:txBody>
                    <a:bodyPr/>
                    <a:lstStyle/>
                    <a:p>
                      <a:r>
                        <a:rPr sz="900" b="0">
                          <a:solidFill>
                            <a:srgbClr val="343D42"/>
                          </a:solidFill>
                          <a:latin typeface="Arial"/>
                          <a:ea typeface="Arial"/>
                          <a:cs typeface="Arial"/>
                        </a:rPr>
                        <a:t>5,688</a:t>
                      </a:r>
                    </a:p>
                  </a:txBody>
                  <a:tcPr marL="47625" marR="47625" marT="19050" marB="19050" anchor="ctr">
                    <a:solidFill>
                      <a:srgbClr val="FFFFFF"/>
                    </a:solidFill>
                  </a:tcPr>
                </a:tc>
              </a:tr>
              <a:tr h="311348">
                <a:tc>
                  <a:txBody>
                    <a:bodyPr/>
                    <a:lstStyle/>
                    <a:p>
                      <a:r>
                        <a:rPr sz="900" b="0">
                          <a:solidFill>
                            <a:srgbClr val="343D42"/>
                          </a:solidFill>
                          <a:latin typeface="Arial"/>
                          <a:ea typeface="Arial"/>
                          <a:cs typeface="Arial"/>
                        </a:rPr>
                        <a:t>MedStar Franklin Square Hospital</a:t>
                      </a:r>
                    </a:p>
                  </a:txBody>
                  <a:tcPr marL="47625" marR="47625" marT="19050" marB="19050" anchor="ctr">
                    <a:solidFill>
                      <a:srgbClr val="F3F5F6"/>
                    </a:solidFill>
                  </a:tcPr>
                </a:tc>
                <a:tc>
                  <a:txBody>
                    <a:bodyPr/>
                    <a:lstStyle/>
                    <a:p>
                      <a:r>
                        <a:rPr sz="900" b="0">
                          <a:solidFill>
                            <a:srgbClr val="343D42"/>
                          </a:solidFill>
                          <a:latin typeface="Arial"/>
                          <a:ea typeface="Arial"/>
                          <a:cs typeface="Arial"/>
                        </a:rPr>
                        <a:t>Hospital</a:t>
                      </a:r>
                    </a:p>
                  </a:txBody>
                  <a:tcPr marL="47625" marR="47625" marT="19050" marB="19050" anchor="ctr">
                    <a:solidFill>
                      <a:srgbClr val="F3F5F6"/>
                    </a:solidFill>
                  </a:tcPr>
                </a:tc>
                <a:tc>
                  <a:txBody>
                    <a:bodyPr/>
                    <a:lstStyle/>
                    <a:p>
                      <a:r>
                        <a:rPr sz="900" b="0">
                          <a:solidFill>
                            <a:srgbClr val="343D42"/>
                          </a:solidFill>
                          <a:latin typeface="Arial"/>
                          <a:ea typeface="Arial"/>
                          <a:cs typeface="Arial"/>
                        </a:rPr>
                        <a:t>4,747</a:t>
                      </a:r>
                    </a:p>
                  </a:txBody>
                  <a:tcPr marL="47625" marR="47625" marT="19050" marB="19050" anchor="ctr">
                    <a:solidFill>
                      <a:srgbClr val="F3F5F6"/>
                    </a:solidFill>
                  </a:tcPr>
                </a:tc>
              </a:tr>
              <a:tr h="311348">
                <a:tc>
                  <a:txBody>
                    <a:bodyPr/>
                    <a:lstStyle/>
                    <a:p>
                      <a:r>
                        <a:rPr sz="900" b="0">
                          <a:solidFill>
                            <a:srgbClr val="343D42"/>
                          </a:solidFill>
                          <a:latin typeface="Arial"/>
                          <a:ea typeface="Arial"/>
                          <a:cs typeface="Arial"/>
                        </a:rPr>
                        <a:t>Center for Medicare &amp; Medicaid Services</a:t>
                      </a:r>
                    </a:p>
                  </a:txBody>
                  <a:tcPr marL="47625" marR="47625" marT="19050" marB="19050" anchor="ctr">
                    <a:solidFill>
                      <a:srgbClr val="FFFFFF"/>
                    </a:solidFill>
                  </a:tcPr>
                </a:tc>
                <a:tc>
                  <a:txBody>
                    <a:bodyPr/>
                    <a:lstStyle/>
                    <a:p>
                      <a:r>
                        <a:rPr sz="900" b="0">
                          <a:solidFill>
                            <a:srgbClr val="343D42"/>
                          </a:solidFill>
                          <a:latin typeface="Arial"/>
                          <a:ea typeface="Arial"/>
                          <a:cs typeface="Arial"/>
                        </a:rPr>
                        <a:t>Healthcare</a:t>
                      </a:r>
                    </a:p>
                  </a:txBody>
                  <a:tcPr marL="47625" marR="47625" marT="19050" marB="19050" anchor="ctr">
                    <a:solidFill>
                      <a:srgbClr val="FFFFFF"/>
                    </a:solidFill>
                  </a:tcPr>
                </a:tc>
                <a:tc>
                  <a:txBody>
                    <a:bodyPr/>
                    <a:lstStyle/>
                    <a:p>
                      <a:r>
                        <a:rPr sz="900" b="0">
                          <a:solidFill>
                            <a:srgbClr val="343D42"/>
                          </a:solidFill>
                          <a:latin typeface="Arial"/>
                          <a:ea typeface="Arial"/>
                          <a:cs typeface="Arial"/>
                        </a:rPr>
                        <a:t>4,282</a:t>
                      </a:r>
                    </a:p>
                  </a:txBody>
                  <a:tcPr marL="47625" marR="47625" marT="19050" marB="19050" anchor="ctr">
                    <a:solidFill>
                      <a:srgbClr val="FFFFFF"/>
                    </a:solidFill>
                  </a:tcPr>
                </a:tc>
              </a:tr>
              <a:tr h="311348">
                <a:tc>
                  <a:txBody>
                    <a:bodyPr/>
                    <a:lstStyle/>
                    <a:p>
                      <a:r>
                        <a:rPr sz="900" b="0">
                          <a:solidFill>
                            <a:srgbClr val="343D42"/>
                          </a:solidFill>
                          <a:latin typeface="Arial"/>
                          <a:ea typeface="Arial"/>
                          <a:cs typeface="Arial"/>
                        </a:rPr>
                        <a:t>Greater Baltimore Medical Center</a:t>
                      </a:r>
                    </a:p>
                  </a:txBody>
                  <a:tcPr marL="47625" marR="47625" marT="19050" marB="19050" anchor="ctr">
                    <a:solidFill>
                      <a:srgbClr val="F3F5F6"/>
                    </a:solidFill>
                  </a:tcPr>
                </a:tc>
                <a:tc>
                  <a:txBody>
                    <a:bodyPr/>
                    <a:lstStyle/>
                    <a:p>
                      <a:r>
                        <a:rPr sz="900" b="0">
                          <a:solidFill>
                            <a:srgbClr val="343D42"/>
                          </a:solidFill>
                          <a:latin typeface="Arial"/>
                          <a:ea typeface="Arial"/>
                          <a:cs typeface="Arial"/>
                        </a:rPr>
                        <a:t>Hospital</a:t>
                      </a:r>
                    </a:p>
                  </a:txBody>
                  <a:tcPr marL="47625" marR="47625" marT="19050" marB="19050" anchor="ctr">
                    <a:solidFill>
                      <a:srgbClr val="F3F5F6"/>
                    </a:solidFill>
                  </a:tcPr>
                </a:tc>
                <a:tc>
                  <a:txBody>
                    <a:bodyPr/>
                    <a:lstStyle/>
                    <a:p>
                      <a:r>
                        <a:rPr sz="900" b="0">
                          <a:solidFill>
                            <a:srgbClr val="343D42"/>
                          </a:solidFill>
                          <a:latin typeface="Arial"/>
                          <a:ea typeface="Arial"/>
                          <a:cs typeface="Arial"/>
                        </a:rPr>
                        <a:t>3,289</a:t>
                      </a:r>
                    </a:p>
                  </a:txBody>
                  <a:tcPr marL="47625" marR="47625" marT="19050" marB="19050" anchor="ctr">
                    <a:solidFill>
                      <a:srgbClr val="F3F5F6"/>
                    </a:solidFill>
                  </a:tcPr>
                </a:tc>
              </a:tr>
              <a:tr h="311348">
                <a:tc>
                  <a:txBody>
                    <a:bodyPr/>
                    <a:lstStyle/>
                    <a:p>
                      <a:r>
                        <a:rPr sz="900" b="0">
                          <a:solidFill>
                            <a:srgbClr val="343D42"/>
                          </a:solidFill>
                          <a:latin typeface="Arial"/>
                          <a:ea typeface="Arial"/>
                          <a:cs typeface="Arial"/>
                        </a:rPr>
                        <a:t>BD Life Sciences</a:t>
                      </a:r>
                    </a:p>
                  </a:txBody>
                  <a:tcPr marL="47625" marR="47625" marT="19050" marB="19050" anchor="ctr">
                    <a:solidFill>
                      <a:srgbClr val="FFFFFF"/>
                    </a:solidFill>
                  </a:tcPr>
                </a:tc>
                <a:tc>
                  <a:txBody>
                    <a:bodyPr/>
                    <a:lstStyle/>
                    <a:p>
                      <a:r>
                        <a:rPr sz="900" b="0">
                          <a:solidFill>
                            <a:srgbClr val="343D42"/>
                          </a:solidFill>
                          <a:latin typeface="Arial"/>
                          <a:ea typeface="Arial"/>
                          <a:cs typeface="Arial"/>
                        </a:rPr>
                        <a:t>Medical</a:t>
                      </a:r>
                    </a:p>
                  </a:txBody>
                  <a:tcPr marL="47625" marR="47625" marT="19050" marB="19050" anchor="ctr">
                    <a:solidFill>
                      <a:srgbClr val="FFFFFF"/>
                    </a:solidFill>
                  </a:tcPr>
                </a:tc>
                <a:tc>
                  <a:txBody>
                    <a:bodyPr/>
                    <a:lstStyle/>
                    <a:p>
                      <a:r>
                        <a:rPr sz="900" b="0">
                          <a:solidFill>
                            <a:srgbClr val="343D42"/>
                          </a:solidFill>
                          <a:latin typeface="Arial"/>
                          <a:ea typeface="Arial"/>
                          <a:cs typeface="Arial"/>
                        </a:rPr>
                        <a:t>2,950</a:t>
                      </a:r>
                    </a:p>
                  </a:txBody>
                  <a:tcPr marL="47625" marR="47625" marT="19050" marB="19050" anchor="ctr">
                    <a:solidFill>
                      <a:srgbClr val="FFFFFF"/>
                    </a:solidFill>
                  </a:tcPr>
                </a:tc>
              </a:tr>
              <a:tr h="311348">
                <a:tc>
                  <a:txBody>
                    <a:bodyPr/>
                    <a:lstStyle/>
                    <a:p>
                      <a:r>
                        <a:rPr sz="900" b="0">
                          <a:solidFill>
                            <a:srgbClr val="343D42"/>
                          </a:solidFill>
                          <a:latin typeface="Arial"/>
                          <a:ea typeface="Arial"/>
                          <a:cs typeface="Arial"/>
                        </a:rPr>
                        <a:t>Community College of Baltimore County</a:t>
                      </a:r>
                    </a:p>
                  </a:txBody>
                  <a:tcPr marL="47625" marR="47625" marT="19050" marB="19050" anchor="ctr">
                    <a:solidFill>
                      <a:srgbClr val="F3F5F6"/>
                    </a:solidFill>
                  </a:tcPr>
                </a:tc>
                <a:tc>
                  <a:txBody>
                    <a:bodyPr/>
                    <a:lstStyle/>
                    <a:p>
                      <a:r>
                        <a:rPr sz="900" b="0">
                          <a:solidFill>
                            <a:srgbClr val="343D42"/>
                          </a:solidFill>
                          <a:latin typeface="Arial"/>
                          <a:ea typeface="Arial"/>
                          <a:cs typeface="Arial"/>
                        </a:rPr>
                        <a:t>University</a:t>
                      </a:r>
                    </a:p>
                  </a:txBody>
                  <a:tcPr marL="47625" marR="47625" marT="19050" marB="19050" anchor="ctr">
                    <a:solidFill>
                      <a:srgbClr val="F3F5F6"/>
                    </a:solidFill>
                  </a:tcPr>
                </a:tc>
                <a:tc>
                  <a:txBody>
                    <a:bodyPr/>
                    <a:lstStyle/>
                    <a:p>
                      <a:r>
                        <a:rPr sz="900" b="0">
                          <a:solidFill>
                            <a:srgbClr val="343D42"/>
                          </a:solidFill>
                          <a:latin typeface="Arial"/>
                          <a:ea typeface="Arial"/>
                          <a:cs typeface="Arial"/>
                        </a:rPr>
                        <a:t>2,444</a:t>
                      </a:r>
                    </a:p>
                  </a:txBody>
                  <a:tcPr marL="47625" marR="47625" marT="19050" marB="19050" anchor="ctr">
                    <a:solidFill>
                      <a:srgbClr val="F3F5F6"/>
                    </a:solidFill>
                  </a:tcPr>
                </a:tc>
              </a:tr>
              <a:tr h="311348">
                <a:tc>
                  <a:txBody>
                    <a:bodyPr/>
                    <a:lstStyle/>
                    <a:p>
                      <a:r>
                        <a:rPr sz="900" b="0">
                          <a:solidFill>
                            <a:srgbClr val="343D42"/>
                          </a:solidFill>
                          <a:latin typeface="Arial"/>
                          <a:ea typeface="Arial"/>
                          <a:cs typeface="Arial"/>
                        </a:rPr>
                        <a:t>University of MD St. Joseph Medical Center</a:t>
                      </a:r>
                    </a:p>
                  </a:txBody>
                  <a:tcPr marL="47625" marR="47625" marT="19050" marB="19050" anchor="ctr">
                    <a:solidFill>
                      <a:srgbClr val="FFFFFF"/>
                    </a:solidFill>
                  </a:tcPr>
                </a:tc>
                <a:tc>
                  <a:txBody>
                    <a:bodyPr/>
                    <a:lstStyle/>
                    <a:p>
                      <a:r>
                        <a:rPr sz="900" b="0">
                          <a:solidFill>
                            <a:srgbClr val="343D42"/>
                          </a:solidFill>
                          <a:latin typeface="Arial"/>
                          <a:ea typeface="Arial"/>
                          <a:cs typeface="Arial"/>
                        </a:rPr>
                        <a:t>Healthcare</a:t>
                      </a:r>
                    </a:p>
                  </a:txBody>
                  <a:tcPr marL="47625" marR="47625" marT="19050" marB="19050" anchor="ctr">
                    <a:solidFill>
                      <a:srgbClr val="FFFFFF"/>
                    </a:solidFill>
                  </a:tcPr>
                </a:tc>
                <a:tc>
                  <a:txBody>
                    <a:bodyPr/>
                    <a:lstStyle/>
                    <a:p>
                      <a:r>
                        <a:rPr sz="900" b="0">
                          <a:solidFill>
                            <a:srgbClr val="343D42"/>
                          </a:solidFill>
                          <a:latin typeface="Arial"/>
                          <a:ea typeface="Arial"/>
                          <a:cs typeface="Arial"/>
                        </a:rPr>
                        <a:t>2,366</a:t>
                      </a:r>
                    </a:p>
                  </a:txBody>
                  <a:tcPr marL="47625" marR="47625" marT="19050" marB="19050" anchor="ctr">
                    <a:solidFill>
                      <a:srgbClr val="FFFFFF"/>
                    </a:solidFill>
                  </a:tcPr>
                </a:tc>
              </a:tr>
              <a:tr h="311348">
                <a:tc>
                  <a:txBody>
                    <a:bodyPr/>
                    <a:lstStyle/>
                    <a:p>
                      <a:r>
                        <a:rPr sz="900" b="0">
                          <a:solidFill>
                            <a:srgbClr val="343D42"/>
                          </a:solidFill>
                          <a:latin typeface="Arial"/>
                          <a:ea typeface="Arial"/>
                          <a:cs typeface="Arial"/>
                        </a:rPr>
                        <a:t>Sheppard Pratt Health System</a:t>
                      </a:r>
                    </a:p>
                  </a:txBody>
                  <a:tcPr marL="47625" marR="47625" marT="19050" marB="19050" anchor="ctr">
                    <a:solidFill>
                      <a:srgbClr val="F3F5F6"/>
                    </a:solidFill>
                  </a:tcPr>
                </a:tc>
                <a:tc>
                  <a:txBody>
                    <a:bodyPr/>
                    <a:lstStyle/>
                    <a:p>
                      <a:r>
                        <a:rPr sz="900" b="0">
                          <a:solidFill>
                            <a:srgbClr val="343D42"/>
                          </a:solidFill>
                          <a:latin typeface="Arial"/>
                          <a:ea typeface="Arial"/>
                          <a:cs typeface="Arial"/>
                        </a:rPr>
                        <a:t>Hospital</a:t>
                      </a:r>
                    </a:p>
                  </a:txBody>
                  <a:tcPr marL="47625" marR="47625" marT="19050" marB="19050" anchor="ctr">
                    <a:solidFill>
                      <a:srgbClr val="F3F5F6"/>
                    </a:solidFill>
                  </a:tcPr>
                </a:tc>
                <a:tc>
                  <a:txBody>
                    <a:bodyPr/>
                    <a:lstStyle/>
                    <a:p>
                      <a:r>
                        <a:rPr sz="900" b="0">
                          <a:solidFill>
                            <a:srgbClr val="343D42"/>
                          </a:solidFill>
                          <a:latin typeface="Arial"/>
                          <a:ea typeface="Arial"/>
                          <a:cs typeface="Arial"/>
                        </a:rPr>
                        <a:t>2,250</a:t>
                      </a:r>
                    </a:p>
                  </a:txBody>
                  <a:tcPr marL="47625" marR="47625" marT="19050" marB="19050" anchor="ctr">
                    <a:solidFill>
                      <a:srgbClr val="F3F5F6"/>
                    </a:solidFill>
                  </a:tcPr>
                </a:tc>
              </a:tr>
              <a:tr h="311348">
                <a:tc>
                  <a:txBody>
                    <a:bodyPr/>
                    <a:lstStyle/>
                    <a:p>
                      <a:r>
                        <a:rPr sz="900" b="0">
                          <a:solidFill>
                            <a:srgbClr val="343D42"/>
                          </a:solidFill>
                          <a:latin typeface="Arial"/>
                          <a:ea typeface="Arial"/>
                          <a:cs typeface="Arial"/>
                        </a:rPr>
                        <a:t>T. Rowe Price Associates</a:t>
                      </a:r>
                    </a:p>
                  </a:txBody>
                  <a:tcPr marL="47625" marR="47625" marT="19050" marB="19050" anchor="ctr">
                    <a:solidFill>
                      <a:srgbClr val="FFFFFF"/>
                    </a:solidFill>
                  </a:tcPr>
                </a:tc>
                <a:tc>
                  <a:txBody>
                    <a:bodyPr/>
                    <a:lstStyle/>
                    <a:p>
                      <a:r>
                        <a:rPr sz="900" b="0">
                          <a:solidFill>
                            <a:srgbClr val="343D42"/>
                          </a:solidFill>
                          <a:latin typeface="Arial"/>
                          <a:ea typeface="Arial"/>
                          <a:cs typeface="Arial"/>
                        </a:rPr>
                        <a:t>Finance</a:t>
                      </a:r>
                    </a:p>
                  </a:txBody>
                  <a:tcPr marL="47625" marR="47625" marT="19050" marB="19050" anchor="ctr">
                    <a:solidFill>
                      <a:srgbClr val="FFFFFF"/>
                    </a:solidFill>
                  </a:tcPr>
                </a:tc>
                <a:tc>
                  <a:txBody>
                    <a:bodyPr/>
                    <a:lstStyle/>
                    <a:p>
                      <a:r>
                        <a:rPr sz="900" b="0">
                          <a:solidFill>
                            <a:srgbClr val="343D42"/>
                          </a:solidFill>
                          <a:latin typeface="Arial"/>
                          <a:ea typeface="Arial"/>
                          <a:cs typeface="Arial"/>
                        </a:rPr>
                        <a:t>2,183</a:t>
                      </a:r>
                    </a:p>
                  </a:txBody>
                  <a:tcPr marL="47625" marR="47625" marT="19050" marB="19050" anchor="ctr">
                    <a:solidFill>
                      <a:srgbClr val="FFFFFF"/>
                    </a:solidFill>
                  </a:tcPr>
                </a:tc>
              </a:tr>
              <a:tr h="311348">
                <a:tc>
                  <a:txBody>
                    <a:bodyPr/>
                    <a:lstStyle/>
                    <a:p>
                      <a:r>
                        <a:rPr sz="900" b="0">
                          <a:solidFill>
                            <a:srgbClr val="343D42"/>
                          </a:solidFill>
                          <a:latin typeface="Arial"/>
                          <a:ea typeface="Arial"/>
                          <a:cs typeface="Arial"/>
                        </a:rPr>
                        <a:t>McCormick &amp; Company</a:t>
                      </a:r>
                    </a:p>
                  </a:txBody>
                  <a:tcPr marL="47625" marR="47625" marT="19050" marB="19050" anchor="ctr">
                    <a:solidFill>
                      <a:srgbClr val="F3F5F6"/>
                    </a:solidFill>
                  </a:tcPr>
                </a:tc>
                <a:tc>
                  <a:txBody>
                    <a:bodyPr/>
                    <a:lstStyle/>
                    <a:p>
                      <a:r>
                        <a:rPr sz="900" b="0">
                          <a:solidFill>
                            <a:srgbClr val="343D42"/>
                          </a:solidFill>
                          <a:latin typeface="Arial"/>
                          <a:ea typeface="Arial"/>
                          <a:cs typeface="Arial"/>
                        </a:rPr>
                        <a:t>Consumer goods</a:t>
                      </a:r>
                    </a:p>
                  </a:txBody>
                  <a:tcPr marL="47625" marR="47625" marT="19050" marB="19050" anchor="ctr">
                    <a:solidFill>
                      <a:srgbClr val="F3F5F6"/>
                    </a:solidFill>
                  </a:tcPr>
                </a:tc>
                <a:tc>
                  <a:txBody>
                    <a:bodyPr/>
                    <a:lstStyle/>
                    <a:p>
                      <a:r>
                        <a:rPr sz="900" b="0">
                          <a:solidFill>
                            <a:srgbClr val="343D42"/>
                          </a:solidFill>
                          <a:latin typeface="Arial"/>
                          <a:ea typeface="Arial"/>
                          <a:cs typeface="Arial"/>
                        </a:rPr>
                        <a:t>2,093</a:t>
                      </a:r>
                    </a:p>
                  </a:txBody>
                  <a:tcPr marL="47625" marR="47625" marT="19050" marB="19050" anchor="ctr">
                    <a:solidFill>
                      <a:srgbClr val="F3F5F6"/>
                    </a:solidFill>
                  </a:tcPr>
                </a:tc>
              </a:tr>
              <a:tr h="311348">
                <a:tc>
                  <a:txBody>
                    <a:bodyPr/>
                    <a:lstStyle/>
                    <a:p>
                      <a:r>
                        <a:rPr sz="900" b="0">
                          <a:solidFill>
                            <a:srgbClr val="343D42"/>
                          </a:solidFill>
                          <a:latin typeface="Arial"/>
                          <a:ea typeface="Arial"/>
                          <a:cs typeface="Arial"/>
                        </a:rPr>
                        <a:t>Centric Business Systems</a:t>
                      </a:r>
                    </a:p>
                  </a:txBody>
                  <a:tcPr marL="47625" marR="47625" marT="19050" marB="19050" anchor="ctr">
                    <a:solidFill>
                      <a:srgbClr val="FFFFFF"/>
                    </a:solidFill>
                  </a:tcPr>
                </a:tc>
                <a:tc>
                  <a:txBody>
                    <a:bodyPr/>
                    <a:lstStyle/>
                    <a:p>
                      <a:r>
                        <a:rPr sz="900" b="0">
                          <a:solidFill>
                            <a:srgbClr val="343D42"/>
                          </a:solidFill>
                          <a:latin typeface="Arial"/>
                          <a:ea typeface="Arial"/>
                          <a:cs typeface="Arial"/>
                        </a:rPr>
                        <a:t>Wholesale</a:t>
                      </a:r>
                    </a:p>
                  </a:txBody>
                  <a:tcPr marL="47625" marR="47625" marT="19050" marB="19050" anchor="ctr">
                    <a:solidFill>
                      <a:srgbClr val="FFFFFF"/>
                    </a:solidFill>
                  </a:tcPr>
                </a:tc>
                <a:tc>
                  <a:txBody>
                    <a:bodyPr/>
                    <a:lstStyle/>
                    <a:p>
                      <a:r>
                        <a:rPr sz="900" b="0">
                          <a:solidFill>
                            <a:srgbClr val="343D42"/>
                          </a:solidFill>
                          <a:latin typeface="Arial"/>
                          <a:ea typeface="Arial"/>
                          <a:cs typeface="Arial"/>
                        </a:rPr>
                        <a:t>1,964</a:t>
                      </a:r>
                    </a:p>
                  </a:txBody>
                  <a:tcPr marL="47625" marR="47625" marT="19050" marB="19050" anchor="ctr">
                    <a:solidFill>
                      <a:srgbClr val="FFFFFF"/>
                    </a:solidFill>
                  </a:tcPr>
                </a:tc>
              </a:tr>
            </a:tbl>
          </a:graphicData>
        </a:graphic>
      </p:graphicFrame>
    </p:spTree>
    <p:extLst>
      <p:ext uri="{BB962C8B-B14F-4D97-AF65-F5344CB8AC3E}">
        <p14:creationId xmlns:p14="http://schemas.microsoft.com/office/powerpoint/2010/main" val="104631442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349464E-4C67-4D47-8736-E31577C603A3}"/>
              </a:ext>
            </a:extLst>
          </p:cNvPr>
          <p:cNvSpPr>
            <a:spLocks xmlns:a="http://schemas.openxmlformats.org/drawingml/2006/main" noGrp="1"/>
          </p:cNvSpPr>
          <p:nvPr/>
        </p:nvSpPr>
        <p:spPr>
          <a:xfrm xmlns:a="http://schemas.openxmlformats.org/drawingml/2006/main">
            <a:off x="457200" y="276225"/>
            <a:ext cx="11277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343D42"/>
                </a:solidFill>
                <a:latin typeface="Arial"/>
                <a:ea typeface="Arial"/>
                <a:cs typeface="Arial"/>
              </a:defRPr>
            </a:defPPr>
          </a:lstStyle>
          <a:p xmlns:a="http://schemas.openxmlformats.org/drawingml/2006/main">
            <a:pPr>
              <a:defRPr sz="2100" b="1">
                <a:solidFill>
                  <a:srgbClr val="343D42"/>
                </a:solidFill>
                <a:latin typeface="Arial"/>
                <a:ea typeface="Arial"/>
                <a:cs typeface="Arial"/>
              </a:defRPr>
            </a:pPr>
            <a:r>
              <a:rPr sz="2100" b="1">
                <a:solidFill>
                  <a:srgbClr val="343D42"/>
                </a:solidFill>
                <a:latin typeface="Arial"/>
                <a:ea typeface="Arial"/>
                <a:cs typeface="Arial"/>
              </a:rPr>
              <a:t>Demographics</a:t>
            </a:r>
          </a:p>
        </p:txBody>
      </p:sp>
      <p:sp>
        <p:nvSpPr>
          <p:cNvPr id="2" name="">
            <a:extLst xmlns:a="http://schemas.openxmlformats.org/drawingml/2006/main">
              <a:ext uri="{FF2B5EF4-FFF2-40B4-BE49-F238E27FC236}">
                <a16:creationId xmlns:a16="http://schemas.microsoft.com/office/drawing/2014/main" id="{C780E431-826C-466D-B819-7EA7BEAFBDCA}"/>
              </a:ext>
            </a:extLst>
          </p:cNvPr>
          <p:cNvSpPr>
            <a:spLocks xmlns:a="http://schemas.openxmlformats.org/drawingml/2006/main" noGrp="1"/>
          </p:cNvSpPr>
          <p:nvPr/>
        </p:nvSpPr>
        <p:spPr>
          <a:xfrm xmlns:a="http://schemas.openxmlformats.org/drawingml/2006/main">
            <a:off x="457200" y="800100"/>
            <a:ext cx="11277600" cy="9525"/>
          </a:xfrm>
          <a:prstGeom xmlns:a="http://schemas.openxmlformats.org/drawingml/2006/main" prst="rect">
            <a:avLst/>
          </a:prstGeom>
          <a:solidFill xmlns:a="http://schemas.openxmlformats.org/drawingml/2006/main">
            <a:srgbClr val="B9B9B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B14BF7-81DD-4827-A8E8-94201E9DA65F}"/>
              </a:ext>
            </a:extLst>
          </p:cNvPr>
          <p:cNvSpPr>
            <a:spLocks xmlns:a="http://schemas.openxmlformats.org/drawingml/2006/main" noGrp="1"/>
          </p:cNvSpPr>
          <p:nvPr/>
        </p:nvSpPr>
        <p:spPr>
          <a:xfrm xmlns:a="http://schemas.openxmlformats.org/drawingml/2006/main">
            <a:off x="457200" y="6257925"/>
            <a:ext cx="11277600" cy="38100"/>
          </a:xfrm>
          <a:prstGeom xmlns:a="http://schemas.openxmlformats.org/drawingml/2006/main" prst="rect">
            <a:avLst/>
          </a:prstGeom>
          <a:solidFill xmlns:a="http://schemas.openxmlformats.org/drawingml/2006/main">
            <a:srgbClr val="343D4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185279A-10CA-4893-914D-78B6573A7956}"/>
              </a:ext>
            </a:extLst>
          </p:cNvPr>
          <p:cNvSpPr>
            <a:spLocks xmlns:a="http://schemas.openxmlformats.org/drawingml/2006/main" noGrp="1"/>
          </p:cNvSpPr>
          <p:nvPr/>
        </p:nvSpPr>
        <p:spPr>
          <a:xfrm xmlns:a="http://schemas.openxmlformats.org/drawingml/2006/main">
            <a:off x="457200" y="6238875"/>
            <a:ext cx="11277600" cy="19050"/>
          </a:xfrm>
          <a:prstGeom xmlns:a="http://schemas.openxmlformats.org/drawingml/2006/main" prst="rect">
            <a:avLst/>
          </a:prstGeom>
          <a:solidFill xmlns:a="http://schemas.openxmlformats.org/drawingml/2006/main">
            <a:srgbClr val="C2674B"/>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CA439870-65ED-4098-84D9-700D5030383C}"/>
              </a:ext>
            </a:extLst>
          </p:cNvPr>
          <p:cNvPicPr>
            <a:picLocks xmlns:a="http://schemas.openxmlformats.org/drawingml/2006/main" noChangeAspect="1"/>
          </p:cNvPicPr>
          <p:nvPr/>
        </p:nvPicPr>
        <p:blipFill>
          <a:blip xmlns:r="http://schemas.openxmlformats.org/officeDocument/2006/relationships" xmlns:a="http://schemas.openxmlformats.org/drawingml/2006/main" r:embed="R003c0b489f294f11"/>
          <a:stretch xmlns:a="http://schemas.openxmlformats.org/drawingml/2006/main"/>
        </p:blipFill>
        <p:spPr>
          <a:xfrm xmlns:a="http://schemas.openxmlformats.org/drawingml/2006/main">
            <a:off x="457200" y="6387465"/>
            <a:ext cx="1609725" cy="32194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2E3DBDE-ADDA-4D88-B1A1-60299D93DAAB}"/>
              </a:ext>
            </a:extLst>
          </p:cNvPr>
          <p:cNvSpPr>
            <a:spLocks xmlns:a="http://schemas.openxmlformats.org/drawingml/2006/main" noGrp="1"/>
          </p:cNvSpPr>
          <p:nvPr/>
        </p:nvSpPr>
        <p:spPr>
          <a:xfrm xmlns:a="http://schemas.openxmlformats.org/drawingml/2006/main">
            <a:off x="11382375" y="64579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747474"/>
                </a:solidFill>
                <a:latin typeface="Arial"/>
                <a:ea typeface="Arial"/>
                <a:cs typeface="Arial"/>
              </a:defRPr>
            </a:defPPr>
          </a:lstStyle>
          <a:p xmlns:a="http://schemas.openxmlformats.org/drawingml/2006/main">
            <a:pPr>
              <a:defRPr sz="900" b="0">
                <a:solidFill>
                  <a:srgbClr val="747474"/>
                </a:solidFill>
                <a:latin typeface="Arial"/>
                <a:ea typeface="Arial"/>
                <a:cs typeface="Arial"/>
              </a:defRPr>
            </a:pPr>
            <a:r>
              <a:rPr sz="900" b="0">
                <a:solidFill>
                  <a:srgbClr val="747474"/>
                </a:solidFill>
                <a:latin typeface="Arial"/>
                <a:ea typeface="Arial"/>
                <a:cs typeface="Arial"/>
              </a:rPr>
              <a:t>16</a:t>
            </a:r>
          </a:p>
        </p:txBody>
      </p:sp>
      <p:graphicFrame>
        <p:nvGraphicFramePr>
          <p:cNvPr id="7" name="">
            <a:extLst xmlns:a="http://schemas.openxmlformats.org/drawingml/2006/main">
              <a:ext uri="{FF2B5EF4-FFF2-40B4-BE49-F238E27FC236}">
                <a16:creationId xmlns:a16="http://schemas.microsoft.com/office/drawing/2014/main" id="{5E332ED8-5A49-465D-A5E1-71CDA5F83314}"/>
              </a:ext>
            </a:extLst>
          </p:cNvPr>
          <p:cNvGraphicFramePr/>
          <p:nvPr/>
        </p:nvGraphicFramePr>
        <p:xfrm>
          <a:off xmlns:a="http://schemas.openxmlformats.org/drawingml/2006/main" x="457200" y="1047750"/>
          <a:ext xmlns:a="http://schemas.openxmlformats.org/drawingml/2006/main" cx="6067425" cy="1866900"/>
        </p:xfrm>
        <a:graphic xmlns:a="http://schemas.openxmlformats.org/drawingml/2006/main">
          <a:graphicData uri="http://schemas.openxmlformats.org/drawingml/2006/table">
            <a:tbl>
              <a:tblPr/>
              <a:tblGrid>
                <a:gridCol w="2524125"/>
                <a:gridCol w="1181100"/>
                <a:gridCol w="1181100"/>
                <a:gridCol w="1181100"/>
              </a:tblGrid>
              <a:tr h="466725">
                <a:tc>
                  <a:txBody>
                    <a:bodyPr/>
                    <a:lstStyle/>
                    <a:p>
                      <a:r>
                        <a:rPr sz="1500" b="1">
                          <a:solidFill>
                            <a:srgbClr val="FFFFFF"/>
                          </a:solidFill>
                          <a:latin typeface="Arial"/>
                          <a:ea typeface="Arial"/>
                          <a:cs typeface="Arial"/>
                        </a:rPr>
                        <a:t>Demographic</a:t>
                      </a:r>
                    </a:p>
                  </a:txBody>
                  <a:tcPr marL="47625" marR="47625" marT="19050" marB="19050" anchor="ctr">
                    <a:solidFill>
                      <a:srgbClr val="213C66"/>
                    </a:solidFill>
                  </a:tcPr>
                </a:tc>
                <a:tc>
                  <a:txBody>
                    <a:bodyPr/>
                    <a:lstStyle/>
                    <a:p>
                      <a:r>
                        <a:rPr sz="1500" b="1">
                          <a:solidFill>
                            <a:srgbClr val="FFFFFF"/>
                          </a:solidFill>
                          <a:latin typeface="Arial"/>
                          <a:ea typeface="Arial"/>
                          <a:cs typeface="Arial"/>
                        </a:rPr>
                        <a:t>1 mile</a:t>
                      </a:r>
                    </a:p>
                  </a:txBody>
                  <a:tcPr marL="47625" marR="47625" marT="19050" marB="19050" anchor="ctr">
                    <a:solidFill>
                      <a:srgbClr val="213C66"/>
                    </a:solidFill>
                  </a:tcPr>
                </a:tc>
                <a:tc>
                  <a:txBody>
                    <a:bodyPr/>
                    <a:lstStyle/>
                    <a:p>
                      <a:r>
                        <a:rPr sz="1500" b="1">
                          <a:solidFill>
                            <a:srgbClr val="FFFFFF"/>
                          </a:solidFill>
                          <a:latin typeface="Arial"/>
                          <a:ea typeface="Arial"/>
                          <a:cs typeface="Arial"/>
                        </a:rPr>
                        <a:t>3 miles</a:t>
                      </a:r>
                    </a:p>
                  </a:txBody>
                  <a:tcPr marL="47625" marR="47625" marT="19050" marB="19050" anchor="ctr">
                    <a:solidFill>
                      <a:srgbClr val="213C66"/>
                    </a:solidFill>
                  </a:tcPr>
                </a:tc>
                <a:tc>
                  <a:txBody>
                    <a:bodyPr/>
                    <a:lstStyle/>
                    <a:p>
                      <a:r>
                        <a:rPr sz="1500" b="1">
                          <a:solidFill>
                            <a:srgbClr val="FFFFFF"/>
                          </a:solidFill>
                          <a:latin typeface="Arial"/>
                          <a:ea typeface="Arial"/>
                          <a:cs typeface="Arial"/>
                        </a:rPr>
                        <a:t>5 miles</a:t>
                      </a:r>
                    </a:p>
                  </a:txBody>
                  <a:tcPr marL="47625" marR="47625" marT="19050" marB="19050" anchor="ctr">
                    <a:solidFill>
                      <a:srgbClr val="213C66"/>
                    </a:solidFill>
                  </a:tcPr>
                </a:tc>
              </a:tr>
              <a:tr h="466725">
                <a:tc>
                  <a:txBody>
                    <a:bodyPr/>
                    <a:lstStyle/>
                    <a:p>
                      <a:r>
                        <a:rPr sz="1500" b="0">
                          <a:solidFill>
                            <a:srgbClr val="343D42"/>
                          </a:solidFill>
                          <a:latin typeface="Arial"/>
                          <a:ea typeface="Arial"/>
                          <a:cs typeface="Arial"/>
                        </a:rPr>
                        <a:t>2024 population</a:t>
                      </a:r>
                    </a:p>
                  </a:txBody>
                  <a:tcPr marL="47625" marR="47625" marT="19050" marB="19050" anchor="ctr">
                    <a:solidFill>
                      <a:srgbClr val="FFFFFF"/>
                    </a:solidFill>
                  </a:tcPr>
                </a:tc>
                <a:tc>
                  <a:txBody>
                    <a:bodyPr/>
                    <a:lstStyle/>
                    <a:p>
                      <a:r>
                        <a:rPr sz="1500" b="0">
                          <a:solidFill>
                            <a:srgbClr val="343D42"/>
                          </a:solidFill>
                          <a:latin typeface="Arial"/>
                          <a:ea typeface="Arial"/>
                          <a:cs typeface="Arial"/>
                        </a:rPr>
                        <a:t>18,647</a:t>
                      </a:r>
                    </a:p>
                  </a:txBody>
                  <a:tcPr marL="47625" marR="47625" marT="19050" marB="19050" anchor="ctr">
                    <a:solidFill>
                      <a:srgbClr val="FFFFFF"/>
                    </a:solidFill>
                  </a:tcPr>
                </a:tc>
                <a:tc>
                  <a:txBody>
                    <a:bodyPr/>
                    <a:lstStyle/>
                    <a:p>
                      <a:r>
                        <a:rPr sz="1500" b="0">
                          <a:solidFill>
                            <a:srgbClr val="343D42"/>
                          </a:solidFill>
                          <a:latin typeface="Arial"/>
                          <a:ea typeface="Arial"/>
                          <a:cs typeface="Arial"/>
                        </a:rPr>
                        <a:t>132,743</a:t>
                      </a:r>
                    </a:p>
                  </a:txBody>
                  <a:tcPr marL="47625" marR="47625" marT="19050" marB="19050" anchor="ctr">
                    <a:solidFill>
                      <a:srgbClr val="FFFFFF"/>
                    </a:solidFill>
                  </a:tcPr>
                </a:tc>
                <a:tc>
                  <a:txBody>
                    <a:bodyPr/>
                    <a:lstStyle/>
                    <a:p>
                      <a:r>
                        <a:rPr sz="1500" b="0">
                          <a:solidFill>
                            <a:srgbClr val="343D42"/>
                          </a:solidFill>
                          <a:latin typeface="Arial"/>
                          <a:ea typeface="Arial"/>
                          <a:cs typeface="Arial"/>
                        </a:rPr>
                        <a:t>392,666</a:t>
                      </a:r>
                    </a:p>
                  </a:txBody>
                  <a:tcPr marL="47625" marR="47625" marT="19050" marB="19050" anchor="ctr">
                    <a:solidFill>
                      <a:srgbClr val="FFFFFF"/>
                    </a:solidFill>
                  </a:tcPr>
                </a:tc>
              </a:tr>
              <a:tr h="466725">
                <a:tc>
                  <a:txBody>
                    <a:bodyPr/>
                    <a:lstStyle/>
                    <a:p>
                      <a:r>
                        <a:rPr sz="1500" b="0">
                          <a:solidFill>
                            <a:srgbClr val="343D42"/>
                          </a:solidFill>
                          <a:latin typeface="Arial"/>
                          <a:ea typeface="Arial"/>
                          <a:cs typeface="Arial"/>
                        </a:rPr>
                        <a:t>2029 population</a:t>
                      </a:r>
                    </a:p>
                  </a:txBody>
                  <a:tcPr marL="47625" marR="47625" marT="19050" marB="19050" anchor="ctr">
                    <a:solidFill>
                      <a:srgbClr val="F3F5F6"/>
                    </a:solidFill>
                  </a:tcPr>
                </a:tc>
                <a:tc>
                  <a:txBody>
                    <a:bodyPr/>
                    <a:lstStyle/>
                    <a:p>
                      <a:r>
                        <a:rPr sz="1500" b="0">
                          <a:solidFill>
                            <a:srgbClr val="343D42"/>
                          </a:solidFill>
                          <a:latin typeface="Arial"/>
                          <a:ea typeface="Arial"/>
                          <a:cs typeface="Arial"/>
                        </a:rPr>
                        <a:t>18,276</a:t>
                      </a:r>
                    </a:p>
                  </a:txBody>
                  <a:tcPr marL="47625" marR="47625" marT="19050" marB="19050" anchor="ctr">
                    <a:solidFill>
                      <a:srgbClr val="F3F5F6"/>
                    </a:solidFill>
                  </a:tcPr>
                </a:tc>
                <a:tc>
                  <a:txBody>
                    <a:bodyPr/>
                    <a:lstStyle/>
                    <a:p>
                      <a:r>
                        <a:rPr sz="1500" b="0">
                          <a:solidFill>
                            <a:srgbClr val="343D42"/>
                          </a:solidFill>
                          <a:latin typeface="Arial"/>
                          <a:ea typeface="Arial"/>
                          <a:cs typeface="Arial"/>
                        </a:rPr>
                        <a:t>130,454</a:t>
                      </a:r>
                    </a:p>
                  </a:txBody>
                  <a:tcPr marL="47625" marR="47625" marT="19050" marB="19050" anchor="ctr">
                    <a:solidFill>
                      <a:srgbClr val="F3F5F6"/>
                    </a:solidFill>
                  </a:tcPr>
                </a:tc>
                <a:tc>
                  <a:txBody>
                    <a:bodyPr/>
                    <a:lstStyle/>
                    <a:p>
                      <a:r>
                        <a:rPr sz="1500" b="0">
                          <a:solidFill>
                            <a:srgbClr val="343D42"/>
                          </a:solidFill>
                          <a:latin typeface="Arial"/>
                          <a:ea typeface="Arial"/>
                          <a:cs typeface="Arial"/>
                        </a:rPr>
                        <a:t>386,702</a:t>
                      </a:r>
                    </a:p>
                  </a:txBody>
                  <a:tcPr marL="47625" marR="47625" marT="19050" marB="19050" anchor="ctr">
                    <a:solidFill>
                      <a:srgbClr val="F3F5F6"/>
                    </a:solidFill>
                  </a:tcPr>
                </a:tc>
              </a:tr>
              <a:tr h="466725">
                <a:tc>
                  <a:txBody>
                    <a:bodyPr/>
                    <a:lstStyle/>
                    <a:p>
                      <a:r>
                        <a:rPr sz="1500" b="0">
                          <a:solidFill>
                            <a:srgbClr val="343D42"/>
                          </a:solidFill>
                          <a:latin typeface="Arial"/>
                          <a:ea typeface="Arial"/>
                          <a:cs typeface="Arial"/>
                        </a:rPr>
                        <a:t>2024 average household income</a:t>
                      </a:r>
                    </a:p>
                  </a:txBody>
                  <a:tcPr marL="47625" marR="47625" marT="19050" marB="19050" anchor="ctr">
                    <a:solidFill>
                      <a:srgbClr val="FFFFFF"/>
                    </a:solidFill>
                  </a:tcPr>
                </a:tc>
                <a:tc>
                  <a:txBody>
                    <a:bodyPr/>
                    <a:lstStyle/>
                    <a:p>
                      <a:r>
                        <a:rPr sz="1500" b="0">
                          <a:solidFill>
                            <a:srgbClr val="343D42"/>
                          </a:solidFill>
                          <a:latin typeface="Arial"/>
                          <a:ea typeface="Arial"/>
                          <a:cs typeface="Arial"/>
                        </a:rPr>
                        <a:t>$59,650</a:t>
                      </a:r>
                    </a:p>
                  </a:txBody>
                  <a:tcPr marL="47625" marR="47625" marT="19050" marB="19050" anchor="ctr">
                    <a:solidFill>
                      <a:srgbClr val="FFFFFF"/>
                    </a:solidFill>
                  </a:tcPr>
                </a:tc>
                <a:tc>
                  <a:txBody>
                    <a:bodyPr/>
                    <a:lstStyle/>
                    <a:p>
                      <a:r>
                        <a:rPr sz="1500" b="0">
                          <a:solidFill>
                            <a:srgbClr val="343D42"/>
                          </a:solidFill>
                          <a:latin typeface="Arial"/>
                          <a:ea typeface="Arial"/>
                          <a:cs typeface="Arial"/>
                        </a:rPr>
                        <a:t>$81,081</a:t>
                      </a:r>
                    </a:p>
                  </a:txBody>
                  <a:tcPr marL="47625" marR="47625" marT="19050" marB="19050" anchor="ctr">
                    <a:solidFill>
                      <a:srgbClr val="FFFFFF"/>
                    </a:solidFill>
                  </a:tcPr>
                </a:tc>
                <a:tc>
                  <a:txBody>
                    <a:bodyPr/>
                    <a:lstStyle/>
                    <a:p>
                      <a:r>
                        <a:rPr sz="1500" b="0">
                          <a:solidFill>
                            <a:srgbClr val="343D42"/>
                          </a:solidFill>
                          <a:latin typeface="Arial"/>
                          <a:ea typeface="Arial"/>
                          <a:cs typeface="Arial"/>
                        </a:rPr>
                        <a:t>$81,797</a:t>
                      </a:r>
                    </a:p>
                  </a:txBody>
                  <a:tcPr marL="47625" marR="47625" marT="19050" marB="1905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90009D2F-8FB2-4C92-AE06-9005B8688A5B}"/>
              </a:ext>
            </a:extLst>
          </p:cNvPr>
          <p:cNvSpPr>
            <a:spLocks xmlns:a="http://schemas.openxmlformats.org/drawingml/2006/main" noGrp="1"/>
          </p:cNvSpPr>
          <p:nvPr/>
        </p:nvSpPr>
        <p:spPr>
          <a:xfrm xmlns:a="http://schemas.openxmlformats.org/drawingml/2006/main">
            <a:off x="7086600" y="106680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13C66"/>
                </a:solidFill>
                <a:latin typeface="Arial"/>
                <a:ea typeface="Arial"/>
                <a:cs typeface="Arial"/>
              </a:defRPr>
            </a:defPPr>
          </a:lstStyle>
          <a:p xmlns:a="http://schemas.openxmlformats.org/drawingml/2006/main">
            <a:pPr>
              <a:defRPr sz="1875" b="1">
                <a:solidFill>
                  <a:srgbClr val="213C66"/>
                </a:solidFill>
                <a:latin typeface="Arial"/>
                <a:ea typeface="Arial"/>
                <a:cs typeface="Arial"/>
              </a:defRPr>
            </a:pPr>
            <a:r>
              <a:rPr sz="1875" b="1">
                <a:solidFill>
                  <a:srgbClr val="213C66"/>
                </a:solidFill>
                <a:latin typeface="Arial"/>
                <a:ea typeface="Arial"/>
                <a:cs typeface="Arial"/>
              </a:rPr>
              <a:t>Baltimore / Washington International</a:t>
            </a:r>
          </a:p>
          <a:p xmlns:a="http://schemas.openxmlformats.org/drawingml/2006/main">
            <a:pPr>
              <a:defRPr sz="1875" b="1">
                <a:solidFill>
                  <a:srgbClr val="213C66"/>
                </a:solidFill>
                <a:latin typeface="Arial"/>
                <a:ea typeface="Arial"/>
                <a:cs typeface="Arial"/>
              </a:defRPr>
            </a:pPr>
            <a:r>
              <a:rPr sz="1875" b="1">
                <a:solidFill>
                  <a:srgbClr val="213C66"/>
                </a:solidFill>
                <a:latin typeface="Arial"/>
                <a:ea typeface="Arial"/>
                <a:cs typeface="Arial"/>
              </a:rPr>
              <a:t>Thurgood Marshall Airport</a:t>
            </a:r>
          </a:p>
        </p:txBody>
      </p:sp>
      <p:sp>
        <p:nvSpPr>
          <p:cNvPr id="9" name="">
            <a:extLst xmlns:a="http://schemas.openxmlformats.org/drawingml/2006/main">
              <a:ext uri="{FF2B5EF4-FFF2-40B4-BE49-F238E27FC236}">
                <a16:creationId xmlns:a16="http://schemas.microsoft.com/office/drawing/2014/main" id="{5432D894-6A1E-40D4-B502-47A4711BDF16}"/>
              </a:ext>
            </a:extLst>
          </p:cNvPr>
          <p:cNvSpPr>
            <a:spLocks xmlns:a="http://schemas.openxmlformats.org/drawingml/2006/main" noGrp="1"/>
          </p:cNvSpPr>
          <p:nvPr/>
        </p:nvSpPr>
        <p:spPr>
          <a:xfrm xmlns:a="http://schemas.openxmlformats.org/drawingml/2006/main">
            <a:off x="7086600" y="1971675"/>
            <a:ext cx="4572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43D42"/>
                </a:solidFill>
                <a:latin typeface="Arial"/>
                <a:ea typeface="Arial"/>
                <a:cs typeface="Arial"/>
              </a:defRPr>
            </a:defPPr>
          </a:lstStyle>
          <a:p xmlns:a="http://schemas.openxmlformats.org/drawingml/2006/main">
            <a:pPr>
              <a:defRPr sz="1725" b="0">
                <a:solidFill>
                  <a:srgbClr val="343D42"/>
                </a:solidFill>
                <a:latin typeface="Arial"/>
                <a:ea typeface="Arial"/>
                <a:cs typeface="Arial"/>
              </a:defRPr>
            </a:pPr>
            <a:r>
              <a:rPr sz="1725" b="0">
                <a:solidFill>
                  <a:srgbClr val="343D42"/>
                </a:solidFill>
                <a:latin typeface="Arial"/>
                <a:ea typeface="Arial"/>
                <a:cs typeface="Arial"/>
              </a:rPr>
              <a:t>4.5 miles from the property</a:t>
            </a:r>
          </a:p>
          <a:p xmlns:a="http://schemas.openxmlformats.org/drawingml/2006/main">
            <a:pPr>
              <a:defRPr sz="1725" b="0">
                <a:solidFill>
                  <a:srgbClr val="343D42"/>
                </a:solidFill>
                <a:latin typeface="Arial"/>
                <a:ea typeface="Arial"/>
                <a:cs typeface="Arial"/>
              </a:defRPr>
            </a:pPr>
            <a:r>
              <a:rPr sz="1725" b="0">
                <a:solidFill>
                  <a:srgbClr val="343D42"/>
                </a:solidFill>
                <a:latin typeface="Arial"/>
                <a:ea typeface="Arial"/>
                <a:cs typeface="Arial"/>
              </a:rPr>
              <a:t>3,596 acres</a:t>
            </a:r>
          </a:p>
          <a:p xmlns:a="http://schemas.openxmlformats.org/drawingml/2006/main">
            <a:pPr>
              <a:defRPr sz="1725" b="0">
                <a:solidFill>
                  <a:srgbClr val="343D42"/>
                </a:solidFill>
                <a:latin typeface="Arial"/>
                <a:ea typeface="Arial"/>
                <a:cs typeface="Arial"/>
              </a:defRPr>
            </a:pPr>
            <a:r>
              <a:rPr sz="1725" b="0">
                <a:solidFill>
                  <a:srgbClr val="343D42"/>
                </a:solidFill>
                <a:latin typeface="Arial"/>
                <a:ea typeface="Arial"/>
                <a:cs typeface="Arial"/>
              </a:rPr>
              <a:t>27 million passengers annually</a:t>
            </a:r>
          </a:p>
        </p:txBody>
      </p:sp>
      <p:sp>
        <p:nvSpPr>
          <p:cNvPr id="10" name="">
            <a:extLst xmlns:a="http://schemas.openxmlformats.org/drawingml/2006/main">
              <a:ext uri="{FF2B5EF4-FFF2-40B4-BE49-F238E27FC236}">
                <a16:creationId xmlns:a16="http://schemas.microsoft.com/office/drawing/2014/main" id="{11DB5149-1BC4-4CF4-8D0D-4A0C2ADC8EC5}"/>
              </a:ext>
            </a:extLst>
          </p:cNvPr>
          <p:cNvSpPr>
            <a:spLocks xmlns:a="http://schemas.openxmlformats.org/drawingml/2006/main" noGrp="1"/>
          </p:cNvSpPr>
          <p:nvPr/>
        </p:nvSpPr>
        <p:spPr>
          <a:xfrm xmlns:a="http://schemas.openxmlformats.org/drawingml/2006/main">
            <a:off x="457200" y="3257550"/>
            <a:ext cx="638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13C66"/>
                </a:solidFill>
                <a:latin typeface="Arial"/>
                <a:ea typeface="Arial"/>
                <a:cs typeface="Arial"/>
              </a:defRPr>
            </a:defPPr>
          </a:lstStyle>
          <a:p xmlns:a="http://schemas.openxmlformats.org/drawingml/2006/main">
            <a:pPr>
              <a:defRPr sz="1725" b="1">
                <a:solidFill>
                  <a:srgbClr val="213C66"/>
                </a:solidFill>
                <a:latin typeface="Arial"/>
                <a:ea typeface="Arial"/>
                <a:cs typeface="Arial"/>
              </a:defRPr>
            </a:pPr>
            <a:r>
              <a:rPr sz="1725" b="1">
                <a:solidFill>
                  <a:srgbClr val="213C66"/>
                </a:solidFill>
                <a:latin typeface="Arial"/>
                <a:ea typeface="Arial"/>
                <a:cs typeface="Arial"/>
              </a:rPr>
              <a:t>Largest Universities in Maryland</a:t>
            </a:r>
          </a:p>
        </p:txBody>
      </p:sp>
      <p:graphicFrame>
        <p:nvGraphicFramePr>
          <p:cNvPr id="11" name="">
            <a:extLst xmlns:a="http://schemas.openxmlformats.org/drawingml/2006/main">
              <a:ext uri="{FF2B5EF4-FFF2-40B4-BE49-F238E27FC236}">
                <a16:creationId xmlns:a16="http://schemas.microsoft.com/office/drawing/2014/main" id="{7ECD9FC0-F948-4325-B75F-0F1DED267520}"/>
              </a:ext>
            </a:extLst>
          </p:cNvPr>
          <p:cNvGraphicFramePr/>
          <p:nvPr/>
        </p:nvGraphicFramePr>
        <p:xfrm>
          <a:off xmlns:a="http://schemas.openxmlformats.org/drawingml/2006/main" x="457200" y="3686175"/>
          <a:ext xmlns:a="http://schemas.openxmlformats.org/drawingml/2006/main" cx="6067425" cy="2324100"/>
        </p:xfrm>
        <a:graphic xmlns:a="http://schemas.openxmlformats.org/drawingml/2006/main">
          <a:graphicData uri="http://schemas.openxmlformats.org/drawingml/2006/table">
            <a:tbl>
              <a:tblPr/>
              <a:tblGrid>
                <a:gridCol w="4914900"/>
                <a:gridCol w="1152525"/>
              </a:tblGrid>
              <a:tr h="232410">
                <a:tc>
                  <a:txBody>
                    <a:bodyPr/>
                    <a:lstStyle/>
                    <a:p>
                      <a:r>
                        <a:rPr sz="1125" b="1">
                          <a:solidFill>
                            <a:srgbClr val="FFFFFF"/>
                          </a:solidFill>
                          <a:latin typeface="Arial"/>
                          <a:ea typeface="Arial"/>
                          <a:cs typeface="Arial"/>
                        </a:rPr>
                        <a:t>University</a:t>
                      </a:r>
                    </a:p>
                  </a:txBody>
                  <a:tcPr marL="47625" marR="47625" marT="19050" marB="19050" anchor="ctr">
                    <a:solidFill>
                      <a:srgbClr val="213C66"/>
                    </a:solidFill>
                  </a:tcPr>
                </a:tc>
                <a:tc>
                  <a:txBody>
                    <a:bodyPr/>
                    <a:lstStyle/>
                    <a:p>
                      <a:r>
                        <a:rPr sz="1125" b="1">
                          <a:solidFill>
                            <a:srgbClr val="FFFFFF"/>
                          </a:solidFill>
                          <a:latin typeface="Arial"/>
                          <a:ea typeface="Arial"/>
                          <a:cs typeface="Arial"/>
                        </a:rPr>
                        <a:t>Students</a:t>
                      </a:r>
                    </a:p>
                  </a:txBody>
                  <a:tcPr marL="47625" marR="47625" marT="19050" marB="19050" anchor="ctr">
                    <a:solidFill>
                      <a:srgbClr val="213C66"/>
                    </a:solidFill>
                  </a:tcPr>
                </a:tc>
              </a:tr>
              <a:tr h="232410">
                <a:tc>
                  <a:txBody>
                    <a:bodyPr/>
                    <a:lstStyle/>
                    <a:p>
                      <a:r>
                        <a:rPr sz="1125" b="0">
                          <a:solidFill>
                            <a:srgbClr val="343D42"/>
                          </a:solidFill>
                          <a:latin typeface="Arial"/>
                          <a:ea typeface="Arial"/>
                          <a:cs typeface="Arial"/>
                        </a:rPr>
                        <a:t>University of Maryland University College</a:t>
                      </a:r>
                    </a:p>
                  </a:txBody>
                  <a:tcPr marL="47625" marR="47625" marT="19050" marB="19050" anchor="ctr">
                    <a:solidFill>
                      <a:srgbClr val="FFFFFF"/>
                    </a:solidFill>
                  </a:tcPr>
                </a:tc>
                <a:tc>
                  <a:txBody>
                    <a:bodyPr/>
                    <a:lstStyle/>
                    <a:p>
                      <a:r>
                        <a:rPr sz="1125" b="0">
                          <a:solidFill>
                            <a:srgbClr val="343D42"/>
                          </a:solidFill>
                          <a:latin typeface="Arial"/>
                          <a:ea typeface="Arial"/>
                          <a:cs typeface="Arial"/>
                        </a:rPr>
                        <a:t>55,838</a:t>
                      </a:r>
                    </a:p>
                  </a:txBody>
                  <a:tcPr marL="47625" marR="47625" marT="19050" marB="19050" anchor="ctr">
                    <a:solidFill>
                      <a:srgbClr val="FFFFFF"/>
                    </a:solidFill>
                  </a:tcPr>
                </a:tc>
              </a:tr>
              <a:tr h="232410">
                <a:tc>
                  <a:txBody>
                    <a:bodyPr/>
                    <a:lstStyle/>
                    <a:p>
                      <a:r>
                        <a:rPr sz="1125" b="0">
                          <a:solidFill>
                            <a:srgbClr val="343D42"/>
                          </a:solidFill>
                          <a:latin typeface="Arial"/>
                          <a:ea typeface="Arial"/>
                          <a:cs typeface="Arial"/>
                        </a:rPr>
                        <a:t>University of Maryland College Park</a:t>
                      </a:r>
                    </a:p>
                  </a:txBody>
                  <a:tcPr marL="47625" marR="47625" marT="19050" marB="19050" anchor="ctr">
                    <a:solidFill>
                      <a:srgbClr val="F3F5F6"/>
                    </a:solidFill>
                  </a:tcPr>
                </a:tc>
                <a:tc>
                  <a:txBody>
                    <a:bodyPr/>
                    <a:lstStyle/>
                    <a:p>
                      <a:r>
                        <a:rPr sz="1125" b="0">
                          <a:solidFill>
                            <a:srgbClr val="343D42"/>
                          </a:solidFill>
                          <a:latin typeface="Arial"/>
                          <a:ea typeface="Arial"/>
                          <a:cs typeface="Arial"/>
                        </a:rPr>
                        <a:t>40,792</a:t>
                      </a:r>
                    </a:p>
                  </a:txBody>
                  <a:tcPr marL="47625" marR="47625" marT="19050" marB="19050" anchor="ctr">
                    <a:solidFill>
                      <a:srgbClr val="F3F5F6"/>
                    </a:solidFill>
                  </a:tcPr>
                </a:tc>
              </a:tr>
              <a:tr h="232410">
                <a:tc>
                  <a:txBody>
                    <a:bodyPr/>
                    <a:lstStyle/>
                    <a:p>
                      <a:r>
                        <a:rPr sz="1125" b="0">
                          <a:solidFill>
                            <a:srgbClr val="343D42"/>
                          </a:solidFill>
                          <a:latin typeface="Arial"/>
                          <a:ea typeface="Arial"/>
                          <a:cs typeface="Arial"/>
                        </a:rPr>
                        <a:t>Johns Hopkins University</a:t>
                      </a:r>
                    </a:p>
                  </a:txBody>
                  <a:tcPr marL="47625" marR="47625" marT="19050" marB="19050" anchor="ctr">
                    <a:solidFill>
                      <a:srgbClr val="FFFFFF"/>
                    </a:solidFill>
                  </a:tcPr>
                </a:tc>
                <a:tc>
                  <a:txBody>
                    <a:bodyPr/>
                    <a:lstStyle/>
                    <a:p>
                      <a:r>
                        <a:rPr sz="1125" b="0">
                          <a:solidFill>
                            <a:srgbClr val="343D42"/>
                          </a:solidFill>
                          <a:latin typeface="Arial"/>
                          <a:ea typeface="Arial"/>
                          <a:cs typeface="Arial"/>
                        </a:rPr>
                        <a:t>31,275</a:t>
                      </a:r>
                    </a:p>
                  </a:txBody>
                  <a:tcPr marL="47625" marR="47625" marT="19050" marB="19050" anchor="ctr">
                    <a:solidFill>
                      <a:srgbClr val="FFFFFF"/>
                    </a:solidFill>
                  </a:tcPr>
                </a:tc>
              </a:tr>
              <a:tr h="232410">
                <a:tc>
                  <a:txBody>
                    <a:bodyPr/>
                    <a:lstStyle/>
                    <a:p>
                      <a:r>
                        <a:rPr sz="1125" b="0">
                          <a:solidFill>
                            <a:srgbClr val="343D42"/>
                          </a:solidFill>
                          <a:latin typeface="Arial"/>
                          <a:ea typeface="Arial"/>
                          <a:cs typeface="Arial"/>
                        </a:rPr>
                        <a:t>Towson University</a:t>
                      </a:r>
                    </a:p>
                  </a:txBody>
                  <a:tcPr marL="47625" marR="47625" marT="19050" marB="19050" anchor="ctr">
                    <a:solidFill>
                      <a:srgbClr val="F3F5F6"/>
                    </a:solidFill>
                  </a:tcPr>
                </a:tc>
                <a:tc>
                  <a:txBody>
                    <a:bodyPr/>
                    <a:lstStyle/>
                    <a:p>
                      <a:r>
                        <a:rPr sz="1125" b="0">
                          <a:solidFill>
                            <a:srgbClr val="343D42"/>
                          </a:solidFill>
                          <a:latin typeface="Arial"/>
                          <a:ea typeface="Arial"/>
                          <a:cs typeface="Arial"/>
                        </a:rPr>
                        <a:t>19,793</a:t>
                      </a:r>
                    </a:p>
                  </a:txBody>
                  <a:tcPr marL="47625" marR="47625" marT="19050" marB="19050" anchor="ctr">
                    <a:solidFill>
                      <a:srgbClr val="F3F5F6"/>
                    </a:solidFill>
                  </a:tcPr>
                </a:tc>
              </a:tr>
              <a:tr h="232410">
                <a:tc>
                  <a:txBody>
                    <a:bodyPr/>
                    <a:lstStyle/>
                    <a:p>
                      <a:r>
                        <a:rPr sz="1125" b="0">
                          <a:solidFill>
                            <a:srgbClr val="343D42"/>
                          </a:solidFill>
                          <a:latin typeface="Arial"/>
                          <a:ea typeface="Arial"/>
                          <a:cs typeface="Arial"/>
                        </a:rPr>
                        <a:t>Montgomery College</a:t>
                      </a:r>
                    </a:p>
                  </a:txBody>
                  <a:tcPr marL="47625" marR="47625" marT="19050" marB="19050" anchor="ctr">
                    <a:solidFill>
                      <a:srgbClr val="FFFFFF"/>
                    </a:solidFill>
                  </a:tcPr>
                </a:tc>
                <a:tc>
                  <a:txBody>
                    <a:bodyPr/>
                    <a:lstStyle/>
                    <a:p>
                      <a:r>
                        <a:rPr sz="1125" b="0">
                          <a:solidFill>
                            <a:srgbClr val="343D42"/>
                          </a:solidFill>
                          <a:latin typeface="Arial"/>
                          <a:ea typeface="Arial"/>
                          <a:cs typeface="Arial"/>
                        </a:rPr>
                        <a:t>17,137</a:t>
                      </a:r>
                    </a:p>
                  </a:txBody>
                  <a:tcPr marL="47625" marR="47625" marT="19050" marB="19050" anchor="ctr">
                    <a:solidFill>
                      <a:srgbClr val="FFFFFF"/>
                    </a:solidFill>
                  </a:tcPr>
                </a:tc>
              </a:tr>
              <a:tr h="232410">
                <a:tc>
                  <a:txBody>
                    <a:bodyPr/>
                    <a:lstStyle/>
                    <a:p>
                      <a:r>
                        <a:rPr sz="1125" b="0">
                          <a:solidFill>
                            <a:srgbClr val="343D42"/>
                          </a:solidFill>
                          <a:latin typeface="Arial"/>
                          <a:ea typeface="Arial"/>
                          <a:cs typeface="Arial"/>
                        </a:rPr>
                        <a:t>Community College of Baltimore County</a:t>
                      </a:r>
                    </a:p>
                  </a:txBody>
                  <a:tcPr marL="47625" marR="47625" marT="19050" marB="19050" anchor="ctr">
                    <a:solidFill>
                      <a:srgbClr val="F3F5F6"/>
                    </a:solidFill>
                  </a:tcPr>
                </a:tc>
                <a:tc>
                  <a:txBody>
                    <a:bodyPr/>
                    <a:lstStyle/>
                    <a:p>
                      <a:r>
                        <a:rPr sz="1125" b="0">
                          <a:solidFill>
                            <a:srgbClr val="343D42"/>
                          </a:solidFill>
                          <a:latin typeface="Arial"/>
                          <a:ea typeface="Arial"/>
                          <a:cs typeface="Arial"/>
                        </a:rPr>
                        <a:t>15,319</a:t>
                      </a:r>
                    </a:p>
                  </a:txBody>
                  <a:tcPr marL="47625" marR="47625" marT="19050" marB="19050" anchor="ctr">
                    <a:solidFill>
                      <a:srgbClr val="F3F5F6"/>
                    </a:solidFill>
                  </a:tcPr>
                </a:tc>
              </a:tr>
              <a:tr h="232410">
                <a:tc>
                  <a:txBody>
                    <a:bodyPr/>
                    <a:lstStyle/>
                    <a:p>
                      <a:r>
                        <a:rPr sz="1125" b="0">
                          <a:solidFill>
                            <a:srgbClr val="343D42"/>
                          </a:solidFill>
                          <a:latin typeface="Arial"/>
                          <a:ea typeface="Arial"/>
                          <a:cs typeface="Arial"/>
                        </a:rPr>
                        <a:t>University of Maryland Baltimore County</a:t>
                      </a:r>
                    </a:p>
                  </a:txBody>
                  <a:tcPr marL="47625" marR="47625" marT="19050" marB="19050" anchor="ctr">
                    <a:solidFill>
                      <a:srgbClr val="FFFFFF"/>
                    </a:solidFill>
                  </a:tcPr>
                </a:tc>
                <a:tc>
                  <a:txBody>
                    <a:bodyPr/>
                    <a:lstStyle/>
                    <a:p>
                      <a:r>
                        <a:rPr sz="1125" b="0">
                          <a:solidFill>
                            <a:srgbClr val="343D42"/>
                          </a:solidFill>
                          <a:latin typeface="Arial"/>
                          <a:ea typeface="Arial"/>
                          <a:cs typeface="Arial"/>
                        </a:rPr>
                        <a:t>13,991</a:t>
                      </a:r>
                    </a:p>
                  </a:txBody>
                  <a:tcPr marL="47625" marR="47625" marT="19050" marB="19050" anchor="ctr">
                    <a:solidFill>
                      <a:srgbClr val="FFFFFF"/>
                    </a:solidFill>
                  </a:tcPr>
                </a:tc>
              </a:tr>
              <a:tr h="232410">
                <a:tc>
                  <a:txBody>
                    <a:bodyPr/>
                    <a:lstStyle/>
                    <a:p>
                      <a:r>
                        <a:rPr sz="1125" b="0">
                          <a:solidFill>
                            <a:srgbClr val="343D42"/>
                          </a:solidFill>
                          <a:latin typeface="Arial"/>
                          <a:ea typeface="Arial"/>
                          <a:cs typeface="Arial"/>
                        </a:rPr>
                        <a:t>Prince George’s Community College</a:t>
                      </a:r>
                    </a:p>
                  </a:txBody>
                  <a:tcPr marL="47625" marR="47625" marT="19050" marB="19050" anchor="ctr">
                    <a:solidFill>
                      <a:srgbClr val="F3F5F6"/>
                    </a:solidFill>
                  </a:tcPr>
                </a:tc>
                <a:tc>
                  <a:txBody>
                    <a:bodyPr/>
                    <a:lstStyle/>
                    <a:p>
                      <a:r>
                        <a:rPr sz="1125" b="0">
                          <a:solidFill>
                            <a:srgbClr val="343D42"/>
                          </a:solidFill>
                          <a:latin typeface="Arial"/>
                          <a:ea typeface="Arial"/>
                          <a:cs typeface="Arial"/>
                        </a:rPr>
                        <a:t>10,192</a:t>
                      </a:r>
                    </a:p>
                  </a:txBody>
                  <a:tcPr marL="47625" marR="47625" marT="19050" marB="19050" anchor="ctr">
                    <a:solidFill>
                      <a:srgbClr val="F3F5F6"/>
                    </a:solidFill>
                  </a:tcPr>
                </a:tc>
              </a:tr>
              <a:tr h="232410">
                <a:tc>
                  <a:txBody>
                    <a:bodyPr/>
                    <a:lstStyle/>
                    <a:p>
                      <a:r>
                        <a:rPr sz="1125" b="0">
                          <a:solidFill>
                            <a:srgbClr val="343D42"/>
                          </a:solidFill>
                          <a:latin typeface="Arial"/>
                          <a:ea typeface="Arial"/>
                          <a:cs typeface="Arial"/>
                        </a:rPr>
                        <a:t>Morgan State University</a:t>
                      </a:r>
                    </a:p>
                  </a:txBody>
                  <a:tcPr marL="47625" marR="47625" marT="19050" marB="19050" anchor="ctr">
                    <a:solidFill>
                      <a:srgbClr val="FFFFFF"/>
                    </a:solidFill>
                  </a:tcPr>
                </a:tc>
                <a:tc>
                  <a:txBody>
                    <a:bodyPr/>
                    <a:lstStyle/>
                    <a:p>
                      <a:r>
                        <a:rPr sz="1125" b="0">
                          <a:solidFill>
                            <a:srgbClr val="343D42"/>
                          </a:solidFill>
                          <a:latin typeface="Arial"/>
                          <a:ea typeface="Arial"/>
                          <a:cs typeface="Arial"/>
                        </a:rPr>
                        <a:t>9,101</a:t>
                      </a:r>
                    </a:p>
                  </a:txBody>
                  <a:tcPr marL="47625" marR="47625" marT="19050" marB="19050" anchor="ctr">
                    <a:solidFill>
                      <a:srgbClr val="FFFFFF"/>
                    </a:solidFill>
                  </a:tcPr>
                </a:tc>
              </a:tr>
            </a:tbl>
          </a:graphicData>
        </a:graphic>
      </p:graphicFrame>
      <p:sp>
        <p:nvSpPr>
          <p:cNvPr id="12" name="">
            <a:extLst xmlns:a="http://schemas.openxmlformats.org/drawingml/2006/main">
              <a:ext uri="{FF2B5EF4-FFF2-40B4-BE49-F238E27FC236}">
                <a16:creationId xmlns:a16="http://schemas.microsoft.com/office/drawing/2014/main" id="{33CE1D27-C447-4346-93AC-CFDD869D941B}"/>
              </a:ext>
            </a:extLst>
          </p:cNvPr>
          <p:cNvSpPr>
            <a:spLocks xmlns:a="http://schemas.openxmlformats.org/drawingml/2006/main" noGrp="1"/>
          </p:cNvSpPr>
          <p:nvPr/>
        </p:nvSpPr>
        <p:spPr>
          <a:xfrm xmlns:a="http://schemas.openxmlformats.org/drawingml/2006/main">
            <a:off x="7086600" y="409575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213C66"/>
                </a:solidFill>
                <a:latin typeface="Arial"/>
                <a:ea typeface="Arial"/>
                <a:cs typeface="Arial"/>
              </a:defRPr>
            </a:defPPr>
          </a:lstStyle>
          <a:p xmlns:a="http://schemas.openxmlformats.org/drawingml/2006/main">
            <a:pPr>
              <a:defRPr sz="3150" b="1">
                <a:solidFill>
                  <a:srgbClr val="213C66"/>
                </a:solidFill>
                <a:latin typeface="Arial"/>
                <a:ea typeface="Arial"/>
                <a:cs typeface="Arial"/>
              </a:defRPr>
            </a:pPr>
            <a:r>
              <a:rPr sz="3150" b="1">
                <a:solidFill>
                  <a:srgbClr val="213C66"/>
                </a:solidFill>
                <a:latin typeface="Arial"/>
                <a:ea typeface="Arial"/>
                <a:cs typeface="Arial"/>
              </a:rPr>
              <a:t>5 of the 9</a:t>
            </a:r>
          </a:p>
        </p:txBody>
      </p:sp>
      <p:sp>
        <p:nvSpPr>
          <p:cNvPr id="13" name="">
            <a:extLst xmlns:a="http://schemas.openxmlformats.org/drawingml/2006/main">
              <a:ext uri="{FF2B5EF4-FFF2-40B4-BE49-F238E27FC236}">
                <a16:creationId xmlns:a16="http://schemas.microsoft.com/office/drawing/2014/main" id="{81ABE802-1ECF-44EB-902C-B9884AE15662}"/>
              </a:ext>
            </a:extLst>
          </p:cNvPr>
          <p:cNvSpPr>
            <a:spLocks xmlns:a="http://schemas.openxmlformats.org/drawingml/2006/main" noGrp="1"/>
          </p:cNvSpPr>
          <p:nvPr/>
        </p:nvSpPr>
        <p:spPr>
          <a:xfrm xmlns:a="http://schemas.openxmlformats.org/drawingml/2006/main">
            <a:off x="7086600" y="4857750"/>
            <a:ext cx="4572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343D42"/>
                </a:solidFill>
                <a:latin typeface="Arial"/>
                <a:ea typeface="Arial"/>
                <a:cs typeface="Arial"/>
              </a:defRPr>
            </a:defPPr>
          </a:lstStyle>
          <a:p xmlns:a="http://schemas.openxmlformats.org/drawingml/2006/main">
            <a:pPr>
              <a:defRPr sz="1950" b="0">
                <a:solidFill>
                  <a:srgbClr val="343D42"/>
                </a:solidFill>
                <a:latin typeface="Arial"/>
                <a:ea typeface="Arial"/>
                <a:cs typeface="Arial"/>
              </a:defRPr>
            </a:pPr>
            <a:r>
              <a:rPr sz="1950" b="0">
                <a:solidFill>
                  <a:srgbClr val="343D42"/>
                </a:solidFill>
                <a:latin typeface="Arial"/>
                <a:ea typeface="Arial"/>
                <a:cs typeface="Arial"/>
              </a:rPr>
              <a:t>largest universities on this list are in the Baltimore Metro.</a:t>
            </a:r>
          </a:p>
        </p:txBody>
      </p:sp>
    </p:spTree>
    <p:extLst>
      <p:ext uri="{BB962C8B-B14F-4D97-AF65-F5344CB8AC3E}">
        <p14:creationId xmlns:p14="http://schemas.microsoft.com/office/powerpoint/2010/main" val="136510009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9A879EE-8449-480D-8FFF-BB8302EC1E98}"/>
              </a:ext>
            </a:extLst>
          </p:cNvPr>
          <p:cNvSpPr>
            <a:spLocks xmlns:a="http://schemas.openxmlformats.org/drawingml/2006/main" noGrp="1"/>
          </p:cNvSpPr>
          <p:nvPr/>
        </p:nvSpPr>
        <p:spPr>
          <a:xfrm xmlns:a="http://schemas.openxmlformats.org/drawingml/2006/main">
            <a:off x="457200" y="276225"/>
            <a:ext cx="11277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343D42"/>
                </a:solidFill>
                <a:latin typeface="Arial"/>
                <a:ea typeface="Arial"/>
                <a:cs typeface="Arial"/>
              </a:defRPr>
            </a:defPPr>
          </a:lstStyle>
          <a:p xmlns:a="http://schemas.openxmlformats.org/drawingml/2006/main">
            <a:pPr>
              <a:defRPr sz="2100" b="1">
                <a:solidFill>
                  <a:srgbClr val="343D42"/>
                </a:solidFill>
                <a:latin typeface="Arial"/>
                <a:ea typeface="Arial"/>
                <a:cs typeface="Arial"/>
              </a:defRPr>
            </a:pPr>
            <a:r>
              <a:rPr sz="2100" b="1">
                <a:solidFill>
                  <a:srgbClr val="343D42"/>
                </a:solidFill>
                <a:latin typeface="Arial"/>
                <a:ea typeface="Arial"/>
                <a:cs typeface="Arial"/>
              </a:rPr>
              <a:t>Comparable Sales</a:t>
            </a:r>
          </a:p>
        </p:txBody>
      </p:sp>
      <p:sp>
        <p:nvSpPr>
          <p:cNvPr id="2" name="">
            <a:extLst xmlns:a="http://schemas.openxmlformats.org/drawingml/2006/main">
              <a:ext uri="{FF2B5EF4-FFF2-40B4-BE49-F238E27FC236}">
                <a16:creationId xmlns:a16="http://schemas.microsoft.com/office/drawing/2014/main" id="{0246CAD6-7D7B-4D6A-B8F4-FAE41610CA3D}"/>
              </a:ext>
            </a:extLst>
          </p:cNvPr>
          <p:cNvSpPr>
            <a:spLocks xmlns:a="http://schemas.openxmlformats.org/drawingml/2006/main" noGrp="1"/>
          </p:cNvSpPr>
          <p:nvPr/>
        </p:nvSpPr>
        <p:spPr>
          <a:xfrm xmlns:a="http://schemas.openxmlformats.org/drawingml/2006/main">
            <a:off x="457200" y="800100"/>
            <a:ext cx="11277600" cy="9525"/>
          </a:xfrm>
          <a:prstGeom xmlns:a="http://schemas.openxmlformats.org/drawingml/2006/main" prst="rect">
            <a:avLst/>
          </a:prstGeom>
          <a:solidFill xmlns:a="http://schemas.openxmlformats.org/drawingml/2006/main">
            <a:srgbClr val="B9B9B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FD64F53-1393-49FB-8349-BFFD40112F65}"/>
              </a:ext>
            </a:extLst>
          </p:cNvPr>
          <p:cNvSpPr>
            <a:spLocks xmlns:a="http://schemas.openxmlformats.org/drawingml/2006/main" noGrp="1"/>
          </p:cNvSpPr>
          <p:nvPr/>
        </p:nvSpPr>
        <p:spPr>
          <a:xfrm xmlns:a="http://schemas.openxmlformats.org/drawingml/2006/main">
            <a:off x="457200" y="6257925"/>
            <a:ext cx="11277600" cy="38100"/>
          </a:xfrm>
          <a:prstGeom xmlns:a="http://schemas.openxmlformats.org/drawingml/2006/main" prst="rect">
            <a:avLst/>
          </a:prstGeom>
          <a:solidFill xmlns:a="http://schemas.openxmlformats.org/drawingml/2006/main">
            <a:srgbClr val="343D4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0F0FFC0-FAD4-4E62-8F1F-0C2534907442}"/>
              </a:ext>
            </a:extLst>
          </p:cNvPr>
          <p:cNvSpPr>
            <a:spLocks xmlns:a="http://schemas.openxmlformats.org/drawingml/2006/main" noGrp="1"/>
          </p:cNvSpPr>
          <p:nvPr/>
        </p:nvSpPr>
        <p:spPr>
          <a:xfrm xmlns:a="http://schemas.openxmlformats.org/drawingml/2006/main">
            <a:off x="457200" y="6238875"/>
            <a:ext cx="11277600" cy="19050"/>
          </a:xfrm>
          <a:prstGeom xmlns:a="http://schemas.openxmlformats.org/drawingml/2006/main" prst="rect">
            <a:avLst/>
          </a:prstGeom>
          <a:solidFill xmlns:a="http://schemas.openxmlformats.org/drawingml/2006/main">
            <a:srgbClr val="C2674B"/>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BCA38BED-2BFC-4C3B-A4C6-5B130FD94E30}"/>
              </a:ext>
            </a:extLst>
          </p:cNvPr>
          <p:cNvPicPr>
            <a:picLocks xmlns:a="http://schemas.openxmlformats.org/drawingml/2006/main" noChangeAspect="1"/>
          </p:cNvPicPr>
          <p:nvPr/>
        </p:nvPicPr>
        <p:blipFill>
          <a:blip xmlns:r="http://schemas.openxmlformats.org/officeDocument/2006/relationships" xmlns:a="http://schemas.openxmlformats.org/drawingml/2006/main" r:embed="Rd6bddfd949e749fc"/>
          <a:stretch xmlns:a="http://schemas.openxmlformats.org/drawingml/2006/main"/>
        </p:blipFill>
        <p:spPr>
          <a:xfrm xmlns:a="http://schemas.openxmlformats.org/drawingml/2006/main">
            <a:off x="457200" y="6387465"/>
            <a:ext cx="1609725" cy="32194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5E8AC74-0F6C-4283-B55E-7053802BD585}"/>
              </a:ext>
            </a:extLst>
          </p:cNvPr>
          <p:cNvSpPr>
            <a:spLocks xmlns:a="http://schemas.openxmlformats.org/drawingml/2006/main" noGrp="1"/>
          </p:cNvSpPr>
          <p:nvPr/>
        </p:nvSpPr>
        <p:spPr>
          <a:xfrm xmlns:a="http://schemas.openxmlformats.org/drawingml/2006/main">
            <a:off x="11382375" y="64579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747474"/>
                </a:solidFill>
                <a:latin typeface="Arial"/>
                <a:ea typeface="Arial"/>
                <a:cs typeface="Arial"/>
              </a:defRPr>
            </a:defPPr>
          </a:lstStyle>
          <a:p xmlns:a="http://schemas.openxmlformats.org/drawingml/2006/main">
            <a:pPr>
              <a:defRPr sz="900" b="0">
                <a:solidFill>
                  <a:srgbClr val="747474"/>
                </a:solidFill>
                <a:latin typeface="Arial"/>
                <a:ea typeface="Arial"/>
                <a:cs typeface="Arial"/>
              </a:defRPr>
            </a:pPr>
            <a:r>
              <a:rPr sz="900" b="0">
                <a:solidFill>
                  <a:srgbClr val="747474"/>
                </a:solidFill>
                <a:latin typeface="Arial"/>
                <a:ea typeface="Arial"/>
                <a:cs typeface="Arial"/>
              </a:rPr>
              <a:t>17</a:t>
            </a:r>
          </a:p>
        </p:txBody>
      </p:sp>
      <p:graphicFrame>
        <p:nvGraphicFramePr>
          <p:cNvPr id="7" name="">
            <a:extLst xmlns:a="http://schemas.openxmlformats.org/drawingml/2006/main">
              <a:ext uri="{FF2B5EF4-FFF2-40B4-BE49-F238E27FC236}">
                <a16:creationId xmlns:a16="http://schemas.microsoft.com/office/drawing/2014/main" id="{E9ED0675-B345-49F2-9905-3B9B5F56BED1}"/>
              </a:ext>
            </a:extLst>
          </p:cNvPr>
          <p:cNvGraphicFramePr/>
          <p:nvPr/>
        </p:nvGraphicFramePr>
        <p:xfrm>
          <a:off xmlns:a="http://schemas.openxmlformats.org/drawingml/2006/main" x="457200" y="1162050"/>
          <a:ext xmlns:a="http://schemas.openxmlformats.org/drawingml/2006/main" cx="11277600" cy="4638675"/>
        </p:xfrm>
        <a:graphic xmlns:a="http://schemas.openxmlformats.org/drawingml/2006/main">
          <a:graphicData uri="http://schemas.openxmlformats.org/drawingml/2006/table">
            <a:tbl>
              <a:tblPr/>
              <a:tblGrid>
                <a:gridCol w="1733550"/>
                <a:gridCol w="2400300"/>
                <a:gridCol w="2400300"/>
                <a:gridCol w="2343150"/>
                <a:gridCol w="2400300"/>
              </a:tblGrid>
              <a:tr h="515408">
                <a:tc>
                  <a:txBody>
                    <a:bodyPr/>
                    <a:lstStyle/>
                    <a:p>
                      <a:r>
                        <a:rPr sz="1425" b="1">
                          <a:solidFill>
                            <a:srgbClr val="FFFFFF"/>
                          </a:solidFill>
                          <a:latin typeface="Arial"/>
                          <a:ea typeface="Arial"/>
                          <a:cs typeface="Arial"/>
                        </a:rPr>
                        <a:t>Metric</a:t>
                      </a:r>
                    </a:p>
                  </a:txBody>
                  <a:tcPr marL="47625" marR="47625" marT="19050" marB="19050" anchor="ctr">
                    <a:solidFill>
                      <a:srgbClr val="213C66"/>
                    </a:solidFill>
                  </a:tcPr>
                </a:tc>
                <a:tc>
                  <a:txBody>
                    <a:bodyPr/>
                    <a:lstStyle/>
                    <a:p>
                      <a:r>
                        <a:rPr sz="1425" b="1">
                          <a:solidFill>
                            <a:srgbClr val="FFFFFF"/>
                          </a:solidFill>
                          <a:latin typeface="Arial"/>
                          <a:ea typeface="Arial"/>
                          <a:cs typeface="Arial"/>
                        </a:rPr>
                        <a:t>Highlandtown Village</a:t>
                      </a:r>
                    </a:p>
                    <a:p>
                      <a:r>
                        <a:rPr sz="1425" b="1">
                          <a:solidFill>
                            <a:srgbClr val="FFFFFF"/>
                          </a:solidFill>
                          <a:latin typeface="Arial"/>
                          <a:ea typeface="Arial"/>
                          <a:cs typeface="Arial"/>
                        </a:rPr>
                        <a:t>Shopping Center</a:t>
                      </a:r>
                    </a:p>
                  </a:txBody>
                  <a:tcPr marL="47625" marR="47625" marT="19050" marB="19050" anchor="ctr">
                    <a:solidFill>
                      <a:srgbClr val="213C66"/>
                    </a:solidFill>
                  </a:tcPr>
                </a:tc>
                <a:tc>
                  <a:txBody>
                    <a:bodyPr/>
                    <a:lstStyle/>
                    <a:p>
                      <a:r>
                        <a:rPr sz="1425" b="1">
                          <a:solidFill>
                            <a:srgbClr val="FFFFFF"/>
                          </a:solidFill>
                          <a:latin typeface="Arial"/>
                          <a:ea typeface="Arial"/>
                          <a:cs typeface="Arial"/>
                        </a:rPr>
                        <a:t>Fairfax Court</a:t>
                      </a:r>
                    </a:p>
                  </a:txBody>
                  <a:tcPr marL="47625" marR="47625" marT="19050" marB="19050" anchor="ctr">
                    <a:solidFill>
                      <a:srgbClr val="213C66"/>
                    </a:solidFill>
                  </a:tcPr>
                </a:tc>
                <a:tc>
                  <a:txBody>
                    <a:bodyPr/>
                    <a:lstStyle/>
                    <a:p>
                      <a:r>
                        <a:rPr sz="1425" b="1">
                          <a:solidFill>
                            <a:srgbClr val="FFFFFF"/>
                          </a:solidFill>
                          <a:latin typeface="Arial"/>
                          <a:ea typeface="Arial"/>
                          <a:cs typeface="Arial"/>
                        </a:rPr>
                        <a:t>Livingston Square</a:t>
                      </a:r>
                    </a:p>
                  </a:txBody>
                  <a:tcPr marL="47625" marR="47625" marT="19050" marB="19050" anchor="ctr">
                    <a:solidFill>
                      <a:srgbClr val="213C66"/>
                    </a:solidFill>
                  </a:tcPr>
                </a:tc>
                <a:tc>
                  <a:txBody>
                    <a:bodyPr/>
                    <a:lstStyle/>
                    <a:p>
                      <a:r>
                        <a:rPr sz="1425" b="1">
                          <a:solidFill>
                            <a:srgbClr val="FFFFFF"/>
                          </a:solidFill>
                          <a:latin typeface="Arial"/>
                          <a:ea typeface="Arial"/>
                          <a:cs typeface="Arial"/>
                        </a:rPr>
                        <a:t>Hollinswood</a:t>
                      </a:r>
                    </a:p>
                    <a:p>
                      <a:r>
                        <a:rPr sz="1425" b="1">
                          <a:solidFill>
                            <a:srgbClr val="FFFFFF"/>
                          </a:solidFill>
                          <a:latin typeface="Arial"/>
                          <a:ea typeface="Arial"/>
                          <a:cs typeface="Arial"/>
                        </a:rPr>
                        <a:t>Shopping Center</a:t>
                      </a:r>
                    </a:p>
                  </a:txBody>
                  <a:tcPr marL="47625" marR="47625" marT="19050" marB="19050" anchor="ctr">
                    <a:solidFill>
                      <a:srgbClr val="213C66"/>
                    </a:solidFill>
                  </a:tcPr>
                </a:tc>
              </a:tr>
              <a:tr h="515408">
                <a:tc>
                  <a:txBody>
                    <a:bodyPr/>
                    <a:lstStyle/>
                    <a:p>
                      <a:r>
                        <a:rPr sz="1425" b="0">
                          <a:solidFill>
                            <a:srgbClr val="343D42"/>
                          </a:solidFill>
                          <a:latin typeface="Arial"/>
                          <a:ea typeface="Arial"/>
                          <a:cs typeface="Arial"/>
                        </a:rPr>
                        <a:t>Sale date</a:t>
                      </a:r>
                    </a:p>
                  </a:txBody>
                  <a:tcPr marL="47625" marR="47625" marT="19050" marB="19050" anchor="ctr">
                    <a:solidFill>
                      <a:srgbClr val="FFFFFF"/>
                    </a:solidFill>
                  </a:tcPr>
                </a:tc>
                <a:tc>
                  <a:txBody>
                    <a:bodyPr/>
                    <a:lstStyle/>
                    <a:p>
                      <a:r>
                        <a:rPr sz="1425" b="0">
                          <a:solidFill>
                            <a:srgbClr val="343D42"/>
                          </a:solidFill>
                          <a:latin typeface="Arial"/>
                          <a:ea typeface="Arial"/>
                          <a:cs typeface="Arial"/>
                        </a:rPr>
                        <a:t>December 2025</a:t>
                      </a:r>
                    </a:p>
                  </a:txBody>
                  <a:tcPr marL="47625" marR="47625" marT="19050" marB="19050" anchor="ctr">
                    <a:solidFill>
                      <a:srgbClr val="FFFFFF"/>
                    </a:solidFill>
                  </a:tcPr>
                </a:tc>
                <a:tc>
                  <a:txBody>
                    <a:bodyPr/>
                    <a:lstStyle/>
                    <a:p>
                      <a:r>
                        <a:rPr sz="1425" b="0">
                          <a:solidFill>
                            <a:srgbClr val="343D42"/>
                          </a:solidFill>
                          <a:latin typeface="Arial"/>
                          <a:ea typeface="Arial"/>
                          <a:cs typeface="Arial"/>
                        </a:rPr>
                        <a:t>June 2025</a:t>
                      </a:r>
                    </a:p>
                  </a:txBody>
                  <a:tcPr marL="47625" marR="47625" marT="19050" marB="19050" anchor="ctr">
                    <a:solidFill>
                      <a:srgbClr val="FFFFFF"/>
                    </a:solidFill>
                  </a:tcPr>
                </a:tc>
                <a:tc>
                  <a:txBody>
                    <a:bodyPr/>
                    <a:lstStyle/>
                    <a:p>
                      <a:r>
                        <a:rPr sz="1425" b="0">
                          <a:solidFill>
                            <a:srgbClr val="343D42"/>
                          </a:solidFill>
                          <a:latin typeface="Arial"/>
                          <a:ea typeface="Arial"/>
                          <a:cs typeface="Arial"/>
                        </a:rPr>
                        <a:t>October 2025</a:t>
                      </a:r>
                    </a:p>
                  </a:txBody>
                  <a:tcPr marL="47625" marR="47625" marT="19050" marB="19050" anchor="ctr">
                    <a:solidFill>
                      <a:srgbClr val="FFFFFF"/>
                    </a:solidFill>
                  </a:tcPr>
                </a:tc>
                <a:tc>
                  <a:txBody>
                    <a:bodyPr/>
                    <a:lstStyle/>
                    <a:p>
                      <a:r>
                        <a:rPr sz="1425" b="0">
                          <a:solidFill>
                            <a:srgbClr val="343D42"/>
                          </a:solidFill>
                          <a:latin typeface="Arial"/>
                          <a:ea typeface="Arial"/>
                          <a:cs typeface="Arial"/>
                        </a:rPr>
                        <a:t>May 2026</a:t>
                      </a:r>
                    </a:p>
                  </a:txBody>
                  <a:tcPr marL="47625" marR="47625" marT="19050" marB="19050" anchor="ctr">
                    <a:solidFill>
                      <a:srgbClr val="FFFFFF"/>
                    </a:solidFill>
                  </a:tcPr>
                </a:tc>
              </a:tr>
              <a:tr h="515408">
                <a:tc>
                  <a:txBody>
                    <a:bodyPr/>
                    <a:lstStyle/>
                    <a:p>
                      <a:r>
                        <a:rPr sz="1425" b="0">
                          <a:solidFill>
                            <a:srgbClr val="343D42"/>
                          </a:solidFill>
                          <a:latin typeface="Arial"/>
                          <a:ea typeface="Arial"/>
                          <a:cs typeface="Arial"/>
                        </a:rPr>
                        <a:t>Location</a:t>
                      </a:r>
                    </a:p>
                  </a:txBody>
                  <a:tcPr marL="47625" marR="47625" marT="19050" marB="19050" anchor="ctr">
                    <a:solidFill>
                      <a:srgbClr val="F3F5F6"/>
                    </a:solidFill>
                  </a:tcPr>
                </a:tc>
                <a:tc>
                  <a:txBody>
                    <a:bodyPr/>
                    <a:lstStyle/>
                    <a:p>
                      <a:r>
                        <a:rPr sz="1425" b="0">
                          <a:solidFill>
                            <a:srgbClr val="343D42"/>
                          </a:solidFill>
                          <a:latin typeface="Arial"/>
                          <a:ea typeface="Arial"/>
                          <a:cs typeface="Arial"/>
                        </a:rPr>
                        <a:t>Baltimore, MD</a:t>
                      </a:r>
                    </a:p>
                  </a:txBody>
                  <a:tcPr marL="47625" marR="47625" marT="19050" marB="19050" anchor="ctr">
                    <a:solidFill>
                      <a:srgbClr val="F3F5F6"/>
                    </a:solidFill>
                  </a:tcPr>
                </a:tc>
                <a:tc>
                  <a:txBody>
                    <a:bodyPr/>
                    <a:lstStyle/>
                    <a:p>
                      <a:r>
                        <a:rPr sz="1425" b="0">
                          <a:solidFill>
                            <a:srgbClr val="343D42"/>
                          </a:solidFill>
                          <a:latin typeface="Arial"/>
                          <a:ea typeface="Arial"/>
                          <a:cs typeface="Arial"/>
                        </a:rPr>
                        <a:t>Fairfax, VA</a:t>
                      </a:r>
                    </a:p>
                  </a:txBody>
                  <a:tcPr marL="47625" marR="47625" marT="19050" marB="19050" anchor="ctr">
                    <a:solidFill>
                      <a:srgbClr val="F3F5F6"/>
                    </a:solidFill>
                  </a:tcPr>
                </a:tc>
                <a:tc>
                  <a:txBody>
                    <a:bodyPr/>
                    <a:lstStyle/>
                    <a:p>
                      <a:r>
                        <a:rPr sz="1425" b="0">
                          <a:solidFill>
                            <a:srgbClr val="343D42"/>
                          </a:solidFill>
                          <a:latin typeface="Arial"/>
                          <a:ea typeface="Arial"/>
                          <a:cs typeface="Arial"/>
                        </a:rPr>
                        <a:t>Fort Washington, MD</a:t>
                      </a:r>
                    </a:p>
                  </a:txBody>
                  <a:tcPr marL="47625" marR="47625" marT="19050" marB="19050" anchor="ctr">
                    <a:solidFill>
                      <a:srgbClr val="F3F5F6"/>
                    </a:solidFill>
                  </a:tcPr>
                </a:tc>
                <a:tc>
                  <a:txBody>
                    <a:bodyPr/>
                    <a:lstStyle/>
                    <a:p>
                      <a:r>
                        <a:rPr sz="1425" b="0">
                          <a:solidFill>
                            <a:srgbClr val="343D42"/>
                          </a:solidFill>
                          <a:latin typeface="Arial"/>
                          <a:ea typeface="Arial"/>
                          <a:cs typeface="Arial"/>
                        </a:rPr>
                        <a:t>Baltimore, MD</a:t>
                      </a:r>
                    </a:p>
                  </a:txBody>
                  <a:tcPr marL="47625" marR="47625" marT="19050" marB="19050" anchor="ctr">
                    <a:solidFill>
                      <a:srgbClr val="F3F5F6"/>
                    </a:solidFill>
                  </a:tcPr>
                </a:tc>
              </a:tr>
              <a:tr h="515408">
                <a:tc>
                  <a:txBody>
                    <a:bodyPr/>
                    <a:lstStyle/>
                    <a:p>
                      <a:r>
                        <a:rPr sz="1425" b="0">
                          <a:solidFill>
                            <a:srgbClr val="343D42"/>
                          </a:solidFill>
                          <a:latin typeface="Arial"/>
                          <a:ea typeface="Arial"/>
                          <a:cs typeface="Arial"/>
                        </a:rPr>
                        <a:t>Tenancy</a:t>
                      </a:r>
                    </a:p>
                  </a:txBody>
                  <a:tcPr marL="47625" marR="47625" marT="19050" marB="19050" anchor="ctr">
                    <a:solidFill>
                      <a:srgbClr val="FFFFFF"/>
                    </a:solidFill>
                  </a:tcPr>
                </a:tc>
                <a:tc>
                  <a:txBody>
                    <a:bodyPr/>
                    <a:lstStyle/>
                    <a:p>
                      <a:r>
                        <a:rPr sz="1425" b="0">
                          <a:solidFill>
                            <a:srgbClr val="343D42"/>
                          </a:solidFill>
                          <a:latin typeface="Arial"/>
                          <a:ea typeface="Arial"/>
                          <a:cs typeface="Arial"/>
                        </a:rPr>
                        <a:t>Hazlo, Dollar Tree, Domino’s</a:t>
                      </a:r>
                    </a:p>
                  </a:txBody>
                  <a:tcPr marL="47625" marR="47625" marT="19050" marB="19050" anchor="ctr">
                    <a:solidFill>
                      <a:srgbClr val="FFFFFF"/>
                    </a:solidFill>
                  </a:tcPr>
                </a:tc>
                <a:tc>
                  <a:txBody>
                    <a:bodyPr/>
                    <a:lstStyle/>
                    <a:p>
                      <a:r>
                        <a:rPr sz="1425" b="0">
                          <a:solidFill>
                            <a:srgbClr val="343D42"/>
                          </a:solidFill>
                          <a:latin typeface="Arial"/>
                          <a:ea typeface="Arial"/>
                          <a:cs typeface="Arial"/>
                        </a:rPr>
                        <a:t>Great Wall Supermarket, Burlington, LA Fitness, Dollar Tree</a:t>
                      </a:r>
                    </a:p>
                  </a:txBody>
                  <a:tcPr marL="47625" marR="47625" marT="19050" marB="19050" anchor="ctr">
                    <a:solidFill>
                      <a:srgbClr val="FFFFFF"/>
                    </a:solidFill>
                  </a:tcPr>
                </a:tc>
                <a:tc>
                  <a:txBody>
                    <a:bodyPr/>
                    <a:lstStyle/>
                    <a:p>
                      <a:r>
                        <a:rPr sz="1425" b="0">
                          <a:solidFill>
                            <a:srgbClr val="343D42"/>
                          </a:solidFill>
                          <a:latin typeface="Arial"/>
                          <a:ea typeface="Arial"/>
                          <a:cs typeface="Arial"/>
                        </a:rPr>
                        <a:t>Giant, KFC, Taco Bell</a:t>
                      </a:r>
                    </a:p>
                  </a:txBody>
                  <a:tcPr marL="47625" marR="47625" marT="19050" marB="19050" anchor="ctr">
                    <a:solidFill>
                      <a:srgbClr val="FFFFFF"/>
                    </a:solidFill>
                  </a:tcPr>
                </a:tc>
                <a:tc>
                  <a:txBody>
                    <a:bodyPr/>
                    <a:lstStyle/>
                    <a:p>
                      <a:r>
                        <a:rPr sz="1425" b="0">
                          <a:solidFill>
                            <a:srgbClr val="343D42"/>
                          </a:solidFill>
                          <a:latin typeface="Arial"/>
                          <a:ea typeface="Arial"/>
                          <a:cs typeface="Arial"/>
                        </a:rPr>
                        <a:t>LA Mart, Planet Fitness, Dollar General, Popeyes, Advance Auto Parts</a:t>
                      </a:r>
                    </a:p>
                  </a:txBody>
                  <a:tcPr marL="47625" marR="47625" marT="19050" marB="19050" anchor="ctr">
                    <a:solidFill>
                      <a:srgbClr val="FFFFFF"/>
                    </a:solidFill>
                  </a:tcPr>
                </a:tc>
              </a:tr>
              <a:tr h="515408">
                <a:tc>
                  <a:txBody>
                    <a:bodyPr/>
                    <a:lstStyle/>
                    <a:p>
                      <a:r>
                        <a:rPr sz="1425" b="0">
                          <a:solidFill>
                            <a:srgbClr val="343D42"/>
                          </a:solidFill>
                          <a:latin typeface="Arial"/>
                          <a:ea typeface="Arial"/>
                          <a:cs typeface="Arial"/>
                        </a:rPr>
                        <a:t>GLA</a:t>
                      </a:r>
                    </a:p>
                  </a:txBody>
                  <a:tcPr marL="47625" marR="47625" marT="19050" marB="19050" anchor="ctr">
                    <a:solidFill>
                      <a:srgbClr val="F3F5F6"/>
                    </a:solidFill>
                  </a:tcPr>
                </a:tc>
                <a:tc>
                  <a:txBody>
                    <a:bodyPr/>
                    <a:lstStyle/>
                    <a:p>
                      <a:r>
                        <a:rPr sz="1425" b="0">
                          <a:solidFill>
                            <a:srgbClr val="343D42"/>
                          </a:solidFill>
                          <a:latin typeface="Arial"/>
                          <a:ea typeface="Arial"/>
                          <a:cs typeface="Arial"/>
                        </a:rPr>
                        <a:t>57,524</a:t>
                      </a:r>
                    </a:p>
                  </a:txBody>
                  <a:tcPr marL="47625" marR="47625" marT="19050" marB="19050" anchor="ctr">
                    <a:solidFill>
                      <a:srgbClr val="F3F5F6"/>
                    </a:solidFill>
                  </a:tcPr>
                </a:tc>
                <a:tc>
                  <a:txBody>
                    <a:bodyPr/>
                    <a:lstStyle/>
                    <a:p>
                      <a:r>
                        <a:rPr sz="1425" b="0">
                          <a:solidFill>
                            <a:srgbClr val="343D42"/>
                          </a:solidFill>
                          <a:latin typeface="Arial"/>
                          <a:ea typeface="Arial"/>
                          <a:cs typeface="Arial"/>
                        </a:rPr>
                        <a:t>239,508</a:t>
                      </a:r>
                    </a:p>
                  </a:txBody>
                  <a:tcPr marL="47625" marR="47625" marT="19050" marB="19050" anchor="ctr">
                    <a:solidFill>
                      <a:srgbClr val="F3F5F6"/>
                    </a:solidFill>
                  </a:tcPr>
                </a:tc>
                <a:tc>
                  <a:txBody>
                    <a:bodyPr/>
                    <a:lstStyle/>
                    <a:p>
                      <a:r>
                        <a:rPr sz="1425" b="0">
                          <a:solidFill>
                            <a:srgbClr val="343D42"/>
                          </a:solidFill>
                          <a:latin typeface="Arial"/>
                          <a:ea typeface="Arial"/>
                          <a:cs typeface="Arial"/>
                        </a:rPr>
                        <a:t>71,166</a:t>
                      </a:r>
                    </a:p>
                  </a:txBody>
                  <a:tcPr marL="47625" marR="47625" marT="19050" marB="19050" anchor="ctr">
                    <a:solidFill>
                      <a:srgbClr val="F3F5F6"/>
                    </a:solidFill>
                  </a:tcPr>
                </a:tc>
                <a:tc>
                  <a:txBody>
                    <a:bodyPr/>
                    <a:lstStyle/>
                    <a:p>
                      <a:r>
                        <a:rPr sz="1425" b="0">
                          <a:solidFill>
                            <a:srgbClr val="343D42"/>
                          </a:solidFill>
                          <a:latin typeface="Arial"/>
                          <a:ea typeface="Arial"/>
                          <a:cs typeface="Arial"/>
                        </a:rPr>
                        <a:t>112,671</a:t>
                      </a:r>
                    </a:p>
                  </a:txBody>
                  <a:tcPr marL="47625" marR="47625" marT="19050" marB="19050" anchor="ctr">
                    <a:solidFill>
                      <a:srgbClr val="F3F5F6"/>
                    </a:solidFill>
                  </a:tcPr>
                </a:tc>
              </a:tr>
              <a:tr h="515408">
                <a:tc>
                  <a:txBody>
                    <a:bodyPr/>
                    <a:lstStyle/>
                    <a:p>
                      <a:r>
                        <a:rPr sz="1425" b="0">
                          <a:solidFill>
                            <a:srgbClr val="343D42"/>
                          </a:solidFill>
                          <a:latin typeface="Arial"/>
                          <a:ea typeface="Arial"/>
                          <a:cs typeface="Arial"/>
                        </a:rPr>
                        <a:t>Occupancy</a:t>
                      </a:r>
                    </a:p>
                  </a:txBody>
                  <a:tcPr marL="47625" marR="47625" marT="19050" marB="19050" anchor="ctr">
                    <a:solidFill>
                      <a:srgbClr val="FFFFFF"/>
                    </a:solidFill>
                  </a:tcPr>
                </a:tc>
                <a:tc>
                  <a:txBody>
                    <a:bodyPr/>
                    <a:lstStyle/>
                    <a:p>
                      <a:r>
                        <a:rPr sz="1425" b="0">
                          <a:solidFill>
                            <a:srgbClr val="343D42"/>
                          </a:solidFill>
                          <a:latin typeface="Arial"/>
                          <a:ea typeface="Arial"/>
                          <a:cs typeface="Arial"/>
                        </a:rPr>
                        <a:t>100%</a:t>
                      </a:r>
                    </a:p>
                  </a:txBody>
                  <a:tcPr marL="47625" marR="47625" marT="19050" marB="19050" anchor="ctr">
                    <a:solidFill>
                      <a:srgbClr val="FFFFFF"/>
                    </a:solidFill>
                  </a:tcPr>
                </a:tc>
                <a:tc>
                  <a:txBody>
                    <a:bodyPr/>
                    <a:lstStyle/>
                    <a:p>
                      <a:r>
                        <a:rPr sz="1425" b="0">
                          <a:solidFill>
                            <a:srgbClr val="343D42"/>
                          </a:solidFill>
                          <a:latin typeface="Arial"/>
                          <a:ea typeface="Arial"/>
                          <a:cs typeface="Arial"/>
                        </a:rPr>
                        <a:t>100%</a:t>
                      </a:r>
                    </a:p>
                  </a:txBody>
                  <a:tcPr marL="47625" marR="47625" marT="19050" marB="19050" anchor="ctr">
                    <a:solidFill>
                      <a:srgbClr val="FFFFFF"/>
                    </a:solidFill>
                  </a:tcPr>
                </a:tc>
                <a:tc>
                  <a:txBody>
                    <a:bodyPr/>
                    <a:lstStyle/>
                    <a:p>
                      <a:r>
                        <a:rPr sz="1425" b="0">
                          <a:solidFill>
                            <a:srgbClr val="343D42"/>
                          </a:solidFill>
                          <a:latin typeface="Arial"/>
                          <a:ea typeface="Arial"/>
                          <a:cs typeface="Arial"/>
                        </a:rPr>
                        <a:t>100%</a:t>
                      </a:r>
                    </a:p>
                  </a:txBody>
                  <a:tcPr marL="47625" marR="47625" marT="19050" marB="19050" anchor="ctr">
                    <a:solidFill>
                      <a:srgbClr val="FFFFFF"/>
                    </a:solidFill>
                  </a:tcPr>
                </a:tc>
                <a:tc>
                  <a:txBody>
                    <a:bodyPr/>
                    <a:lstStyle/>
                    <a:p>
                      <a:r>
                        <a:rPr sz="1425" b="0">
                          <a:solidFill>
                            <a:srgbClr val="343D42"/>
                          </a:solidFill>
                          <a:latin typeface="Arial"/>
                          <a:ea typeface="Arial"/>
                          <a:cs typeface="Arial"/>
                        </a:rPr>
                        <a:t>100%</a:t>
                      </a:r>
                    </a:p>
                  </a:txBody>
                  <a:tcPr marL="47625" marR="47625" marT="19050" marB="19050" anchor="ctr">
                    <a:solidFill>
                      <a:srgbClr val="FFFFFF"/>
                    </a:solidFill>
                  </a:tcPr>
                </a:tc>
              </a:tr>
              <a:tr h="515408">
                <a:tc>
                  <a:txBody>
                    <a:bodyPr/>
                    <a:lstStyle/>
                    <a:p>
                      <a:r>
                        <a:rPr sz="1425" b="0">
                          <a:solidFill>
                            <a:srgbClr val="343D42"/>
                          </a:solidFill>
                          <a:latin typeface="Arial"/>
                          <a:ea typeface="Arial"/>
                          <a:cs typeface="Arial"/>
                        </a:rPr>
                        <a:t>Sale price</a:t>
                      </a:r>
                    </a:p>
                  </a:txBody>
                  <a:tcPr marL="47625" marR="47625" marT="19050" marB="19050" anchor="ctr">
                    <a:solidFill>
                      <a:srgbClr val="F3F5F6"/>
                    </a:solidFill>
                  </a:tcPr>
                </a:tc>
                <a:tc>
                  <a:txBody>
                    <a:bodyPr/>
                    <a:lstStyle/>
                    <a:p>
                      <a:r>
                        <a:rPr sz="1425" b="0">
                          <a:solidFill>
                            <a:srgbClr val="343D42"/>
                          </a:solidFill>
                          <a:latin typeface="Arial"/>
                          <a:ea typeface="Arial"/>
                          <a:cs typeface="Arial"/>
                        </a:rPr>
                        <a:t>$12,100,000</a:t>
                      </a:r>
                    </a:p>
                  </a:txBody>
                  <a:tcPr marL="47625" marR="47625" marT="19050" marB="19050" anchor="ctr">
                    <a:solidFill>
                      <a:srgbClr val="F3F5F6"/>
                    </a:solidFill>
                  </a:tcPr>
                </a:tc>
                <a:tc>
                  <a:txBody>
                    <a:bodyPr/>
                    <a:lstStyle/>
                    <a:p>
                      <a:r>
                        <a:rPr sz="1425" b="0">
                          <a:solidFill>
                            <a:srgbClr val="343D42"/>
                          </a:solidFill>
                          <a:latin typeface="Arial"/>
                          <a:ea typeface="Arial"/>
                          <a:cs typeface="Arial"/>
                        </a:rPr>
                        <a:t>$52,000,000</a:t>
                      </a:r>
                    </a:p>
                  </a:txBody>
                  <a:tcPr marL="47625" marR="47625" marT="19050" marB="19050" anchor="ctr">
                    <a:solidFill>
                      <a:srgbClr val="F3F5F6"/>
                    </a:solidFill>
                  </a:tcPr>
                </a:tc>
                <a:tc>
                  <a:txBody>
                    <a:bodyPr/>
                    <a:lstStyle/>
                    <a:p>
                      <a:r>
                        <a:rPr sz="1425" b="0">
                          <a:solidFill>
                            <a:srgbClr val="343D42"/>
                          </a:solidFill>
                          <a:latin typeface="Arial"/>
                          <a:ea typeface="Arial"/>
                          <a:cs typeface="Arial"/>
                        </a:rPr>
                        <a:t>$27,250,000</a:t>
                      </a:r>
                    </a:p>
                  </a:txBody>
                  <a:tcPr marL="47625" marR="47625" marT="19050" marB="19050" anchor="ctr">
                    <a:solidFill>
                      <a:srgbClr val="F3F5F6"/>
                    </a:solidFill>
                  </a:tcPr>
                </a:tc>
                <a:tc>
                  <a:txBody>
                    <a:bodyPr/>
                    <a:lstStyle/>
                    <a:p>
                      <a:r>
                        <a:rPr sz="1425" b="0">
                          <a:solidFill>
                            <a:srgbClr val="343D42"/>
                          </a:solidFill>
                          <a:latin typeface="Arial"/>
                          <a:ea typeface="Arial"/>
                          <a:cs typeface="Arial"/>
                        </a:rPr>
                        <a:t>$20,400,000</a:t>
                      </a:r>
                    </a:p>
                  </a:txBody>
                  <a:tcPr marL="47625" marR="47625" marT="19050" marB="19050" anchor="ctr">
                    <a:solidFill>
                      <a:srgbClr val="F3F5F6"/>
                    </a:solidFill>
                  </a:tcPr>
                </a:tc>
              </a:tr>
              <a:tr h="515408">
                <a:tc>
                  <a:txBody>
                    <a:bodyPr/>
                    <a:lstStyle/>
                    <a:p>
                      <a:r>
                        <a:rPr sz="1425" b="0">
                          <a:solidFill>
                            <a:srgbClr val="343D42"/>
                          </a:solidFill>
                          <a:latin typeface="Arial"/>
                          <a:ea typeface="Arial"/>
                          <a:cs typeface="Arial"/>
                        </a:rPr>
                        <a:t>Price / SF</a:t>
                      </a:r>
                    </a:p>
                  </a:txBody>
                  <a:tcPr marL="47625" marR="47625" marT="19050" marB="19050" anchor="ctr">
                    <a:solidFill>
                      <a:srgbClr val="FFFFFF"/>
                    </a:solidFill>
                  </a:tcPr>
                </a:tc>
                <a:tc>
                  <a:txBody>
                    <a:bodyPr/>
                    <a:lstStyle/>
                    <a:p>
                      <a:r>
                        <a:rPr sz="1425" b="0">
                          <a:solidFill>
                            <a:srgbClr val="343D42"/>
                          </a:solidFill>
                          <a:latin typeface="Arial"/>
                          <a:ea typeface="Arial"/>
                          <a:cs typeface="Arial"/>
                        </a:rPr>
                        <a:t>$210</a:t>
                      </a:r>
                    </a:p>
                  </a:txBody>
                  <a:tcPr marL="47625" marR="47625" marT="19050" marB="19050" anchor="ctr">
                    <a:solidFill>
                      <a:srgbClr val="FFFFFF"/>
                    </a:solidFill>
                  </a:tcPr>
                </a:tc>
                <a:tc>
                  <a:txBody>
                    <a:bodyPr/>
                    <a:lstStyle/>
                    <a:p>
                      <a:r>
                        <a:rPr sz="1425" b="0">
                          <a:solidFill>
                            <a:srgbClr val="343D42"/>
                          </a:solidFill>
                          <a:latin typeface="Arial"/>
                          <a:ea typeface="Arial"/>
                          <a:cs typeface="Arial"/>
                        </a:rPr>
                        <a:t>$217</a:t>
                      </a:r>
                    </a:p>
                  </a:txBody>
                  <a:tcPr marL="47625" marR="47625" marT="19050" marB="19050" anchor="ctr">
                    <a:solidFill>
                      <a:srgbClr val="FFFFFF"/>
                    </a:solidFill>
                  </a:tcPr>
                </a:tc>
                <a:tc>
                  <a:txBody>
                    <a:bodyPr/>
                    <a:lstStyle/>
                    <a:p>
                      <a:r>
                        <a:rPr sz="1425" b="0">
                          <a:solidFill>
                            <a:srgbClr val="343D42"/>
                          </a:solidFill>
                          <a:latin typeface="Arial"/>
                          <a:ea typeface="Arial"/>
                          <a:cs typeface="Arial"/>
                        </a:rPr>
                        <a:t>$245</a:t>
                      </a:r>
                    </a:p>
                  </a:txBody>
                  <a:tcPr marL="47625" marR="47625" marT="19050" marB="19050" anchor="ctr">
                    <a:solidFill>
                      <a:srgbClr val="FFFFFF"/>
                    </a:solidFill>
                  </a:tcPr>
                </a:tc>
                <a:tc>
                  <a:txBody>
                    <a:bodyPr/>
                    <a:lstStyle/>
                    <a:p>
                      <a:r>
                        <a:rPr sz="1425" b="0">
                          <a:solidFill>
                            <a:srgbClr val="343D42"/>
                          </a:solidFill>
                          <a:latin typeface="Arial"/>
                          <a:ea typeface="Arial"/>
                          <a:cs typeface="Arial"/>
                        </a:rPr>
                        <a:t>$179</a:t>
                      </a:r>
                    </a:p>
                  </a:txBody>
                  <a:tcPr marL="47625" marR="47625" marT="19050" marB="19050" anchor="ctr">
                    <a:solidFill>
                      <a:srgbClr val="FFFFFF"/>
                    </a:solidFill>
                  </a:tcPr>
                </a:tc>
              </a:tr>
              <a:tr h="515408">
                <a:tc>
                  <a:txBody>
                    <a:bodyPr/>
                    <a:lstStyle/>
                    <a:p>
                      <a:r>
                        <a:rPr sz="1425" b="0">
                          <a:solidFill>
                            <a:srgbClr val="343D42"/>
                          </a:solidFill>
                          <a:latin typeface="Arial"/>
                          <a:ea typeface="Arial"/>
                          <a:cs typeface="Arial"/>
                        </a:rPr>
                        <a:t>Cap rate</a:t>
                      </a:r>
                    </a:p>
                  </a:txBody>
                  <a:tcPr marL="47625" marR="47625" marT="19050" marB="19050" anchor="ctr">
                    <a:solidFill>
                      <a:srgbClr val="F3F5F6"/>
                    </a:solidFill>
                  </a:tcPr>
                </a:tc>
                <a:tc>
                  <a:txBody>
                    <a:bodyPr/>
                    <a:lstStyle/>
                    <a:p>
                      <a:r>
                        <a:rPr sz="1425" b="0">
                          <a:solidFill>
                            <a:srgbClr val="343D42"/>
                          </a:solidFill>
                          <a:latin typeface="Arial"/>
                          <a:ea typeface="Arial"/>
                          <a:cs typeface="Arial"/>
                        </a:rPr>
                        <a:t>9.50%</a:t>
                      </a:r>
                    </a:p>
                  </a:txBody>
                  <a:tcPr marL="47625" marR="47625" marT="19050" marB="19050" anchor="ctr">
                    <a:solidFill>
                      <a:srgbClr val="F3F5F6"/>
                    </a:solidFill>
                  </a:tcPr>
                </a:tc>
                <a:tc>
                  <a:txBody>
                    <a:bodyPr/>
                    <a:lstStyle/>
                    <a:p>
                      <a:r>
                        <a:rPr sz="1425" b="0">
                          <a:solidFill>
                            <a:srgbClr val="343D42"/>
                          </a:solidFill>
                          <a:latin typeface="Arial"/>
                          <a:ea typeface="Arial"/>
                          <a:cs typeface="Arial"/>
                        </a:rPr>
                        <a:t>7.00%</a:t>
                      </a:r>
                    </a:p>
                  </a:txBody>
                  <a:tcPr marL="47625" marR="47625" marT="19050" marB="19050" anchor="ctr">
                    <a:solidFill>
                      <a:srgbClr val="F3F5F6"/>
                    </a:solidFill>
                  </a:tcPr>
                </a:tc>
                <a:tc>
                  <a:txBody>
                    <a:bodyPr/>
                    <a:lstStyle/>
                    <a:p>
                      <a:r>
                        <a:rPr sz="1425" b="0">
                          <a:solidFill>
                            <a:srgbClr val="343D42"/>
                          </a:solidFill>
                          <a:latin typeface="Arial"/>
                          <a:ea typeface="Arial"/>
                          <a:cs typeface="Arial"/>
                        </a:rPr>
                        <a:t>6.50%</a:t>
                      </a:r>
                    </a:p>
                  </a:txBody>
                  <a:tcPr marL="47625" marR="47625" marT="19050" marB="19050" anchor="ctr">
                    <a:solidFill>
                      <a:srgbClr val="F3F5F6"/>
                    </a:solidFill>
                  </a:tcPr>
                </a:tc>
                <a:tc>
                  <a:txBody>
                    <a:bodyPr/>
                    <a:lstStyle/>
                    <a:p>
                      <a:r>
                        <a:rPr sz="1425" b="0">
                          <a:solidFill>
                            <a:srgbClr val="343D42"/>
                          </a:solidFill>
                          <a:latin typeface="Arial"/>
                          <a:ea typeface="Arial"/>
                          <a:cs typeface="Arial"/>
                        </a:rPr>
                        <a:t>9.60%</a:t>
                      </a:r>
                    </a:p>
                  </a:txBody>
                  <a:tcPr marL="47625" marR="47625" marT="19050" marB="19050" anchor="ctr">
                    <a:solidFill>
                      <a:srgbClr val="F3F5F6"/>
                    </a:solidFill>
                  </a:tcPr>
                </a:tc>
              </a:tr>
            </a:tbl>
          </a:graphicData>
        </a:graphic>
      </p:graphicFrame>
    </p:spTree>
    <p:extLst>
      <p:ext uri="{BB962C8B-B14F-4D97-AF65-F5344CB8AC3E}">
        <p14:creationId xmlns:p14="http://schemas.microsoft.com/office/powerpoint/2010/main" val="46213346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4D99C68-3E31-4B3B-8D5F-22FB7F0F049E}"/>
              </a:ext>
            </a:extLst>
          </p:cNvPr>
          <p:cNvSpPr>
            <a:spLocks xmlns:a="http://schemas.openxmlformats.org/drawingml/2006/main" noGrp="1"/>
          </p:cNvSpPr>
          <p:nvPr/>
        </p:nvSpPr>
        <p:spPr>
          <a:xfrm xmlns:a="http://schemas.openxmlformats.org/drawingml/2006/main">
            <a:off x="457200" y="276225"/>
            <a:ext cx="11277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343D42"/>
                </a:solidFill>
                <a:latin typeface="Arial"/>
                <a:ea typeface="Arial"/>
                <a:cs typeface="Arial"/>
              </a:defRPr>
            </a:defPPr>
          </a:lstStyle>
          <a:p xmlns:a="http://schemas.openxmlformats.org/drawingml/2006/main">
            <a:pPr>
              <a:defRPr sz="2100" b="1">
                <a:solidFill>
                  <a:srgbClr val="343D42"/>
                </a:solidFill>
                <a:latin typeface="Arial"/>
                <a:ea typeface="Arial"/>
                <a:cs typeface="Arial"/>
              </a:defRPr>
            </a:pPr>
            <a:r>
              <a:rPr sz="2100" b="1">
                <a:solidFill>
                  <a:srgbClr val="343D42"/>
                </a:solidFill>
                <a:latin typeface="Arial"/>
                <a:ea typeface="Arial"/>
                <a:cs typeface="Arial"/>
              </a:rPr>
              <a:t>Financial Summary</a:t>
            </a:r>
          </a:p>
        </p:txBody>
      </p:sp>
      <p:sp>
        <p:nvSpPr>
          <p:cNvPr id="2" name="">
            <a:extLst xmlns:a="http://schemas.openxmlformats.org/drawingml/2006/main">
              <a:ext uri="{FF2B5EF4-FFF2-40B4-BE49-F238E27FC236}">
                <a16:creationId xmlns:a16="http://schemas.microsoft.com/office/drawing/2014/main" id="{1AE7B378-FB36-4D7C-A1D9-11840D8E00C7}"/>
              </a:ext>
            </a:extLst>
          </p:cNvPr>
          <p:cNvSpPr>
            <a:spLocks xmlns:a="http://schemas.openxmlformats.org/drawingml/2006/main" noGrp="1"/>
          </p:cNvSpPr>
          <p:nvPr/>
        </p:nvSpPr>
        <p:spPr>
          <a:xfrm xmlns:a="http://schemas.openxmlformats.org/drawingml/2006/main">
            <a:off x="457200" y="800100"/>
            <a:ext cx="11277600" cy="9525"/>
          </a:xfrm>
          <a:prstGeom xmlns:a="http://schemas.openxmlformats.org/drawingml/2006/main" prst="rect">
            <a:avLst/>
          </a:prstGeom>
          <a:solidFill xmlns:a="http://schemas.openxmlformats.org/drawingml/2006/main">
            <a:srgbClr val="B9B9B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1D72827-177A-4476-8A2E-E6370240602C}"/>
              </a:ext>
            </a:extLst>
          </p:cNvPr>
          <p:cNvSpPr>
            <a:spLocks xmlns:a="http://schemas.openxmlformats.org/drawingml/2006/main" noGrp="1"/>
          </p:cNvSpPr>
          <p:nvPr/>
        </p:nvSpPr>
        <p:spPr>
          <a:xfrm xmlns:a="http://schemas.openxmlformats.org/drawingml/2006/main">
            <a:off x="457200" y="6257925"/>
            <a:ext cx="11277600" cy="38100"/>
          </a:xfrm>
          <a:prstGeom xmlns:a="http://schemas.openxmlformats.org/drawingml/2006/main" prst="rect">
            <a:avLst/>
          </a:prstGeom>
          <a:solidFill xmlns:a="http://schemas.openxmlformats.org/drawingml/2006/main">
            <a:srgbClr val="343D4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2BFC8FE-DA61-4C86-BCB5-101E724CD391}"/>
              </a:ext>
            </a:extLst>
          </p:cNvPr>
          <p:cNvSpPr>
            <a:spLocks xmlns:a="http://schemas.openxmlformats.org/drawingml/2006/main" noGrp="1"/>
          </p:cNvSpPr>
          <p:nvPr/>
        </p:nvSpPr>
        <p:spPr>
          <a:xfrm xmlns:a="http://schemas.openxmlformats.org/drawingml/2006/main">
            <a:off x="457200" y="6238875"/>
            <a:ext cx="11277600" cy="19050"/>
          </a:xfrm>
          <a:prstGeom xmlns:a="http://schemas.openxmlformats.org/drawingml/2006/main" prst="rect">
            <a:avLst/>
          </a:prstGeom>
          <a:solidFill xmlns:a="http://schemas.openxmlformats.org/drawingml/2006/main">
            <a:srgbClr val="C2674B"/>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D501C2E1-8653-40E2-B9AA-394CBD1B592A}"/>
              </a:ext>
            </a:extLst>
          </p:cNvPr>
          <p:cNvPicPr>
            <a:picLocks xmlns:a="http://schemas.openxmlformats.org/drawingml/2006/main" noChangeAspect="1"/>
          </p:cNvPicPr>
          <p:nvPr/>
        </p:nvPicPr>
        <p:blipFill>
          <a:blip xmlns:r="http://schemas.openxmlformats.org/officeDocument/2006/relationships" xmlns:a="http://schemas.openxmlformats.org/drawingml/2006/main" r:embed="R4a34394682ef470f"/>
          <a:stretch xmlns:a="http://schemas.openxmlformats.org/drawingml/2006/main"/>
        </p:blipFill>
        <p:spPr>
          <a:xfrm xmlns:a="http://schemas.openxmlformats.org/drawingml/2006/main">
            <a:off x="457200" y="6387465"/>
            <a:ext cx="1609725" cy="32194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A0EEA90-0D0F-4631-99F6-066071449E43}"/>
              </a:ext>
            </a:extLst>
          </p:cNvPr>
          <p:cNvSpPr>
            <a:spLocks xmlns:a="http://schemas.openxmlformats.org/drawingml/2006/main" noGrp="1"/>
          </p:cNvSpPr>
          <p:nvPr/>
        </p:nvSpPr>
        <p:spPr>
          <a:xfrm xmlns:a="http://schemas.openxmlformats.org/drawingml/2006/main">
            <a:off x="11382375" y="64579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747474"/>
                </a:solidFill>
                <a:latin typeface="Arial"/>
                <a:ea typeface="Arial"/>
                <a:cs typeface="Arial"/>
              </a:defRPr>
            </a:defPPr>
          </a:lstStyle>
          <a:p xmlns:a="http://schemas.openxmlformats.org/drawingml/2006/main">
            <a:pPr>
              <a:defRPr sz="900" b="0">
                <a:solidFill>
                  <a:srgbClr val="747474"/>
                </a:solidFill>
                <a:latin typeface="Arial"/>
                <a:ea typeface="Arial"/>
                <a:cs typeface="Arial"/>
              </a:defRPr>
            </a:pPr>
            <a:r>
              <a:rPr sz="900" b="0">
                <a:solidFill>
                  <a:srgbClr val="747474"/>
                </a:solidFill>
                <a:latin typeface="Arial"/>
                <a:ea typeface="Arial"/>
                <a:cs typeface="Arial"/>
              </a:rPr>
              <a:t>18</a:t>
            </a:r>
          </a:p>
        </p:txBody>
      </p:sp>
      <p:graphicFrame>
        <p:nvGraphicFramePr>
          <p:cNvPr id="7" name="">
            <a:extLst xmlns:a="http://schemas.openxmlformats.org/drawingml/2006/main">
              <a:ext uri="{FF2B5EF4-FFF2-40B4-BE49-F238E27FC236}">
                <a16:creationId xmlns:a16="http://schemas.microsoft.com/office/drawing/2014/main" id="{39AAA335-CAA6-4710-A89F-919D0CE0CC71}"/>
              </a:ext>
            </a:extLst>
          </p:cNvPr>
          <p:cNvGraphicFramePr/>
          <p:nvPr/>
        </p:nvGraphicFramePr>
        <p:xfrm>
          <a:off xmlns:a="http://schemas.openxmlformats.org/drawingml/2006/main" x="457200" y="1038225"/>
          <a:ext xmlns:a="http://schemas.openxmlformats.org/drawingml/2006/main" cx="3476625" cy="1247775"/>
        </p:xfrm>
        <a:graphic xmlns:a="http://schemas.openxmlformats.org/drawingml/2006/main">
          <a:graphicData uri="http://schemas.openxmlformats.org/drawingml/2006/table">
            <a:tbl>
              <a:tblPr/>
              <a:tblGrid>
                <a:gridCol w="2190750"/>
                <a:gridCol w="1285875"/>
              </a:tblGrid>
              <a:tr h="311944">
                <a:tc>
                  <a:txBody>
                    <a:bodyPr/>
                    <a:lstStyle/>
                    <a:p>
                      <a:r>
                        <a:rPr sz="1200" b="1">
                          <a:solidFill>
                            <a:srgbClr val="FFFFFF"/>
                          </a:solidFill>
                          <a:latin typeface="Arial"/>
                          <a:ea typeface="Arial"/>
                          <a:cs typeface="Arial"/>
                        </a:rPr>
                        <a:t>Sources</a:t>
                      </a:r>
                    </a:p>
                  </a:txBody>
                  <a:tcPr marL="47625" marR="47625" marT="19050" marB="19050" anchor="ctr">
                    <a:solidFill>
                      <a:srgbClr val="213C66"/>
                    </a:solidFill>
                  </a:tcPr>
                </a:tc>
                <a:tc>
                  <a:txBody>
                    <a:bodyPr/>
                    <a:lstStyle/>
                    <a:p>
                      <a:r>
                        <a:rPr sz="1200" b="1">
                          <a:solidFill>
                            <a:srgbClr val="FFFFFF"/>
                          </a:solidFill>
                          <a:latin typeface="Arial"/>
                          <a:ea typeface="Arial"/>
                          <a:cs typeface="Arial"/>
                        </a:rPr>
                        <a:t>Amount</a:t>
                      </a:r>
                    </a:p>
                  </a:txBody>
                  <a:tcPr marL="47625" marR="47625" marT="19050" marB="19050" anchor="ctr">
                    <a:solidFill>
                      <a:srgbClr val="213C66"/>
                    </a:solidFill>
                  </a:tcPr>
                </a:tc>
              </a:tr>
              <a:tr h="311944">
                <a:tc>
                  <a:txBody>
                    <a:bodyPr/>
                    <a:lstStyle/>
                    <a:p>
                      <a:r>
                        <a:rPr sz="1200" b="0">
                          <a:solidFill>
                            <a:srgbClr val="343D42"/>
                          </a:solidFill>
                          <a:latin typeface="Arial"/>
                          <a:ea typeface="Arial"/>
                          <a:cs typeface="Arial"/>
                        </a:rPr>
                        <a:t>Debt</a:t>
                      </a:r>
                    </a:p>
                  </a:txBody>
                  <a:tcPr marL="47625" marR="47625" marT="19050" marB="19050" anchor="ctr">
                    <a:solidFill>
                      <a:srgbClr val="FFFFFF"/>
                    </a:solidFill>
                  </a:tcPr>
                </a:tc>
                <a:tc>
                  <a:txBody>
                    <a:bodyPr/>
                    <a:lstStyle/>
                    <a:p>
                      <a:r>
                        <a:rPr sz="1200" b="0">
                          <a:solidFill>
                            <a:srgbClr val="343D42"/>
                          </a:solidFill>
                          <a:latin typeface="Arial"/>
                          <a:ea typeface="Arial"/>
                          <a:cs typeface="Arial"/>
                        </a:rPr>
                        <a:t>$15,150,000</a:t>
                      </a:r>
                    </a:p>
                  </a:txBody>
                  <a:tcPr marL="47625" marR="47625" marT="19050" marB="19050" anchor="ctr">
                    <a:solidFill>
                      <a:srgbClr val="FFFFFF"/>
                    </a:solidFill>
                  </a:tcPr>
                </a:tc>
              </a:tr>
              <a:tr h="311944">
                <a:tc>
                  <a:txBody>
                    <a:bodyPr/>
                    <a:lstStyle/>
                    <a:p>
                      <a:r>
                        <a:rPr sz="1200" b="0">
                          <a:solidFill>
                            <a:srgbClr val="343D42"/>
                          </a:solidFill>
                          <a:latin typeface="Arial"/>
                          <a:ea typeface="Arial"/>
                          <a:cs typeface="Arial"/>
                        </a:rPr>
                        <a:t>Partners equity</a:t>
                      </a:r>
                    </a:p>
                  </a:txBody>
                  <a:tcPr marL="47625" marR="47625" marT="19050" marB="19050" anchor="ctr">
                    <a:solidFill>
                      <a:srgbClr val="F3F5F6"/>
                    </a:solidFill>
                  </a:tcPr>
                </a:tc>
                <a:tc>
                  <a:txBody>
                    <a:bodyPr/>
                    <a:lstStyle/>
                    <a:p>
                      <a:r>
                        <a:rPr sz="1200" b="0">
                          <a:solidFill>
                            <a:srgbClr val="343D42"/>
                          </a:solidFill>
                          <a:latin typeface="Arial"/>
                          <a:ea typeface="Arial"/>
                          <a:cs typeface="Arial"/>
                        </a:rPr>
                        <a:t>$6,450,000</a:t>
                      </a:r>
                    </a:p>
                  </a:txBody>
                  <a:tcPr marL="47625" marR="47625" marT="19050" marB="19050" anchor="ctr">
                    <a:solidFill>
                      <a:srgbClr val="F3F5F6"/>
                    </a:solidFill>
                  </a:tcPr>
                </a:tc>
              </a:tr>
              <a:tr h="311944">
                <a:tc>
                  <a:txBody>
                    <a:bodyPr/>
                    <a:lstStyle/>
                    <a:p>
                      <a:r>
                        <a:rPr sz="1200" b="0">
                          <a:solidFill>
                            <a:srgbClr val="343D42"/>
                          </a:solidFill>
                          <a:latin typeface="Arial"/>
                          <a:ea typeface="Arial"/>
                          <a:cs typeface="Arial"/>
                        </a:rPr>
                        <a:t>Total sources</a:t>
                      </a:r>
                    </a:p>
                  </a:txBody>
                  <a:tcPr marL="47625" marR="47625" marT="19050" marB="19050" anchor="ctr">
                    <a:solidFill>
                      <a:srgbClr val="FFFFFF"/>
                    </a:solidFill>
                  </a:tcPr>
                </a:tc>
                <a:tc>
                  <a:txBody>
                    <a:bodyPr/>
                    <a:lstStyle/>
                    <a:p>
                      <a:r>
                        <a:rPr sz="1200" b="0">
                          <a:solidFill>
                            <a:srgbClr val="343D42"/>
                          </a:solidFill>
                          <a:latin typeface="Arial"/>
                          <a:ea typeface="Arial"/>
                          <a:cs typeface="Arial"/>
                        </a:rPr>
                        <a:t>$21,600,000</a:t>
                      </a:r>
                    </a:p>
                  </a:txBody>
                  <a:tcPr marL="47625" marR="47625" marT="19050" marB="19050" anchor="ctr">
                    <a:solidFill>
                      <a:srgbClr val="FFFFFF"/>
                    </a:solidFill>
                  </a:tcPr>
                </a:tc>
              </a:tr>
            </a:tbl>
          </a:graphicData>
        </a:graphic>
      </p:graphicFrame>
      <p:graphicFrame>
        <p:nvGraphicFramePr>
          <p:cNvPr id="8" name="">
            <a:extLst xmlns:a="http://schemas.openxmlformats.org/drawingml/2006/main">
              <a:ext uri="{FF2B5EF4-FFF2-40B4-BE49-F238E27FC236}">
                <a16:creationId xmlns:a16="http://schemas.microsoft.com/office/drawing/2014/main" id="{601452C0-7B2A-48BE-9786-CBEDA65CFD4A}"/>
              </a:ext>
            </a:extLst>
          </p:cNvPr>
          <p:cNvGraphicFramePr/>
          <p:nvPr/>
        </p:nvGraphicFramePr>
        <p:xfrm>
          <a:off xmlns:a="http://schemas.openxmlformats.org/drawingml/2006/main" x="457200" y="2390775"/>
          <a:ext xmlns:a="http://schemas.openxmlformats.org/drawingml/2006/main" cx="3476625" cy="1247775"/>
        </p:xfrm>
        <a:graphic xmlns:a="http://schemas.openxmlformats.org/drawingml/2006/main">
          <a:graphicData uri="http://schemas.openxmlformats.org/drawingml/2006/table">
            <a:tbl>
              <a:tblPr/>
              <a:tblGrid>
                <a:gridCol w="2190750"/>
                <a:gridCol w="1285875"/>
              </a:tblGrid>
              <a:tr h="311944">
                <a:tc>
                  <a:txBody>
                    <a:bodyPr/>
                    <a:lstStyle/>
                    <a:p>
                      <a:r>
                        <a:rPr sz="1200" b="1">
                          <a:solidFill>
                            <a:srgbClr val="FFFFFF"/>
                          </a:solidFill>
                          <a:latin typeface="Arial"/>
                          <a:ea typeface="Arial"/>
                          <a:cs typeface="Arial"/>
                        </a:rPr>
                        <a:t>Uses</a:t>
                      </a:r>
                    </a:p>
                  </a:txBody>
                  <a:tcPr marL="47625" marR="47625" marT="19050" marB="19050" anchor="ctr">
                    <a:solidFill>
                      <a:srgbClr val="213C66"/>
                    </a:solidFill>
                  </a:tcPr>
                </a:tc>
                <a:tc>
                  <a:txBody>
                    <a:bodyPr/>
                    <a:lstStyle/>
                    <a:p>
                      <a:r>
                        <a:rPr sz="1200" b="1">
                          <a:solidFill>
                            <a:srgbClr val="FFFFFF"/>
                          </a:solidFill>
                          <a:latin typeface="Arial"/>
                          <a:ea typeface="Arial"/>
                          <a:cs typeface="Arial"/>
                        </a:rPr>
                        <a:t>Amount</a:t>
                      </a:r>
                    </a:p>
                  </a:txBody>
                  <a:tcPr marL="47625" marR="47625" marT="19050" marB="19050" anchor="ctr">
                    <a:solidFill>
                      <a:srgbClr val="213C66"/>
                    </a:solidFill>
                  </a:tcPr>
                </a:tc>
              </a:tr>
              <a:tr h="311944">
                <a:tc>
                  <a:txBody>
                    <a:bodyPr/>
                    <a:lstStyle/>
                    <a:p>
                      <a:r>
                        <a:rPr sz="1200" b="0">
                          <a:solidFill>
                            <a:srgbClr val="343D42"/>
                          </a:solidFill>
                          <a:latin typeface="Arial"/>
                          <a:ea typeface="Arial"/>
                          <a:cs typeface="Arial"/>
                        </a:rPr>
                        <a:t>Real estate</a:t>
                      </a:r>
                    </a:p>
                  </a:txBody>
                  <a:tcPr marL="47625" marR="47625" marT="19050" marB="19050" anchor="ctr">
                    <a:solidFill>
                      <a:srgbClr val="FFFFFF"/>
                    </a:solidFill>
                  </a:tcPr>
                </a:tc>
                <a:tc>
                  <a:txBody>
                    <a:bodyPr/>
                    <a:lstStyle/>
                    <a:p>
                      <a:r>
                        <a:rPr sz="1200" b="0">
                          <a:solidFill>
                            <a:srgbClr val="343D42"/>
                          </a:solidFill>
                          <a:latin typeface="Arial"/>
                          <a:ea typeface="Arial"/>
                          <a:cs typeface="Arial"/>
                        </a:rPr>
                        <a:t>$20,200,000</a:t>
                      </a:r>
                    </a:p>
                  </a:txBody>
                  <a:tcPr marL="47625" marR="47625" marT="19050" marB="19050" anchor="ctr">
                    <a:solidFill>
                      <a:srgbClr val="FFFFFF"/>
                    </a:solidFill>
                  </a:tcPr>
                </a:tc>
              </a:tr>
              <a:tr h="311944">
                <a:tc>
                  <a:txBody>
                    <a:bodyPr/>
                    <a:lstStyle/>
                    <a:p>
                      <a:r>
                        <a:rPr sz="1200" b="0">
                          <a:solidFill>
                            <a:srgbClr val="343D42"/>
                          </a:solidFill>
                          <a:latin typeface="Arial"/>
                          <a:ea typeface="Arial"/>
                          <a:cs typeface="Arial"/>
                        </a:rPr>
                        <a:t>Closing costs</a:t>
                      </a:r>
                    </a:p>
                  </a:txBody>
                  <a:tcPr marL="47625" marR="47625" marT="19050" marB="19050" anchor="ctr">
                    <a:solidFill>
                      <a:srgbClr val="F3F5F6"/>
                    </a:solidFill>
                  </a:tcPr>
                </a:tc>
                <a:tc>
                  <a:txBody>
                    <a:bodyPr/>
                    <a:lstStyle/>
                    <a:p>
                      <a:r>
                        <a:rPr sz="1200" b="0">
                          <a:solidFill>
                            <a:srgbClr val="343D42"/>
                          </a:solidFill>
                          <a:latin typeface="Arial"/>
                          <a:ea typeface="Arial"/>
                          <a:cs typeface="Arial"/>
                        </a:rPr>
                        <a:t>$1,400,000</a:t>
                      </a:r>
                    </a:p>
                  </a:txBody>
                  <a:tcPr marL="47625" marR="47625" marT="19050" marB="19050" anchor="ctr">
                    <a:solidFill>
                      <a:srgbClr val="F3F5F6"/>
                    </a:solidFill>
                  </a:tcPr>
                </a:tc>
              </a:tr>
              <a:tr h="311944">
                <a:tc>
                  <a:txBody>
                    <a:bodyPr/>
                    <a:lstStyle/>
                    <a:p>
                      <a:r>
                        <a:rPr sz="1200" b="0">
                          <a:solidFill>
                            <a:srgbClr val="343D42"/>
                          </a:solidFill>
                          <a:latin typeface="Arial"/>
                          <a:ea typeface="Arial"/>
                          <a:cs typeface="Arial"/>
                        </a:rPr>
                        <a:t>Total uses</a:t>
                      </a:r>
                    </a:p>
                  </a:txBody>
                  <a:tcPr marL="47625" marR="47625" marT="19050" marB="19050" anchor="ctr">
                    <a:solidFill>
                      <a:srgbClr val="FFFFFF"/>
                    </a:solidFill>
                  </a:tcPr>
                </a:tc>
                <a:tc>
                  <a:txBody>
                    <a:bodyPr/>
                    <a:lstStyle/>
                    <a:p>
                      <a:r>
                        <a:rPr sz="1200" b="0">
                          <a:solidFill>
                            <a:srgbClr val="343D42"/>
                          </a:solidFill>
                          <a:latin typeface="Arial"/>
                          <a:ea typeface="Arial"/>
                          <a:cs typeface="Arial"/>
                        </a:rPr>
                        <a:t>$21,600,000</a:t>
                      </a:r>
                    </a:p>
                  </a:txBody>
                  <a:tcPr marL="47625" marR="47625" marT="19050" marB="19050" anchor="ctr">
                    <a:solidFill>
                      <a:srgbClr val="FFFFFF"/>
                    </a:solidFill>
                  </a:tcPr>
                </a:tc>
              </a:tr>
            </a:tbl>
          </a:graphicData>
        </a:graphic>
      </p:graphicFrame>
      <p:graphicFrame>
        <p:nvGraphicFramePr>
          <p:cNvPr id="9" name="">
            <a:extLst xmlns:a="http://schemas.openxmlformats.org/drawingml/2006/main">
              <a:ext uri="{FF2B5EF4-FFF2-40B4-BE49-F238E27FC236}">
                <a16:creationId xmlns:a16="http://schemas.microsoft.com/office/drawing/2014/main" id="{593E83F0-A1C1-4E13-93E5-E2A577B095B9}"/>
              </a:ext>
            </a:extLst>
          </p:cNvPr>
          <p:cNvGraphicFramePr/>
          <p:nvPr/>
        </p:nvGraphicFramePr>
        <p:xfrm>
          <a:off xmlns:a="http://schemas.openxmlformats.org/drawingml/2006/main" x="457200" y="3743325"/>
          <a:ext xmlns:a="http://schemas.openxmlformats.org/drawingml/2006/main" cx="3476625" cy="1352550"/>
        </p:xfrm>
        <a:graphic xmlns:a="http://schemas.openxmlformats.org/drawingml/2006/main">
          <a:graphicData uri="http://schemas.openxmlformats.org/drawingml/2006/table">
            <a:tbl>
              <a:tblPr/>
              <a:tblGrid>
                <a:gridCol w="2190750"/>
                <a:gridCol w="1285875"/>
              </a:tblGrid>
              <a:tr h="270510">
                <a:tc>
                  <a:txBody>
                    <a:bodyPr/>
                    <a:lstStyle/>
                    <a:p>
                      <a:r>
                        <a:rPr sz="1125" b="1">
                          <a:solidFill>
                            <a:srgbClr val="FFFFFF"/>
                          </a:solidFill>
                          <a:latin typeface="Arial"/>
                          <a:ea typeface="Arial"/>
                          <a:cs typeface="Arial"/>
                        </a:rPr>
                        <a:t>Model inputs</a:t>
                      </a:r>
                    </a:p>
                  </a:txBody>
                  <a:tcPr marL="47625" marR="47625" marT="19050" marB="19050" anchor="ctr">
                    <a:solidFill>
                      <a:srgbClr val="213C66"/>
                    </a:solidFill>
                  </a:tcPr>
                </a:tc>
                <a:tc>
                  <a:txBody>
                    <a:bodyPr/>
                    <a:lstStyle/>
                    <a:p>
                      <a:r>
                        <a:rPr sz="1125" b="1">
                          <a:solidFill>
                            <a:srgbClr val="FFFFFF"/>
                          </a:solidFill>
                          <a:latin typeface="Arial"/>
                          <a:ea typeface="Arial"/>
                          <a:cs typeface="Arial"/>
                        </a:rPr>
                        <a:t>Assumption</a:t>
                      </a:r>
                    </a:p>
                  </a:txBody>
                  <a:tcPr marL="47625" marR="47625" marT="19050" marB="19050" anchor="ctr">
                    <a:solidFill>
                      <a:srgbClr val="213C66"/>
                    </a:solidFill>
                  </a:tcPr>
                </a:tc>
              </a:tr>
              <a:tr h="270510">
                <a:tc>
                  <a:txBody>
                    <a:bodyPr/>
                    <a:lstStyle/>
                    <a:p>
                      <a:r>
                        <a:rPr sz="1125" b="0">
                          <a:solidFill>
                            <a:srgbClr val="343D42"/>
                          </a:solidFill>
                          <a:latin typeface="Arial"/>
                          <a:ea typeface="Arial"/>
                          <a:cs typeface="Arial"/>
                        </a:rPr>
                        <a:t>Purchase price</a:t>
                      </a:r>
                    </a:p>
                  </a:txBody>
                  <a:tcPr marL="47625" marR="47625" marT="19050" marB="19050" anchor="ctr">
                    <a:solidFill>
                      <a:srgbClr val="FFFFFF"/>
                    </a:solidFill>
                  </a:tcPr>
                </a:tc>
                <a:tc>
                  <a:txBody>
                    <a:bodyPr/>
                    <a:lstStyle/>
                    <a:p>
                      <a:r>
                        <a:rPr sz="1125" b="0">
                          <a:solidFill>
                            <a:srgbClr val="343D42"/>
                          </a:solidFill>
                          <a:latin typeface="Arial"/>
                          <a:ea typeface="Arial"/>
                          <a:cs typeface="Arial"/>
                        </a:rPr>
                        <a:t>$20,200,000</a:t>
                      </a:r>
                    </a:p>
                  </a:txBody>
                  <a:tcPr marL="47625" marR="47625" marT="19050" marB="19050" anchor="ctr">
                    <a:solidFill>
                      <a:srgbClr val="FFFFFF"/>
                    </a:solidFill>
                  </a:tcPr>
                </a:tc>
              </a:tr>
              <a:tr h="270510">
                <a:tc>
                  <a:txBody>
                    <a:bodyPr/>
                    <a:lstStyle/>
                    <a:p>
                      <a:r>
                        <a:rPr sz="1125" b="0">
                          <a:solidFill>
                            <a:srgbClr val="343D42"/>
                          </a:solidFill>
                          <a:latin typeface="Arial"/>
                          <a:ea typeface="Arial"/>
                          <a:cs typeface="Arial"/>
                        </a:rPr>
                        <a:t>Initial interest rate</a:t>
                      </a:r>
                    </a:p>
                  </a:txBody>
                  <a:tcPr marL="47625" marR="47625" marT="19050" marB="19050" anchor="ctr">
                    <a:solidFill>
                      <a:srgbClr val="F3F5F6"/>
                    </a:solidFill>
                  </a:tcPr>
                </a:tc>
                <a:tc>
                  <a:txBody>
                    <a:bodyPr/>
                    <a:lstStyle/>
                    <a:p>
                      <a:r>
                        <a:rPr sz="1125" b="0">
                          <a:solidFill>
                            <a:srgbClr val="343D42"/>
                          </a:solidFill>
                          <a:latin typeface="Arial"/>
                          <a:ea typeface="Arial"/>
                          <a:cs typeface="Arial"/>
                        </a:rPr>
                        <a:t>6.13%</a:t>
                      </a:r>
                    </a:p>
                  </a:txBody>
                  <a:tcPr marL="47625" marR="47625" marT="19050" marB="19050" anchor="ctr">
                    <a:solidFill>
                      <a:srgbClr val="F3F5F6"/>
                    </a:solidFill>
                  </a:tcPr>
                </a:tc>
              </a:tr>
              <a:tr h="270510">
                <a:tc>
                  <a:txBody>
                    <a:bodyPr/>
                    <a:lstStyle/>
                    <a:p>
                      <a:r>
                        <a:rPr sz="1125" b="0">
                          <a:solidFill>
                            <a:srgbClr val="343D42"/>
                          </a:solidFill>
                          <a:latin typeface="Arial"/>
                          <a:ea typeface="Arial"/>
                          <a:cs typeface="Arial"/>
                        </a:rPr>
                        <a:t>LTV</a:t>
                      </a:r>
                    </a:p>
                  </a:txBody>
                  <a:tcPr marL="47625" marR="47625" marT="19050" marB="19050" anchor="ctr">
                    <a:solidFill>
                      <a:srgbClr val="FFFFFF"/>
                    </a:solidFill>
                  </a:tcPr>
                </a:tc>
                <a:tc>
                  <a:txBody>
                    <a:bodyPr/>
                    <a:lstStyle/>
                    <a:p>
                      <a:r>
                        <a:rPr sz="1125" b="0">
                          <a:solidFill>
                            <a:srgbClr val="343D42"/>
                          </a:solidFill>
                          <a:latin typeface="Arial"/>
                          <a:ea typeface="Arial"/>
                          <a:cs typeface="Arial"/>
                        </a:rPr>
                        <a:t>75.00%</a:t>
                      </a:r>
                    </a:p>
                  </a:txBody>
                  <a:tcPr marL="47625" marR="47625" marT="19050" marB="19050" anchor="ctr">
                    <a:solidFill>
                      <a:srgbClr val="FFFFFF"/>
                    </a:solidFill>
                  </a:tcPr>
                </a:tc>
              </a:tr>
              <a:tr h="270510">
                <a:tc>
                  <a:txBody>
                    <a:bodyPr/>
                    <a:lstStyle/>
                    <a:p>
                      <a:r>
                        <a:rPr sz="1125" b="0">
                          <a:solidFill>
                            <a:srgbClr val="343D42"/>
                          </a:solidFill>
                          <a:latin typeface="Arial"/>
                          <a:ea typeface="Arial"/>
                          <a:cs typeface="Arial"/>
                        </a:rPr>
                        <a:t>Exit cap rate</a:t>
                      </a:r>
                    </a:p>
                  </a:txBody>
                  <a:tcPr marL="47625" marR="47625" marT="19050" marB="19050" anchor="ctr">
                    <a:solidFill>
                      <a:srgbClr val="F3F5F6"/>
                    </a:solidFill>
                  </a:tcPr>
                </a:tc>
                <a:tc>
                  <a:txBody>
                    <a:bodyPr/>
                    <a:lstStyle/>
                    <a:p>
                      <a:r>
                        <a:rPr sz="1125" b="0">
                          <a:solidFill>
                            <a:srgbClr val="343D42"/>
                          </a:solidFill>
                          <a:latin typeface="Arial"/>
                          <a:ea typeface="Arial"/>
                          <a:cs typeface="Arial"/>
                        </a:rPr>
                        <a:t>8.00%</a:t>
                      </a:r>
                    </a:p>
                  </a:txBody>
                  <a:tcPr marL="47625" marR="47625" marT="19050" marB="19050" anchor="ctr">
                    <a:solidFill>
                      <a:srgbClr val="F3F5F6"/>
                    </a:solidFill>
                  </a:tcPr>
                </a:tc>
              </a:tr>
            </a:tbl>
          </a:graphicData>
        </a:graphic>
      </p:graphicFrame>
      <p:sp>
        <p:nvSpPr>
          <p:cNvPr id="10" name="">
            <a:extLst xmlns:a="http://schemas.openxmlformats.org/drawingml/2006/main">
              <a:ext uri="{FF2B5EF4-FFF2-40B4-BE49-F238E27FC236}">
                <a16:creationId xmlns:a16="http://schemas.microsoft.com/office/drawing/2014/main" id="{F5327532-1539-4747-A1AD-FBE009F00994}"/>
              </a:ext>
            </a:extLst>
          </p:cNvPr>
          <p:cNvSpPr>
            <a:spLocks xmlns:a="http://schemas.openxmlformats.org/drawingml/2006/main" noGrp="1"/>
          </p:cNvSpPr>
          <p:nvPr/>
        </p:nvSpPr>
        <p:spPr>
          <a:xfrm xmlns:a="http://schemas.openxmlformats.org/drawingml/2006/main">
            <a:off x="457200" y="5257800"/>
            <a:ext cx="34766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343D42"/>
                </a:solidFill>
                <a:latin typeface="Arial"/>
                <a:ea typeface="Arial"/>
                <a:cs typeface="Arial"/>
              </a:defRPr>
            </a:defPPr>
          </a:lstStyle>
          <a:p xmlns:a="http://schemas.openxmlformats.org/drawingml/2006/main">
            <a:pPr>
              <a:defRPr sz="1050" b="0">
                <a:solidFill>
                  <a:srgbClr val="343D42"/>
                </a:solidFill>
                <a:latin typeface="Arial"/>
                <a:ea typeface="Arial"/>
                <a:cs typeface="Arial"/>
              </a:defRPr>
            </a:pPr>
            <a:r>
              <a:rPr sz="1050" b="0">
                <a:solidFill>
                  <a:srgbClr val="343D42"/>
                </a:solidFill>
                <a:latin typeface="Arial"/>
                <a:ea typeface="Arial"/>
                <a:cs typeface="Arial"/>
              </a:rPr>
              <a:t>Interest-only financing; rate resets every three years.</a:t>
            </a:r>
          </a:p>
          <a:p xmlns:a="http://schemas.openxmlformats.org/drawingml/2006/main">
            <a:pPr>
              <a:defRPr sz="1050" b="0">
                <a:solidFill>
                  <a:srgbClr val="343D42"/>
                </a:solidFill>
                <a:latin typeface="Arial"/>
                <a:ea typeface="Arial"/>
                <a:cs typeface="Arial"/>
              </a:defRPr>
            </a:pPr>
            <a:r>
              <a:rPr sz="1050" b="0">
                <a:solidFill>
                  <a:srgbClr val="343D42"/>
                </a:solidFill>
                <a:latin typeface="Arial"/>
                <a:ea typeface="Arial"/>
                <a:cs typeface="Arial"/>
              </a:rPr>
              <a:t>27-year amortization; 20-year term.</a:t>
            </a:r>
          </a:p>
          <a:p xmlns:a="http://schemas.openxmlformats.org/drawingml/2006/main">
            <a:pPr>
              <a:defRPr sz="1050" b="0">
                <a:solidFill>
                  <a:srgbClr val="343D42"/>
                </a:solidFill>
                <a:latin typeface="Arial"/>
                <a:ea typeface="Arial"/>
                <a:cs typeface="Arial"/>
              </a:defRPr>
            </a:pPr>
            <a:r>
              <a:rPr sz="1050" b="0">
                <a:solidFill>
                  <a:srgbClr val="343D42"/>
                </a:solidFill>
                <a:latin typeface="Arial"/>
                <a:ea typeface="Arial"/>
                <a:cs typeface="Arial"/>
              </a:rPr>
              <a:t>Projected gross return: 20.2% IRR and 2.9x MOIC over approximately seven years.</a:t>
            </a:r>
          </a:p>
          <a:p xmlns:a="http://schemas.openxmlformats.org/drawingml/2006/main">
            <a:pPr>
              <a:defRPr sz="1050" b="0">
                <a:solidFill>
                  <a:srgbClr val="343D42"/>
                </a:solidFill>
                <a:latin typeface="Arial"/>
                <a:ea typeface="Arial"/>
                <a:cs typeface="Arial"/>
              </a:defRPr>
            </a:pPr>
            <a:r>
              <a:rPr sz="1050" b="0">
                <a:solidFill>
                  <a:srgbClr val="343D42"/>
                </a:solidFill>
                <a:latin typeface="Arial"/>
                <a:ea typeface="Arial"/>
                <a:cs typeface="Arial"/>
              </a:rPr>
              <a:t>Located in a qualified opportunity zone.</a:t>
            </a:r>
          </a:p>
        </p:txBody>
      </p:sp>
      <p:graphicFrame>
        <p:nvGraphicFramePr>
          <p:cNvPr id="11" name="">
            <a:extLst xmlns:a="http://schemas.openxmlformats.org/drawingml/2006/main">
              <a:ext uri="{FF2B5EF4-FFF2-40B4-BE49-F238E27FC236}">
                <a16:creationId xmlns:a16="http://schemas.microsoft.com/office/drawing/2014/main" id="{C2DCAB47-7B29-435D-9110-A89B946E724F}"/>
              </a:ext>
            </a:extLst>
          </p:cNvPr>
          <p:cNvGraphicFramePr/>
          <p:nvPr/>
        </p:nvGraphicFramePr>
        <p:xfrm>
          <a:off xmlns:a="http://schemas.openxmlformats.org/drawingml/2006/main" x="4171950" y="1038225"/>
          <a:ext xmlns:a="http://schemas.openxmlformats.org/drawingml/2006/main" cx="7562850" cy="4772025"/>
        </p:xfrm>
        <a:graphic xmlns:a="http://schemas.openxmlformats.org/drawingml/2006/main">
          <a:graphicData uri="http://schemas.openxmlformats.org/drawingml/2006/table">
            <a:tbl>
              <a:tblPr/>
              <a:tblGrid>
                <a:gridCol w="2095500"/>
                <a:gridCol w="781050"/>
                <a:gridCol w="781050"/>
                <a:gridCol w="781050"/>
                <a:gridCol w="781050"/>
                <a:gridCol w="781050"/>
                <a:gridCol w="781050"/>
                <a:gridCol w="781050"/>
              </a:tblGrid>
              <a:tr h="190881">
                <a:tc>
                  <a:txBody>
                    <a:bodyPr/>
                    <a:lstStyle/>
                    <a:p>
                      <a:r>
                        <a:rPr sz="728" b="1">
                          <a:solidFill>
                            <a:srgbClr val="FFFFFF"/>
                          </a:solidFill>
                          <a:latin typeface="Arial"/>
                          <a:ea typeface="Arial"/>
                          <a:cs typeface="Arial"/>
                        </a:rPr>
                        <a:t>7-year model</a:t>
                      </a:r>
                    </a:p>
                  </a:txBody>
                  <a:tcPr marL="47625" marR="47625" marT="19050" marB="19050" anchor="ctr">
                    <a:solidFill>
                      <a:srgbClr val="213C66"/>
                    </a:solidFill>
                  </a:tcPr>
                </a:tc>
                <a:tc>
                  <a:txBody>
                    <a:bodyPr/>
                    <a:lstStyle/>
                    <a:p>
                      <a:r>
                        <a:rPr sz="728" b="1">
                          <a:solidFill>
                            <a:srgbClr val="FFFFFF"/>
                          </a:solidFill>
                          <a:latin typeface="Arial"/>
                          <a:ea typeface="Arial"/>
                          <a:cs typeface="Arial"/>
                        </a:rPr>
                        <a:t>2026 H2</a:t>
                      </a:r>
                    </a:p>
                  </a:txBody>
                  <a:tcPr marL="47625" marR="47625" marT="19050" marB="19050" anchor="ctr">
                    <a:solidFill>
                      <a:srgbClr val="213C66"/>
                    </a:solidFill>
                  </a:tcPr>
                </a:tc>
                <a:tc>
                  <a:txBody>
                    <a:bodyPr/>
                    <a:lstStyle/>
                    <a:p>
                      <a:r>
                        <a:rPr sz="728" b="1">
                          <a:solidFill>
                            <a:srgbClr val="FFFFFF"/>
                          </a:solidFill>
                          <a:latin typeface="Arial"/>
                          <a:ea typeface="Arial"/>
                          <a:cs typeface="Arial"/>
                        </a:rPr>
                        <a:t>2027</a:t>
                      </a:r>
                    </a:p>
                  </a:txBody>
                  <a:tcPr marL="47625" marR="47625" marT="19050" marB="19050" anchor="ctr">
                    <a:solidFill>
                      <a:srgbClr val="213C66"/>
                    </a:solidFill>
                  </a:tcPr>
                </a:tc>
                <a:tc>
                  <a:txBody>
                    <a:bodyPr/>
                    <a:lstStyle/>
                    <a:p>
                      <a:r>
                        <a:rPr sz="728" b="1">
                          <a:solidFill>
                            <a:srgbClr val="FFFFFF"/>
                          </a:solidFill>
                          <a:latin typeface="Arial"/>
                          <a:ea typeface="Arial"/>
                          <a:cs typeface="Arial"/>
                        </a:rPr>
                        <a:t>2028</a:t>
                      </a:r>
                    </a:p>
                  </a:txBody>
                  <a:tcPr marL="47625" marR="47625" marT="19050" marB="19050" anchor="ctr">
                    <a:solidFill>
                      <a:srgbClr val="213C66"/>
                    </a:solidFill>
                  </a:tcPr>
                </a:tc>
                <a:tc>
                  <a:txBody>
                    <a:bodyPr/>
                    <a:lstStyle/>
                    <a:p>
                      <a:r>
                        <a:rPr sz="728" b="1">
                          <a:solidFill>
                            <a:srgbClr val="FFFFFF"/>
                          </a:solidFill>
                          <a:latin typeface="Arial"/>
                          <a:ea typeface="Arial"/>
                          <a:cs typeface="Arial"/>
                        </a:rPr>
                        <a:t>2029</a:t>
                      </a:r>
                    </a:p>
                  </a:txBody>
                  <a:tcPr marL="47625" marR="47625" marT="19050" marB="19050" anchor="ctr">
                    <a:solidFill>
                      <a:srgbClr val="213C66"/>
                    </a:solidFill>
                  </a:tcPr>
                </a:tc>
                <a:tc>
                  <a:txBody>
                    <a:bodyPr/>
                    <a:lstStyle/>
                    <a:p>
                      <a:r>
                        <a:rPr sz="728" b="1">
                          <a:solidFill>
                            <a:srgbClr val="FFFFFF"/>
                          </a:solidFill>
                          <a:latin typeface="Arial"/>
                          <a:ea typeface="Arial"/>
                          <a:cs typeface="Arial"/>
                        </a:rPr>
                        <a:t>2030</a:t>
                      </a:r>
                    </a:p>
                  </a:txBody>
                  <a:tcPr marL="47625" marR="47625" marT="19050" marB="19050" anchor="ctr">
                    <a:solidFill>
                      <a:srgbClr val="213C66"/>
                    </a:solidFill>
                  </a:tcPr>
                </a:tc>
                <a:tc>
                  <a:txBody>
                    <a:bodyPr/>
                    <a:lstStyle/>
                    <a:p>
                      <a:r>
                        <a:rPr sz="728" b="1">
                          <a:solidFill>
                            <a:srgbClr val="FFFFFF"/>
                          </a:solidFill>
                          <a:latin typeface="Arial"/>
                          <a:ea typeface="Arial"/>
                          <a:cs typeface="Arial"/>
                        </a:rPr>
                        <a:t>2031</a:t>
                      </a:r>
                    </a:p>
                  </a:txBody>
                  <a:tcPr marL="47625" marR="47625" marT="19050" marB="19050" anchor="ctr">
                    <a:solidFill>
                      <a:srgbClr val="213C66"/>
                    </a:solidFill>
                  </a:tcPr>
                </a:tc>
                <a:tc>
                  <a:txBody>
                    <a:bodyPr/>
                    <a:lstStyle/>
                    <a:p>
                      <a:r>
                        <a:rPr sz="728" b="1">
                          <a:solidFill>
                            <a:srgbClr val="FFFFFF"/>
                          </a:solidFill>
                          <a:latin typeface="Arial"/>
                          <a:ea typeface="Arial"/>
                          <a:cs typeface="Arial"/>
                        </a:rPr>
                        <a:t>2032</a:t>
                      </a:r>
                    </a:p>
                  </a:txBody>
                  <a:tcPr marL="47625" marR="47625" marT="19050" marB="19050" anchor="ctr">
                    <a:solidFill>
                      <a:srgbClr val="213C66"/>
                    </a:solidFill>
                  </a:tcPr>
                </a:tc>
              </a:tr>
              <a:tr h="190881">
                <a:tc>
                  <a:txBody>
                    <a:bodyPr/>
                    <a:lstStyle/>
                    <a:p>
                      <a:r>
                        <a:rPr sz="728" b="0">
                          <a:solidFill>
                            <a:srgbClr val="343D42"/>
                          </a:solidFill>
                          <a:latin typeface="Arial"/>
                          <a:ea typeface="Arial"/>
                          <a:cs typeface="Arial"/>
                        </a:rPr>
                        <a:t>Net rental revenue</a:t>
                      </a:r>
                    </a:p>
                  </a:txBody>
                  <a:tcPr marL="47625" marR="47625" marT="19050" marB="19050" anchor="ctr">
                    <a:solidFill>
                      <a:srgbClr val="FFFFFF"/>
                    </a:solidFill>
                  </a:tcPr>
                </a:tc>
                <a:tc>
                  <a:txBody>
                    <a:bodyPr/>
                    <a:lstStyle/>
                    <a:p>
                      <a:r>
                        <a:rPr sz="728" b="0">
                          <a:solidFill>
                            <a:srgbClr val="343D42"/>
                          </a:solidFill>
                          <a:latin typeface="Arial"/>
                          <a:ea typeface="Arial"/>
                          <a:cs typeface="Arial"/>
                        </a:rPr>
                        <a:t>967,893</a:t>
                      </a:r>
                    </a:p>
                  </a:txBody>
                  <a:tcPr marL="47625" marR="47625" marT="19050" marB="19050" anchor="ctr">
                    <a:solidFill>
                      <a:srgbClr val="FFFFFF"/>
                    </a:solidFill>
                  </a:tcPr>
                </a:tc>
                <a:tc>
                  <a:txBody>
                    <a:bodyPr/>
                    <a:lstStyle/>
                    <a:p>
                      <a:r>
                        <a:rPr sz="728" b="0">
                          <a:solidFill>
                            <a:srgbClr val="343D42"/>
                          </a:solidFill>
                          <a:latin typeface="Arial"/>
                          <a:ea typeface="Arial"/>
                          <a:cs typeface="Arial"/>
                        </a:rPr>
                        <a:t>2,004,942</a:t>
                      </a:r>
                    </a:p>
                  </a:txBody>
                  <a:tcPr marL="47625" marR="47625" marT="19050" marB="19050" anchor="ctr">
                    <a:solidFill>
                      <a:srgbClr val="FFFFFF"/>
                    </a:solidFill>
                  </a:tcPr>
                </a:tc>
                <a:tc>
                  <a:txBody>
                    <a:bodyPr/>
                    <a:lstStyle/>
                    <a:p>
                      <a:r>
                        <a:rPr sz="728" b="0">
                          <a:solidFill>
                            <a:srgbClr val="343D42"/>
                          </a:solidFill>
                          <a:latin typeface="Arial"/>
                          <a:ea typeface="Arial"/>
                          <a:cs typeface="Arial"/>
                        </a:rPr>
                        <a:t>2,059,161</a:t>
                      </a:r>
                    </a:p>
                  </a:txBody>
                  <a:tcPr marL="47625" marR="47625" marT="19050" marB="19050" anchor="ctr">
                    <a:solidFill>
                      <a:srgbClr val="FFFFFF"/>
                    </a:solidFill>
                  </a:tcPr>
                </a:tc>
                <a:tc>
                  <a:txBody>
                    <a:bodyPr/>
                    <a:lstStyle/>
                    <a:p>
                      <a:r>
                        <a:rPr sz="728" b="0">
                          <a:solidFill>
                            <a:srgbClr val="343D42"/>
                          </a:solidFill>
                          <a:latin typeface="Arial"/>
                          <a:ea typeface="Arial"/>
                          <a:cs typeface="Arial"/>
                        </a:rPr>
                        <a:t>2,086,749</a:t>
                      </a:r>
                    </a:p>
                  </a:txBody>
                  <a:tcPr marL="47625" marR="47625" marT="19050" marB="19050" anchor="ctr">
                    <a:solidFill>
                      <a:srgbClr val="FFFFFF"/>
                    </a:solidFill>
                  </a:tcPr>
                </a:tc>
                <a:tc>
                  <a:txBody>
                    <a:bodyPr/>
                    <a:lstStyle/>
                    <a:p>
                      <a:r>
                        <a:rPr sz="728" b="0">
                          <a:solidFill>
                            <a:srgbClr val="343D42"/>
                          </a:solidFill>
                          <a:latin typeface="Arial"/>
                          <a:ea typeface="Arial"/>
                          <a:cs typeface="Arial"/>
                        </a:rPr>
                        <a:t>2,085,497</a:t>
                      </a:r>
                    </a:p>
                  </a:txBody>
                  <a:tcPr marL="47625" marR="47625" marT="19050" marB="19050" anchor="ctr">
                    <a:solidFill>
                      <a:srgbClr val="FFFFFF"/>
                    </a:solidFill>
                  </a:tcPr>
                </a:tc>
                <a:tc>
                  <a:txBody>
                    <a:bodyPr/>
                    <a:lstStyle/>
                    <a:p>
                      <a:r>
                        <a:rPr sz="728" b="0">
                          <a:solidFill>
                            <a:srgbClr val="343D42"/>
                          </a:solidFill>
                          <a:latin typeface="Arial"/>
                          <a:ea typeface="Arial"/>
                          <a:cs typeface="Arial"/>
                        </a:rPr>
                        <a:t>2,194,561</a:t>
                      </a:r>
                    </a:p>
                  </a:txBody>
                  <a:tcPr marL="47625" marR="47625" marT="19050" marB="19050" anchor="ctr">
                    <a:solidFill>
                      <a:srgbClr val="FFFFFF"/>
                    </a:solidFill>
                  </a:tcPr>
                </a:tc>
                <a:tc>
                  <a:txBody>
                    <a:bodyPr/>
                    <a:lstStyle/>
                    <a:p>
                      <a:r>
                        <a:rPr sz="728" b="0">
                          <a:solidFill>
                            <a:srgbClr val="343D42"/>
                          </a:solidFill>
                          <a:latin typeface="Arial"/>
                          <a:ea typeface="Arial"/>
                          <a:cs typeface="Arial"/>
                        </a:rPr>
                        <a:t>2,312,760</a:t>
                      </a:r>
                    </a:p>
                  </a:txBody>
                  <a:tcPr marL="47625" marR="47625" marT="19050" marB="19050" anchor="ctr">
                    <a:solidFill>
                      <a:srgbClr val="FFFFFF"/>
                    </a:solidFill>
                  </a:tcPr>
                </a:tc>
              </a:tr>
              <a:tr h="190881">
                <a:tc>
                  <a:txBody>
                    <a:bodyPr/>
                    <a:lstStyle/>
                    <a:p>
                      <a:r>
                        <a:rPr sz="728" b="0">
                          <a:solidFill>
                            <a:srgbClr val="343D42"/>
                          </a:solidFill>
                          <a:latin typeface="Arial"/>
                          <a:ea typeface="Arial"/>
                          <a:cs typeface="Arial"/>
                        </a:rPr>
                        <a:t>Expense recoveries</a:t>
                      </a:r>
                    </a:p>
                  </a:txBody>
                  <a:tcPr marL="47625" marR="47625" marT="19050" marB="19050" anchor="ctr">
                    <a:solidFill>
                      <a:srgbClr val="F3F5F6"/>
                    </a:solidFill>
                  </a:tcPr>
                </a:tc>
                <a:tc>
                  <a:txBody>
                    <a:bodyPr/>
                    <a:lstStyle/>
                    <a:p>
                      <a:r>
                        <a:rPr sz="728" b="0">
                          <a:solidFill>
                            <a:srgbClr val="343D42"/>
                          </a:solidFill>
                          <a:latin typeface="Arial"/>
                          <a:ea typeface="Arial"/>
                          <a:cs typeface="Arial"/>
                        </a:rPr>
                        <a:t>493,209</a:t>
                      </a:r>
                    </a:p>
                  </a:txBody>
                  <a:tcPr marL="47625" marR="47625" marT="19050" marB="19050" anchor="ctr">
                    <a:solidFill>
                      <a:srgbClr val="F3F5F6"/>
                    </a:solidFill>
                  </a:tcPr>
                </a:tc>
                <a:tc>
                  <a:txBody>
                    <a:bodyPr/>
                    <a:lstStyle/>
                    <a:p>
                      <a:r>
                        <a:rPr sz="728" b="0">
                          <a:solidFill>
                            <a:srgbClr val="343D42"/>
                          </a:solidFill>
                          <a:latin typeface="Arial"/>
                          <a:ea typeface="Arial"/>
                          <a:cs typeface="Arial"/>
                        </a:rPr>
                        <a:t>940,083</a:t>
                      </a:r>
                    </a:p>
                  </a:txBody>
                  <a:tcPr marL="47625" marR="47625" marT="19050" marB="19050" anchor="ctr">
                    <a:solidFill>
                      <a:srgbClr val="F3F5F6"/>
                    </a:solidFill>
                  </a:tcPr>
                </a:tc>
                <a:tc>
                  <a:txBody>
                    <a:bodyPr/>
                    <a:lstStyle/>
                    <a:p>
                      <a:r>
                        <a:rPr sz="728" b="0">
                          <a:solidFill>
                            <a:srgbClr val="343D42"/>
                          </a:solidFill>
                          <a:latin typeface="Arial"/>
                          <a:ea typeface="Arial"/>
                          <a:cs typeface="Arial"/>
                        </a:rPr>
                        <a:t>959,927</a:t>
                      </a:r>
                    </a:p>
                  </a:txBody>
                  <a:tcPr marL="47625" marR="47625" marT="19050" marB="19050" anchor="ctr">
                    <a:solidFill>
                      <a:srgbClr val="F3F5F6"/>
                    </a:solidFill>
                  </a:tcPr>
                </a:tc>
                <a:tc>
                  <a:txBody>
                    <a:bodyPr/>
                    <a:lstStyle/>
                    <a:p>
                      <a:r>
                        <a:rPr sz="728" b="0">
                          <a:solidFill>
                            <a:srgbClr val="343D42"/>
                          </a:solidFill>
                          <a:latin typeface="Arial"/>
                          <a:ea typeface="Arial"/>
                          <a:cs typeface="Arial"/>
                        </a:rPr>
                        <a:t>968,276</a:t>
                      </a:r>
                    </a:p>
                  </a:txBody>
                  <a:tcPr marL="47625" marR="47625" marT="19050" marB="19050" anchor="ctr">
                    <a:solidFill>
                      <a:srgbClr val="F3F5F6"/>
                    </a:solidFill>
                  </a:tcPr>
                </a:tc>
                <a:tc>
                  <a:txBody>
                    <a:bodyPr/>
                    <a:lstStyle/>
                    <a:p>
                      <a:r>
                        <a:rPr sz="728" b="0">
                          <a:solidFill>
                            <a:srgbClr val="343D42"/>
                          </a:solidFill>
                          <a:latin typeface="Arial"/>
                          <a:ea typeface="Arial"/>
                          <a:cs typeface="Arial"/>
                        </a:rPr>
                        <a:t>985,454</a:t>
                      </a:r>
                    </a:p>
                  </a:txBody>
                  <a:tcPr marL="47625" marR="47625" marT="19050" marB="19050" anchor="ctr">
                    <a:solidFill>
                      <a:srgbClr val="F3F5F6"/>
                    </a:solidFill>
                  </a:tcPr>
                </a:tc>
                <a:tc>
                  <a:txBody>
                    <a:bodyPr/>
                    <a:lstStyle/>
                    <a:p>
                      <a:r>
                        <a:rPr sz="728" b="0">
                          <a:solidFill>
                            <a:srgbClr val="343D42"/>
                          </a:solidFill>
                          <a:latin typeface="Arial"/>
                          <a:ea typeface="Arial"/>
                          <a:cs typeface="Arial"/>
                        </a:rPr>
                        <a:t>987,111</a:t>
                      </a:r>
                    </a:p>
                  </a:txBody>
                  <a:tcPr marL="47625" marR="47625" marT="19050" marB="19050" anchor="ctr">
                    <a:solidFill>
                      <a:srgbClr val="F3F5F6"/>
                    </a:solidFill>
                  </a:tcPr>
                </a:tc>
                <a:tc>
                  <a:txBody>
                    <a:bodyPr/>
                    <a:lstStyle/>
                    <a:p>
                      <a:r>
                        <a:rPr sz="728" b="0">
                          <a:solidFill>
                            <a:srgbClr val="343D42"/>
                          </a:solidFill>
                          <a:latin typeface="Arial"/>
                          <a:ea typeface="Arial"/>
                          <a:cs typeface="Arial"/>
                        </a:rPr>
                        <a:t>1,011,161</a:t>
                      </a:r>
                    </a:p>
                  </a:txBody>
                  <a:tcPr marL="47625" marR="47625" marT="19050" marB="19050" anchor="ctr">
                    <a:solidFill>
                      <a:srgbClr val="F3F5F6"/>
                    </a:solidFill>
                  </a:tcPr>
                </a:tc>
              </a:tr>
              <a:tr h="190881">
                <a:tc>
                  <a:txBody>
                    <a:bodyPr/>
                    <a:lstStyle/>
                    <a:p>
                      <a:r>
                        <a:rPr sz="728" b="0">
                          <a:solidFill>
                            <a:srgbClr val="343D42"/>
                          </a:solidFill>
                          <a:latin typeface="Arial"/>
                          <a:ea typeface="Arial"/>
                          <a:cs typeface="Arial"/>
                        </a:rPr>
                        <a:t>Total revenue</a:t>
                      </a:r>
                    </a:p>
                  </a:txBody>
                  <a:tcPr marL="47625" marR="47625" marT="19050" marB="19050" anchor="ctr">
                    <a:solidFill>
                      <a:srgbClr val="FFFFFF"/>
                    </a:solidFill>
                  </a:tcPr>
                </a:tc>
                <a:tc>
                  <a:txBody>
                    <a:bodyPr/>
                    <a:lstStyle/>
                    <a:p>
                      <a:r>
                        <a:rPr sz="728" b="0">
                          <a:solidFill>
                            <a:srgbClr val="343D42"/>
                          </a:solidFill>
                          <a:latin typeface="Arial"/>
                          <a:ea typeface="Arial"/>
                          <a:cs typeface="Arial"/>
                        </a:rPr>
                        <a:t>1,461,102</a:t>
                      </a:r>
                    </a:p>
                  </a:txBody>
                  <a:tcPr marL="47625" marR="47625" marT="19050" marB="19050" anchor="ctr">
                    <a:solidFill>
                      <a:srgbClr val="FFFFFF"/>
                    </a:solidFill>
                  </a:tcPr>
                </a:tc>
                <a:tc>
                  <a:txBody>
                    <a:bodyPr/>
                    <a:lstStyle/>
                    <a:p>
                      <a:r>
                        <a:rPr sz="728" b="0">
                          <a:solidFill>
                            <a:srgbClr val="343D42"/>
                          </a:solidFill>
                          <a:latin typeface="Arial"/>
                          <a:ea typeface="Arial"/>
                          <a:cs typeface="Arial"/>
                        </a:rPr>
                        <a:t>2,945,025</a:t>
                      </a:r>
                    </a:p>
                  </a:txBody>
                  <a:tcPr marL="47625" marR="47625" marT="19050" marB="19050" anchor="ctr">
                    <a:solidFill>
                      <a:srgbClr val="FFFFFF"/>
                    </a:solidFill>
                  </a:tcPr>
                </a:tc>
                <a:tc>
                  <a:txBody>
                    <a:bodyPr/>
                    <a:lstStyle/>
                    <a:p>
                      <a:r>
                        <a:rPr sz="728" b="0">
                          <a:solidFill>
                            <a:srgbClr val="343D42"/>
                          </a:solidFill>
                          <a:latin typeface="Arial"/>
                          <a:ea typeface="Arial"/>
                          <a:cs typeface="Arial"/>
                        </a:rPr>
                        <a:t>3,019,088</a:t>
                      </a:r>
                    </a:p>
                  </a:txBody>
                  <a:tcPr marL="47625" marR="47625" marT="19050" marB="19050" anchor="ctr">
                    <a:solidFill>
                      <a:srgbClr val="FFFFFF"/>
                    </a:solidFill>
                  </a:tcPr>
                </a:tc>
                <a:tc>
                  <a:txBody>
                    <a:bodyPr/>
                    <a:lstStyle/>
                    <a:p>
                      <a:r>
                        <a:rPr sz="728" b="0">
                          <a:solidFill>
                            <a:srgbClr val="343D42"/>
                          </a:solidFill>
                          <a:latin typeface="Arial"/>
                          <a:ea typeface="Arial"/>
                          <a:cs typeface="Arial"/>
                        </a:rPr>
                        <a:t>3,055,025</a:t>
                      </a:r>
                    </a:p>
                  </a:txBody>
                  <a:tcPr marL="47625" marR="47625" marT="19050" marB="19050" anchor="ctr">
                    <a:solidFill>
                      <a:srgbClr val="FFFFFF"/>
                    </a:solidFill>
                  </a:tcPr>
                </a:tc>
                <a:tc>
                  <a:txBody>
                    <a:bodyPr/>
                    <a:lstStyle/>
                    <a:p>
                      <a:r>
                        <a:rPr sz="728" b="0">
                          <a:solidFill>
                            <a:srgbClr val="343D42"/>
                          </a:solidFill>
                          <a:latin typeface="Arial"/>
                          <a:ea typeface="Arial"/>
                          <a:cs typeface="Arial"/>
                        </a:rPr>
                        <a:t>3,070,952</a:t>
                      </a:r>
                    </a:p>
                  </a:txBody>
                  <a:tcPr marL="47625" marR="47625" marT="19050" marB="19050" anchor="ctr">
                    <a:solidFill>
                      <a:srgbClr val="FFFFFF"/>
                    </a:solidFill>
                  </a:tcPr>
                </a:tc>
                <a:tc>
                  <a:txBody>
                    <a:bodyPr/>
                    <a:lstStyle/>
                    <a:p>
                      <a:r>
                        <a:rPr sz="728" b="0">
                          <a:solidFill>
                            <a:srgbClr val="343D42"/>
                          </a:solidFill>
                          <a:latin typeface="Arial"/>
                          <a:ea typeface="Arial"/>
                          <a:cs typeface="Arial"/>
                        </a:rPr>
                        <a:t>3,181,673</a:t>
                      </a:r>
                    </a:p>
                  </a:txBody>
                  <a:tcPr marL="47625" marR="47625" marT="19050" marB="19050" anchor="ctr">
                    <a:solidFill>
                      <a:srgbClr val="FFFFFF"/>
                    </a:solidFill>
                  </a:tcPr>
                </a:tc>
                <a:tc>
                  <a:txBody>
                    <a:bodyPr/>
                    <a:lstStyle/>
                    <a:p>
                      <a:r>
                        <a:rPr sz="728" b="0">
                          <a:solidFill>
                            <a:srgbClr val="343D42"/>
                          </a:solidFill>
                          <a:latin typeface="Arial"/>
                          <a:ea typeface="Arial"/>
                          <a:cs typeface="Arial"/>
                        </a:rPr>
                        <a:t>3,323,922</a:t>
                      </a:r>
                    </a:p>
                  </a:txBody>
                  <a:tcPr marL="47625" marR="47625" marT="19050" marB="19050" anchor="ctr">
                    <a:solidFill>
                      <a:srgbClr val="FFFFFF"/>
                    </a:solidFill>
                  </a:tcPr>
                </a:tc>
              </a:tr>
              <a:tr h="190881">
                <a:tc>
                  <a:txBody>
                    <a:bodyPr/>
                    <a:lstStyle/>
                    <a:p>
                      <a:r>
                        <a:rPr sz="728" b="0">
                          <a:solidFill>
                            <a:srgbClr val="343D42"/>
                          </a:solidFill>
                          <a:latin typeface="Arial"/>
                          <a:ea typeface="Arial"/>
                          <a:cs typeface="Arial"/>
                        </a:rPr>
                        <a:t>Real estate tax</a:t>
                      </a:r>
                    </a:p>
                  </a:txBody>
                  <a:tcPr marL="47625" marR="47625" marT="19050" marB="19050" anchor="ctr">
                    <a:solidFill>
                      <a:srgbClr val="F3F5F6"/>
                    </a:solidFill>
                  </a:tcPr>
                </a:tc>
                <a:tc>
                  <a:txBody>
                    <a:bodyPr/>
                    <a:lstStyle/>
                    <a:p>
                      <a:r>
                        <a:rPr sz="728" b="0">
                          <a:solidFill>
                            <a:srgbClr val="343D42"/>
                          </a:solidFill>
                          <a:latin typeface="Arial"/>
                          <a:ea typeface="Arial"/>
                          <a:cs typeface="Arial"/>
                        </a:rPr>
                        <a:t>120,767</a:t>
                      </a:r>
                    </a:p>
                  </a:txBody>
                  <a:tcPr marL="47625" marR="47625" marT="19050" marB="19050" anchor="ctr">
                    <a:solidFill>
                      <a:srgbClr val="F3F5F6"/>
                    </a:solidFill>
                  </a:tcPr>
                </a:tc>
                <a:tc>
                  <a:txBody>
                    <a:bodyPr/>
                    <a:lstStyle/>
                    <a:p>
                      <a:r>
                        <a:rPr sz="728" b="0">
                          <a:solidFill>
                            <a:srgbClr val="343D42"/>
                          </a:solidFill>
                          <a:latin typeface="Arial"/>
                          <a:ea typeface="Arial"/>
                          <a:cs typeface="Arial"/>
                        </a:rPr>
                        <a:t>248,835</a:t>
                      </a:r>
                    </a:p>
                  </a:txBody>
                  <a:tcPr marL="47625" marR="47625" marT="19050" marB="19050" anchor="ctr">
                    <a:solidFill>
                      <a:srgbClr val="F3F5F6"/>
                    </a:solidFill>
                  </a:tcPr>
                </a:tc>
                <a:tc>
                  <a:txBody>
                    <a:bodyPr/>
                    <a:lstStyle/>
                    <a:p>
                      <a:r>
                        <a:rPr sz="728" b="0">
                          <a:solidFill>
                            <a:srgbClr val="343D42"/>
                          </a:solidFill>
                          <a:latin typeface="Arial"/>
                          <a:ea typeface="Arial"/>
                          <a:cs typeface="Arial"/>
                        </a:rPr>
                        <a:t>252,568</a:t>
                      </a:r>
                    </a:p>
                  </a:txBody>
                  <a:tcPr marL="47625" marR="47625" marT="19050" marB="19050" anchor="ctr">
                    <a:solidFill>
                      <a:srgbClr val="F3F5F6"/>
                    </a:solidFill>
                  </a:tcPr>
                </a:tc>
                <a:tc>
                  <a:txBody>
                    <a:bodyPr/>
                    <a:lstStyle/>
                    <a:p>
                      <a:r>
                        <a:rPr sz="728" b="0">
                          <a:solidFill>
                            <a:srgbClr val="343D42"/>
                          </a:solidFill>
                          <a:latin typeface="Arial"/>
                          <a:ea typeface="Arial"/>
                          <a:cs typeface="Arial"/>
                        </a:rPr>
                        <a:t>256,356</a:t>
                      </a:r>
                    </a:p>
                  </a:txBody>
                  <a:tcPr marL="47625" marR="47625" marT="19050" marB="19050" anchor="ctr">
                    <a:solidFill>
                      <a:srgbClr val="F3F5F6"/>
                    </a:solidFill>
                  </a:tcPr>
                </a:tc>
                <a:tc>
                  <a:txBody>
                    <a:bodyPr/>
                    <a:lstStyle/>
                    <a:p>
                      <a:r>
                        <a:rPr sz="728" b="0">
                          <a:solidFill>
                            <a:srgbClr val="343D42"/>
                          </a:solidFill>
                          <a:latin typeface="Arial"/>
                          <a:ea typeface="Arial"/>
                          <a:cs typeface="Arial"/>
                        </a:rPr>
                        <a:t>260,202</a:t>
                      </a:r>
                    </a:p>
                  </a:txBody>
                  <a:tcPr marL="47625" marR="47625" marT="19050" marB="19050" anchor="ctr">
                    <a:solidFill>
                      <a:srgbClr val="F3F5F6"/>
                    </a:solidFill>
                  </a:tcPr>
                </a:tc>
                <a:tc>
                  <a:txBody>
                    <a:bodyPr/>
                    <a:lstStyle/>
                    <a:p>
                      <a:r>
                        <a:rPr sz="728" b="0">
                          <a:solidFill>
                            <a:srgbClr val="343D42"/>
                          </a:solidFill>
                          <a:latin typeface="Arial"/>
                          <a:ea typeface="Arial"/>
                          <a:cs typeface="Arial"/>
                        </a:rPr>
                        <a:t>264,105</a:t>
                      </a:r>
                    </a:p>
                  </a:txBody>
                  <a:tcPr marL="47625" marR="47625" marT="19050" marB="19050" anchor="ctr">
                    <a:solidFill>
                      <a:srgbClr val="F3F5F6"/>
                    </a:solidFill>
                  </a:tcPr>
                </a:tc>
                <a:tc>
                  <a:txBody>
                    <a:bodyPr/>
                    <a:lstStyle/>
                    <a:p>
                      <a:r>
                        <a:rPr sz="728" b="0">
                          <a:solidFill>
                            <a:srgbClr val="343D42"/>
                          </a:solidFill>
                          <a:latin typeface="Arial"/>
                          <a:ea typeface="Arial"/>
                          <a:cs typeface="Arial"/>
                        </a:rPr>
                        <a:t>268,066</a:t>
                      </a:r>
                    </a:p>
                  </a:txBody>
                  <a:tcPr marL="47625" marR="47625" marT="19050" marB="19050" anchor="ctr">
                    <a:solidFill>
                      <a:srgbClr val="F3F5F6"/>
                    </a:solidFill>
                  </a:tcPr>
                </a:tc>
              </a:tr>
              <a:tr h="190881">
                <a:tc>
                  <a:txBody>
                    <a:bodyPr/>
                    <a:lstStyle/>
                    <a:p>
                      <a:r>
                        <a:rPr sz="728" b="0">
                          <a:solidFill>
                            <a:srgbClr val="343D42"/>
                          </a:solidFill>
                          <a:latin typeface="Arial"/>
                          <a:ea typeface="Arial"/>
                          <a:cs typeface="Arial"/>
                        </a:rPr>
                        <a:t>CAM expenses</a:t>
                      </a:r>
                    </a:p>
                  </a:txBody>
                  <a:tcPr marL="47625" marR="47625" marT="19050" marB="19050" anchor="ctr">
                    <a:solidFill>
                      <a:srgbClr val="FFFFFF"/>
                    </a:solidFill>
                  </a:tcPr>
                </a:tc>
                <a:tc>
                  <a:txBody>
                    <a:bodyPr/>
                    <a:lstStyle/>
                    <a:p>
                      <a:r>
                        <a:rPr sz="728" b="0">
                          <a:solidFill>
                            <a:srgbClr val="343D42"/>
                          </a:solidFill>
                          <a:latin typeface="Arial"/>
                          <a:ea typeface="Arial"/>
                          <a:cs typeface="Arial"/>
                        </a:rPr>
                        <a:t>213,701</a:t>
                      </a:r>
                    </a:p>
                  </a:txBody>
                  <a:tcPr marL="47625" marR="47625" marT="19050" marB="19050" anchor="ctr">
                    <a:solidFill>
                      <a:srgbClr val="FFFFFF"/>
                    </a:solidFill>
                  </a:tcPr>
                </a:tc>
                <a:tc>
                  <a:txBody>
                    <a:bodyPr/>
                    <a:lstStyle/>
                    <a:p>
                      <a:r>
                        <a:rPr sz="728" b="0">
                          <a:solidFill>
                            <a:srgbClr val="343D42"/>
                          </a:solidFill>
                          <a:latin typeface="Arial"/>
                          <a:ea typeface="Arial"/>
                          <a:cs typeface="Arial"/>
                        </a:rPr>
                        <a:t>403,627</a:t>
                      </a:r>
                    </a:p>
                  </a:txBody>
                  <a:tcPr marL="47625" marR="47625" marT="19050" marB="19050" anchor="ctr">
                    <a:solidFill>
                      <a:srgbClr val="FFFFFF"/>
                    </a:solidFill>
                  </a:tcPr>
                </a:tc>
                <a:tc>
                  <a:txBody>
                    <a:bodyPr/>
                    <a:lstStyle/>
                    <a:p>
                      <a:r>
                        <a:rPr sz="728" b="0">
                          <a:solidFill>
                            <a:srgbClr val="343D42"/>
                          </a:solidFill>
                          <a:latin typeface="Arial"/>
                          <a:ea typeface="Arial"/>
                          <a:cs typeface="Arial"/>
                        </a:rPr>
                        <a:t>409,682</a:t>
                      </a:r>
                    </a:p>
                  </a:txBody>
                  <a:tcPr marL="47625" marR="47625" marT="19050" marB="19050" anchor="ctr">
                    <a:solidFill>
                      <a:srgbClr val="FFFFFF"/>
                    </a:solidFill>
                  </a:tcPr>
                </a:tc>
                <a:tc>
                  <a:txBody>
                    <a:bodyPr/>
                    <a:lstStyle/>
                    <a:p>
                      <a:r>
                        <a:rPr sz="728" b="0">
                          <a:solidFill>
                            <a:srgbClr val="343D42"/>
                          </a:solidFill>
                          <a:latin typeface="Arial"/>
                          <a:ea typeface="Arial"/>
                          <a:cs typeface="Arial"/>
                        </a:rPr>
                        <a:t>415,827</a:t>
                      </a:r>
                    </a:p>
                  </a:txBody>
                  <a:tcPr marL="47625" marR="47625" marT="19050" marB="19050" anchor="ctr">
                    <a:solidFill>
                      <a:srgbClr val="FFFFFF"/>
                    </a:solidFill>
                  </a:tcPr>
                </a:tc>
                <a:tc>
                  <a:txBody>
                    <a:bodyPr/>
                    <a:lstStyle/>
                    <a:p>
                      <a:r>
                        <a:rPr sz="728" b="0">
                          <a:solidFill>
                            <a:srgbClr val="343D42"/>
                          </a:solidFill>
                          <a:latin typeface="Arial"/>
                          <a:ea typeface="Arial"/>
                          <a:cs typeface="Arial"/>
                        </a:rPr>
                        <a:t>422,064</a:t>
                      </a:r>
                    </a:p>
                  </a:txBody>
                  <a:tcPr marL="47625" marR="47625" marT="19050" marB="19050" anchor="ctr">
                    <a:solidFill>
                      <a:srgbClr val="FFFFFF"/>
                    </a:solidFill>
                  </a:tcPr>
                </a:tc>
                <a:tc>
                  <a:txBody>
                    <a:bodyPr/>
                    <a:lstStyle/>
                    <a:p>
                      <a:r>
                        <a:rPr sz="728" b="0">
                          <a:solidFill>
                            <a:srgbClr val="343D42"/>
                          </a:solidFill>
                          <a:latin typeface="Arial"/>
                          <a:ea typeface="Arial"/>
                          <a:cs typeface="Arial"/>
                        </a:rPr>
                        <a:t>428,395</a:t>
                      </a:r>
                    </a:p>
                  </a:txBody>
                  <a:tcPr marL="47625" marR="47625" marT="19050" marB="19050" anchor="ctr">
                    <a:solidFill>
                      <a:srgbClr val="FFFFFF"/>
                    </a:solidFill>
                  </a:tcPr>
                </a:tc>
                <a:tc>
                  <a:txBody>
                    <a:bodyPr/>
                    <a:lstStyle/>
                    <a:p>
                      <a:r>
                        <a:rPr sz="728" b="0">
                          <a:solidFill>
                            <a:srgbClr val="343D42"/>
                          </a:solidFill>
                          <a:latin typeface="Arial"/>
                          <a:ea typeface="Arial"/>
                          <a:cs typeface="Arial"/>
                        </a:rPr>
                        <a:t>434,821</a:t>
                      </a:r>
                    </a:p>
                  </a:txBody>
                  <a:tcPr marL="47625" marR="47625" marT="19050" marB="19050" anchor="ctr">
                    <a:solidFill>
                      <a:srgbClr val="FFFFFF"/>
                    </a:solidFill>
                  </a:tcPr>
                </a:tc>
              </a:tr>
              <a:tr h="190881">
                <a:tc>
                  <a:txBody>
                    <a:bodyPr/>
                    <a:lstStyle/>
                    <a:p>
                      <a:r>
                        <a:rPr sz="728" b="0">
                          <a:solidFill>
                            <a:srgbClr val="343D42"/>
                          </a:solidFill>
                          <a:latin typeface="Arial"/>
                          <a:ea typeface="Arial"/>
                          <a:cs typeface="Arial"/>
                        </a:rPr>
                        <a:t>Insurance</a:t>
                      </a:r>
                    </a:p>
                  </a:txBody>
                  <a:tcPr marL="47625" marR="47625" marT="19050" marB="19050" anchor="ctr">
                    <a:solidFill>
                      <a:srgbClr val="F3F5F6"/>
                    </a:solidFill>
                  </a:tcPr>
                </a:tc>
                <a:tc>
                  <a:txBody>
                    <a:bodyPr/>
                    <a:lstStyle/>
                    <a:p>
                      <a:r>
                        <a:rPr sz="728" b="0">
                          <a:solidFill>
                            <a:srgbClr val="343D42"/>
                          </a:solidFill>
                          <a:latin typeface="Arial"/>
                          <a:ea typeface="Arial"/>
                          <a:cs typeface="Arial"/>
                        </a:rPr>
                        <a:t>32,800</a:t>
                      </a:r>
                    </a:p>
                  </a:txBody>
                  <a:tcPr marL="47625" marR="47625" marT="19050" marB="19050" anchor="ctr">
                    <a:solidFill>
                      <a:srgbClr val="F3F5F6"/>
                    </a:solidFill>
                  </a:tcPr>
                </a:tc>
                <a:tc>
                  <a:txBody>
                    <a:bodyPr/>
                    <a:lstStyle/>
                    <a:p>
                      <a:r>
                        <a:rPr sz="728" b="0">
                          <a:solidFill>
                            <a:srgbClr val="343D42"/>
                          </a:solidFill>
                          <a:latin typeface="Arial"/>
                          <a:ea typeface="Arial"/>
                          <a:cs typeface="Arial"/>
                        </a:rPr>
                        <a:t>62,562</a:t>
                      </a:r>
                    </a:p>
                  </a:txBody>
                  <a:tcPr marL="47625" marR="47625" marT="19050" marB="19050" anchor="ctr">
                    <a:solidFill>
                      <a:srgbClr val="F3F5F6"/>
                    </a:solidFill>
                  </a:tcPr>
                </a:tc>
                <a:tc>
                  <a:txBody>
                    <a:bodyPr/>
                    <a:lstStyle/>
                    <a:p>
                      <a:r>
                        <a:rPr sz="728" b="0">
                          <a:solidFill>
                            <a:srgbClr val="343D42"/>
                          </a:solidFill>
                          <a:latin typeface="Arial"/>
                          <a:ea typeface="Arial"/>
                          <a:cs typeface="Arial"/>
                        </a:rPr>
                        <a:t>63,814</a:t>
                      </a:r>
                    </a:p>
                  </a:txBody>
                  <a:tcPr marL="47625" marR="47625" marT="19050" marB="19050" anchor="ctr">
                    <a:solidFill>
                      <a:srgbClr val="F3F5F6"/>
                    </a:solidFill>
                  </a:tcPr>
                </a:tc>
                <a:tc>
                  <a:txBody>
                    <a:bodyPr/>
                    <a:lstStyle/>
                    <a:p>
                      <a:r>
                        <a:rPr sz="728" b="0">
                          <a:solidFill>
                            <a:srgbClr val="343D42"/>
                          </a:solidFill>
                          <a:latin typeface="Arial"/>
                          <a:ea typeface="Arial"/>
                          <a:cs typeface="Arial"/>
                        </a:rPr>
                        <a:t>65,090</a:t>
                      </a:r>
                    </a:p>
                  </a:txBody>
                  <a:tcPr marL="47625" marR="47625" marT="19050" marB="19050" anchor="ctr">
                    <a:solidFill>
                      <a:srgbClr val="F3F5F6"/>
                    </a:solidFill>
                  </a:tcPr>
                </a:tc>
                <a:tc>
                  <a:txBody>
                    <a:bodyPr/>
                    <a:lstStyle/>
                    <a:p>
                      <a:r>
                        <a:rPr sz="728" b="0">
                          <a:solidFill>
                            <a:srgbClr val="343D42"/>
                          </a:solidFill>
                          <a:latin typeface="Arial"/>
                          <a:ea typeface="Arial"/>
                          <a:cs typeface="Arial"/>
                        </a:rPr>
                        <a:t>66,392</a:t>
                      </a:r>
                    </a:p>
                  </a:txBody>
                  <a:tcPr marL="47625" marR="47625" marT="19050" marB="19050" anchor="ctr">
                    <a:solidFill>
                      <a:srgbClr val="F3F5F6"/>
                    </a:solidFill>
                  </a:tcPr>
                </a:tc>
                <a:tc>
                  <a:txBody>
                    <a:bodyPr/>
                    <a:lstStyle/>
                    <a:p>
                      <a:r>
                        <a:rPr sz="728" b="0">
                          <a:solidFill>
                            <a:srgbClr val="343D42"/>
                          </a:solidFill>
                          <a:latin typeface="Arial"/>
                          <a:ea typeface="Arial"/>
                          <a:cs typeface="Arial"/>
                        </a:rPr>
                        <a:t>67,720</a:t>
                      </a:r>
                    </a:p>
                  </a:txBody>
                  <a:tcPr marL="47625" marR="47625" marT="19050" marB="19050" anchor="ctr">
                    <a:solidFill>
                      <a:srgbClr val="F3F5F6"/>
                    </a:solidFill>
                  </a:tcPr>
                </a:tc>
                <a:tc>
                  <a:txBody>
                    <a:bodyPr/>
                    <a:lstStyle/>
                    <a:p>
                      <a:r>
                        <a:rPr sz="728" b="0">
                          <a:solidFill>
                            <a:srgbClr val="343D42"/>
                          </a:solidFill>
                          <a:latin typeface="Arial"/>
                          <a:ea typeface="Arial"/>
                          <a:cs typeface="Arial"/>
                        </a:rPr>
                        <a:t>69,074</a:t>
                      </a:r>
                    </a:p>
                  </a:txBody>
                  <a:tcPr marL="47625" marR="47625" marT="19050" marB="19050" anchor="ctr">
                    <a:solidFill>
                      <a:srgbClr val="F3F5F6"/>
                    </a:solidFill>
                  </a:tcPr>
                </a:tc>
              </a:tr>
              <a:tr h="190881">
                <a:tc>
                  <a:txBody>
                    <a:bodyPr/>
                    <a:lstStyle/>
                    <a:p>
                      <a:r>
                        <a:rPr sz="728" b="0">
                          <a:solidFill>
                            <a:srgbClr val="343D42"/>
                          </a:solidFill>
                          <a:latin typeface="Arial"/>
                          <a:ea typeface="Arial"/>
                          <a:cs typeface="Arial"/>
                        </a:rPr>
                        <a:t>Utilities</a:t>
                      </a:r>
                    </a:p>
                  </a:txBody>
                  <a:tcPr marL="47625" marR="47625" marT="19050" marB="19050" anchor="ctr">
                    <a:solidFill>
                      <a:srgbClr val="FFFFFF"/>
                    </a:solidFill>
                  </a:tcPr>
                </a:tc>
                <a:tc>
                  <a:txBody>
                    <a:bodyPr/>
                    <a:lstStyle/>
                    <a:p>
                      <a:r>
                        <a:rPr sz="728" b="0">
                          <a:solidFill>
                            <a:srgbClr val="343D42"/>
                          </a:solidFill>
                          <a:latin typeface="Arial"/>
                          <a:ea typeface="Arial"/>
                          <a:cs typeface="Arial"/>
                        </a:rPr>
                        <a:t>128,396</a:t>
                      </a:r>
                    </a:p>
                  </a:txBody>
                  <a:tcPr marL="47625" marR="47625" marT="19050" marB="19050" anchor="ctr">
                    <a:solidFill>
                      <a:srgbClr val="FFFFFF"/>
                    </a:solidFill>
                  </a:tcPr>
                </a:tc>
                <a:tc>
                  <a:txBody>
                    <a:bodyPr/>
                    <a:lstStyle/>
                    <a:p>
                      <a:r>
                        <a:rPr sz="728" b="0">
                          <a:solidFill>
                            <a:srgbClr val="343D42"/>
                          </a:solidFill>
                          <a:latin typeface="Arial"/>
                          <a:ea typeface="Arial"/>
                          <a:cs typeface="Arial"/>
                        </a:rPr>
                        <a:t>244,902</a:t>
                      </a:r>
                    </a:p>
                  </a:txBody>
                  <a:tcPr marL="47625" marR="47625" marT="19050" marB="19050" anchor="ctr">
                    <a:solidFill>
                      <a:srgbClr val="FFFFFF"/>
                    </a:solidFill>
                  </a:tcPr>
                </a:tc>
                <a:tc>
                  <a:txBody>
                    <a:bodyPr/>
                    <a:lstStyle/>
                    <a:p>
                      <a:r>
                        <a:rPr sz="728" b="0">
                          <a:solidFill>
                            <a:srgbClr val="343D42"/>
                          </a:solidFill>
                          <a:latin typeface="Arial"/>
                          <a:ea typeface="Arial"/>
                          <a:cs typeface="Arial"/>
                        </a:rPr>
                        <a:t>249,800</a:t>
                      </a:r>
                    </a:p>
                  </a:txBody>
                  <a:tcPr marL="47625" marR="47625" marT="19050" marB="19050" anchor="ctr">
                    <a:solidFill>
                      <a:srgbClr val="FFFFFF"/>
                    </a:solidFill>
                  </a:tcPr>
                </a:tc>
                <a:tc>
                  <a:txBody>
                    <a:bodyPr/>
                    <a:lstStyle/>
                    <a:p>
                      <a:r>
                        <a:rPr sz="728" b="0">
                          <a:solidFill>
                            <a:srgbClr val="343D42"/>
                          </a:solidFill>
                          <a:latin typeface="Arial"/>
                          <a:ea typeface="Arial"/>
                          <a:cs typeface="Arial"/>
                        </a:rPr>
                        <a:t>254,796</a:t>
                      </a:r>
                    </a:p>
                  </a:txBody>
                  <a:tcPr marL="47625" marR="47625" marT="19050" marB="19050" anchor="ctr">
                    <a:solidFill>
                      <a:srgbClr val="FFFFFF"/>
                    </a:solidFill>
                  </a:tcPr>
                </a:tc>
                <a:tc>
                  <a:txBody>
                    <a:bodyPr/>
                    <a:lstStyle/>
                    <a:p>
                      <a:r>
                        <a:rPr sz="728" b="0">
                          <a:solidFill>
                            <a:srgbClr val="343D42"/>
                          </a:solidFill>
                          <a:latin typeface="Arial"/>
                          <a:ea typeface="Arial"/>
                          <a:cs typeface="Arial"/>
                        </a:rPr>
                        <a:t>259,892</a:t>
                      </a:r>
                    </a:p>
                  </a:txBody>
                  <a:tcPr marL="47625" marR="47625" marT="19050" marB="19050" anchor="ctr">
                    <a:solidFill>
                      <a:srgbClr val="FFFFFF"/>
                    </a:solidFill>
                  </a:tcPr>
                </a:tc>
                <a:tc>
                  <a:txBody>
                    <a:bodyPr/>
                    <a:lstStyle/>
                    <a:p>
                      <a:r>
                        <a:rPr sz="728" b="0">
                          <a:solidFill>
                            <a:srgbClr val="343D42"/>
                          </a:solidFill>
                          <a:latin typeface="Arial"/>
                          <a:ea typeface="Arial"/>
                          <a:cs typeface="Arial"/>
                        </a:rPr>
                        <a:t>265,090</a:t>
                      </a:r>
                    </a:p>
                  </a:txBody>
                  <a:tcPr marL="47625" marR="47625" marT="19050" marB="19050" anchor="ctr">
                    <a:solidFill>
                      <a:srgbClr val="FFFFFF"/>
                    </a:solidFill>
                  </a:tcPr>
                </a:tc>
                <a:tc>
                  <a:txBody>
                    <a:bodyPr/>
                    <a:lstStyle/>
                    <a:p>
                      <a:r>
                        <a:rPr sz="728" b="0">
                          <a:solidFill>
                            <a:srgbClr val="343D42"/>
                          </a:solidFill>
                          <a:latin typeface="Arial"/>
                          <a:ea typeface="Arial"/>
                          <a:cs typeface="Arial"/>
                        </a:rPr>
                        <a:t>270,392</a:t>
                      </a:r>
                    </a:p>
                  </a:txBody>
                  <a:tcPr marL="47625" marR="47625" marT="19050" marB="19050" anchor="ctr">
                    <a:solidFill>
                      <a:srgbClr val="FFFFFF"/>
                    </a:solidFill>
                  </a:tcPr>
                </a:tc>
              </a:tr>
              <a:tr h="190881">
                <a:tc>
                  <a:txBody>
                    <a:bodyPr/>
                    <a:lstStyle/>
                    <a:p>
                      <a:r>
                        <a:rPr sz="728" b="0">
                          <a:solidFill>
                            <a:srgbClr val="343D42"/>
                          </a:solidFill>
                          <a:latin typeface="Arial"/>
                          <a:ea typeface="Arial"/>
                          <a:cs typeface="Arial"/>
                        </a:rPr>
                        <a:t>Miscellaneous</a:t>
                      </a:r>
                    </a:p>
                  </a:txBody>
                  <a:tcPr marL="47625" marR="47625" marT="19050" marB="19050" anchor="ctr">
                    <a:solidFill>
                      <a:srgbClr val="F3F5F6"/>
                    </a:solidFill>
                  </a:tcPr>
                </a:tc>
                <a:tc>
                  <a:txBody>
                    <a:bodyPr/>
                    <a:lstStyle/>
                    <a:p>
                      <a:r>
                        <a:rPr sz="728" b="0">
                          <a:solidFill>
                            <a:srgbClr val="343D42"/>
                          </a:solidFill>
                          <a:latin typeface="Arial"/>
                          <a:ea typeface="Arial"/>
                          <a:cs typeface="Arial"/>
                        </a:rPr>
                        <a:t>7,038</a:t>
                      </a:r>
                    </a:p>
                  </a:txBody>
                  <a:tcPr marL="47625" marR="47625" marT="19050" marB="19050" anchor="ctr">
                    <a:solidFill>
                      <a:srgbClr val="F3F5F6"/>
                    </a:solidFill>
                  </a:tcPr>
                </a:tc>
                <a:tc>
                  <a:txBody>
                    <a:bodyPr/>
                    <a:lstStyle/>
                    <a:p>
                      <a:r>
                        <a:rPr sz="728" b="0">
                          <a:solidFill>
                            <a:srgbClr val="343D42"/>
                          </a:solidFill>
                          <a:latin typeface="Arial"/>
                          <a:ea typeface="Arial"/>
                          <a:cs typeface="Arial"/>
                        </a:rPr>
                        <a:t>7,322</a:t>
                      </a:r>
                    </a:p>
                  </a:txBody>
                  <a:tcPr marL="47625" marR="47625" marT="19050" marB="19050" anchor="ctr">
                    <a:solidFill>
                      <a:srgbClr val="F3F5F6"/>
                    </a:solidFill>
                  </a:tcPr>
                </a:tc>
                <a:tc>
                  <a:txBody>
                    <a:bodyPr/>
                    <a:lstStyle/>
                    <a:p>
                      <a:r>
                        <a:rPr sz="728" b="0">
                          <a:solidFill>
                            <a:srgbClr val="343D42"/>
                          </a:solidFill>
                          <a:latin typeface="Arial"/>
                          <a:ea typeface="Arial"/>
                          <a:cs typeface="Arial"/>
                        </a:rPr>
                        <a:t>7,469</a:t>
                      </a:r>
                    </a:p>
                  </a:txBody>
                  <a:tcPr marL="47625" marR="47625" marT="19050" marB="19050" anchor="ctr">
                    <a:solidFill>
                      <a:srgbClr val="F3F5F6"/>
                    </a:solidFill>
                  </a:tcPr>
                </a:tc>
                <a:tc>
                  <a:txBody>
                    <a:bodyPr/>
                    <a:lstStyle/>
                    <a:p>
                      <a:r>
                        <a:rPr sz="728" b="0">
                          <a:solidFill>
                            <a:srgbClr val="343D42"/>
                          </a:solidFill>
                          <a:latin typeface="Arial"/>
                          <a:ea typeface="Arial"/>
                          <a:cs typeface="Arial"/>
                        </a:rPr>
                        <a:t>7,618</a:t>
                      </a:r>
                    </a:p>
                  </a:txBody>
                  <a:tcPr marL="47625" marR="47625" marT="19050" marB="19050" anchor="ctr">
                    <a:solidFill>
                      <a:srgbClr val="F3F5F6"/>
                    </a:solidFill>
                  </a:tcPr>
                </a:tc>
                <a:tc>
                  <a:txBody>
                    <a:bodyPr/>
                    <a:lstStyle/>
                    <a:p>
                      <a:r>
                        <a:rPr sz="728" b="0">
                          <a:solidFill>
                            <a:srgbClr val="343D42"/>
                          </a:solidFill>
                          <a:latin typeface="Arial"/>
                          <a:ea typeface="Arial"/>
                          <a:cs typeface="Arial"/>
                        </a:rPr>
                        <a:t>7,771</a:t>
                      </a:r>
                    </a:p>
                  </a:txBody>
                  <a:tcPr marL="47625" marR="47625" marT="19050" marB="19050" anchor="ctr">
                    <a:solidFill>
                      <a:srgbClr val="F3F5F6"/>
                    </a:solidFill>
                  </a:tcPr>
                </a:tc>
                <a:tc>
                  <a:txBody>
                    <a:bodyPr/>
                    <a:lstStyle/>
                    <a:p>
                      <a:r>
                        <a:rPr sz="728" b="0">
                          <a:solidFill>
                            <a:srgbClr val="343D42"/>
                          </a:solidFill>
                          <a:latin typeface="Arial"/>
                          <a:ea typeface="Arial"/>
                          <a:cs typeface="Arial"/>
                        </a:rPr>
                        <a:t>7,926</a:t>
                      </a:r>
                    </a:p>
                  </a:txBody>
                  <a:tcPr marL="47625" marR="47625" marT="19050" marB="19050" anchor="ctr">
                    <a:solidFill>
                      <a:srgbClr val="F3F5F6"/>
                    </a:solidFill>
                  </a:tcPr>
                </a:tc>
                <a:tc>
                  <a:txBody>
                    <a:bodyPr/>
                    <a:lstStyle/>
                    <a:p>
                      <a:r>
                        <a:rPr sz="728" b="0">
                          <a:solidFill>
                            <a:srgbClr val="343D42"/>
                          </a:solidFill>
                          <a:latin typeface="Arial"/>
                          <a:ea typeface="Arial"/>
                          <a:cs typeface="Arial"/>
                        </a:rPr>
                        <a:t>8,085</a:t>
                      </a:r>
                    </a:p>
                  </a:txBody>
                  <a:tcPr marL="47625" marR="47625" marT="19050" marB="19050" anchor="ctr">
                    <a:solidFill>
                      <a:srgbClr val="F3F5F6"/>
                    </a:solidFill>
                  </a:tcPr>
                </a:tc>
              </a:tr>
              <a:tr h="190881">
                <a:tc>
                  <a:txBody>
                    <a:bodyPr/>
                    <a:lstStyle/>
                    <a:p>
                      <a:r>
                        <a:rPr sz="728" b="0">
                          <a:solidFill>
                            <a:srgbClr val="343D42"/>
                          </a:solidFill>
                          <a:latin typeface="Arial"/>
                          <a:ea typeface="Arial"/>
                          <a:cs typeface="Arial"/>
                        </a:rPr>
                        <a:t>Management fee</a:t>
                      </a:r>
                    </a:p>
                  </a:txBody>
                  <a:tcPr marL="47625" marR="47625" marT="19050" marB="19050" anchor="ctr">
                    <a:solidFill>
                      <a:srgbClr val="FFFFFF"/>
                    </a:solidFill>
                  </a:tcPr>
                </a:tc>
                <a:tc>
                  <a:txBody>
                    <a:bodyPr/>
                    <a:lstStyle/>
                    <a:p>
                      <a:r>
                        <a:rPr sz="728" b="0">
                          <a:solidFill>
                            <a:srgbClr val="343D42"/>
                          </a:solidFill>
                          <a:latin typeface="Arial"/>
                          <a:ea typeface="Arial"/>
                          <a:cs typeface="Arial"/>
                        </a:rPr>
                        <a:t>33,686</a:t>
                      </a:r>
                    </a:p>
                  </a:txBody>
                  <a:tcPr marL="47625" marR="47625" marT="19050" marB="19050" anchor="ctr">
                    <a:solidFill>
                      <a:srgbClr val="FFFFFF"/>
                    </a:solidFill>
                  </a:tcPr>
                </a:tc>
                <a:tc>
                  <a:txBody>
                    <a:bodyPr/>
                    <a:lstStyle/>
                    <a:p>
                      <a:r>
                        <a:rPr sz="728" b="0">
                          <a:solidFill>
                            <a:srgbClr val="343D42"/>
                          </a:solidFill>
                          <a:latin typeface="Arial"/>
                          <a:ea typeface="Arial"/>
                          <a:cs typeface="Arial"/>
                        </a:rPr>
                        <a:t>64,253</a:t>
                      </a:r>
                    </a:p>
                  </a:txBody>
                  <a:tcPr marL="47625" marR="47625" marT="19050" marB="19050" anchor="ctr">
                    <a:solidFill>
                      <a:srgbClr val="FFFFFF"/>
                    </a:solidFill>
                  </a:tcPr>
                </a:tc>
                <a:tc>
                  <a:txBody>
                    <a:bodyPr/>
                    <a:lstStyle/>
                    <a:p>
                      <a:r>
                        <a:rPr sz="728" b="0">
                          <a:solidFill>
                            <a:srgbClr val="343D42"/>
                          </a:solidFill>
                          <a:latin typeface="Arial"/>
                          <a:ea typeface="Arial"/>
                          <a:cs typeface="Arial"/>
                        </a:rPr>
                        <a:t>65,538</a:t>
                      </a:r>
                    </a:p>
                  </a:txBody>
                  <a:tcPr marL="47625" marR="47625" marT="19050" marB="19050" anchor="ctr">
                    <a:solidFill>
                      <a:srgbClr val="FFFFFF"/>
                    </a:solidFill>
                  </a:tcPr>
                </a:tc>
                <a:tc>
                  <a:txBody>
                    <a:bodyPr/>
                    <a:lstStyle/>
                    <a:p>
                      <a:r>
                        <a:rPr sz="728" b="0">
                          <a:solidFill>
                            <a:srgbClr val="343D42"/>
                          </a:solidFill>
                          <a:latin typeface="Arial"/>
                          <a:ea typeface="Arial"/>
                          <a:cs typeface="Arial"/>
                        </a:rPr>
                        <a:t>66,849</a:t>
                      </a:r>
                    </a:p>
                  </a:txBody>
                  <a:tcPr marL="47625" marR="47625" marT="19050" marB="19050" anchor="ctr">
                    <a:solidFill>
                      <a:srgbClr val="FFFFFF"/>
                    </a:solidFill>
                  </a:tcPr>
                </a:tc>
                <a:tc>
                  <a:txBody>
                    <a:bodyPr/>
                    <a:lstStyle/>
                    <a:p>
                      <a:r>
                        <a:rPr sz="728" b="0">
                          <a:solidFill>
                            <a:srgbClr val="343D42"/>
                          </a:solidFill>
                          <a:latin typeface="Arial"/>
                          <a:ea typeface="Arial"/>
                          <a:cs typeface="Arial"/>
                        </a:rPr>
                        <a:t>68,186</a:t>
                      </a:r>
                    </a:p>
                  </a:txBody>
                  <a:tcPr marL="47625" marR="47625" marT="19050" marB="19050" anchor="ctr">
                    <a:solidFill>
                      <a:srgbClr val="FFFFFF"/>
                    </a:solidFill>
                  </a:tcPr>
                </a:tc>
                <a:tc>
                  <a:txBody>
                    <a:bodyPr/>
                    <a:lstStyle/>
                    <a:p>
                      <a:r>
                        <a:rPr sz="728" b="0">
                          <a:solidFill>
                            <a:srgbClr val="343D42"/>
                          </a:solidFill>
                          <a:latin typeface="Arial"/>
                          <a:ea typeface="Arial"/>
                          <a:cs typeface="Arial"/>
                        </a:rPr>
                        <a:t>69,550</a:t>
                      </a:r>
                    </a:p>
                  </a:txBody>
                  <a:tcPr marL="47625" marR="47625" marT="19050" marB="19050" anchor="ctr">
                    <a:solidFill>
                      <a:srgbClr val="FFFFFF"/>
                    </a:solidFill>
                  </a:tcPr>
                </a:tc>
                <a:tc>
                  <a:txBody>
                    <a:bodyPr/>
                    <a:lstStyle/>
                    <a:p>
                      <a:r>
                        <a:rPr sz="728" b="0">
                          <a:solidFill>
                            <a:srgbClr val="343D42"/>
                          </a:solidFill>
                          <a:latin typeface="Arial"/>
                          <a:ea typeface="Arial"/>
                          <a:cs typeface="Arial"/>
                        </a:rPr>
                        <a:t>70,941</a:t>
                      </a:r>
                    </a:p>
                  </a:txBody>
                  <a:tcPr marL="47625" marR="47625" marT="19050" marB="19050" anchor="ctr">
                    <a:solidFill>
                      <a:srgbClr val="FFFFFF"/>
                    </a:solidFill>
                  </a:tcPr>
                </a:tc>
              </a:tr>
              <a:tr h="190881">
                <a:tc>
                  <a:txBody>
                    <a:bodyPr/>
                    <a:lstStyle/>
                    <a:p>
                      <a:r>
                        <a:rPr sz="728" b="0">
                          <a:solidFill>
                            <a:srgbClr val="343D42"/>
                          </a:solidFill>
                          <a:latin typeface="Arial"/>
                          <a:ea typeface="Arial"/>
                          <a:cs typeface="Arial"/>
                        </a:rPr>
                        <a:t>Total operating expenses</a:t>
                      </a:r>
                    </a:p>
                  </a:txBody>
                  <a:tcPr marL="47625" marR="47625" marT="19050" marB="19050" anchor="ctr">
                    <a:solidFill>
                      <a:srgbClr val="F3F5F6"/>
                    </a:solidFill>
                  </a:tcPr>
                </a:tc>
                <a:tc>
                  <a:txBody>
                    <a:bodyPr/>
                    <a:lstStyle/>
                    <a:p>
                      <a:r>
                        <a:rPr sz="728" b="0">
                          <a:solidFill>
                            <a:srgbClr val="343D42"/>
                          </a:solidFill>
                          <a:latin typeface="Arial"/>
                          <a:ea typeface="Arial"/>
                          <a:cs typeface="Arial"/>
                        </a:rPr>
                        <a:t>536,389</a:t>
                      </a:r>
                    </a:p>
                  </a:txBody>
                  <a:tcPr marL="47625" marR="47625" marT="19050" marB="19050" anchor="ctr">
                    <a:solidFill>
                      <a:srgbClr val="F3F5F6"/>
                    </a:solidFill>
                  </a:tcPr>
                </a:tc>
                <a:tc>
                  <a:txBody>
                    <a:bodyPr/>
                    <a:lstStyle/>
                    <a:p>
                      <a:r>
                        <a:rPr sz="728" b="0">
                          <a:solidFill>
                            <a:srgbClr val="343D42"/>
                          </a:solidFill>
                          <a:latin typeface="Arial"/>
                          <a:ea typeface="Arial"/>
                          <a:cs typeface="Arial"/>
                        </a:rPr>
                        <a:t>1,031,503</a:t>
                      </a:r>
                    </a:p>
                  </a:txBody>
                  <a:tcPr marL="47625" marR="47625" marT="19050" marB="19050" anchor="ctr">
                    <a:solidFill>
                      <a:srgbClr val="F3F5F6"/>
                    </a:solidFill>
                  </a:tcPr>
                </a:tc>
                <a:tc>
                  <a:txBody>
                    <a:bodyPr/>
                    <a:lstStyle/>
                    <a:p>
                      <a:r>
                        <a:rPr sz="728" b="0">
                          <a:solidFill>
                            <a:srgbClr val="343D42"/>
                          </a:solidFill>
                          <a:latin typeface="Arial"/>
                          <a:ea typeface="Arial"/>
                          <a:cs typeface="Arial"/>
                        </a:rPr>
                        <a:t>1,048,870</a:t>
                      </a:r>
                    </a:p>
                  </a:txBody>
                  <a:tcPr marL="47625" marR="47625" marT="19050" marB="19050" anchor="ctr">
                    <a:solidFill>
                      <a:srgbClr val="F3F5F6"/>
                    </a:solidFill>
                  </a:tcPr>
                </a:tc>
                <a:tc>
                  <a:txBody>
                    <a:bodyPr/>
                    <a:lstStyle/>
                    <a:p>
                      <a:r>
                        <a:rPr sz="728" b="0">
                          <a:solidFill>
                            <a:srgbClr val="343D42"/>
                          </a:solidFill>
                          <a:latin typeface="Arial"/>
                          <a:ea typeface="Arial"/>
                          <a:cs typeface="Arial"/>
                        </a:rPr>
                        <a:t>1,066,537</a:t>
                      </a:r>
                    </a:p>
                  </a:txBody>
                  <a:tcPr marL="47625" marR="47625" marT="19050" marB="19050" anchor="ctr">
                    <a:solidFill>
                      <a:srgbClr val="F3F5F6"/>
                    </a:solidFill>
                  </a:tcPr>
                </a:tc>
                <a:tc>
                  <a:txBody>
                    <a:bodyPr/>
                    <a:lstStyle/>
                    <a:p>
                      <a:r>
                        <a:rPr sz="728" b="0">
                          <a:solidFill>
                            <a:srgbClr val="343D42"/>
                          </a:solidFill>
                          <a:latin typeface="Arial"/>
                          <a:ea typeface="Arial"/>
                          <a:cs typeface="Arial"/>
                        </a:rPr>
                        <a:t>1,084,506</a:t>
                      </a:r>
                    </a:p>
                  </a:txBody>
                  <a:tcPr marL="47625" marR="47625" marT="19050" marB="19050" anchor="ctr">
                    <a:solidFill>
                      <a:srgbClr val="F3F5F6"/>
                    </a:solidFill>
                  </a:tcPr>
                </a:tc>
                <a:tc>
                  <a:txBody>
                    <a:bodyPr/>
                    <a:lstStyle/>
                    <a:p>
                      <a:r>
                        <a:rPr sz="728" b="0">
                          <a:solidFill>
                            <a:srgbClr val="343D42"/>
                          </a:solidFill>
                          <a:latin typeface="Arial"/>
                          <a:ea typeface="Arial"/>
                          <a:cs typeface="Arial"/>
                        </a:rPr>
                        <a:t>1,102,788</a:t>
                      </a:r>
                    </a:p>
                  </a:txBody>
                  <a:tcPr marL="47625" marR="47625" marT="19050" marB="19050" anchor="ctr">
                    <a:solidFill>
                      <a:srgbClr val="F3F5F6"/>
                    </a:solidFill>
                  </a:tcPr>
                </a:tc>
                <a:tc>
                  <a:txBody>
                    <a:bodyPr/>
                    <a:lstStyle/>
                    <a:p>
                      <a:r>
                        <a:rPr sz="728" b="0">
                          <a:solidFill>
                            <a:srgbClr val="343D42"/>
                          </a:solidFill>
                          <a:latin typeface="Arial"/>
                          <a:ea typeface="Arial"/>
                          <a:cs typeface="Arial"/>
                        </a:rPr>
                        <a:t>1,121,378</a:t>
                      </a:r>
                    </a:p>
                  </a:txBody>
                  <a:tcPr marL="47625" marR="47625" marT="19050" marB="19050" anchor="ctr">
                    <a:solidFill>
                      <a:srgbClr val="F3F5F6"/>
                    </a:solidFill>
                  </a:tcPr>
                </a:tc>
              </a:tr>
              <a:tr h="190881">
                <a:tc>
                  <a:txBody>
                    <a:bodyPr/>
                    <a:lstStyle/>
                    <a:p>
                      <a:r>
                        <a:rPr sz="728" b="0">
                          <a:solidFill>
                            <a:srgbClr val="343D42"/>
                          </a:solidFill>
                          <a:latin typeface="Arial"/>
                          <a:ea typeface="Arial"/>
                          <a:cs typeface="Arial"/>
                        </a:rPr>
                        <a:t>Operating cash flow</a:t>
                      </a:r>
                    </a:p>
                  </a:txBody>
                  <a:tcPr marL="47625" marR="47625" marT="19050" marB="19050" anchor="ctr">
                    <a:solidFill>
                      <a:srgbClr val="FFFFFF"/>
                    </a:solidFill>
                  </a:tcPr>
                </a:tc>
                <a:tc>
                  <a:txBody>
                    <a:bodyPr/>
                    <a:lstStyle/>
                    <a:p>
                      <a:r>
                        <a:rPr sz="728" b="0">
                          <a:solidFill>
                            <a:srgbClr val="343D42"/>
                          </a:solidFill>
                          <a:latin typeface="Arial"/>
                          <a:ea typeface="Arial"/>
                          <a:cs typeface="Arial"/>
                        </a:rPr>
                        <a:t>924,714</a:t>
                      </a:r>
                    </a:p>
                  </a:txBody>
                  <a:tcPr marL="47625" marR="47625" marT="19050" marB="19050" anchor="ctr">
                    <a:solidFill>
                      <a:srgbClr val="FFFFFF"/>
                    </a:solidFill>
                  </a:tcPr>
                </a:tc>
                <a:tc>
                  <a:txBody>
                    <a:bodyPr/>
                    <a:lstStyle/>
                    <a:p>
                      <a:r>
                        <a:rPr sz="728" b="0">
                          <a:solidFill>
                            <a:srgbClr val="343D42"/>
                          </a:solidFill>
                          <a:latin typeface="Arial"/>
                          <a:ea typeface="Arial"/>
                          <a:cs typeface="Arial"/>
                        </a:rPr>
                        <a:t>1,913,522</a:t>
                      </a:r>
                    </a:p>
                  </a:txBody>
                  <a:tcPr marL="47625" marR="47625" marT="19050" marB="19050" anchor="ctr">
                    <a:solidFill>
                      <a:srgbClr val="FFFFFF"/>
                    </a:solidFill>
                  </a:tcPr>
                </a:tc>
                <a:tc>
                  <a:txBody>
                    <a:bodyPr/>
                    <a:lstStyle/>
                    <a:p>
                      <a:r>
                        <a:rPr sz="728" b="0">
                          <a:solidFill>
                            <a:srgbClr val="343D42"/>
                          </a:solidFill>
                          <a:latin typeface="Arial"/>
                          <a:ea typeface="Arial"/>
                          <a:cs typeface="Arial"/>
                        </a:rPr>
                        <a:t>1,970,217</a:t>
                      </a:r>
                    </a:p>
                  </a:txBody>
                  <a:tcPr marL="47625" marR="47625" marT="19050" marB="19050" anchor="ctr">
                    <a:solidFill>
                      <a:srgbClr val="FFFFFF"/>
                    </a:solidFill>
                  </a:tcPr>
                </a:tc>
                <a:tc>
                  <a:txBody>
                    <a:bodyPr/>
                    <a:lstStyle/>
                    <a:p>
                      <a:r>
                        <a:rPr sz="728" b="0">
                          <a:solidFill>
                            <a:srgbClr val="343D42"/>
                          </a:solidFill>
                          <a:latin typeface="Arial"/>
                          <a:ea typeface="Arial"/>
                          <a:cs typeface="Arial"/>
                        </a:rPr>
                        <a:t>1,988,488</a:t>
                      </a:r>
                    </a:p>
                  </a:txBody>
                  <a:tcPr marL="47625" marR="47625" marT="19050" marB="19050" anchor="ctr">
                    <a:solidFill>
                      <a:srgbClr val="FFFFFF"/>
                    </a:solidFill>
                  </a:tcPr>
                </a:tc>
                <a:tc>
                  <a:txBody>
                    <a:bodyPr/>
                    <a:lstStyle/>
                    <a:p>
                      <a:r>
                        <a:rPr sz="728" b="0">
                          <a:solidFill>
                            <a:srgbClr val="343D42"/>
                          </a:solidFill>
                          <a:latin typeface="Arial"/>
                          <a:ea typeface="Arial"/>
                          <a:cs typeface="Arial"/>
                        </a:rPr>
                        <a:t>1,986,445</a:t>
                      </a:r>
                    </a:p>
                  </a:txBody>
                  <a:tcPr marL="47625" marR="47625" marT="19050" marB="19050" anchor="ctr">
                    <a:solidFill>
                      <a:srgbClr val="FFFFFF"/>
                    </a:solidFill>
                  </a:tcPr>
                </a:tc>
                <a:tc>
                  <a:txBody>
                    <a:bodyPr/>
                    <a:lstStyle/>
                    <a:p>
                      <a:r>
                        <a:rPr sz="728" b="0">
                          <a:solidFill>
                            <a:srgbClr val="343D42"/>
                          </a:solidFill>
                          <a:latin typeface="Arial"/>
                          <a:ea typeface="Arial"/>
                          <a:cs typeface="Arial"/>
                        </a:rPr>
                        <a:t>2,078,888</a:t>
                      </a:r>
                    </a:p>
                  </a:txBody>
                  <a:tcPr marL="47625" marR="47625" marT="19050" marB="19050" anchor="ctr">
                    <a:solidFill>
                      <a:srgbClr val="FFFFFF"/>
                    </a:solidFill>
                  </a:tcPr>
                </a:tc>
                <a:tc>
                  <a:txBody>
                    <a:bodyPr/>
                    <a:lstStyle/>
                    <a:p>
                      <a:r>
                        <a:rPr sz="728" b="0">
                          <a:solidFill>
                            <a:srgbClr val="343D42"/>
                          </a:solidFill>
                          <a:latin typeface="Arial"/>
                          <a:ea typeface="Arial"/>
                          <a:cs typeface="Arial"/>
                        </a:rPr>
                        <a:t>2,202,543</a:t>
                      </a:r>
                    </a:p>
                  </a:txBody>
                  <a:tcPr marL="47625" marR="47625" marT="19050" marB="19050" anchor="ctr">
                    <a:solidFill>
                      <a:srgbClr val="FFFFFF"/>
                    </a:solidFill>
                  </a:tcPr>
                </a:tc>
              </a:tr>
              <a:tr h="190881">
                <a:tc>
                  <a:txBody>
                    <a:bodyPr/>
                    <a:lstStyle/>
                    <a:p>
                      <a:r>
                        <a:rPr sz="728" b="0">
                          <a:solidFill>
                            <a:srgbClr val="343D42"/>
                          </a:solidFill>
                          <a:latin typeface="Arial"/>
                          <a:ea typeface="Arial"/>
                          <a:cs typeface="Arial"/>
                        </a:rPr>
                        <a:t>NOI yield</a:t>
                      </a:r>
                    </a:p>
                  </a:txBody>
                  <a:tcPr marL="47625" marR="47625" marT="19050" marB="19050" anchor="ctr">
                    <a:solidFill>
                      <a:srgbClr val="F3F5F6"/>
                    </a:solidFill>
                  </a:tcPr>
                </a:tc>
                <a:tc>
                  <a:txBody>
                    <a:bodyPr/>
                    <a:lstStyle/>
                    <a:p>
                      <a:r>
                        <a:rPr sz="728" b="0">
                          <a:solidFill>
                            <a:srgbClr val="343D42"/>
                          </a:solidFill>
                          <a:latin typeface="Arial"/>
                          <a:ea typeface="Arial"/>
                          <a:cs typeface="Arial"/>
                        </a:rPr>
                        <a:t>–</a:t>
                      </a:r>
                    </a:p>
                  </a:txBody>
                  <a:tcPr marL="47625" marR="47625" marT="19050" marB="19050" anchor="ctr">
                    <a:solidFill>
                      <a:srgbClr val="F3F5F6"/>
                    </a:solidFill>
                  </a:tcPr>
                </a:tc>
                <a:tc>
                  <a:txBody>
                    <a:bodyPr/>
                    <a:lstStyle/>
                    <a:p>
                      <a:r>
                        <a:rPr sz="728" b="0">
                          <a:solidFill>
                            <a:srgbClr val="343D42"/>
                          </a:solidFill>
                          <a:latin typeface="Arial"/>
                          <a:ea typeface="Arial"/>
                          <a:cs typeface="Arial"/>
                        </a:rPr>
                        <a:t>9.47%</a:t>
                      </a:r>
                    </a:p>
                  </a:txBody>
                  <a:tcPr marL="47625" marR="47625" marT="19050" marB="19050" anchor="ctr">
                    <a:solidFill>
                      <a:srgbClr val="F3F5F6"/>
                    </a:solidFill>
                  </a:tcPr>
                </a:tc>
                <a:tc>
                  <a:txBody>
                    <a:bodyPr/>
                    <a:lstStyle/>
                    <a:p>
                      <a:r>
                        <a:rPr sz="728" b="0">
                          <a:solidFill>
                            <a:srgbClr val="343D42"/>
                          </a:solidFill>
                          <a:latin typeface="Arial"/>
                          <a:ea typeface="Arial"/>
                          <a:cs typeface="Arial"/>
                        </a:rPr>
                        <a:t>9.75%</a:t>
                      </a:r>
                    </a:p>
                  </a:txBody>
                  <a:tcPr marL="47625" marR="47625" marT="19050" marB="19050" anchor="ctr">
                    <a:solidFill>
                      <a:srgbClr val="F3F5F6"/>
                    </a:solidFill>
                  </a:tcPr>
                </a:tc>
                <a:tc>
                  <a:txBody>
                    <a:bodyPr/>
                    <a:lstStyle/>
                    <a:p>
                      <a:r>
                        <a:rPr sz="728" b="0">
                          <a:solidFill>
                            <a:srgbClr val="343D42"/>
                          </a:solidFill>
                          <a:latin typeface="Arial"/>
                          <a:ea typeface="Arial"/>
                          <a:cs typeface="Arial"/>
                        </a:rPr>
                        <a:t>9.84%</a:t>
                      </a:r>
                    </a:p>
                  </a:txBody>
                  <a:tcPr marL="47625" marR="47625" marT="19050" marB="19050" anchor="ctr">
                    <a:solidFill>
                      <a:srgbClr val="F3F5F6"/>
                    </a:solidFill>
                  </a:tcPr>
                </a:tc>
                <a:tc>
                  <a:txBody>
                    <a:bodyPr/>
                    <a:lstStyle/>
                    <a:p>
                      <a:r>
                        <a:rPr sz="728" b="0">
                          <a:solidFill>
                            <a:srgbClr val="343D42"/>
                          </a:solidFill>
                          <a:latin typeface="Arial"/>
                          <a:ea typeface="Arial"/>
                          <a:cs typeface="Arial"/>
                        </a:rPr>
                        <a:t>9.83%</a:t>
                      </a:r>
                    </a:p>
                  </a:txBody>
                  <a:tcPr marL="47625" marR="47625" marT="19050" marB="19050" anchor="ctr">
                    <a:solidFill>
                      <a:srgbClr val="F3F5F6"/>
                    </a:solidFill>
                  </a:tcPr>
                </a:tc>
                <a:tc>
                  <a:txBody>
                    <a:bodyPr/>
                    <a:lstStyle/>
                    <a:p>
                      <a:r>
                        <a:rPr sz="728" b="0">
                          <a:solidFill>
                            <a:srgbClr val="343D42"/>
                          </a:solidFill>
                          <a:latin typeface="Arial"/>
                          <a:ea typeface="Arial"/>
                          <a:cs typeface="Arial"/>
                        </a:rPr>
                        <a:t>10.29%</a:t>
                      </a:r>
                    </a:p>
                  </a:txBody>
                  <a:tcPr marL="47625" marR="47625" marT="19050" marB="19050" anchor="ctr">
                    <a:solidFill>
                      <a:srgbClr val="F3F5F6"/>
                    </a:solidFill>
                  </a:tcPr>
                </a:tc>
                <a:tc>
                  <a:txBody>
                    <a:bodyPr/>
                    <a:lstStyle/>
                    <a:p>
                      <a:r>
                        <a:rPr sz="728" b="0">
                          <a:solidFill>
                            <a:srgbClr val="343D42"/>
                          </a:solidFill>
                          <a:latin typeface="Arial"/>
                          <a:ea typeface="Arial"/>
                          <a:cs typeface="Arial"/>
                        </a:rPr>
                        <a:t>10.90%</a:t>
                      </a:r>
                    </a:p>
                  </a:txBody>
                  <a:tcPr marL="47625" marR="47625" marT="19050" marB="19050" anchor="ctr">
                    <a:solidFill>
                      <a:srgbClr val="F3F5F6"/>
                    </a:solidFill>
                  </a:tcPr>
                </a:tc>
              </a:tr>
              <a:tr h="190881">
                <a:tc>
                  <a:txBody>
                    <a:bodyPr/>
                    <a:lstStyle/>
                    <a:p>
                      <a:r>
                        <a:rPr sz="728" b="0">
                          <a:solidFill>
                            <a:srgbClr val="343D42"/>
                          </a:solidFill>
                          <a:latin typeface="Arial"/>
                          <a:ea typeface="Arial"/>
                          <a:cs typeface="Arial"/>
                        </a:rPr>
                        <a:t>TI &amp; leasing commissions</a:t>
                      </a:r>
                    </a:p>
                  </a:txBody>
                  <a:tcPr marL="47625" marR="47625" marT="19050" marB="19050" anchor="ctr">
                    <a:solidFill>
                      <a:srgbClr val="FFFFFF"/>
                    </a:solidFill>
                  </a:tcPr>
                </a:tc>
                <a:tc>
                  <a:txBody>
                    <a:bodyPr/>
                    <a:lstStyle/>
                    <a:p>
                      <a:r>
                        <a:rPr sz="728" b="0">
                          <a:solidFill>
                            <a:srgbClr val="343D42"/>
                          </a:solidFill>
                          <a:latin typeface="Arial"/>
                          <a:ea typeface="Arial"/>
                          <a:cs typeface="Arial"/>
                        </a:rPr>
                        <a:t>36,000</a:t>
                      </a:r>
                    </a:p>
                  </a:txBody>
                  <a:tcPr marL="47625" marR="47625" marT="19050" marB="19050" anchor="ctr">
                    <a:solidFill>
                      <a:srgbClr val="FFFFFF"/>
                    </a:solidFill>
                  </a:tcPr>
                </a:tc>
                <a:tc>
                  <a:txBody>
                    <a:bodyPr/>
                    <a:lstStyle/>
                    <a:p>
                      <a:r>
                        <a:rPr sz="728" b="0">
                          <a:solidFill>
                            <a:srgbClr val="343D42"/>
                          </a:solidFill>
                          <a:latin typeface="Arial"/>
                          <a:ea typeface="Arial"/>
                          <a:cs typeface="Arial"/>
                        </a:rPr>
                        <a:t>61,320</a:t>
                      </a:r>
                    </a:p>
                  </a:txBody>
                  <a:tcPr marL="47625" marR="47625" marT="19050" marB="19050" anchor="ctr">
                    <a:solidFill>
                      <a:srgbClr val="FFFFFF"/>
                    </a:solidFill>
                  </a:tcPr>
                </a:tc>
                <a:tc>
                  <a:txBody>
                    <a:bodyPr/>
                    <a:lstStyle/>
                    <a:p>
                      <a:r>
                        <a:rPr sz="728" b="0">
                          <a:solidFill>
                            <a:srgbClr val="343D42"/>
                          </a:solidFill>
                          <a:latin typeface="Arial"/>
                          <a:ea typeface="Arial"/>
                          <a:cs typeface="Arial"/>
                        </a:rPr>
                        <a:t>–</a:t>
                      </a:r>
                    </a:p>
                  </a:txBody>
                  <a:tcPr marL="47625" marR="47625" marT="19050" marB="19050" anchor="ctr">
                    <a:solidFill>
                      <a:srgbClr val="FFFFFF"/>
                    </a:solidFill>
                  </a:tcPr>
                </a:tc>
                <a:tc>
                  <a:txBody>
                    <a:bodyPr/>
                    <a:lstStyle/>
                    <a:p>
                      <a:r>
                        <a:rPr sz="728" b="0">
                          <a:solidFill>
                            <a:srgbClr val="343D42"/>
                          </a:solidFill>
                          <a:latin typeface="Arial"/>
                          <a:ea typeface="Arial"/>
                          <a:cs typeface="Arial"/>
                        </a:rPr>
                        <a:t>108,000</a:t>
                      </a:r>
                    </a:p>
                  </a:txBody>
                  <a:tcPr marL="47625" marR="47625" marT="19050" marB="19050" anchor="ctr">
                    <a:solidFill>
                      <a:srgbClr val="FFFFFF"/>
                    </a:solidFill>
                  </a:tcPr>
                </a:tc>
                <a:tc>
                  <a:txBody>
                    <a:bodyPr/>
                    <a:lstStyle/>
                    <a:p>
                      <a:r>
                        <a:rPr sz="728" b="0">
                          <a:solidFill>
                            <a:srgbClr val="343D42"/>
                          </a:solidFill>
                          <a:latin typeface="Arial"/>
                          <a:ea typeface="Arial"/>
                          <a:cs typeface="Arial"/>
                        </a:rPr>
                        <a:t>–</a:t>
                      </a:r>
                    </a:p>
                  </a:txBody>
                  <a:tcPr marL="47625" marR="47625" marT="19050" marB="19050" anchor="ctr">
                    <a:solidFill>
                      <a:srgbClr val="FFFFFF"/>
                    </a:solidFill>
                  </a:tcPr>
                </a:tc>
                <a:tc>
                  <a:txBody>
                    <a:bodyPr/>
                    <a:lstStyle/>
                    <a:p>
                      <a:r>
                        <a:rPr sz="728" b="0">
                          <a:solidFill>
                            <a:srgbClr val="343D42"/>
                          </a:solidFill>
                          <a:latin typeface="Arial"/>
                          <a:ea typeface="Arial"/>
                          <a:cs typeface="Arial"/>
                        </a:rPr>
                        <a:t>351,750</a:t>
                      </a:r>
                    </a:p>
                  </a:txBody>
                  <a:tcPr marL="47625" marR="47625" marT="19050" marB="19050" anchor="ctr">
                    <a:solidFill>
                      <a:srgbClr val="FFFFFF"/>
                    </a:solidFill>
                  </a:tcPr>
                </a:tc>
                <a:tc>
                  <a:txBody>
                    <a:bodyPr/>
                    <a:lstStyle/>
                    <a:p>
                      <a:r>
                        <a:rPr sz="728" b="0">
                          <a:solidFill>
                            <a:srgbClr val="343D42"/>
                          </a:solidFill>
                          <a:latin typeface="Arial"/>
                          <a:ea typeface="Arial"/>
                          <a:cs typeface="Arial"/>
                        </a:rPr>
                        <a:t>210,570</a:t>
                      </a:r>
                    </a:p>
                  </a:txBody>
                  <a:tcPr marL="47625" marR="47625" marT="19050" marB="19050" anchor="ctr">
                    <a:solidFill>
                      <a:srgbClr val="FFFFFF"/>
                    </a:solidFill>
                  </a:tcPr>
                </a:tc>
              </a:tr>
              <a:tr h="190881">
                <a:tc>
                  <a:txBody>
                    <a:bodyPr/>
                    <a:lstStyle/>
                    <a:p>
                      <a:r>
                        <a:rPr sz="728" b="0">
                          <a:solidFill>
                            <a:srgbClr val="343D42"/>
                          </a:solidFill>
                          <a:latin typeface="Arial"/>
                          <a:ea typeface="Arial"/>
                          <a:cs typeface="Arial"/>
                        </a:rPr>
                        <a:t>Debt service</a:t>
                      </a:r>
                    </a:p>
                  </a:txBody>
                  <a:tcPr marL="47625" marR="47625" marT="19050" marB="19050" anchor="ctr">
                    <a:solidFill>
                      <a:srgbClr val="F3F5F6"/>
                    </a:solidFill>
                  </a:tcPr>
                </a:tc>
                <a:tc>
                  <a:txBody>
                    <a:bodyPr/>
                    <a:lstStyle/>
                    <a:p>
                      <a:r>
                        <a:rPr sz="728" b="0">
                          <a:solidFill>
                            <a:srgbClr val="343D42"/>
                          </a:solidFill>
                          <a:latin typeface="Arial"/>
                          <a:ea typeface="Arial"/>
                          <a:cs typeface="Arial"/>
                        </a:rPr>
                        <a:t>574,317</a:t>
                      </a:r>
                    </a:p>
                  </a:txBody>
                  <a:tcPr marL="47625" marR="47625" marT="19050" marB="19050" anchor="ctr">
                    <a:solidFill>
                      <a:srgbClr val="F3F5F6"/>
                    </a:solidFill>
                  </a:tcPr>
                </a:tc>
                <a:tc>
                  <a:txBody>
                    <a:bodyPr/>
                    <a:lstStyle/>
                    <a:p>
                      <a:r>
                        <a:rPr sz="728" b="0">
                          <a:solidFill>
                            <a:srgbClr val="343D42"/>
                          </a:solidFill>
                          <a:latin typeface="Arial"/>
                          <a:ea typeface="Arial"/>
                          <a:cs typeface="Arial"/>
                        </a:rPr>
                        <a:t>1,148,633</a:t>
                      </a:r>
                    </a:p>
                  </a:txBody>
                  <a:tcPr marL="47625" marR="47625" marT="19050" marB="19050" anchor="ctr">
                    <a:solidFill>
                      <a:srgbClr val="F3F5F6"/>
                    </a:solidFill>
                  </a:tcPr>
                </a:tc>
                <a:tc>
                  <a:txBody>
                    <a:bodyPr/>
                    <a:lstStyle/>
                    <a:p>
                      <a:r>
                        <a:rPr sz="728" b="0">
                          <a:solidFill>
                            <a:srgbClr val="343D42"/>
                          </a:solidFill>
                          <a:latin typeface="Arial"/>
                          <a:ea typeface="Arial"/>
                          <a:cs typeface="Arial"/>
                        </a:rPr>
                        <a:t>1,148,633</a:t>
                      </a:r>
                    </a:p>
                  </a:txBody>
                  <a:tcPr marL="47625" marR="47625" marT="19050" marB="19050" anchor="ctr">
                    <a:solidFill>
                      <a:srgbClr val="F3F5F6"/>
                    </a:solidFill>
                  </a:tcPr>
                </a:tc>
                <a:tc>
                  <a:txBody>
                    <a:bodyPr/>
                    <a:lstStyle/>
                    <a:p>
                      <a:r>
                        <a:rPr sz="728" b="0">
                          <a:solidFill>
                            <a:srgbClr val="343D42"/>
                          </a:solidFill>
                          <a:latin typeface="Arial"/>
                          <a:ea typeface="Arial"/>
                          <a:cs typeface="Arial"/>
                        </a:rPr>
                        <a:t>1,148,633</a:t>
                      </a:r>
                    </a:p>
                  </a:txBody>
                  <a:tcPr marL="47625" marR="47625" marT="19050" marB="19050" anchor="ctr">
                    <a:solidFill>
                      <a:srgbClr val="F3F5F6"/>
                    </a:solidFill>
                  </a:tcPr>
                </a:tc>
                <a:tc>
                  <a:txBody>
                    <a:bodyPr/>
                    <a:lstStyle/>
                    <a:p>
                      <a:r>
                        <a:rPr sz="728" b="0">
                          <a:solidFill>
                            <a:srgbClr val="343D42"/>
                          </a:solidFill>
                          <a:latin typeface="Arial"/>
                          <a:ea typeface="Arial"/>
                          <a:cs typeface="Arial"/>
                        </a:rPr>
                        <a:t>1,148,633</a:t>
                      </a:r>
                    </a:p>
                  </a:txBody>
                  <a:tcPr marL="47625" marR="47625" marT="19050" marB="19050" anchor="ctr">
                    <a:solidFill>
                      <a:srgbClr val="F3F5F6"/>
                    </a:solidFill>
                  </a:tcPr>
                </a:tc>
                <a:tc>
                  <a:txBody>
                    <a:bodyPr/>
                    <a:lstStyle/>
                    <a:p>
                      <a:r>
                        <a:rPr sz="728" b="0">
                          <a:solidFill>
                            <a:srgbClr val="343D42"/>
                          </a:solidFill>
                          <a:latin typeface="Arial"/>
                          <a:ea typeface="Arial"/>
                          <a:cs typeface="Arial"/>
                        </a:rPr>
                        <a:t>1,148,633</a:t>
                      </a:r>
                    </a:p>
                  </a:txBody>
                  <a:tcPr marL="47625" marR="47625" marT="19050" marB="19050" anchor="ctr">
                    <a:solidFill>
                      <a:srgbClr val="F3F5F6"/>
                    </a:solidFill>
                  </a:tcPr>
                </a:tc>
                <a:tc>
                  <a:txBody>
                    <a:bodyPr/>
                    <a:lstStyle/>
                    <a:p>
                      <a:r>
                        <a:rPr sz="728" b="0">
                          <a:solidFill>
                            <a:srgbClr val="343D42"/>
                          </a:solidFill>
                          <a:latin typeface="Arial"/>
                          <a:ea typeface="Arial"/>
                          <a:cs typeface="Arial"/>
                        </a:rPr>
                        <a:t>1,148,633</a:t>
                      </a:r>
                    </a:p>
                  </a:txBody>
                  <a:tcPr marL="47625" marR="47625" marT="19050" marB="19050" anchor="ctr">
                    <a:solidFill>
                      <a:srgbClr val="F3F5F6"/>
                    </a:solidFill>
                  </a:tcPr>
                </a:tc>
              </a:tr>
              <a:tr h="190881">
                <a:tc>
                  <a:txBody>
                    <a:bodyPr/>
                    <a:lstStyle/>
                    <a:p>
                      <a:r>
                        <a:rPr sz="728" b="0">
                          <a:solidFill>
                            <a:srgbClr val="343D42"/>
                          </a:solidFill>
                          <a:latin typeface="Arial"/>
                          <a:ea typeface="Arial"/>
                          <a:cs typeface="Arial"/>
                        </a:rPr>
                        <a:t>Senior DSCR</a:t>
                      </a:r>
                    </a:p>
                  </a:txBody>
                  <a:tcPr marL="47625" marR="47625" marT="19050" marB="19050" anchor="ctr">
                    <a:solidFill>
                      <a:srgbClr val="FFFFFF"/>
                    </a:solidFill>
                  </a:tcPr>
                </a:tc>
                <a:tc>
                  <a:txBody>
                    <a:bodyPr/>
                    <a:lstStyle/>
                    <a:p>
                      <a:r>
                        <a:rPr sz="728" b="0">
                          <a:solidFill>
                            <a:srgbClr val="343D42"/>
                          </a:solidFill>
                          <a:latin typeface="Arial"/>
                          <a:ea typeface="Arial"/>
                          <a:cs typeface="Arial"/>
                        </a:rPr>
                        <a:t>1.61x</a:t>
                      </a:r>
                    </a:p>
                  </a:txBody>
                  <a:tcPr marL="47625" marR="47625" marT="19050" marB="19050" anchor="ctr">
                    <a:solidFill>
                      <a:srgbClr val="FFFFFF"/>
                    </a:solidFill>
                  </a:tcPr>
                </a:tc>
                <a:tc>
                  <a:txBody>
                    <a:bodyPr/>
                    <a:lstStyle/>
                    <a:p>
                      <a:r>
                        <a:rPr sz="728" b="0">
                          <a:solidFill>
                            <a:srgbClr val="343D42"/>
                          </a:solidFill>
                          <a:latin typeface="Arial"/>
                          <a:ea typeface="Arial"/>
                          <a:cs typeface="Arial"/>
                        </a:rPr>
                        <a:t>1.67x</a:t>
                      </a:r>
                    </a:p>
                  </a:txBody>
                  <a:tcPr marL="47625" marR="47625" marT="19050" marB="19050" anchor="ctr">
                    <a:solidFill>
                      <a:srgbClr val="FFFFFF"/>
                    </a:solidFill>
                  </a:tcPr>
                </a:tc>
                <a:tc>
                  <a:txBody>
                    <a:bodyPr/>
                    <a:lstStyle/>
                    <a:p>
                      <a:r>
                        <a:rPr sz="728" b="0">
                          <a:solidFill>
                            <a:srgbClr val="343D42"/>
                          </a:solidFill>
                          <a:latin typeface="Arial"/>
                          <a:ea typeface="Arial"/>
                          <a:cs typeface="Arial"/>
                        </a:rPr>
                        <a:t>1.72x</a:t>
                      </a:r>
                    </a:p>
                  </a:txBody>
                  <a:tcPr marL="47625" marR="47625" marT="19050" marB="19050" anchor="ctr">
                    <a:solidFill>
                      <a:srgbClr val="FFFFFF"/>
                    </a:solidFill>
                  </a:tcPr>
                </a:tc>
                <a:tc>
                  <a:txBody>
                    <a:bodyPr/>
                    <a:lstStyle/>
                    <a:p>
                      <a:r>
                        <a:rPr sz="728" b="0">
                          <a:solidFill>
                            <a:srgbClr val="343D42"/>
                          </a:solidFill>
                          <a:latin typeface="Arial"/>
                          <a:ea typeface="Arial"/>
                          <a:cs typeface="Arial"/>
                        </a:rPr>
                        <a:t>1.73x</a:t>
                      </a:r>
                    </a:p>
                  </a:txBody>
                  <a:tcPr marL="47625" marR="47625" marT="19050" marB="19050" anchor="ctr">
                    <a:solidFill>
                      <a:srgbClr val="FFFFFF"/>
                    </a:solidFill>
                  </a:tcPr>
                </a:tc>
                <a:tc>
                  <a:txBody>
                    <a:bodyPr/>
                    <a:lstStyle/>
                    <a:p>
                      <a:r>
                        <a:rPr sz="728" b="0">
                          <a:solidFill>
                            <a:srgbClr val="343D42"/>
                          </a:solidFill>
                          <a:latin typeface="Arial"/>
                          <a:ea typeface="Arial"/>
                          <a:cs typeface="Arial"/>
                        </a:rPr>
                        <a:t>1.73x</a:t>
                      </a:r>
                    </a:p>
                  </a:txBody>
                  <a:tcPr marL="47625" marR="47625" marT="19050" marB="19050" anchor="ctr">
                    <a:solidFill>
                      <a:srgbClr val="FFFFFF"/>
                    </a:solidFill>
                  </a:tcPr>
                </a:tc>
                <a:tc>
                  <a:txBody>
                    <a:bodyPr/>
                    <a:lstStyle/>
                    <a:p>
                      <a:r>
                        <a:rPr sz="728" b="0">
                          <a:solidFill>
                            <a:srgbClr val="343D42"/>
                          </a:solidFill>
                          <a:latin typeface="Arial"/>
                          <a:ea typeface="Arial"/>
                          <a:cs typeface="Arial"/>
                        </a:rPr>
                        <a:t>1.81x</a:t>
                      </a:r>
                    </a:p>
                  </a:txBody>
                  <a:tcPr marL="47625" marR="47625" marT="19050" marB="19050" anchor="ctr">
                    <a:solidFill>
                      <a:srgbClr val="FFFFFF"/>
                    </a:solidFill>
                  </a:tcPr>
                </a:tc>
                <a:tc>
                  <a:txBody>
                    <a:bodyPr/>
                    <a:lstStyle/>
                    <a:p>
                      <a:r>
                        <a:rPr sz="728" b="0">
                          <a:solidFill>
                            <a:srgbClr val="343D42"/>
                          </a:solidFill>
                          <a:latin typeface="Arial"/>
                          <a:ea typeface="Arial"/>
                          <a:cs typeface="Arial"/>
                        </a:rPr>
                        <a:t>1.92x</a:t>
                      </a:r>
                    </a:p>
                  </a:txBody>
                  <a:tcPr marL="47625" marR="47625" marT="19050" marB="19050" anchor="ctr">
                    <a:solidFill>
                      <a:srgbClr val="FFFFFF"/>
                    </a:solidFill>
                  </a:tcPr>
                </a:tc>
              </a:tr>
              <a:tr h="190881">
                <a:tc>
                  <a:txBody>
                    <a:bodyPr/>
                    <a:lstStyle/>
                    <a:p>
                      <a:r>
                        <a:rPr sz="728" b="0">
                          <a:solidFill>
                            <a:srgbClr val="343D42"/>
                          </a:solidFill>
                          <a:latin typeface="Arial"/>
                          <a:ea typeface="Arial"/>
                          <a:cs typeface="Arial"/>
                        </a:rPr>
                        <a:t>Levered FCFE</a:t>
                      </a:r>
                    </a:p>
                  </a:txBody>
                  <a:tcPr marL="47625" marR="47625" marT="19050" marB="19050" anchor="ctr">
                    <a:solidFill>
                      <a:srgbClr val="F3F5F6"/>
                    </a:solidFill>
                  </a:tcPr>
                </a:tc>
                <a:tc>
                  <a:txBody>
                    <a:bodyPr/>
                    <a:lstStyle/>
                    <a:p>
                      <a:r>
                        <a:rPr sz="728" b="0">
                          <a:solidFill>
                            <a:srgbClr val="343D42"/>
                          </a:solidFill>
                          <a:latin typeface="Arial"/>
                          <a:ea typeface="Arial"/>
                          <a:cs typeface="Arial"/>
                        </a:rPr>
                        <a:t>314,397</a:t>
                      </a:r>
                    </a:p>
                  </a:txBody>
                  <a:tcPr marL="47625" marR="47625" marT="19050" marB="19050" anchor="ctr">
                    <a:solidFill>
                      <a:srgbClr val="F3F5F6"/>
                    </a:solidFill>
                  </a:tcPr>
                </a:tc>
                <a:tc>
                  <a:txBody>
                    <a:bodyPr/>
                    <a:lstStyle/>
                    <a:p>
                      <a:r>
                        <a:rPr sz="728" b="0">
                          <a:solidFill>
                            <a:srgbClr val="343D42"/>
                          </a:solidFill>
                          <a:latin typeface="Arial"/>
                          <a:ea typeface="Arial"/>
                          <a:cs typeface="Arial"/>
                        </a:rPr>
                        <a:t>703,569</a:t>
                      </a:r>
                    </a:p>
                  </a:txBody>
                  <a:tcPr marL="47625" marR="47625" marT="19050" marB="19050" anchor="ctr">
                    <a:solidFill>
                      <a:srgbClr val="F3F5F6"/>
                    </a:solidFill>
                  </a:tcPr>
                </a:tc>
                <a:tc>
                  <a:txBody>
                    <a:bodyPr/>
                    <a:lstStyle/>
                    <a:p>
                      <a:r>
                        <a:rPr sz="728" b="0">
                          <a:solidFill>
                            <a:srgbClr val="343D42"/>
                          </a:solidFill>
                          <a:latin typeface="Arial"/>
                          <a:ea typeface="Arial"/>
                          <a:cs typeface="Arial"/>
                        </a:rPr>
                        <a:t>821,584</a:t>
                      </a:r>
                    </a:p>
                  </a:txBody>
                  <a:tcPr marL="47625" marR="47625" marT="19050" marB="19050" anchor="ctr">
                    <a:solidFill>
                      <a:srgbClr val="F3F5F6"/>
                    </a:solidFill>
                  </a:tcPr>
                </a:tc>
                <a:tc>
                  <a:txBody>
                    <a:bodyPr/>
                    <a:lstStyle/>
                    <a:p>
                      <a:r>
                        <a:rPr sz="728" b="0">
                          <a:solidFill>
                            <a:srgbClr val="343D42"/>
                          </a:solidFill>
                          <a:latin typeface="Arial"/>
                          <a:ea typeface="Arial"/>
                          <a:cs typeface="Arial"/>
                        </a:rPr>
                        <a:t>731,855</a:t>
                      </a:r>
                    </a:p>
                  </a:txBody>
                  <a:tcPr marL="47625" marR="47625" marT="19050" marB="19050" anchor="ctr">
                    <a:solidFill>
                      <a:srgbClr val="F3F5F6"/>
                    </a:solidFill>
                  </a:tcPr>
                </a:tc>
                <a:tc>
                  <a:txBody>
                    <a:bodyPr/>
                    <a:lstStyle/>
                    <a:p>
                      <a:r>
                        <a:rPr sz="728" b="0">
                          <a:solidFill>
                            <a:srgbClr val="343D42"/>
                          </a:solidFill>
                          <a:latin typeface="Arial"/>
                          <a:ea typeface="Arial"/>
                          <a:cs typeface="Arial"/>
                        </a:rPr>
                        <a:t>837,812</a:t>
                      </a:r>
                    </a:p>
                  </a:txBody>
                  <a:tcPr marL="47625" marR="47625" marT="19050" marB="19050" anchor="ctr">
                    <a:solidFill>
                      <a:srgbClr val="F3F5F6"/>
                    </a:solidFill>
                  </a:tcPr>
                </a:tc>
                <a:tc>
                  <a:txBody>
                    <a:bodyPr/>
                    <a:lstStyle/>
                    <a:p>
                      <a:r>
                        <a:rPr sz="728" b="0">
                          <a:solidFill>
                            <a:srgbClr val="343D42"/>
                          </a:solidFill>
                          <a:latin typeface="Arial"/>
                          <a:ea typeface="Arial"/>
                          <a:cs typeface="Arial"/>
                        </a:rPr>
                        <a:t>578,505</a:t>
                      </a:r>
                    </a:p>
                  </a:txBody>
                  <a:tcPr marL="47625" marR="47625" marT="19050" marB="19050" anchor="ctr">
                    <a:solidFill>
                      <a:srgbClr val="F3F5F6"/>
                    </a:solidFill>
                  </a:tcPr>
                </a:tc>
                <a:tc>
                  <a:txBody>
                    <a:bodyPr/>
                    <a:lstStyle/>
                    <a:p>
                      <a:r>
                        <a:rPr sz="728" b="0">
                          <a:solidFill>
                            <a:srgbClr val="343D42"/>
                          </a:solidFill>
                          <a:latin typeface="Arial"/>
                          <a:ea typeface="Arial"/>
                          <a:cs typeface="Arial"/>
                        </a:rPr>
                        <a:t>843,340</a:t>
                      </a:r>
                    </a:p>
                  </a:txBody>
                  <a:tcPr marL="47625" marR="47625" marT="19050" marB="19050" anchor="ctr">
                    <a:solidFill>
                      <a:srgbClr val="F3F5F6"/>
                    </a:solidFill>
                  </a:tcPr>
                </a:tc>
              </a:tr>
              <a:tr h="190881">
                <a:tc>
                  <a:txBody>
                    <a:bodyPr/>
                    <a:lstStyle/>
                    <a:p>
                      <a:r>
                        <a:rPr sz="728" b="0">
                          <a:solidFill>
                            <a:srgbClr val="343D42"/>
                          </a:solidFill>
                          <a:latin typeface="Arial"/>
                          <a:ea typeface="Arial"/>
                          <a:cs typeface="Arial"/>
                        </a:rPr>
                        <a:t>Levered FCFE yield</a:t>
                      </a:r>
                    </a:p>
                  </a:txBody>
                  <a:tcPr marL="47625" marR="47625" marT="19050" marB="19050" anchor="ctr">
                    <a:solidFill>
                      <a:srgbClr val="FFFFFF"/>
                    </a:solidFill>
                  </a:tcPr>
                </a:tc>
                <a:tc>
                  <a:txBody>
                    <a:bodyPr/>
                    <a:lstStyle/>
                    <a:p>
                      <a:r>
                        <a:rPr sz="728" b="0">
                          <a:solidFill>
                            <a:srgbClr val="343D42"/>
                          </a:solidFill>
                          <a:latin typeface="Arial"/>
                          <a:ea typeface="Arial"/>
                          <a:cs typeface="Arial"/>
                        </a:rPr>
                        <a:t>n.a.</a:t>
                      </a:r>
                    </a:p>
                  </a:txBody>
                  <a:tcPr marL="47625" marR="47625" marT="19050" marB="19050" anchor="ctr">
                    <a:solidFill>
                      <a:srgbClr val="FFFFFF"/>
                    </a:solidFill>
                  </a:tcPr>
                </a:tc>
                <a:tc>
                  <a:txBody>
                    <a:bodyPr/>
                    <a:lstStyle/>
                    <a:p>
                      <a:r>
                        <a:rPr sz="728" b="0">
                          <a:solidFill>
                            <a:srgbClr val="343D42"/>
                          </a:solidFill>
                          <a:latin typeface="Arial"/>
                          <a:ea typeface="Arial"/>
                          <a:cs typeface="Arial"/>
                        </a:rPr>
                        <a:t>10.9%</a:t>
                      </a:r>
                    </a:p>
                  </a:txBody>
                  <a:tcPr marL="47625" marR="47625" marT="19050" marB="19050" anchor="ctr">
                    <a:solidFill>
                      <a:srgbClr val="FFFFFF"/>
                    </a:solidFill>
                  </a:tcPr>
                </a:tc>
                <a:tc>
                  <a:txBody>
                    <a:bodyPr/>
                    <a:lstStyle/>
                    <a:p>
                      <a:r>
                        <a:rPr sz="728" b="0">
                          <a:solidFill>
                            <a:srgbClr val="343D42"/>
                          </a:solidFill>
                          <a:latin typeface="Arial"/>
                          <a:ea typeface="Arial"/>
                          <a:cs typeface="Arial"/>
                        </a:rPr>
                        <a:t>12.7%</a:t>
                      </a:r>
                    </a:p>
                  </a:txBody>
                  <a:tcPr marL="47625" marR="47625" marT="19050" marB="19050" anchor="ctr">
                    <a:solidFill>
                      <a:srgbClr val="FFFFFF"/>
                    </a:solidFill>
                  </a:tcPr>
                </a:tc>
                <a:tc>
                  <a:txBody>
                    <a:bodyPr/>
                    <a:lstStyle/>
                    <a:p>
                      <a:r>
                        <a:rPr sz="728" b="0">
                          <a:solidFill>
                            <a:srgbClr val="343D42"/>
                          </a:solidFill>
                          <a:latin typeface="Arial"/>
                          <a:ea typeface="Arial"/>
                          <a:cs typeface="Arial"/>
                        </a:rPr>
                        <a:t>12.0%</a:t>
                      </a:r>
                    </a:p>
                  </a:txBody>
                  <a:tcPr marL="47625" marR="47625" marT="19050" marB="19050" anchor="ctr">
                    <a:solidFill>
                      <a:srgbClr val="FFFFFF"/>
                    </a:solidFill>
                  </a:tcPr>
                </a:tc>
                <a:tc>
                  <a:txBody>
                    <a:bodyPr/>
                    <a:lstStyle/>
                    <a:p>
                      <a:r>
                        <a:rPr sz="728" b="0">
                          <a:solidFill>
                            <a:srgbClr val="343D42"/>
                          </a:solidFill>
                          <a:latin typeface="Arial"/>
                          <a:ea typeface="Arial"/>
                          <a:cs typeface="Arial"/>
                        </a:rPr>
                        <a:t>13.7%</a:t>
                      </a:r>
                    </a:p>
                  </a:txBody>
                  <a:tcPr marL="47625" marR="47625" marT="19050" marB="19050" anchor="ctr">
                    <a:solidFill>
                      <a:srgbClr val="FFFFFF"/>
                    </a:solidFill>
                  </a:tcPr>
                </a:tc>
                <a:tc>
                  <a:txBody>
                    <a:bodyPr/>
                    <a:lstStyle/>
                    <a:p>
                      <a:r>
                        <a:rPr sz="728" b="0">
                          <a:solidFill>
                            <a:srgbClr val="343D42"/>
                          </a:solidFill>
                          <a:latin typeface="Arial"/>
                          <a:ea typeface="Arial"/>
                          <a:cs typeface="Arial"/>
                        </a:rPr>
                        <a:t>9.5%</a:t>
                      </a:r>
                    </a:p>
                  </a:txBody>
                  <a:tcPr marL="47625" marR="47625" marT="19050" marB="19050" anchor="ctr">
                    <a:solidFill>
                      <a:srgbClr val="FFFFFF"/>
                    </a:solidFill>
                  </a:tcPr>
                </a:tc>
                <a:tc>
                  <a:txBody>
                    <a:bodyPr/>
                    <a:lstStyle/>
                    <a:p>
                      <a:r>
                        <a:rPr sz="728" b="0">
                          <a:solidFill>
                            <a:srgbClr val="343D42"/>
                          </a:solidFill>
                          <a:latin typeface="Arial"/>
                          <a:ea typeface="Arial"/>
                          <a:cs typeface="Arial"/>
                        </a:rPr>
                        <a:t>13.8%</a:t>
                      </a:r>
                    </a:p>
                  </a:txBody>
                  <a:tcPr marL="47625" marR="47625" marT="19050" marB="19050" anchor="ctr">
                    <a:solidFill>
                      <a:srgbClr val="FFFFFF"/>
                    </a:solidFill>
                  </a:tcPr>
                </a:tc>
              </a:tr>
              <a:tr h="190881">
                <a:tc>
                  <a:txBody>
                    <a:bodyPr/>
                    <a:lstStyle/>
                    <a:p>
                      <a:r>
                        <a:rPr sz="728" b="0">
                          <a:solidFill>
                            <a:srgbClr val="343D42"/>
                          </a:solidFill>
                          <a:latin typeface="Arial"/>
                          <a:ea typeface="Arial"/>
                          <a:cs typeface="Arial"/>
                        </a:rPr>
                        <a:t>LP preferred return</a:t>
                      </a:r>
                    </a:p>
                  </a:txBody>
                  <a:tcPr marL="47625" marR="47625" marT="19050" marB="19050" anchor="ctr">
                    <a:solidFill>
                      <a:srgbClr val="F3F5F6"/>
                    </a:solidFill>
                  </a:tcPr>
                </a:tc>
                <a:tc>
                  <a:txBody>
                    <a:bodyPr/>
                    <a:lstStyle/>
                    <a:p>
                      <a:r>
                        <a:rPr sz="728" b="0">
                          <a:solidFill>
                            <a:srgbClr val="343D42"/>
                          </a:solidFill>
                          <a:latin typeface="Arial"/>
                          <a:ea typeface="Arial"/>
                          <a:cs typeface="Arial"/>
                        </a:rPr>
                        <a:t>258,000</a:t>
                      </a:r>
                    </a:p>
                  </a:txBody>
                  <a:tcPr marL="47625" marR="47625" marT="19050" marB="19050" anchor="ctr">
                    <a:solidFill>
                      <a:srgbClr val="F3F5F6"/>
                    </a:solidFill>
                  </a:tcPr>
                </a:tc>
                <a:tc>
                  <a:txBody>
                    <a:bodyPr/>
                    <a:lstStyle/>
                    <a:p>
                      <a:r>
                        <a:rPr sz="728" b="0">
                          <a:solidFill>
                            <a:srgbClr val="343D42"/>
                          </a:solidFill>
                          <a:latin typeface="Arial"/>
                          <a:ea typeface="Arial"/>
                          <a:cs typeface="Arial"/>
                        </a:rPr>
                        <a:t>516,000</a:t>
                      </a:r>
                    </a:p>
                  </a:txBody>
                  <a:tcPr marL="47625" marR="47625" marT="19050" marB="19050" anchor="ctr">
                    <a:solidFill>
                      <a:srgbClr val="F3F5F6"/>
                    </a:solidFill>
                  </a:tcPr>
                </a:tc>
                <a:tc>
                  <a:txBody>
                    <a:bodyPr/>
                    <a:lstStyle/>
                    <a:p>
                      <a:r>
                        <a:rPr sz="728" b="0">
                          <a:solidFill>
                            <a:srgbClr val="343D42"/>
                          </a:solidFill>
                          <a:latin typeface="Arial"/>
                          <a:ea typeface="Arial"/>
                          <a:cs typeface="Arial"/>
                        </a:rPr>
                        <a:t>516,000</a:t>
                      </a:r>
                    </a:p>
                  </a:txBody>
                  <a:tcPr marL="47625" marR="47625" marT="19050" marB="19050" anchor="ctr">
                    <a:solidFill>
                      <a:srgbClr val="F3F5F6"/>
                    </a:solidFill>
                  </a:tcPr>
                </a:tc>
                <a:tc>
                  <a:txBody>
                    <a:bodyPr/>
                    <a:lstStyle/>
                    <a:p>
                      <a:r>
                        <a:rPr sz="728" b="0">
                          <a:solidFill>
                            <a:srgbClr val="343D42"/>
                          </a:solidFill>
                          <a:latin typeface="Arial"/>
                          <a:ea typeface="Arial"/>
                          <a:cs typeface="Arial"/>
                        </a:rPr>
                        <a:t>516,000</a:t>
                      </a:r>
                    </a:p>
                  </a:txBody>
                  <a:tcPr marL="47625" marR="47625" marT="19050" marB="19050" anchor="ctr">
                    <a:solidFill>
                      <a:srgbClr val="F3F5F6"/>
                    </a:solidFill>
                  </a:tcPr>
                </a:tc>
                <a:tc>
                  <a:txBody>
                    <a:bodyPr/>
                    <a:lstStyle/>
                    <a:p>
                      <a:r>
                        <a:rPr sz="728" b="0">
                          <a:solidFill>
                            <a:srgbClr val="343D42"/>
                          </a:solidFill>
                          <a:latin typeface="Arial"/>
                          <a:ea typeface="Arial"/>
                          <a:cs typeface="Arial"/>
                        </a:rPr>
                        <a:t>516,000</a:t>
                      </a:r>
                    </a:p>
                  </a:txBody>
                  <a:tcPr marL="47625" marR="47625" marT="19050" marB="19050" anchor="ctr">
                    <a:solidFill>
                      <a:srgbClr val="F3F5F6"/>
                    </a:solidFill>
                  </a:tcPr>
                </a:tc>
                <a:tc>
                  <a:txBody>
                    <a:bodyPr/>
                    <a:lstStyle/>
                    <a:p>
                      <a:r>
                        <a:rPr sz="728" b="0">
                          <a:solidFill>
                            <a:srgbClr val="343D42"/>
                          </a:solidFill>
                          <a:latin typeface="Arial"/>
                          <a:ea typeface="Arial"/>
                          <a:cs typeface="Arial"/>
                        </a:rPr>
                        <a:t>516,000</a:t>
                      </a:r>
                    </a:p>
                  </a:txBody>
                  <a:tcPr marL="47625" marR="47625" marT="19050" marB="19050" anchor="ctr">
                    <a:solidFill>
                      <a:srgbClr val="F3F5F6"/>
                    </a:solidFill>
                  </a:tcPr>
                </a:tc>
                <a:tc>
                  <a:txBody>
                    <a:bodyPr/>
                    <a:lstStyle/>
                    <a:p>
                      <a:r>
                        <a:rPr sz="728" b="0">
                          <a:solidFill>
                            <a:srgbClr val="343D42"/>
                          </a:solidFill>
                          <a:latin typeface="Arial"/>
                          <a:ea typeface="Arial"/>
                          <a:cs typeface="Arial"/>
                        </a:rPr>
                        <a:t>516,000</a:t>
                      </a:r>
                    </a:p>
                  </a:txBody>
                  <a:tcPr marL="47625" marR="47625" marT="19050" marB="19050" anchor="ctr">
                    <a:solidFill>
                      <a:srgbClr val="F3F5F6"/>
                    </a:solidFill>
                  </a:tcPr>
                </a:tc>
              </a:tr>
              <a:tr h="190881">
                <a:tc>
                  <a:txBody>
                    <a:bodyPr/>
                    <a:lstStyle/>
                    <a:p>
                      <a:r>
                        <a:rPr sz="728" b="0">
                          <a:solidFill>
                            <a:srgbClr val="343D42"/>
                          </a:solidFill>
                          <a:latin typeface="Arial"/>
                          <a:ea typeface="Arial"/>
                          <a:cs typeface="Arial"/>
                        </a:rPr>
                        <a:t>Capex</a:t>
                      </a:r>
                    </a:p>
                  </a:txBody>
                  <a:tcPr marL="47625" marR="47625" marT="19050" marB="19050" anchor="ctr">
                    <a:solidFill>
                      <a:srgbClr val="FFFFFF"/>
                    </a:solidFill>
                  </a:tcPr>
                </a:tc>
                <a:tc>
                  <a:txBody>
                    <a:bodyPr/>
                    <a:lstStyle/>
                    <a:p>
                      <a:r>
                        <a:rPr sz="728" b="0">
                          <a:solidFill>
                            <a:srgbClr val="343D42"/>
                          </a:solidFill>
                          <a:latin typeface="Arial"/>
                          <a:ea typeface="Arial"/>
                          <a:cs typeface="Arial"/>
                        </a:rPr>
                        <a:t>28,168</a:t>
                      </a:r>
                    </a:p>
                  </a:txBody>
                  <a:tcPr marL="47625" marR="47625" marT="19050" marB="19050" anchor="ctr">
                    <a:solidFill>
                      <a:srgbClr val="FFFFFF"/>
                    </a:solidFill>
                  </a:tcPr>
                </a:tc>
                <a:tc>
                  <a:txBody>
                    <a:bodyPr/>
                    <a:lstStyle/>
                    <a:p>
                      <a:r>
                        <a:rPr sz="728" b="0">
                          <a:solidFill>
                            <a:srgbClr val="343D42"/>
                          </a:solidFill>
                          <a:latin typeface="Arial"/>
                          <a:ea typeface="Arial"/>
                          <a:cs typeface="Arial"/>
                        </a:rPr>
                        <a:t>29,013</a:t>
                      </a:r>
                    </a:p>
                  </a:txBody>
                  <a:tcPr marL="47625" marR="47625" marT="19050" marB="19050" anchor="ctr">
                    <a:solidFill>
                      <a:srgbClr val="FFFFFF"/>
                    </a:solidFill>
                  </a:tcPr>
                </a:tc>
                <a:tc>
                  <a:txBody>
                    <a:bodyPr/>
                    <a:lstStyle/>
                    <a:p>
                      <a:r>
                        <a:rPr sz="728" b="0">
                          <a:solidFill>
                            <a:srgbClr val="343D42"/>
                          </a:solidFill>
                          <a:latin typeface="Arial"/>
                          <a:ea typeface="Arial"/>
                          <a:cs typeface="Arial"/>
                        </a:rPr>
                        <a:t>29,883</a:t>
                      </a:r>
                    </a:p>
                  </a:txBody>
                  <a:tcPr marL="47625" marR="47625" marT="19050" marB="19050" anchor="ctr">
                    <a:solidFill>
                      <a:srgbClr val="FFFFFF"/>
                    </a:solidFill>
                  </a:tcPr>
                </a:tc>
                <a:tc>
                  <a:txBody>
                    <a:bodyPr/>
                    <a:lstStyle/>
                    <a:p>
                      <a:r>
                        <a:rPr sz="728" b="0">
                          <a:solidFill>
                            <a:srgbClr val="343D42"/>
                          </a:solidFill>
                          <a:latin typeface="Arial"/>
                          <a:ea typeface="Arial"/>
                          <a:cs typeface="Arial"/>
                        </a:rPr>
                        <a:t>30,780</a:t>
                      </a:r>
                    </a:p>
                  </a:txBody>
                  <a:tcPr marL="47625" marR="47625" marT="19050" marB="19050" anchor="ctr">
                    <a:solidFill>
                      <a:srgbClr val="FFFFFF"/>
                    </a:solidFill>
                  </a:tcPr>
                </a:tc>
                <a:tc>
                  <a:txBody>
                    <a:bodyPr/>
                    <a:lstStyle/>
                    <a:p>
                      <a:r>
                        <a:rPr sz="728" b="0">
                          <a:solidFill>
                            <a:srgbClr val="343D42"/>
                          </a:solidFill>
                          <a:latin typeface="Arial"/>
                          <a:ea typeface="Arial"/>
                          <a:cs typeface="Arial"/>
                        </a:rPr>
                        <a:t>31,703</a:t>
                      </a:r>
                    </a:p>
                  </a:txBody>
                  <a:tcPr marL="47625" marR="47625" marT="19050" marB="19050" anchor="ctr">
                    <a:solidFill>
                      <a:srgbClr val="FFFFFF"/>
                    </a:solidFill>
                  </a:tcPr>
                </a:tc>
                <a:tc>
                  <a:txBody>
                    <a:bodyPr/>
                    <a:lstStyle/>
                    <a:p>
                      <a:r>
                        <a:rPr sz="728" b="0">
                          <a:solidFill>
                            <a:srgbClr val="343D42"/>
                          </a:solidFill>
                          <a:latin typeface="Arial"/>
                          <a:ea typeface="Arial"/>
                          <a:cs typeface="Arial"/>
                        </a:rPr>
                        <a:t>32,654</a:t>
                      </a:r>
                    </a:p>
                  </a:txBody>
                  <a:tcPr marL="47625" marR="47625" marT="19050" marB="19050" anchor="ctr">
                    <a:solidFill>
                      <a:srgbClr val="FFFFFF"/>
                    </a:solidFill>
                  </a:tcPr>
                </a:tc>
                <a:tc>
                  <a:txBody>
                    <a:bodyPr/>
                    <a:lstStyle/>
                    <a:p>
                      <a:r>
                        <a:rPr sz="728" b="0">
                          <a:solidFill>
                            <a:srgbClr val="343D42"/>
                          </a:solidFill>
                          <a:latin typeface="Arial"/>
                          <a:ea typeface="Arial"/>
                          <a:cs typeface="Arial"/>
                        </a:rPr>
                        <a:t>33,634</a:t>
                      </a:r>
                    </a:p>
                  </a:txBody>
                  <a:tcPr marL="47625" marR="47625" marT="19050" marB="19050" anchor="ctr">
                    <a:solidFill>
                      <a:srgbClr val="FFFFFF"/>
                    </a:solidFill>
                  </a:tcPr>
                </a:tc>
              </a:tr>
              <a:tr h="190881">
                <a:tc>
                  <a:txBody>
                    <a:bodyPr/>
                    <a:lstStyle/>
                    <a:p>
                      <a:r>
                        <a:rPr sz="728" b="0">
                          <a:solidFill>
                            <a:srgbClr val="343D42"/>
                          </a:solidFill>
                          <a:latin typeface="Arial"/>
                          <a:ea typeface="Arial"/>
                          <a:cs typeface="Arial"/>
                        </a:rPr>
                        <a:t>Real estate value</a:t>
                      </a:r>
                    </a:p>
                  </a:txBody>
                  <a:tcPr marL="47625" marR="47625" marT="19050" marB="19050" anchor="ctr">
                    <a:solidFill>
                      <a:srgbClr val="F3F5F6"/>
                    </a:solidFill>
                  </a:tcPr>
                </a:tc>
                <a:tc>
                  <a:txBody>
                    <a:bodyPr/>
                    <a:lstStyle/>
                    <a:p>
                      <a:r>
                        <a:rPr sz="728" b="0">
                          <a:solidFill>
                            <a:srgbClr val="343D42"/>
                          </a:solidFill>
                          <a:latin typeface="Arial"/>
                          <a:ea typeface="Arial"/>
                          <a:cs typeface="Arial"/>
                        </a:rPr>
                        <a:t>21,600,000</a:t>
                      </a:r>
                    </a:p>
                  </a:txBody>
                  <a:tcPr marL="47625" marR="47625" marT="19050" marB="19050" anchor="ctr">
                    <a:solidFill>
                      <a:srgbClr val="F3F5F6"/>
                    </a:solidFill>
                  </a:tcPr>
                </a:tc>
                <a:tc>
                  <a:txBody>
                    <a:bodyPr/>
                    <a:lstStyle/>
                    <a:p>
                      <a:r>
                        <a:rPr sz="728" b="0">
                          <a:solidFill>
                            <a:srgbClr val="343D42"/>
                          </a:solidFill>
                          <a:latin typeface="Arial"/>
                          <a:ea typeface="Arial"/>
                          <a:cs typeface="Arial"/>
                        </a:rPr>
                        <a:t>21,600,000</a:t>
                      </a:r>
                    </a:p>
                  </a:txBody>
                  <a:tcPr marL="47625" marR="47625" marT="19050" marB="19050" anchor="ctr">
                    <a:solidFill>
                      <a:srgbClr val="F3F5F6"/>
                    </a:solidFill>
                  </a:tcPr>
                </a:tc>
                <a:tc>
                  <a:txBody>
                    <a:bodyPr/>
                    <a:lstStyle/>
                    <a:p>
                      <a:r>
                        <a:rPr sz="728" b="0">
                          <a:solidFill>
                            <a:srgbClr val="343D42"/>
                          </a:solidFill>
                          <a:latin typeface="Arial"/>
                          <a:ea typeface="Arial"/>
                          <a:cs typeface="Arial"/>
                        </a:rPr>
                        <a:t>21,600,000</a:t>
                      </a:r>
                    </a:p>
                  </a:txBody>
                  <a:tcPr marL="47625" marR="47625" marT="19050" marB="19050" anchor="ctr">
                    <a:solidFill>
                      <a:srgbClr val="F3F5F6"/>
                    </a:solidFill>
                  </a:tcPr>
                </a:tc>
                <a:tc>
                  <a:txBody>
                    <a:bodyPr/>
                    <a:lstStyle/>
                    <a:p>
                      <a:r>
                        <a:rPr sz="728" b="0">
                          <a:solidFill>
                            <a:srgbClr val="343D42"/>
                          </a:solidFill>
                          <a:latin typeface="Arial"/>
                          <a:ea typeface="Arial"/>
                          <a:cs typeface="Arial"/>
                        </a:rPr>
                        <a:t>21,600,000</a:t>
                      </a:r>
                    </a:p>
                  </a:txBody>
                  <a:tcPr marL="47625" marR="47625" marT="19050" marB="19050" anchor="ctr">
                    <a:solidFill>
                      <a:srgbClr val="F3F5F6"/>
                    </a:solidFill>
                  </a:tcPr>
                </a:tc>
                <a:tc>
                  <a:txBody>
                    <a:bodyPr/>
                    <a:lstStyle/>
                    <a:p>
                      <a:r>
                        <a:rPr sz="728" b="0">
                          <a:solidFill>
                            <a:srgbClr val="343D42"/>
                          </a:solidFill>
                          <a:latin typeface="Arial"/>
                          <a:ea typeface="Arial"/>
                          <a:cs typeface="Arial"/>
                        </a:rPr>
                        <a:t>21,600,000</a:t>
                      </a:r>
                    </a:p>
                  </a:txBody>
                  <a:tcPr marL="47625" marR="47625" marT="19050" marB="19050" anchor="ctr">
                    <a:solidFill>
                      <a:srgbClr val="F3F5F6"/>
                    </a:solidFill>
                  </a:tcPr>
                </a:tc>
                <a:tc>
                  <a:txBody>
                    <a:bodyPr/>
                    <a:lstStyle/>
                    <a:p>
                      <a:r>
                        <a:rPr sz="728" b="0">
                          <a:solidFill>
                            <a:srgbClr val="343D42"/>
                          </a:solidFill>
                          <a:latin typeface="Arial"/>
                          <a:ea typeface="Arial"/>
                          <a:cs typeface="Arial"/>
                        </a:rPr>
                        <a:t>21,600,000</a:t>
                      </a:r>
                    </a:p>
                  </a:txBody>
                  <a:tcPr marL="47625" marR="47625" marT="19050" marB="19050" anchor="ctr">
                    <a:solidFill>
                      <a:srgbClr val="F3F5F6"/>
                    </a:solidFill>
                  </a:tcPr>
                </a:tc>
                <a:tc>
                  <a:txBody>
                    <a:bodyPr/>
                    <a:lstStyle/>
                    <a:p>
                      <a:r>
                        <a:rPr sz="728" b="0">
                          <a:solidFill>
                            <a:srgbClr val="343D42"/>
                          </a:solidFill>
                          <a:latin typeface="Arial"/>
                          <a:ea typeface="Arial"/>
                          <a:cs typeface="Arial"/>
                        </a:rPr>
                        <a:t>27,531,789</a:t>
                      </a:r>
                    </a:p>
                  </a:txBody>
                  <a:tcPr marL="47625" marR="47625" marT="19050" marB="19050" anchor="ctr">
                    <a:solidFill>
                      <a:srgbClr val="F3F5F6"/>
                    </a:solidFill>
                  </a:tcPr>
                </a:tc>
              </a:tr>
              <a:tr h="190881">
                <a:tc>
                  <a:txBody>
                    <a:bodyPr/>
                    <a:lstStyle/>
                    <a:p>
                      <a:r>
                        <a:rPr sz="728" b="0">
                          <a:solidFill>
                            <a:srgbClr val="343D42"/>
                          </a:solidFill>
                          <a:latin typeface="Arial"/>
                          <a:ea typeface="Arial"/>
                          <a:cs typeface="Arial"/>
                        </a:rPr>
                        <a:t>Cash reserve</a:t>
                      </a:r>
                    </a:p>
                  </a:txBody>
                  <a:tcPr marL="47625" marR="47625" marT="19050" marB="19050" anchor="ctr">
                    <a:solidFill>
                      <a:srgbClr val="FFFFFF"/>
                    </a:solidFill>
                  </a:tcPr>
                </a:tc>
                <a:tc>
                  <a:txBody>
                    <a:bodyPr/>
                    <a:lstStyle/>
                    <a:p>
                      <a:r>
                        <a:rPr sz="728" b="0">
                          <a:solidFill>
                            <a:srgbClr val="343D42"/>
                          </a:solidFill>
                          <a:latin typeface="Arial"/>
                          <a:ea typeface="Arial"/>
                          <a:cs typeface="Arial"/>
                        </a:rPr>
                        <a:t>28,229</a:t>
                      </a:r>
                    </a:p>
                  </a:txBody>
                  <a:tcPr marL="47625" marR="47625" marT="19050" marB="19050" anchor="ctr">
                    <a:solidFill>
                      <a:srgbClr val="FFFFFF"/>
                    </a:solidFill>
                  </a:tcPr>
                </a:tc>
                <a:tc>
                  <a:txBody>
                    <a:bodyPr/>
                    <a:lstStyle/>
                    <a:p>
                      <a:r>
                        <a:rPr sz="728" b="0">
                          <a:solidFill>
                            <a:srgbClr val="343D42"/>
                          </a:solidFill>
                          <a:latin typeface="Arial"/>
                          <a:ea typeface="Arial"/>
                          <a:cs typeface="Arial"/>
                        </a:rPr>
                        <a:t>186,786</a:t>
                      </a:r>
                    </a:p>
                  </a:txBody>
                  <a:tcPr marL="47625" marR="47625" marT="19050" marB="19050" anchor="ctr">
                    <a:solidFill>
                      <a:srgbClr val="FFFFFF"/>
                    </a:solidFill>
                  </a:tcPr>
                </a:tc>
                <a:tc>
                  <a:txBody>
                    <a:bodyPr/>
                    <a:lstStyle/>
                    <a:p>
                      <a:r>
                        <a:rPr sz="728" b="0">
                          <a:solidFill>
                            <a:srgbClr val="343D42"/>
                          </a:solidFill>
                          <a:latin typeface="Arial"/>
                          <a:ea typeface="Arial"/>
                          <a:cs typeface="Arial"/>
                        </a:rPr>
                        <a:t>462,487</a:t>
                      </a:r>
                    </a:p>
                  </a:txBody>
                  <a:tcPr marL="47625" marR="47625" marT="19050" marB="19050" anchor="ctr">
                    <a:solidFill>
                      <a:srgbClr val="FFFFFF"/>
                    </a:solidFill>
                  </a:tcPr>
                </a:tc>
                <a:tc>
                  <a:txBody>
                    <a:bodyPr/>
                    <a:lstStyle/>
                    <a:p>
                      <a:r>
                        <a:rPr sz="728" b="0">
                          <a:solidFill>
                            <a:srgbClr val="343D42"/>
                          </a:solidFill>
                          <a:latin typeface="Arial"/>
                          <a:ea typeface="Arial"/>
                          <a:cs typeface="Arial"/>
                        </a:rPr>
                        <a:t>647,562</a:t>
                      </a:r>
                    </a:p>
                  </a:txBody>
                  <a:tcPr marL="47625" marR="47625" marT="19050" marB="19050" anchor="ctr">
                    <a:solidFill>
                      <a:srgbClr val="FFFFFF"/>
                    </a:solidFill>
                  </a:tcPr>
                </a:tc>
                <a:tc>
                  <a:txBody>
                    <a:bodyPr/>
                    <a:lstStyle/>
                    <a:p>
                      <a:r>
                        <a:rPr sz="728" b="0">
                          <a:solidFill>
                            <a:srgbClr val="343D42"/>
                          </a:solidFill>
                          <a:latin typeface="Arial"/>
                          <a:ea typeface="Arial"/>
                          <a:cs typeface="Arial"/>
                        </a:rPr>
                        <a:t>937,671</a:t>
                      </a:r>
                    </a:p>
                  </a:txBody>
                  <a:tcPr marL="47625" marR="47625" marT="19050" marB="19050" anchor="ctr">
                    <a:solidFill>
                      <a:srgbClr val="FFFFFF"/>
                    </a:solidFill>
                  </a:tcPr>
                </a:tc>
                <a:tc>
                  <a:txBody>
                    <a:bodyPr/>
                    <a:lstStyle/>
                    <a:p>
                      <a:r>
                        <a:rPr sz="728" b="0">
                          <a:solidFill>
                            <a:srgbClr val="343D42"/>
                          </a:solidFill>
                          <a:latin typeface="Arial"/>
                          <a:ea typeface="Arial"/>
                          <a:cs typeface="Arial"/>
                        </a:rPr>
                        <a:t>967,522</a:t>
                      </a:r>
                    </a:p>
                  </a:txBody>
                  <a:tcPr marL="47625" marR="47625" marT="19050" marB="19050" anchor="ctr">
                    <a:solidFill>
                      <a:srgbClr val="FFFFFF"/>
                    </a:solidFill>
                  </a:tcPr>
                </a:tc>
                <a:tc>
                  <a:txBody>
                    <a:bodyPr/>
                    <a:lstStyle/>
                    <a:p>
                      <a:r>
                        <a:rPr sz="728" b="0">
                          <a:solidFill>
                            <a:srgbClr val="343D42"/>
                          </a:solidFill>
                          <a:latin typeface="Arial"/>
                          <a:ea typeface="Arial"/>
                          <a:cs typeface="Arial"/>
                        </a:rPr>
                        <a:t>1,261,228</a:t>
                      </a:r>
                    </a:p>
                  </a:txBody>
                  <a:tcPr marL="47625" marR="47625" marT="19050" marB="19050" anchor="ctr">
                    <a:solidFill>
                      <a:srgbClr val="FFFFFF"/>
                    </a:solidFill>
                  </a:tcPr>
                </a:tc>
              </a:tr>
              <a:tr h="190881">
                <a:tc>
                  <a:txBody>
                    <a:bodyPr/>
                    <a:lstStyle/>
                    <a:p>
                      <a:r>
                        <a:rPr sz="728" b="0">
                          <a:solidFill>
                            <a:srgbClr val="343D42"/>
                          </a:solidFill>
                          <a:latin typeface="Arial"/>
                          <a:ea typeface="Arial"/>
                          <a:cs typeface="Arial"/>
                        </a:rPr>
                        <a:t>Debt</a:t>
                      </a:r>
                    </a:p>
                  </a:txBody>
                  <a:tcPr marL="47625" marR="47625" marT="19050" marB="19050" anchor="ctr">
                    <a:solidFill>
                      <a:srgbClr val="F3F5F6"/>
                    </a:solidFill>
                  </a:tcPr>
                </a:tc>
                <a:tc>
                  <a:txBody>
                    <a:bodyPr/>
                    <a:lstStyle/>
                    <a:p>
                      <a:r>
                        <a:rPr sz="728" b="0">
                          <a:solidFill>
                            <a:srgbClr val="343D42"/>
                          </a:solidFill>
                          <a:latin typeface="Arial"/>
                          <a:ea typeface="Arial"/>
                          <a:cs typeface="Arial"/>
                        </a:rPr>
                        <a:t>15,038,235</a:t>
                      </a:r>
                    </a:p>
                  </a:txBody>
                  <a:tcPr marL="47625" marR="47625" marT="19050" marB="19050" anchor="ctr">
                    <a:solidFill>
                      <a:srgbClr val="F3F5F6"/>
                    </a:solidFill>
                  </a:tcPr>
                </a:tc>
                <a:tc>
                  <a:txBody>
                    <a:bodyPr/>
                    <a:lstStyle/>
                    <a:p>
                      <a:r>
                        <a:rPr sz="728" b="0">
                          <a:solidFill>
                            <a:srgbClr val="343D42"/>
                          </a:solidFill>
                          <a:latin typeface="Arial"/>
                          <a:ea typeface="Arial"/>
                          <a:cs typeface="Arial"/>
                        </a:rPr>
                        <a:t>14,804,196</a:t>
                      </a:r>
                    </a:p>
                  </a:txBody>
                  <a:tcPr marL="47625" marR="47625" marT="19050" marB="19050" anchor="ctr">
                    <a:solidFill>
                      <a:srgbClr val="F3F5F6"/>
                    </a:solidFill>
                  </a:tcPr>
                </a:tc>
                <a:tc>
                  <a:txBody>
                    <a:bodyPr/>
                    <a:lstStyle/>
                    <a:p>
                      <a:r>
                        <a:rPr sz="728" b="0">
                          <a:solidFill>
                            <a:srgbClr val="343D42"/>
                          </a:solidFill>
                          <a:latin typeface="Arial"/>
                          <a:ea typeface="Arial"/>
                          <a:cs typeface="Arial"/>
                        </a:rPr>
                        <a:t>14,555,413</a:t>
                      </a:r>
                    </a:p>
                  </a:txBody>
                  <a:tcPr marL="47625" marR="47625" marT="19050" marB="19050" anchor="ctr">
                    <a:solidFill>
                      <a:srgbClr val="F3F5F6"/>
                    </a:solidFill>
                  </a:tcPr>
                </a:tc>
                <a:tc>
                  <a:txBody>
                    <a:bodyPr/>
                    <a:lstStyle/>
                    <a:p>
                      <a:r>
                        <a:rPr sz="728" b="0">
                          <a:solidFill>
                            <a:srgbClr val="343D42"/>
                          </a:solidFill>
                          <a:latin typeface="Arial"/>
                          <a:ea typeface="Arial"/>
                          <a:cs typeface="Arial"/>
                        </a:rPr>
                        <a:t>14,290,956</a:t>
                      </a:r>
                    </a:p>
                  </a:txBody>
                  <a:tcPr marL="47625" marR="47625" marT="19050" marB="19050" anchor="ctr">
                    <a:solidFill>
                      <a:srgbClr val="F3F5F6"/>
                    </a:solidFill>
                  </a:tcPr>
                </a:tc>
                <a:tc>
                  <a:txBody>
                    <a:bodyPr/>
                    <a:lstStyle/>
                    <a:p>
                      <a:r>
                        <a:rPr sz="728" b="0">
                          <a:solidFill>
                            <a:srgbClr val="343D42"/>
                          </a:solidFill>
                          <a:latin typeface="Arial"/>
                          <a:ea typeface="Arial"/>
                          <a:cs typeface="Arial"/>
                        </a:rPr>
                        <a:t>14,009,840</a:t>
                      </a:r>
                    </a:p>
                  </a:txBody>
                  <a:tcPr marL="47625" marR="47625" marT="19050" marB="19050" anchor="ctr">
                    <a:solidFill>
                      <a:srgbClr val="F3F5F6"/>
                    </a:solidFill>
                  </a:tcPr>
                </a:tc>
                <a:tc>
                  <a:txBody>
                    <a:bodyPr/>
                    <a:lstStyle/>
                    <a:p>
                      <a:r>
                        <a:rPr sz="728" b="0">
                          <a:solidFill>
                            <a:srgbClr val="343D42"/>
                          </a:solidFill>
                          <a:latin typeface="Arial"/>
                          <a:ea typeface="Arial"/>
                          <a:cs typeface="Arial"/>
                        </a:rPr>
                        <a:t>13,711,013</a:t>
                      </a:r>
                    </a:p>
                  </a:txBody>
                  <a:tcPr marL="47625" marR="47625" marT="19050" marB="19050" anchor="ctr">
                    <a:solidFill>
                      <a:srgbClr val="F3F5F6"/>
                    </a:solidFill>
                  </a:tcPr>
                </a:tc>
                <a:tc>
                  <a:txBody>
                    <a:bodyPr/>
                    <a:lstStyle/>
                    <a:p>
                      <a:r>
                        <a:rPr sz="728" b="0">
                          <a:solidFill>
                            <a:srgbClr val="343D42"/>
                          </a:solidFill>
                          <a:latin typeface="Arial"/>
                          <a:ea typeface="Arial"/>
                          <a:cs typeface="Arial"/>
                        </a:rPr>
                        <a:t>13,393,360</a:t>
                      </a:r>
                    </a:p>
                  </a:txBody>
                  <a:tcPr marL="47625" marR="47625" marT="19050" marB="19050" anchor="ctr">
                    <a:solidFill>
                      <a:srgbClr val="F3F5F6"/>
                    </a:solidFill>
                  </a:tcPr>
                </a:tc>
              </a:tr>
              <a:tr h="190881">
                <a:tc>
                  <a:txBody>
                    <a:bodyPr/>
                    <a:lstStyle/>
                    <a:p>
                      <a:r>
                        <a:rPr sz="728" b="0">
                          <a:solidFill>
                            <a:srgbClr val="343D42"/>
                          </a:solidFill>
                          <a:latin typeface="Arial"/>
                          <a:ea typeface="Arial"/>
                          <a:cs typeface="Arial"/>
                        </a:rPr>
                        <a:t>Equity + cumulative dividends</a:t>
                      </a:r>
                    </a:p>
                  </a:txBody>
                  <a:tcPr marL="47625" marR="47625" marT="19050" marB="19050" anchor="ctr">
                    <a:solidFill>
                      <a:srgbClr val="FFFFFF"/>
                    </a:solidFill>
                  </a:tcPr>
                </a:tc>
                <a:tc>
                  <a:txBody>
                    <a:bodyPr/>
                    <a:lstStyle/>
                    <a:p>
                      <a:r>
                        <a:rPr sz="728" b="0">
                          <a:solidFill>
                            <a:srgbClr val="343D42"/>
                          </a:solidFill>
                          <a:latin typeface="Arial"/>
                          <a:ea typeface="Arial"/>
                          <a:cs typeface="Arial"/>
                        </a:rPr>
                        <a:t>6,847,995</a:t>
                      </a:r>
                    </a:p>
                  </a:txBody>
                  <a:tcPr marL="47625" marR="47625" marT="19050" marB="19050" anchor="ctr">
                    <a:solidFill>
                      <a:srgbClr val="FFFFFF"/>
                    </a:solidFill>
                  </a:tcPr>
                </a:tc>
                <a:tc>
                  <a:txBody>
                    <a:bodyPr/>
                    <a:lstStyle/>
                    <a:p>
                      <a:r>
                        <a:rPr sz="728" b="0">
                          <a:solidFill>
                            <a:srgbClr val="343D42"/>
                          </a:solidFill>
                          <a:latin typeface="Arial"/>
                          <a:ea typeface="Arial"/>
                          <a:cs typeface="Arial"/>
                        </a:rPr>
                        <a:t>7,756,590</a:t>
                      </a:r>
                    </a:p>
                  </a:txBody>
                  <a:tcPr marL="47625" marR="47625" marT="19050" marB="19050" anchor="ctr">
                    <a:solidFill>
                      <a:srgbClr val="FFFFFF"/>
                    </a:solidFill>
                  </a:tcPr>
                </a:tc>
                <a:tc>
                  <a:txBody>
                    <a:bodyPr/>
                    <a:lstStyle/>
                    <a:p>
                      <a:r>
                        <a:rPr sz="728" b="0">
                          <a:solidFill>
                            <a:srgbClr val="343D42"/>
                          </a:solidFill>
                          <a:latin typeface="Arial"/>
                          <a:ea typeface="Arial"/>
                          <a:cs typeface="Arial"/>
                        </a:rPr>
                        <a:t>8,797,074</a:t>
                      </a:r>
                    </a:p>
                  </a:txBody>
                  <a:tcPr marL="47625" marR="47625" marT="19050" marB="19050" anchor="ctr">
                    <a:solidFill>
                      <a:srgbClr val="FFFFFF"/>
                    </a:solidFill>
                  </a:tcPr>
                </a:tc>
                <a:tc>
                  <a:txBody>
                    <a:bodyPr/>
                    <a:lstStyle/>
                    <a:p>
                      <a:r>
                        <a:rPr sz="728" b="0">
                          <a:solidFill>
                            <a:srgbClr val="343D42"/>
                          </a:solidFill>
                          <a:latin typeface="Arial"/>
                          <a:ea typeface="Arial"/>
                          <a:cs typeface="Arial"/>
                        </a:rPr>
                        <a:t>9,762,605</a:t>
                      </a:r>
                    </a:p>
                  </a:txBody>
                  <a:tcPr marL="47625" marR="47625" marT="19050" marB="19050" anchor="ctr">
                    <a:solidFill>
                      <a:srgbClr val="FFFFFF"/>
                    </a:solidFill>
                  </a:tcPr>
                </a:tc>
                <a:tc>
                  <a:txBody>
                    <a:bodyPr/>
                    <a:lstStyle/>
                    <a:p>
                      <a:r>
                        <a:rPr sz="728" b="0">
                          <a:solidFill>
                            <a:srgbClr val="343D42"/>
                          </a:solidFill>
                          <a:latin typeface="Arial"/>
                          <a:ea typeface="Arial"/>
                          <a:cs typeface="Arial"/>
                        </a:rPr>
                        <a:t>10,849,831</a:t>
                      </a:r>
                    </a:p>
                  </a:txBody>
                  <a:tcPr marL="47625" marR="47625" marT="19050" marB="19050" anchor="ctr">
                    <a:solidFill>
                      <a:srgbClr val="FFFFFF"/>
                    </a:solidFill>
                  </a:tcPr>
                </a:tc>
                <a:tc>
                  <a:txBody>
                    <a:bodyPr/>
                    <a:lstStyle/>
                    <a:p>
                      <a:r>
                        <a:rPr sz="728" b="0">
                          <a:solidFill>
                            <a:srgbClr val="343D42"/>
                          </a:solidFill>
                          <a:latin typeface="Arial"/>
                          <a:ea typeface="Arial"/>
                          <a:cs typeface="Arial"/>
                        </a:rPr>
                        <a:t>11,694,595</a:t>
                      </a:r>
                    </a:p>
                  </a:txBody>
                  <a:tcPr marL="47625" marR="47625" marT="19050" marB="19050" anchor="ctr">
                    <a:solidFill>
                      <a:srgbClr val="FFFFFF"/>
                    </a:solidFill>
                  </a:tcPr>
                </a:tc>
                <a:tc>
                  <a:txBody>
                    <a:bodyPr/>
                    <a:lstStyle/>
                    <a:p>
                      <a:r>
                        <a:rPr sz="728" b="0">
                          <a:solidFill>
                            <a:srgbClr val="343D42"/>
                          </a:solidFill>
                          <a:latin typeface="Arial"/>
                          <a:ea typeface="Arial"/>
                          <a:cs typeface="Arial"/>
                        </a:rPr>
                        <a:t>18,753,657</a:t>
                      </a:r>
                    </a:p>
                  </a:txBody>
                  <a:tcPr marL="47625" marR="47625" marT="19050" marB="19050" anchor="ctr">
                    <a:solidFill>
                      <a:srgbClr val="FFFFFF"/>
                    </a:solidFill>
                  </a:tcPr>
                </a:tc>
              </a:tr>
              <a:tr h="190881">
                <a:tc>
                  <a:txBody>
                    <a:bodyPr/>
                    <a:lstStyle/>
                    <a:p>
                      <a:r>
                        <a:rPr sz="728" b="0">
                          <a:solidFill>
                            <a:srgbClr val="343D42"/>
                          </a:solidFill>
                          <a:latin typeface="Arial"/>
                          <a:ea typeface="Arial"/>
                          <a:cs typeface="Arial"/>
                        </a:rPr>
                        <a:t>Gross MOIC</a:t>
                      </a:r>
                    </a:p>
                  </a:txBody>
                  <a:tcPr marL="47625" marR="47625" marT="19050" marB="19050" anchor="ctr">
                    <a:solidFill>
                      <a:srgbClr val="F3F5F6"/>
                    </a:solidFill>
                  </a:tcPr>
                </a:tc>
                <a:tc>
                  <a:txBody>
                    <a:bodyPr/>
                    <a:lstStyle/>
                    <a:p>
                      <a:r>
                        <a:rPr sz="728" b="0">
                          <a:solidFill>
                            <a:srgbClr val="343D42"/>
                          </a:solidFill>
                          <a:latin typeface="Arial"/>
                          <a:ea typeface="Arial"/>
                          <a:cs typeface="Arial"/>
                        </a:rPr>
                        <a:t>1.06x</a:t>
                      </a:r>
                    </a:p>
                  </a:txBody>
                  <a:tcPr marL="47625" marR="47625" marT="19050" marB="19050" anchor="ctr">
                    <a:solidFill>
                      <a:srgbClr val="F3F5F6"/>
                    </a:solidFill>
                  </a:tcPr>
                </a:tc>
                <a:tc>
                  <a:txBody>
                    <a:bodyPr/>
                    <a:lstStyle/>
                    <a:p>
                      <a:r>
                        <a:rPr sz="728" b="0">
                          <a:solidFill>
                            <a:srgbClr val="343D42"/>
                          </a:solidFill>
                          <a:latin typeface="Arial"/>
                          <a:ea typeface="Arial"/>
                          <a:cs typeface="Arial"/>
                        </a:rPr>
                        <a:t>1.20x</a:t>
                      </a:r>
                    </a:p>
                  </a:txBody>
                  <a:tcPr marL="47625" marR="47625" marT="19050" marB="19050" anchor="ctr">
                    <a:solidFill>
                      <a:srgbClr val="F3F5F6"/>
                    </a:solidFill>
                  </a:tcPr>
                </a:tc>
                <a:tc>
                  <a:txBody>
                    <a:bodyPr/>
                    <a:lstStyle/>
                    <a:p>
                      <a:r>
                        <a:rPr sz="728" b="0">
                          <a:solidFill>
                            <a:srgbClr val="343D42"/>
                          </a:solidFill>
                          <a:latin typeface="Arial"/>
                          <a:ea typeface="Arial"/>
                          <a:cs typeface="Arial"/>
                        </a:rPr>
                        <a:t>1.36x</a:t>
                      </a:r>
                    </a:p>
                  </a:txBody>
                  <a:tcPr marL="47625" marR="47625" marT="19050" marB="19050" anchor="ctr">
                    <a:solidFill>
                      <a:srgbClr val="F3F5F6"/>
                    </a:solidFill>
                  </a:tcPr>
                </a:tc>
                <a:tc>
                  <a:txBody>
                    <a:bodyPr/>
                    <a:lstStyle/>
                    <a:p>
                      <a:r>
                        <a:rPr sz="728" b="0">
                          <a:solidFill>
                            <a:srgbClr val="343D42"/>
                          </a:solidFill>
                          <a:latin typeface="Arial"/>
                          <a:ea typeface="Arial"/>
                          <a:cs typeface="Arial"/>
                        </a:rPr>
                        <a:t>1.51x</a:t>
                      </a:r>
                    </a:p>
                  </a:txBody>
                  <a:tcPr marL="47625" marR="47625" marT="19050" marB="19050" anchor="ctr">
                    <a:solidFill>
                      <a:srgbClr val="F3F5F6"/>
                    </a:solidFill>
                  </a:tcPr>
                </a:tc>
                <a:tc>
                  <a:txBody>
                    <a:bodyPr/>
                    <a:lstStyle/>
                    <a:p>
                      <a:r>
                        <a:rPr sz="728" b="0">
                          <a:solidFill>
                            <a:srgbClr val="343D42"/>
                          </a:solidFill>
                          <a:latin typeface="Arial"/>
                          <a:ea typeface="Arial"/>
                          <a:cs typeface="Arial"/>
                        </a:rPr>
                        <a:t>1.68x</a:t>
                      </a:r>
                    </a:p>
                  </a:txBody>
                  <a:tcPr marL="47625" marR="47625" marT="19050" marB="19050" anchor="ctr">
                    <a:solidFill>
                      <a:srgbClr val="F3F5F6"/>
                    </a:solidFill>
                  </a:tcPr>
                </a:tc>
                <a:tc>
                  <a:txBody>
                    <a:bodyPr/>
                    <a:lstStyle/>
                    <a:p>
                      <a:r>
                        <a:rPr sz="728" b="0">
                          <a:solidFill>
                            <a:srgbClr val="343D42"/>
                          </a:solidFill>
                          <a:latin typeface="Arial"/>
                          <a:ea typeface="Arial"/>
                          <a:cs typeface="Arial"/>
                        </a:rPr>
                        <a:t>1.81x</a:t>
                      </a:r>
                    </a:p>
                  </a:txBody>
                  <a:tcPr marL="47625" marR="47625" marT="19050" marB="19050" anchor="ctr">
                    <a:solidFill>
                      <a:srgbClr val="F3F5F6"/>
                    </a:solidFill>
                  </a:tcPr>
                </a:tc>
                <a:tc>
                  <a:txBody>
                    <a:bodyPr/>
                    <a:lstStyle/>
                    <a:p>
                      <a:r>
                        <a:rPr sz="728" b="0">
                          <a:solidFill>
                            <a:srgbClr val="343D42"/>
                          </a:solidFill>
                          <a:latin typeface="Arial"/>
                          <a:ea typeface="Arial"/>
                          <a:cs typeface="Arial"/>
                        </a:rPr>
                        <a:t>2.91x</a:t>
                      </a:r>
                    </a:p>
                  </a:txBody>
                  <a:tcPr marL="47625" marR="47625" marT="19050" marB="19050" anchor="ctr">
                    <a:solidFill>
                      <a:srgbClr val="F3F5F6"/>
                    </a:solidFill>
                  </a:tcPr>
                </a:tc>
              </a:tr>
            </a:tbl>
          </a:graphicData>
        </a:graphic>
      </p:graphicFrame>
      <p:sp>
        <p:nvSpPr>
          <p:cNvPr id="12" name="">
            <a:extLst xmlns:a="http://schemas.openxmlformats.org/drawingml/2006/main">
              <a:ext uri="{FF2B5EF4-FFF2-40B4-BE49-F238E27FC236}">
                <a16:creationId xmlns:a16="http://schemas.microsoft.com/office/drawing/2014/main" id="{EE036705-1D0D-433C-83E7-AFE9FBBB3F53}"/>
              </a:ext>
            </a:extLst>
          </p:cNvPr>
          <p:cNvSpPr>
            <a:spLocks xmlns:a="http://schemas.openxmlformats.org/drawingml/2006/main" noGrp="1"/>
          </p:cNvSpPr>
          <p:nvPr/>
        </p:nvSpPr>
        <p:spPr>
          <a:xfrm xmlns:a="http://schemas.openxmlformats.org/drawingml/2006/main">
            <a:off x="4171950" y="5915025"/>
            <a:ext cx="7562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13C66"/>
                </a:solidFill>
                <a:latin typeface="Arial"/>
                <a:ea typeface="Arial"/>
                <a:cs typeface="Arial"/>
              </a:defRPr>
            </a:defPPr>
          </a:lstStyle>
          <a:p xmlns:a="http://schemas.openxmlformats.org/drawingml/2006/main">
            <a:pPr>
              <a:defRPr sz="1275" b="1">
                <a:solidFill>
                  <a:srgbClr val="213C66"/>
                </a:solidFill>
                <a:latin typeface="Arial"/>
                <a:ea typeface="Arial"/>
                <a:cs typeface="Arial"/>
              </a:defRPr>
            </a:pPr>
            <a:r>
              <a:rPr sz="1275" b="1">
                <a:solidFill>
                  <a:srgbClr val="213C66"/>
                </a:solidFill>
                <a:latin typeface="Arial"/>
                <a:ea typeface="Arial"/>
                <a:cs typeface="Arial"/>
              </a:rPr>
              <a:t>Gross 7-year IRR: 20.21%</a:t>
            </a:r>
          </a:p>
        </p:txBody>
      </p:sp>
    </p:spTree>
    <p:extLst>
      <p:ext uri="{BB962C8B-B14F-4D97-AF65-F5344CB8AC3E}">
        <p14:creationId xmlns:p14="http://schemas.microsoft.com/office/powerpoint/2010/main" val="12733301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4AFA497-63E0-4367-BD6F-41C3004E012B}"/>
              </a:ext>
            </a:extLst>
          </p:cNvPr>
          <p:cNvSpPr>
            <a:spLocks xmlns:a="http://schemas.openxmlformats.org/drawingml/2006/main" noGrp="1"/>
          </p:cNvSpPr>
          <p:nvPr/>
        </p:nvSpPr>
        <p:spPr>
          <a:xfrm xmlns:a="http://schemas.openxmlformats.org/drawingml/2006/main">
            <a:off x="457200" y="276225"/>
            <a:ext cx="11277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343D42"/>
                </a:solidFill>
                <a:latin typeface="Arial"/>
                <a:ea typeface="Arial"/>
                <a:cs typeface="Arial"/>
              </a:defRPr>
            </a:defPPr>
          </a:lstStyle>
          <a:p xmlns:a="http://schemas.openxmlformats.org/drawingml/2006/main">
            <a:pPr>
              <a:defRPr sz="2100" b="1">
                <a:solidFill>
                  <a:srgbClr val="343D42"/>
                </a:solidFill>
                <a:latin typeface="Arial"/>
                <a:ea typeface="Arial"/>
                <a:cs typeface="Arial"/>
              </a:defRPr>
            </a:pPr>
            <a:r>
              <a:rPr sz="2100" b="1">
                <a:solidFill>
                  <a:srgbClr val="343D42"/>
                </a:solidFill>
                <a:latin typeface="Arial"/>
                <a:ea typeface="Arial"/>
                <a:cs typeface="Arial"/>
              </a:rPr>
              <a:t>Terms</a:t>
            </a:r>
          </a:p>
        </p:txBody>
      </p:sp>
      <p:sp>
        <p:nvSpPr>
          <p:cNvPr id="2" name="">
            <a:extLst xmlns:a="http://schemas.openxmlformats.org/drawingml/2006/main">
              <a:ext uri="{FF2B5EF4-FFF2-40B4-BE49-F238E27FC236}">
                <a16:creationId xmlns:a16="http://schemas.microsoft.com/office/drawing/2014/main" id="{E6841BE3-F0BF-4CA2-B10B-76D70535586A}"/>
              </a:ext>
            </a:extLst>
          </p:cNvPr>
          <p:cNvSpPr>
            <a:spLocks xmlns:a="http://schemas.openxmlformats.org/drawingml/2006/main" noGrp="1"/>
          </p:cNvSpPr>
          <p:nvPr/>
        </p:nvSpPr>
        <p:spPr>
          <a:xfrm xmlns:a="http://schemas.openxmlformats.org/drawingml/2006/main">
            <a:off x="457200" y="800100"/>
            <a:ext cx="11277600" cy="9525"/>
          </a:xfrm>
          <a:prstGeom xmlns:a="http://schemas.openxmlformats.org/drawingml/2006/main" prst="rect">
            <a:avLst/>
          </a:prstGeom>
          <a:solidFill xmlns:a="http://schemas.openxmlformats.org/drawingml/2006/main">
            <a:srgbClr val="B9B9B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C70BEE4-6271-4AB7-9127-A25DC216F456}"/>
              </a:ext>
            </a:extLst>
          </p:cNvPr>
          <p:cNvSpPr>
            <a:spLocks xmlns:a="http://schemas.openxmlformats.org/drawingml/2006/main" noGrp="1"/>
          </p:cNvSpPr>
          <p:nvPr/>
        </p:nvSpPr>
        <p:spPr>
          <a:xfrm xmlns:a="http://schemas.openxmlformats.org/drawingml/2006/main">
            <a:off x="457200" y="6257925"/>
            <a:ext cx="11277600" cy="38100"/>
          </a:xfrm>
          <a:prstGeom xmlns:a="http://schemas.openxmlformats.org/drawingml/2006/main" prst="rect">
            <a:avLst/>
          </a:prstGeom>
          <a:solidFill xmlns:a="http://schemas.openxmlformats.org/drawingml/2006/main">
            <a:srgbClr val="343D4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634EBFA-63FC-44A6-A3CC-3067400DDE97}"/>
              </a:ext>
            </a:extLst>
          </p:cNvPr>
          <p:cNvSpPr>
            <a:spLocks xmlns:a="http://schemas.openxmlformats.org/drawingml/2006/main" noGrp="1"/>
          </p:cNvSpPr>
          <p:nvPr/>
        </p:nvSpPr>
        <p:spPr>
          <a:xfrm xmlns:a="http://schemas.openxmlformats.org/drawingml/2006/main">
            <a:off x="457200" y="6238875"/>
            <a:ext cx="11277600" cy="19050"/>
          </a:xfrm>
          <a:prstGeom xmlns:a="http://schemas.openxmlformats.org/drawingml/2006/main" prst="rect">
            <a:avLst/>
          </a:prstGeom>
          <a:solidFill xmlns:a="http://schemas.openxmlformats.org/drawingml/2006/main">
            <a:srgbClr val="C2674B"/>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BFA3E852-27A1-4E8E-AF06-C6B8AAC35718}"/>
              </a:ext>
            </a:extLst>
          </p:cNvPr>
          <p:cNvPicPr>
            <a:picLocks xmlns:a="http://schemas.openxmlformats.org/drawingml/2006/main" noChangeAspect="1"/>
          </p:cNvPicPr>
          <p:nvPr/>
        </p:nvPicPr>
        <p:blipFill>
          <a:blip xmlns:r="http://schemas.openxmlformats.org/officeDocument/2006/relationships" xmlns:a="http://schemas.openxmlformats.org/drawingml/2006/main" r:embed="R369108930e334ac3"/>
          <a:stretch xmlns:a="http://schemas.openxmlformats.org/drawingml/2006/main"/>
        </p:blipFill>
        <p:spPr>
          <a:xfrm xmlns:a="http://schemas.openxmlformats.org/drawingml/2006/main">
            <a:off x="457200" y="6387465"/>
            <a:ext cx="1609725" cy="32194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006723D-438B-4432-978E-CB5204DC4D8D}"/>
              </a:ext>
            </a:extLst>
          </p:cNvPr>
          <p:cNvSpPr>
            <a:spLocks xmlns:a="http://schemas.openxmlformats.org/drawingml/2006/main" noGrp="1"/>
          </p:cNvSpPr>
          <p:nvPr/>
        </p:nvSpPr>
        <p:spPr>
          <a:xfrm xmlns:a="http://schemas.openxmlformats.org/drawingml/2006/main">
            <a:off x="11382375" y="64579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747474"/>
                </a:solidFill>
                <a:latin typeface="Arial"/>
                <a:ea typeface="Arial"/>
                <a:cs typeface="Arial"/>
              </a:defRPr>
            </a:defPPr>
          </a:lstStyle>
          <a:p xmlns:a="http://schemas.openxmlformats.org/drawingml/2006/main">
            <a:pPr>
              <a:defRPr sz="900" b="0">
                <a:solidFill>
                  <a:srgbClr val="747474"/>
                </a:solidFill>
                <a:latin typeface="Arial"/>
                <a:ea typeface="Arial"/>
                <a:cs typeface="Arial"/>
              </a:defRPr>
            </a:pPr>
            <a:r>
              <a:rPr sz="900" b="0">
                <a:solidFill>
                  <a:srgbClr val="747474"/>
                </a:solidFill>
                <a:latin typeface="Arial"/>
                <a:ea typeface="Arial"/>
                <a:cs typeface="Arial"/>
              </a:rPr>
              <a:t>19</a:t>
            </a:r>
          </a:p>
        </p:txBody>
      </p:sp>
      <p:graphicFrame>
        <p:nvGraphicFramePr>
          <p:cNvPr id="7" name="">
            <a:extLst xmlns:a="http://schemas.openxmlformats.org/drawingml/2006/main">
              <a:ext uri="{FF2B5EF4-FFF2-40B4-BE49-F238E27FC236}">
                <a16:creationId xmlns:a16="http://schemas.microsoft.com/office/drawing/2014/main" id="{6501F248-94C8-4057-92E8-D232E8DE9238}"/>
              </a:ext>
            </a:extLst>
          </p:cNvPr>
          <p:cNvGraphicFramePr/>
          <p:nvPr/>
        </p:nvGraphicFramePr>
        <p:xfrm>
          <a:off xmlns:a="http://schemas.openxmlformats.org/drawingml/2006/main" x="457200" y="1143000"/>
          <a:ext xmlns:a="http://schemas.openxmlformats.org/drawingml/2006/main" cx="11277600" cy="4457700"/>
        </p:xfrm>
        <a:graphic xmlns:a="http://schemas.openxmlformats.org/drawingml/2006/main">
          <a:graphicData uri="http://schemas.openxmlformats.org/drawingml/2006/table">
            <a:tbl>
              <a:tblPr/>
              <a:tblGrid>
                <a:gridCol w="2781300"/>
                <a:gridCol w="8496300"/>
              </a:tblGrid>
              <a:tr h="495300">
                <a:tc>
                  <a:txBody>
                    <a:bodyPr/>
                    <a:lstStyle/>
                    <a:p>
                      <a:r>
                        <a:rPr sz="1425" b="1">
                          <a:solidFill>
                            <a:srgbClr val="FFFFFF"/>
                          </a:solidFill>
                          <a:latin typeface="Arial"/>
                          <a:ea typeface="Arial"/>
                          <a:cs typeface="Arial"/>
                        </a:rPr>
                        <a:t>Term</a:t>
                      </a:r>
                    </a:p>
                  </a:txBody>
                  <a:tcPr marL="47625" marR="47625" marT="19050" marB="19050" anchor="ctr">
                    <a:solidFill>
                      <a:srgbClr val="213C66"/>
                    </a:solidFill>
                  </a:tcPr>
                </a:tc>
                <a:tc>
                  <a:txBody>
                    <a:bodyPr/>
                    <a:lstStyle/>
                    <a:p>
                      <a:r>
                        <a:rPr sz="1425" b="1">
                          <a:solidFill>
                            <a:srgbClr val="FFFFFF"/>
                          </a:solidFill>
                          <a:latin typeface="Arial"/>
                          <a:ea typeface="Arial"/>
                          <a:cs typeface="Arial"/>
                        </a:rPr>
                        <a:t>Description</a:t>
                      </a:r>
                    </a:p>
                  </a:txBody>
                  <a:tcPr marL="47625" marR="47625" marT="19050" marB="19050" anchor="ctr">
                    <a:solidFill>
                      <a:srgbClr val="213C66"/>
                    </a:solidFill>
                  </a:tcPr>
                </a:tc>
              </a:tr>
              <a:tr h="495300">
                <a:tc>
                  <a:txBody>
                    <a:bodyPr/>
                    <a:lstStyle/>
                    <a:p>
                      <a:r>
                        <a:rPr sz="1425" b="0">
                          <a:solidFill>
                            <a:srgbClr val="343D42"/>
                          </a:solidFill>
                          <a:latin typeface="Arial"/>
                          <a:ea typeface="Arial"/>
                          <a:cs typeface="Arial"/>
                        </a:rPr>
                        <a:t>Name</a:t>
                      </a:r>
                    </a:p>
                  </a:txBody>
                  <a:tcPr marL="47625" marR="47625" marT="19050" marB="19050" anchor="ctr">
                    <a:solidFill>
                      <a:srgbClr val="FFFFFF"/>
                    </a:solidFill>
                  </a:tcPr>
                </a:tc>
                <a:tc>
                  <a:txBody>
                    <a:bodyPr/>
                    <a:lstStyle/>
                    <a:p>
                      <a:r>
                        <a:rPr sz="1425" b="0">
                          <a:solidFill>
                            <a:srgbClr val="343D42"/>
                          </a:solidFill>
                          <a:latin typeface="Arial"/>
                          <a:ea typeface="Arial"/>
                          <a:cs typeface="Arial"/>
                        </a:rPr>
                        <a:t>SCP Real Estate Opportunity IX LP</a:t>
                      </a:r>
                    </a:p>
                  </a:txBody>
                  <a:tcPr marL="47625" marR="47625" marT="19050" marB="19050" anchor="ctr">
                    <a:solidFill>
                      <a:srgbClr val="FFFFFF"/>
                    </a:solidFill>
                  </a:tcPr>
                </a:tc>
              </a:tr>
              <a:tr h="495300">
                <a:tc>
                  <a:txBody>
                    <a:bodyPr/>
                    <a:lstStyle/>
                    <a:p>
                      <a:r>
                        <a:rPr sz="1425" b="0">
                          <a:solidFill>
                            <a:srgbClr val="343D42"/>
                          </a:solidFill>
                          <a:latin typeface="Arial"/>
                          <a:ea typeface="Arial"/>
                          <a:cs typeface="Arial"/>
                        </a:rPr>
                        <a:t>Manager</a:t>
                      </a:r>
                    </a:p>
                  </a:txBody>
                  <a:tcPr marL="47625" marR="47625" marT="19050" marB="19050" anchor="ctr">
                    <a:solidFill>
                      <a:srgbClr val="F3F5F6"/>
                    </a:solidFill>
                  </a:tcPr>
                </a:tc>
                <a:tc>
                  <a:txBody>
                    <a:bodyPr/>
                    <a:lstStyle/>
                    <a:p>
                      <a:r>
                        <a:rPr sz="1425" b="0">
                          <a:solidFill>
                            <a:srgbClr val="343D42"/>
                          </a:solidFill>
                          <a:latin typeface="Arial"/>
                          <a:ea typeface="Arial"/>
                          <a:cs typeface="Arial"/>
                        </a:rPr>
                        <a:t>SK Property Management, LLC</a:t>
                      </a:r>
                    </a:p>
                  </a:txBody>
                  <a:tcPr marL="47625" marR="47625" marT="19050" marB="19050" anchor="ctr">
                    <a:solidFill>
                      <a:srgbClr val="F3F5F6"/>
                    </a:solidFill>
                  </a:tcPr>
                </a:tc>
              </a:tr>
              <a:tr h="495300">
                <a:tc>
                  <a:txBody>
                    <a:bodyPr/>
                    <a:lstStyle/>
                    <a:p>
                      <a:r>
                        <a:rPr sz="1425" b="0">
                          <a:solidFill>
                            <a:srgbClr val="343D42"/>
                          </a:solidFill>
                          <a:latin typeface="Arial"/>
                          <a:ea typeface="Arial"/>
                          <a:cs typeface="Arial"/>
                        </a:rPr>
                        <a:t>Purpose</a:t>
                      </a:r>
                    </a:p>
                  </a:txBody>
                  <a:tcPr marL="47625" marR="47625" marT="19050" marB="19050" anchor="ctr">
                    <a:solidFill>
                      <a:srgbClr val="FFFFFF"/>
                    </a:solidFill>
                  </a:tcPr>
                </a:tc>
                <a:tc>
                  <a:txBody>
                    <a:bodyPr/>
                    <a:lstStyle/>
                    <a:p>
                      <a:r>
                        <a:rPr sz="1425" b="0">
                          <a:solidFill>
                            <a:srgbClr val="343D42"/>
                          </a:solidFill>
                          <a:latin typeface="Arial"/>
                          <a:ea typeface="Arial"/>
                          <a:cs typeface="Arial"/>
                        </a:rPr>
                        <a:t>The SPV will acquire Hollinswood Shopping Center and provide working capital, maintenance capex, and acquisition costs. It will receive earnings after expenses and maintenance capital expenditures, plus property sale proceeds.</a:t>
                      </a:r>
                    </a:p>
                  </a:txBody>
                  <a:tcPr marL="47625" marR="47625" marT="19050" marB="19050" anchor="ctr">
                    <a:solidFill>
                      <a:srgbClr val="FFFFFF"/>
                    </a:solidFill>
                  </a:tcPr>
                </a:tc>
              </a:tr>
              <a:tr h="495300">
                <a:tc>
                  <a:txBody>
                    <a:bodyPr/>
                    <a:lstStyle/>
                    <a:p>
                      <a:r>
                        <a:rPr sz="1425" b="0">
                          <a:solidFill>
                            <a:srgbClr val="343D42"/>
                          </a:solidFill>
                          <a:latin typeface="Arial"/>
                          <a:ea typeface="Arial"/>
                          <a:cs typeface="Arial"/>
                        </a:rPr>
                        <a:t>SPV size</a:t>
                      </a:r>
                    </a:p>
                  </a:txBody>
                  <a:tcPr marL="47625" marR="47625" marT="19050" marB="19050" anchor="ctr">
                    <a:solidFill>
                      <a:srgbClr val="F3F5F6"/>
                    </a:solidFill>
                  </a:tcPr>
                </a:tc>
                <a:tc>
                  <a:txBody>
                    <a:bodyPr/>
                    <a:lstStyle/>
                    <a:p>
                      <a:r>
                        <a:rPr sz="1425" b="0">
                          <a:solidFill>
                            <a:srgbClr val="343D42"/>
                          </a:solidFill>
                          <a:latin typeface="Arial"/>
                          <a:ea typeface="Arial"/>
                          <a:cs typeface="Arial"/>
                        </a:rPr>
                        <a:t>Seeking aggregate investments of up to $5.5 million.</a:t>
                      </a:r>
                    </a:p>
                  </a:txBody>
                  <a:tcPr marL="47625" marR="47625" marT="19050" marB="19050" anchor="ctr">
                    <a:solidFill>
                      <a:srgbClr val="F3F5F6"/>
                    </a:solidFill>
                  </a:tcPr>
                </a:tc>
              </a:tr>
              <a:tr h="495300">
                <a:tc>
                  <a:txBody>
                    <a:bodyPr/>
                    <a:lstStyle/>
                    <a:p>
                      <a:r>
                        <a:rPr sz="1425" b="0">
                          <a:solidFill>
                            <a:srgbClr val="343D42"/>
                          </a:solidFill>
                          <a:latin typeface="Arial"/>
                          <a:ea typeface="Arial"/>
                          <a:cs typeface="Arial"/>
                        </a:rPr>
                        <a:t>SPV objective</a:t>
                      </a:r>
                    </a:p>
                  </a:txBody>
                  <a:tcPr marL="47625" marR="47625" marT="19050" marB="19050" anchor="ctr">
                    <a:solidFill>
                      <a:srgbClr val="FFFFFF"/>
                    </a:solidFill>
                  </a:tcPr>
                </a:tc>
                <a:tc>
                  <a:txBody>
                    <a:bodyPr/>
                    <a:lstStyle/>
                    <a:p>
                      <a:r>
                        <a:rPr sz="1425" b="0">
                          <a:solidFill>
                            <a:srgbClr val="343D42"/>
                          </a:solidFill>
                          <a:latin typeface="Arial"/>
                          <a:ea typeface="Arial"/>
                          <a:cs typeface="Arial"/>
                        </a:rPr>
                        <a:t>Limited partnership to acquire, develop, and operate 2157 W Patapsco Avenue, Baltimore, MD 21230.</a:t>
                      </a:r>
                    </a:p>
                  </a:txBody>
                  <a:tcPr marL="47625" marR="47625" marT="19050" marB="19050" anchor="ctr">
                    <a:solidFill>
                      <a:srgbClr val="FFFFFF"/>
                    </a:solidFill>
                  </a:tcPr>
                </a:tc>
              </a:tr>
              <a:tr h="495300">
                <a:tc>
                  <a:txBody>
                    <a:bodyPr/>
                    <a:lstStyle/>
                    <a:p>
                      <a:r>
                        <a:rPr sz="1425" b="0">
                          <a:solidFill>
                            <a:srgbClr val="343D42"/>
                          </a:solidFill>
                          <a:latin typeface="Arial"/>
                          <a:ea typeface="Arial"/>
                          <a:cs typeface="Arial"/>
                        </a:rPr>
                        <a:t>Asset fee</a:t>
                      </a:r>
                    </a:p>
                  </a:txBody>
                  <a:tcPr marL="47625" marR="47625" marT="19050" marB="19050" anchor="ctr">
                    <a:solidFill>
                      <a:srgbClr val="F3F5F6"/>
                    </a:solidFill>
                  </a:tcPr>
                </a:tc>
                <a:tc>
                  <a:txBody>
                    <a:bodyPr/>
                    <a:lstStyle/>
                    <a:p>
                      <a:r>
                        <a:rPr sz="1425" b="0">
                          <a:solidFill>
                            <a:srgbClr val="343D42"/>
                          </a:solidFill>
                          <a:latin typeface="Arial"/>
                          <a:ea typeface="Arial"/>
                          <a:cs typeface="Arial"/>
                        </a:rPr>
                        <a:t>0.50% of asset value.</a:t>
                      </a:r>
                    </a:p>
                  </a:txBody>
                  <a:tcPr marL="47625" marR="47625" marT="19050" marB="19050" anchor="ctr">
                    <a:solidFill>
                      <a:srgbClr val="F3F5F6"/>
                    </a:solidFill>
                  </a:tcPr>
                </a:tc>
              </a:tr>
              <a:tr h="495300">
                <a:tc>
                  <a:txBody>
                    <a:bodyPr/>
                    <a:lstStyle/>
                    <a:p>
                      <a:r>
                        <a:rPr sz="1425" b="0">
                          <a:solidFill>
                            <a:srgbClr val="343D42"/>
                          </a:solidFill>
                          <a:latin typeface="Arial"/>
                          <a:ea typeface="Arial"/>
                          <a:cs typeface="Arial"/>
                        </a:rPr>
                        <a:t>Financing and acquisition fees</a:t>
                      </a:r>
                    </a:p>
                  </a:txBody>
                  <a:tcPr marL="47625" marR="47625" marT="19050" marB="19050" anchor="ctr">
                    <a:solidFill>
                      <a:srgbClr val="FFFFFF"/>
                    </a:solidFill>
                  </a:tcPr>
                </a:tc>
                <a:tc>
                  <a:txBody>
                    <a:bodyPr/>
                    <a:lstStyle/>
                    <a:p>
                      <a:r>
                        <a:rPr sz="1425" b="0">
                          <a:solidFill>
                            <a:srgbClr val="343D42"/>
                          </a:solidFill>
                          <a:latin typeface="Arial"/>
                          <a:ea typeface="Arial"/>
                          <a:cs typeface="Arial"/>
                        </a:rPr>
                        <a:t>Financing and acquisition expenses passed through to LPs at cost; a 1.5% acquisition fee is rolled over as equity into the deal post-close.</a:t>
                      </a:r>
                    </a:p>
                  </a:txBody>
                  <a:tcPr marL="47625" marR="47625" marT="19050" marB="19050" anchor="ctr">
                    <a:solidFill>
                      <a:srgbClr val="FFFFFF"/>
                    </a:solidFill>
                  </a:tcPr>
                </a:tc>
              </a:tr>
              <a:tr h="495300">
                <a:tc>
                  <a:txBody>
                    <a:bodyPr/>
                    <a:lstStyle/>
                    <a:p>
                      <a:r>
                        <a:rPr sz="1425" b="0">
                          <a:solidFill>
                            <a:srgbClr val="343D42"/>
                          </a:solidFill>
                          <a:latin typeface="Arial"/>
                          <a:ea typeface="Arial"/>
                          <a:cs typeface="Arial"/>
                        </a:rPr>
                        <a:t>GP carried interest</a:t>
                      </a:r>
                    </a:p>
                  </a:txBody>
                  <a:tcPr marL="47625" marR="47625" marT="19050" marB="19050" anchor="ctr">
                    <a:solidFill>
                      <a:srgbClr val="F3F5F6"/>
                    </a:solidFill>
                  </a:tcPr>
                </a:tc>
                <a:tc>
                  <a:txBody>
                    <a:bodyPr/>
                    <a:lstStyle/>
                    <a:p>
                      <a:r>
                        <a:rPr sz="1425" b="0">
                          <a:solidFill>
                            <a:srgbClr val="343D42"/>
                          </a:solidFill>
                          <a:latin typeface="Arial"/>
                          <a:ea typeface="Arial"/>
                          <a:cs typeface="Arial"/>
                        </a:rPr>
                        <a:t>8.0% preferred return, followed by a 20% profit split with the GP, with catch-up.</a:t>
                      </a:r>
                    </a:p>
                  </a:txBody>
                  <a:tcPr marL="47625" marR="47625" marT="19050" marB="19050" anchor="ctr">
                    <a:solidFill>
                      <a:srgbClr val="F3F5F6"/>
                    </a:solidFill>
                  </a:tcPr>
                </a:tc>
              </a:tr>
            </a:tbl>
          </a:graphicData>
        </a:graphic>
      </p:graphicFrame>
    </p:spTree>
    <p:extLst>
      <p:ext uri="{BB962C8B-B14F-4D97-AF65-F5344CB8AC3E}">
        <p14:creationId xmlns:p14="http://schemas.microsoft.com/office/powerpoint/2010/main" val="167431679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1DA5992-2818-48C3-8CD2-40BCF9C1BC9C}"/>
              </a:ext>
            </a:extLst>
          </p:cNvPr>
          <p:cNvSpPr>
            <a:spLocks xmlns:a="http://schemas.openxmlformats.org/drawingml/2006/main" noGrp="1"/>
          </p:cNvSpPr>
          <p:nvPr/>
        </p:nvSpPr>
        <p:spPr>
          <a:xfrm xmlns:a="http://schemas.openxmlformats.org/drawingml/2006/main">
            <a:off x="457200" y="276225"/>
            <a:ext cx="11277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343D42"/>
                </a:solidFill>
                <a:latin typeface="Arial"/>
                <a:ea typeface="Arial"/>
                <a:cs typeface="Arial"/>
              </a:defRPr>
            </a:defPPr>
          </a:lstStyle>
          <a:p xmlns:a="http://schemas.openxmlformats.org/drawingml/2006/main">
            <a:pPr>
              <a:defRPr sz="2100" b="1">
                <a:solidFill>
                  <a:srgbClr val="343D42"/>
                </a:solidFill>
                <a:latin typeface="Arial"/>
                <a:ea typeface="Arial"/>
                <a:cs typeface="Arial"/>
              </a:defRPr>
            </a:pPr>
            <a:r>
              <a:rPr sz="2100" b="1">
                <a:solidFill>
                  <a:srgbClr val="343D42"/>
                </a:solidFill>
                <a:latin typeface="Arial"/>
                <a:ea typeface="Arial"/>
                <a:cs typeface="Arial"/>
              </a:rPr>
              <a:t>Team</a:t>
            </a:r>
          </a:p>
        </p:txBody>
      </p:sp>
      <p:sp>
        <p:nvSpPr>
          <p:cNvPr id="2" name="">
            <a:extLst xmlns:a="http://schemas.openxmlformats.org/drawingml/2006/main">
              <a:ext uri="{FF2B5EF4-FFF2-40B4-BE49-F238E27FC236}">
                <a16:creationId xmlns:a16="http://schemas.microsoft.com/office/drawing/2014/main" id="{68CC4C69-1BCC-4A28-9132-7B691EC2CA7A}"/>
              </a:ext>
            </a:extLst>
          </p:cNvPr>
          <p:cNvSpPr>
            <a:spLocks xmlns:a="http://schemas.openxmlformats.org/drawingml/2006/main" noGrp="1"/>
          </p:cNvSpPr>
          <p:nvPr/>
        </p:nvSpPr>
        <p:spPr>
          <a:xfrm xmlns:a="http://schemas.openxmlformats.org/drawingml/2006/main">
            <a:off x="457200" y="800100"/>
            <a:ext cx="11277600" cy="9525"/>
          </a:xfrm>
          <a:prstGeom xmlns:a="http://schemas.openxmlformats.org/drawingml/2006/main" prst="rect">
            <a:avLst/>
          </a:prstGeom>
          <a:solidFill xmlns:a="http://schemas.openxmlformats.org/drawingml/2006/main">
            <a:srgbClr val="B9B9B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78BC4F8-7BF7-40AB-81B7-89FB9CC74DEF}"/>
              </a:ext>
            </a:extLst>
          </p:cNvPr>
          <p:cNvSpPr>
            <a:spLocks xmlns:a="http://schemas.openxmlformats.org/drawingml/2006/main" noGrp="1"/>
          </p:cNvSpPr>
          <p:nvPr/>
        </p:nvSpPr>
        <p:spPr>
          <a:xfrm xmlns:a="http://schemas.openxmlformats.org/drawingml/2006/main">
            <a:off x="457200" y="6257925"/>
            <a:ext cx="11277600" cy="38100"/>
          </a:xfrm>
          <a:prstGeom xmlns:a="http://schemas.openxmlformats.org/drawingml/2006/main" prst="rect">
            <a:avLst/>
          </a:prstGeom>
          <a:solidFill xmlns:a="http://schemas.openxmlformats.org/drawingml/2006/main">
            <a:srgbClr val="343D4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D41DB3C-28DF-4972-982D-9E41BA093836}"/>
              </a:ext>
            </a:extLst>
          </p:cNvPr>
          <p:cNvSpPr>
            <a:spLocks xmlns:a="http://schemas.openxmlformats.org/drawingml/2006/main" noGrp="1"/>
          </p:cNvSpPr>
          <p:nvPr/>
        </p:nvSpPr>
        <p:spPr>
          <a:xfrm xmlns:a="http://schemas.openxmlformats.org/drawingml/2006/main">
            <a:off x="457200" y="6238875"/>
            <a:ext cx="11277600" cy="19050"/>
          </a:xfrm>
          <a:prstGeom xmlns:a="http://schemas.openxmlformats.org/drawingml/2006/main" prst="rect">
            <a:avLst/>
          </a:prstGeom>
          <a:solidFill xmlns:a="http://schemas.openxmlformats.org/drawingml/2006/main">
            <a:srgbClr val="C2674B"/>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C6086D95-7124-4F8D-BB8E-EBF81B45D420}"/>
              </a:ext>
            </a:extLst>
          </p:cNvPr>
          <p:cNvPicPr>
            <a:picLocks xmlns:a="http://schemas.openxmlformats.org/drawingml/2006/main" noChangeAspect="1"/>
          </p:cNvPicPr>
          <p:nvPr/>
        </p:nvPicPr>
        <p:blipFill>
          <a:blip xmlns:r="http://schemas.openxmlformats.org/officeDocument/2006/relationships" xmlns:a="http://schemas.openxmlformats.org/drawingml/2006/main" r:embed="R5a63b5d332224abe"/>
          <a:stretch xmlns:a="http://schemas.openxmlformats.org/drawingml/2006/main"/>
        </p:blipFill>
        <p:spPr>
          <a:xfrm xmlns:a="http://schemas.openxmlformats.org/drawingml/2006/main">
            <a:off x="457200" y="6387465"/>
            <a:ext cx="1609725" cy="32194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3DEF57C-BA33-425E-8937-6A083B14FB9E}"/>
              </a:ext>
            </a:extLst>
          </p:cNvPr>
          <p:cNvSpPr>
            <a:spLocks xmlns:a="http://schemas.openxmlformats.org/drawingml/2006/main" noGrp="1"/>
          </p:cNvSpPr>
          <p:nvPr/>
        </p:nvSpPr>
        <p:spPr>
          <a:xfrm xmlns:a="http://schemas.openxmlformats.org/drawingml/2006/main">
            <a:off x="11382375" y="64579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747474"/>
                </a:solidFill>
                <a:latin typeface="Arial"/>
                <a:ea typeface="Arial"/>
                <a:cs typeface="Arial"/>
              </a:defRPr>
            </a:defPPr>
          </a:lstStyle>
          <a:p xmlns:a="http://schemas.openxmlformats.org/drawingml/2006/main">
            <a:pPr>
              <a:defRPr sz="900" b="0">
                <a:solidFill>
                  <a:srgbClr val="747474"/>
                </a:solidFill>
                <a:latin typeface="Arial"/>
                <a:ea typeface="Arial"/>
                <a:cs typeface="Arial"/>
              </a:defRPr>
            </a:pPr>
            <a:r>
              <a:rPr sz="900" b="0">
                <a:solidFill>
                  <a:srgbClr val="747474"/>
                </a:solidFill>
                <a:latin typeface="Arial"/>
                <a:ea typeface="Arial"/>
                <a:cs typeface="Arial"/>
              </a:rPr>
              <a:t>20</a:t>
            </a:r>
          </a:p>
        </p:txBody>
      </p:sp>
      <p:pic>
        <p:nvPicPr>
          <p:cNvPr id="7" name="">
            <a:extLst xmlns:a="http://schemas.openxmlformats.org/drawingml/2006/main">
              <a:ext uri="{FF2B5EF4-FFF2-40B4-BE49-F238E27FC236}">
                <a16:creationId xmlns:a16="http://schemas.microsoft.com/office/drawing/2014/main" id="{FA98A161-0EEC-480E-A8F7-88A35314FEE9}"/>
              </a:ext>
            </a:extLst>
          </p:cNvPr>
          <p:cNvPicPr>
            <a:picLocks xmlns:a="http://schemas.openxmlformats.org/drawingml/2006/main" noChangeAspect="1"/>
          </p:cNvPicPr>
          <p:nvPr/>
        </p:nvPicPr>
        <p:blipFill>
          <a:blip xmlns:r="http://schemas.openxmlformats.org/officeDocument/2006/relationships" xmlns:a="http://schemas.openxmlformats.org/drawingml/2006/main" r:embed="R340253e423624d3e"/>
          <a:stretch xmlns:a="http://schemas.openxmlformats.org/drawingml/2006/main"/>
        </p:blipFill>
        <p:spPr>
          <a:xfrm xmlns:a="http://schemas.openxmlformats.org/drawingml/2006/main">
            <a:off x="459961" y="1066800"/>
            <a:ext cx="1213678" cy="14954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F15D560D-CEB0-4726-8C3C-B4D8C535C95B}"/>
              </a:ext>
            </a:extLst>
          </p:cNvPr>
          <p:cNvSpPr>
            <a:spLocks xmlns:a="http://schemas.openxmlformats.org/drawingml/2006/main" noGrp="1"/>
          </p:cNvSpPr>
          <p:nvPr/>
        </p:nvSpPr>
        <p:spPr>
          <a:xfrm xmlns:a="http://schemas.openxmlformats.org/drawingml/2006/main">
            <a:off x="1943100" y="1066800"/>
            <a:ext cx="9791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C2674B"/>
                </a:solidFill>
                <a:latin typeface="Arial"/>
                <a:ea typeface="Arial"/>
                <a:cs typeface="Arial"/>
              </a:defRPr>
            </a:defPPr>
          </a:lstStyle>
          <a:p xmlns:a="http://schemas.openxmlformats.org/drawingml/2006/main">
            <a:pPr>
              <a:defRPr sz="1575" b="1">
                <a:solidFill>
                  <a:srgbClr val="C2674B"/>
                </a:solidFill>
                <a:latin typeface="Arial"/>
                <a:ea typeface="Arial"/>
                <a:cs typeface="Arial"/>
              </a:defRPr>
            </a:pPr>
            <a:r>
              <a:rPr sz="1575" b="1">
                <a:solidFill>
                  <a:srgbClr val="C2674B"/>
                </a:solidFill>
                <a:latin typeface="Arial"/>
                <a:ea typeface="Arial"/>
                <a:cs typeface="Arial"/>
              </a:rPr>
              <a:t>Manpreet Singh, Chief Investment Officer</a:t>
            </a:r>
          </a:p>
        </p:txBody>
      </p:sp>
      <p:sp>
        <p:nvSpPr>
          <p:cNvPr id="9" name="">
            <a:extLst xmlns:a="http://schemas.openxmlformats.org/drawingml/2006/main">
              <a:ext uri="{FF2B5EF4-FFF2-40B4-BE49-F238E27FC236}">
                <a16:creationId xmlns:a16="http://schemas.microsoft.com/office/drawing/2014/main" id="{ECCF294C-D8A5-4C44-A609-4B7D16999728}"/>
              </a:ext>
            </a:extLst>
          </p:cNvPr>
          <p:cNvSpPr>
            <a:spLocks xmlns:a="http://schemas.openxmlformats.org/drawingml/2006/main" noGrp="1"/>
          </p:cNvSpPr>
          <p:nvPr/>
        </p:nvSpPr>
        <p:spPr>
          <a:xfrm xmlns:a="http://schemas.openxmlformats.org/drawingml/2006/main">
            <a:off x="1943100" y="1428750"/>
            <a:ext cx="97917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43D42"/>
                </a:solidFill>
                <a:latin typeface="Arial"/>
                <a:ea typeface="Arial"/>
                <a:cs typeface="Arial"/>
              </a:defRPr>
            </a:defPPr>
          </a:lstStyle>
          <a:p xmlns:a="http://schemas.openxmlformats.org/drawingml/2006/main">
            <a:pPr>
              <a:defRPr sz="1200" b="0">
                <a:solidFill>
                  <a:srgbClr val="343D42"/>
                </a:solidFill>
                <a:latin typeface="Arial"/>
                <a:ea typeface="Arial"/>
                <a:cs typeface="Arial"/>
              </a:defRPr>
            </a:pPr>
            <a:r>
              <a:rPr sz="1200" b="0">
                <a:solidFill>
                  <a:srgbClr val="343D42"/>
                </a:solidFill>
                <a:latin typeface="Arial"/>
                <a:ea typeface="Arial"/>
                <a:cs typeface="Arial"/>
              </a:rPr>
              <a:t>Manpreet Singh, CFA, is the founder and CIO of Singh Capital Partners, a multifamily office investing in venture capital, private equity, and real estate. SCP invests on behalf of Fortune 500 CXOs, unicorn founders, and operators across North America, Europe, and Asia. He co-founded TalkLocal, serving customers in 49 states and placing over two million contractor calls. At Profit Investment Management, he helped grow AUM from $20 million to over $2 billion. He holds an MBA from Wharton and a B.S. in Finance from the University of Maryland, and is a CFA charterholder.</a:t>
            </a:r>
          </a:p>
        </p:txBody>
      </p:sp>
      <p:sp>
        <p:nvSpPr>
          <p:cNvPr id="10" name="">
            <a:extLst xmlns:a="http://schemas.openxmlformats.org/drawingml/2006/main">
              <a:ext uri="{FF2B5EF4-FFF2-40B4-BE49-F238E27FC236}">
                <a16:creationId xmlns:a16="http://schemas.microsoft.com/office/drawing/2014/main" id="{31A9FB9A-92D6-4CE5-8E8B-7EF7516F1702}"/>
              </a:ext>
            </a:extLst>
          </p:cNvPr>
          <p:cNvSpPr>
            <a:spLocks xmlns:a="http://schemas.openxmlformats.org/drawingml/2006/main" noGrp="1"/>
          </p:cNvSpPr>
          <p:nvPr/>
        </p:nvSpPr>
        <p:spPr>
          <a:xfrm xmlns:a="http://schemas.openxmlformats.org/drawingml/2006/main">
            <a:off x="457200" y="2647950"/>
            <a:ext cx="11277600" cy="9525"/>
          </a:xfrm>
          <a:prstGeom xmlns:a="http://schemas.openxmlformats.org/drawingml/2006/main" prst="rect">
            <a:avLst/>
          </a:prstGeom>
          <a:solidFill xmlns:a="http://schemas.openxmlformats.org/drawingml/2006/main">
            <a:srgbClr val="B9B9B9"/>
          </a:solidFill>
          <a:ln xmlns:a="http://schemas.openxmlformats.org/drawingml/2006/main" w="0">
            <a:noFill/>
          </a:ln>
        </p:spPr>
      </p:sp>
      <p:pic>
        <p:nvPicPr>
          <p:cNvPr id="11" name="">
            <a:extLst xmlns:a="http://schemas.openxmlformats.org/drawingml/2006/main">
              <a:ext uri="{FF2B5EF4-FFF2-40B4-BE49-F238E27FC236}">
                <a16:creationId xmlns:a16="http://schemas.microsoft.com/office/drawing/2014/main" id="{7B9D642B-E670-4094-A1AA-86AAF7113F29}"/>
              </a:ext>
            </a:extLst>
          </p:cNvPr>
          <p:cNvPicPr>
            <a:picLocks xmlns:a="http://schemas.openxmlformats.org/drawingml/2006/main" noChangeAspect="1"/>
          </p:cNvPicPr>
          <p:nvPr/>
        </p:nvPicPr>
        <p:blipFill>
          <a:blip xmlns:r="http://schemas.openxmlformats.org/officeDocument/2006/relationships" xmlns:a="http://schemas.openxmlformats.org/drawingml/2006/main" r:embed="R5c6eaeec1c604e1c"/>
          <a:stretch xmlns:a="http://schemas.openxmlformats.org/drawingml/2006/main"/>
        </p:blipFill>
        <p:spPr>
          <a:xfrm xmlns:a="http://schemas.openxmlformats.org/drawingml/2006/main">
            <a:off x="457200" y="2805113"/>
            <a:ext cx="1219200" cy="13716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456B6277-4F43-437D-B952-4492CA03E215}"/>
              </a:ext>
            </a:extLst>
          </p:cNvPr>
          <p:cNvSpPr>
            <a:spLocks xmlns:a="http://schemas.openxmlformats.org/drawingml/2006/main" noGrp="1"/>
          </p:cNvSpPr>
          <p:nvPr/>
        </p:nvSpPr>
        <p:spPr>
          <a:xfrm xmlns:a="http://schemas.openxmlformats.org/drawingml/2006/main">
            <a:off x="1943100" y="2743200"/>
            <a:ext cx="9791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C2674B"/>
                </a:solidFill>
                <a:latin typeface="Arial"/>
                <a:ea typeface="Arial"/>
                <a:cs typeface="Arial"/>
              </a:defRPr>
            </a:defPPr>
          </a:lstStyle>
          <a:p xmlns:a="http://schemas.openxmlformats.org/drawingml/2006/main">
            <a:pPr>
              <a:defRPr sz="1575" b="1">
                <a:solidFill>
                  <a:srgbClr val="C2674B"/>
                </a:solidFill>
                <a:latin typeface="Arial"/>
                <a:ea typeface="Arial"/>
                <a:cs typeface="Arial"/>
              </a:defRPr>
            </a:pPr>
            <a:r>
              <a:rPr sz="1575" b="1">
                <a:solidFill>
                  <a:srgbClr val="C2674B"/>
                </a:solidFill>
                <a:latin typeface="Arial"/>
                <a:ea typeface="Arial"/>
                <a:cs typeface="Arial"/>
              </a:rPr>
              <a:t>Vishal Khosla, Partner</a:t>
            </a:r>
          </a:p>
        </p:txBody>
      </p:sp>
      <p:sp>
        <p:nvSpPr>
          <p:cNvPr id="13" name="">
            <a:extLst xmlns:a="http://schemas.openxmlformats.org/drawingml/2006/main">
              <a:ext uri="{FF2B5EF4-FFF2-40B4-BE49-F238E27FC236}">
                <a16:creationId xmlns:a16="http://schemas.microsoft.com/office/drawing/2014/main" id="{3137AFC2-84D5-42F6-808A-36EBD5A92799}"/>
              </a:ext>
            </a:extLst>
          </p:cNvPr>
          <p:cNvSpPr>
            <a:spLocks xmlns:a="http://schemas.openxmlformats.org/drawingml/2006/main" noGrp="1"/>
          </p:cNvSpPr>
          <p:nvPr/>
        </p:nvSpPr>
        <p:spPr>
          <a:xfrm xmlns:a="http://schemas.openxmlformats.org/drawingml/2006/main">
            <a:off x="1943100" y="3105150"/>
            <a:ext cx="97917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43D42"/>
                </a:solidFill>
                <a:latin typeface="Arial"/>
                <a:ea typeface="Arial"/>
                <a:cs typeface="Arial"/>
              </a:defRPr>
            </a:defPPr>
          </a:lstStyle>
          <a:p xmlns:a="http://schemas.openxmlformats.org/drawingml/2006/main">
            <a:pPr>
              <a:defRPr sz="1200" b="0">
                <a:solidFill>
                  <a:srgbClr val="343D42"/>
                </a:solidFill>
                <a:latin typeface="Arial"/>
                <a:ea typeface="Arial"/>
                <a:cs typeface="Arial"/>
              </a:defRPr>
            </a:pPr>
            <a:r>
              <a:rPr sz="1200" b="0">
                <a:solidFill>
                  <a:srgbClr val="343D42"/>
                </a:solidFill>
                <a:latin typeface="Arial"/>
                <a:ea typeface="Arial"/>
                <a:cs typeface="Arial"/>
              </a:rPr>
              <a:t>Vishal Khosla has worked in real estate since 2011 and is President and Managing Principal of KPI Commercial &amp; KPI Management in Bethesda, Maryland. His experience spans development, acquisition, financing, and sales/lease transactions exceeding $1 billion. His DMV relationships support local off-market sourcing and value-add execution. Previously, he worked as an investment advisor at Wells Fargo Advisors and Morgan Stanley and held Series 7 and 66 licenses. He holds a B.A. in Economics from the University of Maryland.</a:t>
            </a:r>
          </a:p>
        </p:txBody>
      </p:sp>
      <p:sp>
        <p:nvSpPr>
          <p:cNvPr id="14" name="">
            <a:extLst xmlns:a="http://schemas.openxmlformats.org/drawingml/2006/main">
              <a:ext uri="{FF2B5EF4-FFF2-40B4-BE49-F238E27FC236}">
                <a16:creationId xmlns:a16="http://schemas.microsoft.com/office/drawing/2014/main" id="{03575CEC-B3A9-4522-9D88-C397D150B26C}"/>
              </a:ext>
            </a:extLst>
          </p:cNvPr>
          <p:cNvSpPr>
            <a:spLocks xmlns:a="http://schemas.openxmlformats.org/drawingml/2006/main" noGrp="1"/>
          </p:cNvSpPr>
          <p:nvPr/>
        </p:nvSpPr>
        <p:spPr>
          <a:xfrm xmlns:a="http://schemas.openxmlformats.org/drawingml/2006/main">
            <a:off x="457200" y="4324350"/>
            <a:ext cx="11277600" cy="9525"/>
          </a:xfrm>
          <a:prstGeom xmlns:a="http://schemas.openxmlformats.org/drawingml/2006/main" prst="rect">
            <a:avLst/>
          </a:prstGeom>
          <a:solidFill xmlns:a="http://schemas.openxmlformats.org/drawingml/2006/main">
            <a:srgbClr val="B9B9B9"/>
          </a:solidFill>
          <a:ln xmlns:a="http://schemas.openxmlformats.org/drawingml/2006/main" w="0">
            <a:noFill/>
          </a:ln>
        </p:spPr>
      </p:sp>
      <p:pic>
        <p:nvPicPr>
          <p:cNvPr id="15" name="">
            <a:extLst xmlns:a="http://schemas.openxmlformats.org/drawingml/2006/main">
              <a:ext uri="{FF2B5EF4-FFF2-40B4-BE49-F238E27FC236}">
                <a16:creationId xmlns:a16="http://schemas.microsoft.com/office/drawing/2014/main" id="{3B31AF75-1D5E-4050-A6AD-1AEAF4A85981}"/>
              </a:ext>
            </a:extLst>
          </p:cNvPr>
          <p:cNvPicPr>
            <a:picLocks xmlns:a="http://schemas.openxmlformats.org/drawingml/2006/main" noChangeAspect="1"/>
          </p:cNvPicPr>
          <p:nvPr/>
        </p:nvPicPr>
        <p:blipFill>
          <a:blip xmlns:r="http://schemas.openxmlformats.org/officeDocument/2006/relationships" xmlns:a="http://schemas.openxmlformats.org/drawingml/2006/main" r:embed="R82e5eae924bb48a7"/>
          <a:stretch xmlns:a="http://schemas.openxmlformats.org/drawingml/2006/main"/>
        </p:blipFill>
        <p:spPr>
          <a:xfrm xmlns:a="http://schemas.openxmlformats.org/drawingml/2006/main">
            <a:off x="457200" y="4481513"/>
            <a:ext cx="1219200" cy="13716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DDD010AF-8BCC-459C-8640-3D8868538171}"/>
              </a:ext>
            </a:extLst>
          </p:cNvPr>
          <p:cNvSpPr>
            <a:spLocks xmlns:a="http://schemas.openxmlformats.org/drawingml/2006/main" noGrp="1"/>
          </p:cNvSpPr>
          <p:nvPr/>
        </p:nvSpPr>
        <p:spPr>
          <a:xfrm xmlns:a="http://schemas.openxmlformats.org/drawingml/2006/main">
            <a:off x="1943100" y="4419600"/>
            <a:ext cx="9791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C2674B"/>
                </a:solidFill>
                <a:latin typeface="Arial"/>
                <a:ea typeface="Arial"/>
                <a:cs typeface="Arial"/>
              </a:defRPr>
            </a:defPPr>
          </a:lstStyle>
          <a:p xmlns:a="http://schemas.openxmlformats.org/drawingml/2006/main">
            <a:pPr>
              <a:defRPr sz="1575" b="1">
                <a:solidFill>
                  <a:srgbClr val="C2674B"/>
                </a:solidFill>
                <a:latin typeface="Arial"/>
                <a:ea typeface="Arial"/>
                <a:cs typeface="Arial"/>
              </a:defRPr>
            </a:pPr>
            <a:r>
              <a:rPr sz="1575" b="1">
                <a:solidFill>
                  <a:srgbClr val="C2674B"/>
                </a:solidFill>
                <a:latin typeface="Arial"/>
                <a:ea typeface="Arial"/>
                <a:cs typeface="Arial"/>
              </a:rPr>
              <a:t>Gurpreet Singh, Partner</a:t>
            </a:r>
          </a:p>
        </p:txBody>
      </p:sp>
      <p:sp>
        <p:nvSpPr>
          <p:cNvPr id="17" name="">
            <a:extLst xmlns:a="http://schemas.openxmlformats.org/drawingml/2006/main">
              <a:ext uri="{FF2B5EF4-FFF2-40B4-BE49-F238E27FC236}">
                <a16:creationId xmlns:a16="http://schemas.microsoft.com/office/drawing/2014/main" id="{21510CF0-734A-41F2-B2A3-1012142513E6}"/>
              </a:ext>
            </a:extLst>
          </p:cNvPr>
          <p:cNvSpPr>
            <a:spLocks xmlns:a="http://schemas.openxmlformats.org/drawingml/2006/main" noGrp="1"/>
          </p:cNvSpPr>
          <p:nvPr/>
        </p:nvSpPr>
        <p:spPr>
          <a:xfrm xmlns:a="http://schemas.openxmlformats.org/drawingml/2006/main">
            <a:off x="1943100" y="4781550"/>
            <a:ext cx="97917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343D42"/>
                </a:solidFill>
                <a:latin typeface="Arial"/>
                <a:ea typeface="Arial"/>
                <a:cs typeface="Arial"/>
              </a:defRPr>
            </a:defPPr>
          </a:lstStyle>
          <a:p xmlns:a="http://schemas.openxmlformats.org/drawingml/2006/main">
            <a:pPr>
              <a:defRPr sz="1200" b="0">
                <a:solidFill>
                  <a:srgbClr val="343D42"/>
                </a:solidFill>
                <a:latin typeface="Arial"/>
                <a:ea typeface="Arial"/>
                <a:cs typeface="Arial"/>
              </a:defRPr>
            </a:pPr>
            <a:r>
              <a:rPr sz="1200" b="0">
                <a:solidFill>
                  <a:srgbClr val="343D42"/>
                </a:solidFill>
                <a:latin typeface="Arial"/>
                <a:ea typeface="Arial"/>
                <a:cs typeface="Arial"/>
              </a:rPr>
              <a:t>Gurpreet “GP” Singh is CEO and Co-Founder of TalkLocal. He has invested directly in residential, retail, office, and industrial real estate for almost 20 years and has experience with Section 8 housing in Montgomery County, Maryland. He serves as a director of the LaKan Foundation and supports Maryland nonprofits. He holds an M.S. in Computer Science with a concentration in Artificial Intelligence from Johns Hopkins University and a B.S. in Computer Science from the University of Maryland.</a:t>
            </a:r>
          </a:p>
        </p:txBody>
      </p:sp>
    </p:spTree>
    <p:extLst>
      <p:ext uri="{BB962C8B-B14F-4D97-AF65-F5344CB8AC3E}">
        <p14:creationId xmlns:p14="http://schemas.microsoft.com/office/powerpoint/2010/main" val="1778055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2026-10-11T06:26:06.4050000Z</dcterms:created>
  <dcterms:modified xsi:type="dcterms:W3CDTF">2026-10-11T06:26:06.4050000Z</dcterms:modified>
</coreProperties>
</file>