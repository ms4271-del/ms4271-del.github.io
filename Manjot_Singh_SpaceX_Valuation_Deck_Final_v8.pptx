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charts/chart2.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Launch</c:v>
                </c:pt>
              </c:strCache>
            </c:strRef>
          </c:tx>
          <c:spPr>
            <a:solidFill>
              <a:srgbClr val="D47C28"/>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Sheet1!$A$2:$A$3</c:f>
              <c:multiLvlStrCache>
                <c:ptCount val="2"/>
                <c:lvl>
                  <c:pt idx="0">
                    <c:v>2025 mix</c:v>
                  </c:pt>
                  <c:pt idx="1">
                    <c:v>2035 mix</c:v>
                  </c:pt>
                </c:lvl>
              </c:multiLvlStrCache>
            </c:multiLvlStrRef>
          </c:cat>
          <c:val>
            <c:numRef>
              <c:f>Sheet1!$B$2:$B$3</c:f>
              <c:numCache>
                <c:formatCode>General</c:formatCode>
                <c:ptCount val="2"/>
                <c:pt idx="0">
                  <c:v>22</c:v>
                </c:pt>
                <c:pt idx="1">
                  <c:v>7</c:v>
                </c:pt>
              </c:numCache>
            </c:numRef>
          </c:val>
        </c:ser>
        <c:ser>
          <c:idx val="1"/>
          <c:order val="1"/>
          <c:tx>
            <c:strRef>
              <c:f>Sheet1!$C$1</c:f>
              <c:strCache>
                <c:ptCount val="1"/>
                <c:pt idx="0">
                  <c:v>Starlink</c:v>
                </c:pt>
              </c:strCache>
            </c:strRef>
          </c:tx>
          <c:spPr>
            <a:solidFill>
              <a:srgbClr val="0F636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Sheet1!$A$2:$A$3</c:f>
              <c:multiLvlStrCache>
                <c:ptCount val="2"/>
                <c:lvl>
                  <c:pt idx="0">
                    <c:v>2025 mix</c:v>
                  </c:pt>
                  <c:pt idx="1">
                    <c:v>2035 mix</c:v>
                  </c:pt>
                </c:lvl>
              </c:multiLvlStrCache>
            </c:multiLvlStrRef>
          </c:cat>
          <c:val>
            <c:numRef>
              <c:f>Sheet1!$C$2:$C$3</c:f>
              <c:numCache>
                <c:formatCode>General</c:formatCode>
                <c:ptCount val="2"/>
                <c:pt idx="0">
                  <c:v>61</c:v>
                </c:pt>
                <c:pt idx="1">
                  <c:v>33</c:v>
                </c:pt>
              </c:numCache>
            </c:numRef>
          </c:val>
        </c:ser>
        <c:ser>
          <c:idx val="2"/>
          <c:order val="2"/>
          <c:tx>
            <c:strRef>
              <c:f>Sheet1!$D$1</c:f>
              <c:strCache>
                <c:ptCount val="1"/>
                <c:pt idx="0">
                  <c:v>AI / Compute</c:v>
                </c:pt>
              </c:strCache>
            </c:strRef>
          </c:tx>
          <c:spPr>
            <a:solidFill>
              <a:srgbClr val="17324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Sheet1!$A$2:$A$3</c:f>
              <c:multiLvlStrCache>
                <c:ptCount val="2"/>
                <c:lvl>
                  <c:pt idx="0">
                    <c:v>2025 mix</c:v>
                  </c:pt>
                  <c:pt idx="1">
                    <c:v>2035 mix</c:v>
                  </c:pt>
                </c:lvl>
              </c:multiLvlStrCache>
            </c:multiLvlStrRef>
          </c:cat>
          <c:val>
            <c:numRef>
              <c:f>Sheet1!$D$2:$D$3</c:f>
              <c:numCache>
                <c:formatCode>General</c:formatCode>
                <c:ptCount val="2"/>
                <c:pt idx="0">
                  <c:v>17</c:v>
                </c:pt>
                <c:pt idx="1">
                  <c:v>60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12700" cap="flat">
              <a:solidFill>
                <a:srgbClr val="88888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majorUnit val="25"/>
      </c:valAx>
      <c:spPr>
        <a:noFill/>
        <a:ln>
          <a:noFill/>
        </a:ln>
        <a:effectLst/>
      </c:spPr>
    </c:plotArea>
    <c:legend>
      <c:legendPos val="b"/>
      <c:overlay val="0"/>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Base</c:v>
                </c:pt>
              </c:strCache>
            </c:strRef>
          </c:tx>
          <c:spPr>
            <a:solidFill>
              <a:srgbClr val="F6F2EA"/>
            </a:solidFill>
            <a:effectLst/>
          </c:spPr>
          <c:invertIfNegative val="0"/>
          <c:dLbls>
            <c:numFmt formatCode="#,##0"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PV FCF</c:v>
                  </c:pt>
                  <c:pt idx="1">
                    <c:v>PV TV</c:v>
                  </c:pt>
                  <c:pt idx="2">
                    <c:v>EV</c:v>
                  </c:pt>
                  <c:pt idx="3">
                    <c:v>Net Cash</c:v>
                  </c:pt>
                  <c:pt idx="4">
                    <c:v>Equity</c:v>
                  </c:pt>
                </c:lvl>
              </c:multiLvlStrCache>
            </c:multiLvlStrRef>
          </c:cat>
          <c:val>
            <c:numRef>
              <c:f>Sheet1!$B$2:$B$6</c:f>
              <c:numCache>
                <c:formatCode>General</c:formatCode>
                <c:ptCount val="5"/>
                <c:pt idx="0">
                  <c:v>0</c:v>
                </c:pt>
                <c:pt idx="1">
                  <c:v>238.3</c:v>
                </c:pt>
                <c:pt idx="2">
                  <c:v>0</c:v>
                </c:pt>
                <c:pt idx="3">
                  <c:v>1163.7</c:v>
                </c:pt>
                <c:pt idx="4">
                  <c:v>0</c:v>
                </c:pt>
              </c:numCache>
            </c:numRef>
          </c:val>
        </c:ser>
        <c:ser>
          <c:idx val="1"/>
          <c:order val="1"/>
          <c:tx>
            <c:strRef>
              <c:f>Sheet1!$C$1</c:f>
              <c:strCache>
                <c:ptCount val="1"/>
                <c:pt idx="0">
                  <c:v>Value</c:v>
                </c:pt>
              </c:strCache>
            </c:strRef>
          </c:tx>
          <c:spPr>
            <a:solidFill>
              <a:srgbClr val="0F636B"/>
            </a:solidFill>
            <a:effectLst/>
          </c:spPr>
          <c:invertIfNegative val="0"/>
          <c:dLbls>
            <c:numFmt formatCode="#,##0"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PV FCF</c:v>
                  </c:pt>
                  <c:pt idx="1">
                    <c:v>PV TV</c:v>
                  </c:pt>
                  <c:pt idx="2">
                    <c:v>EV</c:v>
                  </c:pt>
                  <c:pt idx="3">
                    <c:v>Net Cash</c:v>
                  </c:pt>
                  <c:pt idx="4">
                    <c:v>Equity</c:v>
                  </c:pt>
                </c:lvl>
              </c:multiLvlStrCache>
            </c:multiLvlStrRef>
          </c:cat>
          <c:val>
            <c:numRef>
              <c:f>Sheet1!$C$2:$C$6</c:f>
              <c:numCache>
                <c:formatCode>General</c:formatCode>
                <c:ptCount val="5"/>
                <c:pt idx="0">
                  <c:v>238.3</c:v>
                </c:pt>
                <c:pt idx="1">
                  <c:v>925.4</c:v>
                </c:pt>
                <c:pt idx="2">
                  <c:v>1163.7</c:v>
                </c:pt>
                <c:pt idx="3">
                  <c:v>61</c:v>
                </c:pt>
                <c:pt idx="4">
                  <c:v>1224.7</c:v>
                </c:pt>
              </c:numCache>
            </c:numRef>
          </c:val>
        </c:ser>
        <c:dLbls>
          <c:numFmt formatCode="#,##0"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5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300"/>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majorUnit val="325"/>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EV / Revenue</c:v>
                </c:pt>
              </c:strCache>
            </c:strRef>
          </c:tx>
          <c:spPr>
            <a:solidFill>
              <a:srgbClr val="0F636B"/>
            </a:solidFill>
            <a:effectLst/>
          </c:spPr>
          <c:invertIfNegative val="0"/>
          <c:dLbls>
            <c:numFmt formatCode="#,##0"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cat>
            <c:multiLvlStrRef>
              <c:f>Sheet1!$A$2:$A$8</c:f>
              <c:multiLvlStrCache>
                <c:ptCount val="7"/>
                <c:lvl>
                  <c:pt idx="0">
                    <c:v>RKLB</c:v>
                  </c:pt>
                  <c:pt idx="1">
                    <c:v>VSAT</c:v>
                  </c:pt>
                  <c:pt idx="2">
                    <c:v>IRDM</c:v>
                  </c:pt>
                  <c:pt idx="3">
                    <c:v>CRWV</c:v>
                  </c:pt>
                  <c:pt idx="4">
                    <c:v>LMT</c:v>
                  </c:pt>
                  <c:pt idx="5">
                    <c:v>SPCX 2026E</c:v>
                  </c:pt>
                  <c:pt idx="6">
                    <c:v>SPCX 2035E</c:v>
                  </c:pt>
                </c:lvl>
              </c:multiLvlStrCache>
            </c:multiLvlStrRef>
          </c:cat>
          <c:val>
            <c:numRef>
              <c:f>Sheet1!$B$2:$B$8</c:f>
              <c:numCache>
                <c:formatCode>General</c:formatCode>
                <c:ptCount val="7"/>
                <c:pt idx="0">
                  <c:v>59.1</c:v>
                </c:pt>
                <c:pt idx="1">
                  <c:v>3.3</c:v>
                </c:pt>
                <c:pt idx="2">
                  <c:v>8</c:v>
                </c:pt>
                <c:pt idx="3">
                  <c:v>11.7</c:v>
                </c:pt>
                <c:pt idx="4">
                  <c:v>1.8</c:v>
                </c:pt>
                <c:pt idx="5">
                  <c:v>33.4</c:v>
                </c:pt>
                <c:pt idx="6">
                  <c:v>4.1</c:v>
                </c:pt>
              </c:numCache>
            </c:numRef>
          </c:val>
        </c:ser>
        <c:dLbls>
          <c:numFmt formatCode="#,##0"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65"/>
          <c:min val="0"/>
        </c:scaling>
        <c:delete val="0"/>
        <c:axPos val="b"/>
        <c:majorGridlines>
          <c:spPr>
            <a:ln w="12700" cap="flat">
              <a:solidFill>
                <a:srgbClr val="88888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www.morningstar.com/stocks/spacex-what-investors-need-know-about-its-enormous-upcoming-ipo" TargetMode="External"/><Relationship Id="rId2" Type="http://schemas.openxmlformats.org/officeDocument/2006/relationships/hyperlink" Target="https://www.morningstar.com/stocks/spacex-what-investors-need-know-about-its-enormous-upcoming-ipo" TargetMode="External"/><Relationship Id="rId3" Type="http://schemas.openxmlformats.org/officeDocument/2006/relationships/hyperlink" Target="https://www.sec.gov/edgar/search/" TargetMode="External"/><Relationship Id="rId4" Type="http://schemas.openxmlformats.org/officeDocument/2006/relationships/hyperlink" Target="https://www.sec.gov/edgar/search/" TargetMode="External"/><Relationship Id="rId5" Type="http://schemas.openxmlformats.org/officeDocument/2006/relationships/hyperlink" Target="https://www.sec.gov/edgar/search/" TargetMode="External"/><Relationship Id="rId6" Type="http://schemas.openxmlformats.org/officeDocument/2006/relationships/hyperlink" Target="https://www.sec.gov/edgar/search/" TargetMode="External"/><Relationship Id="rId7" Type="http://schemas.openxmlformats.org/officeDocument/2006/relationships/hyperlink" Target="https://www.sec.gov/edgar/search/" TargetMode="External"/><Relationship Id="rId8" Type="http://schemas.openxmlformats.org/officeDocument/2006/relationships/hyperlink" Target="https://www.sec.gov/edgar/search/" TargetMode="External"/><Relationship Id="rId9" Type="http://schemas.openxmlformats.org/officeDocument/2006/relationships/hyperlink" Target="https://www.sec.gov/edgar/search/" TargetMode="External"/><Relationship Id="rId10" Type="http://schemas.openxmlformats.org/officeDocument/2006/relationships/hyperlink" Target="https://www.sec.gov/edgar/search/" TargetMode="External"/><Relationship Id="rId11" Type="http://schemas.openxmlformats.org/officeDocument/2006/relationships/hyperlink" Target="https://www.sec.gov/edgar/browse/?CIK=936468" TargetMode="External"/><Relationship Id="rId12" Type="http://schemas.openxmlformats.org/officeDocument/2006/relationships/hyperlink" Target="https://www.sec.gov/edgar/browse/?CIK=936468" TargetMode="External"/><Relationship Id="rId13" Type="http://schemas.openxmlformats.org/officeDocument/2006/relationships/hyperlink" Target="https://finance.yahoo.com/" TargetMode="External"/><Relationship Id="rId14" Type="http://schemas.openxmlformats.org/officeDocument/2006/relationships/hyperlink" Target="https://finance.yahoo.com/" TargetMode="External"/><Relationship Id="rId15" Type="http://schemas.openxmlformats.org/officeDocument/2006/relationships/hyperlink" Target="https://home.treasury.gov/resource-center/data-chart-center/interest-rates" TargetMode="External"/><Relationship Id="rId16" Type="http://schemas.openxmlformats.org/officeDocument/2006/relationships/hyperlink" Target="https://home.treasury.gov/resource-center/data-chart-center/interest-rates" TargetMode="External"/><Relationship Id="rId17" Type="http://schemas.openxmlformats.org/officeDocument/2006/relationships/slideLayout" Target="../slideLayouts/slideLayout1.xml"/><Relationship Id="rId18"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502920" y="347472"/>
            <a:ext cx="10972800" cy="411480"/>
          </a:xfrm>
          <a:prstGeom prst="rect">
            <a:avLst/>
          </a:prstGeom>
          <a:noFill/>
          <a:ln/>
        </p:spPr>
        <p:txBody>
          <a:bodyPr wrap="square" lIns="0" tIns="0" rIns="0" bIns="0" rtlCol="0" anchor="ctr"/>
          <a:lstStyle/>
          <a:p>
            <a:pPr indent="0" marL="0">
              <a:buNone/>
            </a:pPr>
            <a:r>
              <a:rPr lang="en-US" sz="2850" b="1" dirty="0">
                <a:solidFill>
                  <a:srgbClr val="17324D"/>
                </a:solidFill>
                <a:latin typeface="Aptos Display" pitchFamily="34" charset="0"/>
                <a:ea typeface="Aptos Display" pitchFamily="34" charset="-122"/>
                <a:cs typeface="Aptos Display" pitchFamily="34" charset="-120"/>
              </a:rPr>
              <a:t>SpaceX valuation</a:t>
            </a:r>
            <a:endParaRPr lang="en-US" sz="2850" dirty="0"/>
          </a:p>
        </p:txBody>
      </p:sp>
      <p:sp>
        <p:nvSpPr>
          <p:cNvPr id="3" name="Text 1"/>
          <p:cNvSpPr/>
          <p:nvPr/>
        </p:nvSpPr>
        <p:spPr>
          <a:xfrm>
            <a:off x="521208" y="804672"/>
            <a:ext cx="10972800" cy="256032"/>
          </a:xfrm>
          <a:prstGeom prst="rect">
            <a:avLst/>
          </a:prstGeom>
          <a:noFill/>
          <a:ln/>
        </p:spPr>
        <p:txBody>
          <a:bodyPr wrap="square" lIns="0" tIns="0" rIns="0" bIns="0" rtlCol="0" anchor="ctr"/>
          <a:lstStyle/>
          <a:p>
            <a:pPr indent="0" marL="0">
              <a:buNone/>
            </a:pPr>
            <a:r>
              <a:rPr lang="en-US" sz="1250" dirty="0">
                <a:solidFill>
                  <a:srgbClr val="5A6C77"/>
                </a:solidFill>
              </a:rPr>
              <a:t>Segment-level DCF for the June 12, 2026 IPO valuation exercise</a:t>
            </a:r>
            <a:endParaRPr lang="en-US" sz="1250" dirty="0"/>
          </a:p>
        </p:txBody>
      </p:sp>
      <p:sp>
        <p:nvSpPr>
          <p:cNvPr id="4" name="Shape 2"/>
          <p:cNvSpPr/>
          <p:nvPr/>
        </p:nvSpPr>
        <p:spPr>
          <a:xfrm>
            <a:off x="502920" y="1078992"/>
            <a:ext cx="11155680" cy="0"/>
          </a:xfrm>
          <a:prstGeom prst="line">
            <a:avLst/>
          </a:prstGeom>
          <a:noFill/>
          <a:ln w="12700">
            <a:solidFill>
              <a:srgbClr val="D4CDC2"/>
            </a:solidFill>
            <a:prstDash val="solid"/>
          </a:ln>
        </p:spPr>
      </p:sp>
      <p:sp>
        <p:nvSpPr>
          <p:cNvPr id="5" name="Text 3"/>
          <p:cNvSpPr/>
          <p:nvPr/>
        </p:nvSpPr>
        <p:spPr>
          <a:xfrm>
            <a:off x="566928" y="1307592"/>
            <a:ext cx="1920240" cy="219456"/>
          </a:xfrm>
          <a:prstGeom prst="rect">
            <a:avLst/>
          </a:prstGeom>
          <a:noFill/>
          <a:ln/>
        </p:spPr>
        <p:txBody>
          <a:bodyPr wrap="square" lIns="0" tIns="0" rIns="0" bIns="0" rtlCol="0" anchor="ctr"/>
          <a:lstStyle/>
          <a:p>
            <a:pPr indent="0" marL="0">
              <a:buNone/>
            </a:pPr>
            <a:r>
              <a:rPr lang="en-US" sz="1020" b="1" dirty="0">
                <a:solidFill>
                  <a:srgbClr val="D47C28"/>
                </a:solidFill>
              </a:rPr>
              <a:t>INVESTMENT VIEW</a:t>
            </a:r>
            <a:endParaRPr lang="en-US" sz="1020" dirty="0"/>
          </a:p>
        </p:txBody>
      </p:sp>
      <p:sp>
        <p:nvSpPr>
          <p:cNvPr id="6" name="Text 4"/>
          <p:cNvSpPr/>
          <p:nvPr/>
        </p:nvSpPr>
        <p:spPr>
          <a:xfrm>
            <a:off x="566928" y="1572768"/>
            <a:ext cx="5577840" cy="932688"/>
          </a:xfrm>
          <a:prstGeom prst="rect">
            <a:avLst/>
          </a:prstGeom>
          <a:noFill/>
          <a:ln/>
        </p:spPr>
        <p:txBody>
          <a:bodyPr wrap="square" lIns="254" tIns="254" rIns="254" bIns="254" rtlCol="0" anchor="t">
            <a:normAutofit/>
          </a:bodyPr>
          <a:lstStyle/>
          <a:p>
            <a:pPr indent="0" marL="0">
              <a:buNone/>
            </a:pPr>
            <a:r>
              <a:rPr lang="en-US" sz="1460" b="1" dirty="0">
                <a:solidFill>
                  <a:srgbClr val="17324D"/>
                </a:solidFill>
              </a:rPr>
              <a:t>SpaceX deserves a premium because its launch cadence, reusable rocket economics and Starlink scale are unmatched. The base case still values the company below the market price because the public valuation appears to capitalize more certainty around Starship reuse, direct-to-cell expansion and AI compute economics than is currently proven.</a:t>
            </a:r>
            <a:endParaRPr lang="en-US" sz="1460" dirty="0"/>
          </a:p>
        </p:txBody>
      </p:sp>
      <p:sp>
        <p:nvSpPr>
          <p:cNvPr id="7" name="Text 5"/>
          <p:cNvSpPr/>
          <p:nvPr/>
        </p:nvSpPr>
        <p:spPr>
          <a:xfrm>
            <a:off x="566928" y="2697480"/>
            <a:ext cx="5623560" cy="1463040"/>
          </a:xfrm>
          <a:prstGeom prst="rect">
            <a:avLst/>
          </a:prstGeom>
          <a:noFill/>
          <a:ln/>
        </p:spPr>
        <p:txBody>
          <a:bodyPr wrap="square" lIns="254" tIns="254" rIns="254" bIns="254" rtlCol="0" anchor="t">
            <a:normAutofit/>
          </a:bodyPr>
          <a:lstStyle/>
          <a:p>
            <a:pPr indent="0" marL="0">
              <a:buNone/>
            </a:pPr>
            <a:r>
              <a:rPr lang="en-US" sz="1160" b="1" dirty="0">
                <a:solidFill>
                  <a:srgbClr val="17324D"/>
                </a:solidFill>
              </a:rPr>
              <a:t>Starlink: </a:t>
            </a:r>
            <a:pPr indent="0" marL="0">
              <a:buNone/>
            </a:pPr>
            <a:r>
              <a:rPr lang="en-US" sz="1160" dirty="0">
                <a:solidFill>
                  <a:srgbClr val="17324D"/>
                </a:solidFill>
              </a:rPr>
              <a:t>the clearest base-case value driver because it combines recurring revenue, global coverage and high incremental margins.
</a:t>
            </a:r>
            <a:pPr indent="0" marL="0">
              <a:buNone/>
            </a:pPr>
            <a:r>
              <a:rPr lang="en-US" sz="1160" b="1" dirty="0">
                <a:solidFill>
                  <a:srgbClr val="17324D"/>
                </a:solidFill>
              </a:rPr>
              <a:t>Launch: </a:t>
            </a:r>
            <a:pPr indent="0" marL="0">
              <a:buNone/>
            </a:pPr>
            <a:r>
              <a:rPr lang="en-US" sz="1160" dirty="0">
                <a:solidFill>
                  <a:srgbClr val="17324D"/>
                </a:solidFill>
              </a:rPr>
              <a:t>the structural moat because SpaceX can deploy payloads and its own Starlink satellites at a cost profile peers cannot easily match.
</a:t>
            </a:r>
            <a:pPr indent="0" marL="0">
              <a:buNone/>
            </a:pPr>
            <a:r>
              <a:rPr lang="en-US" sz="1160" b="1" dirty="0">
                <a:solidFill>
                  <a:srgbClr val="17324D"/>
                </a:solidFill>
              </a:rPr>
              <a:t>AI / Compute: </a:t>
            </a:r>
            <a:pPr indent="0" marL="0">
              <a:buNone/>
            </a:pPr>
            <a:r>
              <a:rPr lang="en-US" sz="1160" dirty="0">
                <a:solidFill>
                  <a:srgbClr val="17324D"/>
                </a:solidFill>
              </a:rPr>
              <a:t>large upside from Colossus, compute leasing and Grok, but high capex and GPU depreciation make it the most uncertain segment.
</a:t>
            </a:r>
            <a:endParaRPr lang="en-US" sz="1160" dirty="0"/>
          </a:p>
        </p:txBody>
      </p:sp>
      <p:sp>
        <p:nvSpPr>
          <p:cNvPr id="8" name="Shape 6"/>
          <p:cNvSpPr/>
          <p:nvPr/>
        </p:nvSpPr>
        <p:spPr>
          <a:xfrm>
            <a:off x="566928" y="4434840"/>
            <a:ext cx="5623560" cy="1234440"/>
          </a:xfrm>
          <a:prstGeom prst="roundRect">
            <a:avLst>
              <a:gd name="adj" fmla="val 7407"/>
            </a:avLst>
          </a:prstGeom>
          <a:solidFill>
            <a:srgbClr val="FFFFFF"/>
          </a:solidFill>
          <a:ln w="12700">
            <a:solidFill>
              <a:srgbClr val="CABFAF"/>
            </a:solidFill>
            <a:prstDash val="solid"/>
          </a:ln>
        </p:spPr>
      </p:sp>
      <p:sp>
        <p:nvSpPr>
          <p:cNvPr id="9" name="Text 7"/>
          <p:cNvSpPr/>
          <p:nvPr/>
        </p:nvSpPr>
        <p:spPr>
          <a:xfrm>
            <a:off x="786384" y="4645152"/>
            <a:ext cx="1463040" cy="219456"/>
          </a:xfrm>
          <a:prstGeom prst="rect">
            <a:avLst/>
          </a:prstGeom>
          <a:noFill/>
          <a:ln/>
        </p:spPr>
        <p:txBody>
          <a:bodyPr wrap="square" lIns="0" tIns="0" rIns="0" bIns="0" rtlCol="0" anchor="ctr"/>
          <a:lstStyle/>
          <a:p>
            <a:pPr indent="0" marL="0">
              <a:buNone/>
            </a:pPr>
            <a:r>
              <a:rPr lang="en-US" sz="1020" b="1" dirty="0">
                <a:solidFill>
                  <a:srgbClr val="0F636B"/>
                </a:solidFill>
              </a:rPr>
              <a:t>FINAL ANSWER</a:t>
            </a:r>
            <a:endParaRPr lang="en-US" sz="1020" dirty="0"/>
          </a:p>
        </p:txBody>
      </p:sp>
      <p:sp>
        <p:nvSpPr>
          <p:cNvPr id="10" name="Text 8"/>
          <p:cNvSpPr/>
          <p:nvPr/>
        </p:nvSpPr>
        <p:spPr>
          <a:xfrm>
            <a:off x="786384" y="4901184"/>
            <a:ext cx="5175504" cy="438912"/>
          </a:xfrm>
          <a:prstGeom prst="rect">
            <a:avLst/>
          </a:prstGeom>
          <a:noFill/>
          <a:ln/>
        </p:spPr>
        <p:txBody>
          <a:bodyPr wrap="square" lIns="254" tIns="254" rIns="254" bIns="254" rtlCol="0" anchor="t">
            <a:normAutofit/>
          </a:bodyPr>
          <a:lstStyle/>
          <a:p>
            <a:pPr indent="0" marL="0">
              <a:buNone/>
            </a:pPr>
            <a:r>
              <a:rPr lang="en-US" sz="1230" b="1" dirty="0">
                <a:solidFill>
                  <a:srgbClr val="17324D"/>
                </a:solidFill>
              </a:rPr>
              <a:t>Assigned base-case intrinsic value of $93/share. At a $160/share market price, the implied downside is about 42%. This is not a negative view on SpaceX. It is a view that the market price is already paying for several hard execution milestones before they are fully proven.</a:t>
            </a:r>
            <a:endParaRPr lang="en-US" sz="1230" dirty="0"/>
          </a:p>
        </p:txBody>
      </p:sp>
      <p:sp>
        <p:nvSpPr>
          <p:cNvPr id="11" name="Shape 9"/>
          <p:cNvSpPr/>
          <p:nvPr/>
        </p:nvSpPr>
        <p:spPr>
          <a:xfrm>
            <a:off x="6629400" y="1325880"/>
            <a:ext cx="2148840" cy="841248"/>
          </a:xfrm>
          <a:prstGeom prst="roundRect">
            <a:avLst>
              <a:gd name="adj" fmla="val 10870"/>
            </a:avLst>
          </a:prstGeom>
          <a:solidFill>
            <a:srgbClr val="FFFFFF"/>
          </a:solidFill>
          <a:ln w="12700">
            <a:solidFill>
              <a:srgbClr val="D2C7BB"/>
            </a:solidFill>
            <a:prstDash val="solid"/>
          </a:ln>
        </p:spPr>
      </p:sp>
      <p:sp>
        <p:nvSpPr>
          <p:cNvPr id="12" name="Text 10"/>
          <p:cNvSpPr/>
          <p:nvPr/>
        </p:nvSpPr>
        <p:spPr>
          <a:xfrm>
            <a:off x="6766560" y="1463040"/>
            <a:ext cx="1874520" cy="164592"/>
          </a:xfrm>
          <a:prstGeom prst="rect">
            <a:avLst/>
          </a:prstGeom>
          <a:noFill/>
          <a:ln/>
        </p:spPr>
        <p:txBody>
          <a:bodyPr wrap="square" lIns="0" tIns="0" rIns="0" bIns="0" rtlCol="0" anchor="ctr"/>
          <a:lstStyle/>
          <a:p>
            <a:pPr indent="0" marL="0">
              <a:buNone/>
            </a:pPr>
            <a:r>
              <a:rPr lang="en-US" sz="980" b="1" dirty="0">
                <a:solidFill>
                  <a:srgbClr val="5A6C77"/>
                </a:solidFill>
              </a:rPr>
              <a:t>Intrinsic value</a:t>
            </a:r>
            <a:endParaRPr lang="en-US" sz="980" dirty="0"/>
          </a:p>
        </p:txBody>
      </p:sp>
      <p:sp>
        <p:nvSpPr>
          <p:cNvPr id="13" name="Text 11"/>
          <p:cNvSpPr/>
          <p:nvPr/>
        </p:nvSpPr>
        <p:spPr>
          <a:xfrm>
            <a:off x="6766560" y="1755648"/>
            <a:ext cx="1874520" cy="310896"/>
          </a:xfrm>
          <a:prstGeom prst="rect">
            <a:avLst/>
          </a:prstGeom>
          <a:noFill/>
          <a:ln/>
        </p:spPr>
        <p:txBody>
          <a:bodyPr wrap="square" lIns="0" tIns="0" rIns="0" bIns="0" rtlCol="0" anchor="ctr"/>
          <a:lstStyle/>
          <a:p>
            <a:pPr indent="0" marL="0">
              <a:buNone/>
            </a:pPr>
            <a:r>
              <a:rPr lang="en-US" sz="1850" b="1" dirty="0">
                <a:solidFill>
                  <a:srgbClr val="0F636B"/>
                </a:solidFill>
              </a:rPr>
              <a:t>$93/share</a:t>
            </a:r>
            <a:endParaRPr lang="en-US" sz="1850" dirty="0"/>
          </a:p>
        </p:txBody>
      </p:sp>
      <p:sp>
        <p:nvSpPr>
          <p:cNvPr id="14" name="Shape 12"/>
          <p:cNvSpPr/>
          <p:nvPr/>
        </p:nvSpPr>
        <p:spPr>
          <a:xfrm>
            <a:off x="9144000" y="1325880"/>
            <a:ext cx="2148840" cy="841248"/>
          </a:xfrm>
          <a:prstGeom prst="roundRect">
            <a:avLst>
              <a:gd name="adj" fmla="val 10870"/>
            </a:avLst>
          </a:prstGeom>
          <a:solidFill>
            <a:srgbClr val="FFFFFF"/>
          </a:solidFill>
          <a:ln w="12700">
            <a:solidFill>
              <a:srgbClr val="D2C7BB"/>
            </a:solidFill>
            <a:prstDash val="solid"/>
          </a:ln>
        </p:spPr>
      </p:sp>
      <p:sp>
        <p:nvSpPr>
          <p:cNvPr id="15" name="Text 13"/>
          <p:cNvSpPr/>
          <p:nvPr/>
        </p:nvSpPr>
        <p:spPr>
          <a:xfrm>
            <a:off x="9281160" y="1463040"/>
            <a:ext cx="1874520" cy="164592"/>
          </a:xfrm>
          <a:prstGeom prst="rect">
            <a:avLst/>
          </a:prstGeom>
          <a:noFill/>
          <a:ln/>
        </p:spPr>
        <p:txBody>
          <a:bodyPr wrap="square" lIns="0" tIns="0" rIns="0" bIns="0" rtlCol="0" anchor="ctr"/>
          <a:lstStyle/>
          <a:p>
            <a:pPr indent="0" marL="0">
              <a:buNone/>
            </a:pPr>
            <a:r>
              <a:rPr lang="en-US" sz="980" b="1" dirty="0">
                <a:solidFill>
                  <a:srgbClr val="5A6C77"/>
                </a:solidFill>
              </a:rPr>
              <a:t>Market price used</a:t>
            </a:r>
            <a:endParaRPr lang="en-US" sz="980" dirty="0"/>
          </a:p>
        </p:txBody>
      </p:sp>
      <p:sp>
        <p:nvSpPr>
          <p:cNvPr id="16" name="Text 14"/>
          <p:cNvSpPr/>
          <p:nvPr/>
        </p:nvSpPr>
        <p:spPr>
          <a:xfrm>
            <a:off x="9281160" y="1755648"/>
            <a:ext cx="1874520" cy="310896"/>
          </a:xfrm>
          <a:prstGeom prst="rect">
            <a:avLst/>
          </a:prstGeom>
          <a:noFill/>
          <a:ln/>
        </p:spPr>
        <p:txBody>
          <a:bodyPr wrap="square" lIns="0" tIns="0" rIns="0" bIns="0" rtlCol="0" anchor="ctr"/>
          <a:lstStyle/>
          <a:p>
            <a:pPr indent="0" marL="0">
              <a:buNone/>
            </a:pPr>
            <a:r>
              <a:rPr lang="en-US" sz="1850" b="1" dirty="0">
                <a:solidFill>
                  <a:srgbClr val="17324D"/>
                </a:solidFill>
              </a:rPr>
              <a:t>$160/share</a:t>
            </a:r>
            <a:endParaRPr lang="en-US" sz="1850" dirty="0"/>
          </a:p>
        </p:txBody>
      </p:sp>
      <p:sp>
        <p:nvSpPr>
          <p:cNvPr id="17" name="Shape 15"/>
          <p:cNvSpPr/>
          <p:nvPr/>
        </p:nvSpPr>
        <p:spPr>
          <a:xfrm>
            <a:off x="6629400" y="2423160"/>
            <a:ext cx="2148840" cy="841248"/>
          </a:xfrm>
          <a:prstGeom prst="roundRect">
            <a:avLst>
              <a:gd name="adj" fmla="val 10870"/>
            </a:avLst>
          </a:prstGeom>
          <a:solidFill>
            <a:srgbClr val="FFFFFF"/>
          </a:solidFill>
          <a:ln w="12700">
            <a:solidFill>
              <a:srgbClr val="D2C7BB"/>
            </a:solidFill>
            <a:prstDash val="solid"/>
          </a:ln>
        </p:spPr>
      </p:sp>
      <p:sp>
        <p:nvSpPr>
          <p:cNvPr id="18" name="Text 16"/>
          <p:cNvSpPr/>
          <p:nvPr/>
        </p:nvSpPr>
        <p:spPr>
          <a:xfrm>
            <a:off x="6766560" y="2560320"/>
            <a:ext cx="1874520" cy="164592"/>
          </a:xfrm>
          <a:prstGeom prst="rect">
            <a:avLst/>
          </a:prstGeom>
          <a:noFill/>
          <a:ln/>
        </p:spPr>
        <p:txBody>
          <a:bodyPr wrap="square" lIns="0" tIns="0" rIns="0" bIns="0" rtlCol="0" anchor="ctr"/>
          <a:lstStyle/>
          <a:p>
            <a:pPr indent="0" marL="0">
              <a:buNone/>
            </a:pPr>
            <a:r>
              <a:rPr lang="en-US" sz="980" b="1" dirty="0">
                <a:solidFill>
                  <a:srgbClr val="5A6C77"/>
                </a:solidFill>
              </a:rPr>
              <a:t>Enterprise value</a:t>
            </a:r>
            <a:endParaRPr lang="en-US" sz="980" dirty="0"/>
          </a:p>
        </p:txBody>
      </p:sp>
      <p:sp>
        <p:nvSpPr>
          <p:cNvPr id="19" name="Text 17"/>
          <p:cNvSpPr/>
          <p:nvPr/>
        </p:nvSpPr>
        <p:spPr>
          <a:xfrm>
            <a:off x="6766560" y="2852928"/>
            <a:ext cx="1874520" cy="310896"/>
          </a:xfrm>
          <a:prstGeom prst="rect">
            <a:avLst/>
          </a:prstGeom>
          <a:noFill/>
          <a:ln/>
        </p:spPr>
        <p:txBody>
          <a:bodyPr wrap="square" lIns="0" tIns="0" rIns="0" bIns="0" rtlCol="0" anchor="ctr"/>
          <a:lstStyle/>
          <a:p>
            <a:pPr indent="0" marL="0">
              <a:buNone/>
            </a:pPr>
            <a:r>
              <a:rPr lang="en-US" sz="1850" b="1" dirty="0">
                <a:solidFill>
                  <a:srgbClr val="17324D"/>
                </a:solidFill>
              </a:rPr>
              <a:t>$1.16T</a:t>
            </a:r>
            <a:endParaRPr lang="en-US" sz="1850" dirty="0"/>
          </a:p>
        </p:txBody>
      </p:sp>
      <p:sp>
        <p:nvSpPr>
          <p:cNvPr id="20" name="Shape 18"/>
          <p:cNvSpPr/>
          <p:nvPr/>
        </p:nvSpPr>
        <p:spPr>
          <a:xfrm>
            <a:off x="9144000" y="2423160"/>
            <a:ext cx="2148840" cy="841248"/>
          </a:xfrm>
          <a:prstGeom prst="roundRect">
            <a:avLst>
              <a:gd name="adj" fmla="val 10870"/>
            </a:avLst>
          </a:prstGeom>
          <a:solidFill>
            <a:srgbClr val="FFFFFF"/>
          </a:solidFill>
          <a:ln w="12700">
            <a:solidFill>
              <a:srgbClr val="D2C7BB"/>
            </a:solidFill>
            <a:prstDash val="solid"/>
          </a:ln>
        </p:spPr>
      </p:sp>
      <p:sp>
        <p:nvSpPr>
          <p:cNvPr id="21" name="Text 19"/>
          <p:cNvSpPr/>
          <p:nvPr/>
        </p:nvSpPr>
        <p:spPr>
          <a:xfrm>
            <a:off x="9281160" y="2560320"/>
            <a:ext cx="1874520" cy="164592"/>
          </a:xfrm>
          <a:prstGeom prst="rect">
            <a:avLst/>
          </a:prstGeom>
          <a:noFill/>
          <a:ln/>
        </p:spPr>
        <p:txBody>
          <a:bodyPr wrap="square" lIns="0" tIns="0" rIns="0" bIns="0" rtlCol="0" anchor="ctr"/>
          <a:lstStyle/>
          <a:p>
            <a:pPr indent="0" marL="0">
              <a:buNone/>
            </a:pPr>
            <a:r>
              <a:rPr lang="en-US" sz="980" b="1" dirty="0">
                <a:solidFill>
                  <a:srgbClr val="5A6C77"/>
                </a:solidFill>
              </a:rPr>
              <a:t>Equity value</a:t>
            </a:r>
            <a:endParaRPr lang="en-US" sz="980" dirty="0"/>
          </a:p>
        </p:txBody>
      </p:sp>
      <p:sp>
        <p:nvSpPr>
          <p:cNvPr id="22" name="Text 20"/>
          <p:cNvSpPr/>
          <p:nvPr/>
        </p:nvSpPr>
        <p:spPr>
          <a:xfrm>
            <a:off x="9281160" y="2852928"/>
            <a:ext cx="1874520" cy="310896"/>
          </a:xfrm>
          <a:prstGeom prst="rect">
            <a:avLst/>
          </a:prstGeom>
          <a:noFill/>
          <a:ln/>
        </p:spPr>
        <p:txBody>
          <a:bodyPr wrap="square" lIns="0" tIns="0" rIns="0" bIns="0" rtlCol="0" anchor="ctr"/>
          <a:lstStyle/>
          <a:p>
            <a:pPr indent="0" marL="0">
              <a:buNone/>
            </a:pPr>
            <a:r>
              <a:rPr lang="en-US" sz="1850" b="1" dirty="0">
                <a:solidFill>
                  <a:srgbClr val="17324D"/>
                </a:solidFill>
              </a:rPr>
              <a:t>$1.22T</a:t>
            </a:r>
            <a:endParaRPr lang="en-US" sz="1850" dirty="0"/>
          </a:p>
        </p:txBody>
      </p:sp>
      <p:sp>
        <p:nvSpPr>
          <p:cNvPr id="23" name="Shape 21"/>
          <p:cNvSpPr/>
          <p:nvPr/>
        </p:nvSpPr>
        <p:spPr>
          <a:xfrm>
            <a:off x="6629400" y="3520440"/>
            <a:ext cx="2148840" cy="841248"/>
          </a:xfrm>
          <a:prstGeom prst="roundRect">
            <a:avLst>
              <a:gd name="adj" fmla="val 10870"/>
            </a:avLst>
          </a:prstGeom>
          <a:solidFill>
            <a:srgbClr val="E8D0CA"/>
          </a:solidFill>
          <a:ln w="12700">
            <a:solidFill>
              <a:srgbClr val="D2C7BB"/>
            </a:solidFill>
            <a:prstDash val="solid"/>
          </a:ln>
        </p:spPr>
      </p:sp>
      <p:sp>
        <p:nvSpPr>
          <p:cNvPr id="24" name="Text 22"/>
          <p:cNvSpPr/>
          <p:nvPr/>
        </p:nvSpPr>
        <p:spPr>
          <a:xfrm>
            <a:off x="6766560" y="3657600"/>
            <a:ext cx="1874520" cy="164592"/>
          </a:xfrm>
          <a:prstGeom prst="rect">
            <a:avLst/>
          </a:prstGeom>
          <a:noFill/>
          <a:ln/>
        </p:spPr>
        <p:txBody>
          <a:bodyPr wrap="square" lIns="0" tIns="0" rIns="0" bIns="0" rtlCol="0" anchor="ctr"/>
          <a:lstStyle/>
          <a:p>
            <a:pPr indent="0" marL="0">
              <a:buNone/>
            </a:pPr>
            <a:r>
              <a:rPr lang="en-US" sz="980" b="1" dirty="0">
                <a:solidFill>
                  <a:srgbClr val="5A6C77"/>
                </a:solidFill>
              </a:rPr>
              <a:t>Implied downside</a:t>
            </a:r>
            <a:endParaRPr lang="en-US" sz="980" dirty="0"/>
          </a:p>
        </p:txBody>
      </p:sp>
      <p:sp>
        <p:nvSpPr>
          <p:cNvPr id="25" name="Text 23"/>
          <p:cNvSpPr/>
          <p:nvPr/>
        </p:nvSpPr>
        <p:spPr>
          <a:xfrm>
            <a:off x="6766560" y="3950208"/>
            <a:ext cx="1874520" cy="310896"/>
          </a:xfrm>
          <a:prstGeom prst="rect">
            <a:avLst/>
          </a:prstGeom>
          <a:noFill/>
          <a:ln/>
        </p:spPr>
        <p:txBody>
          <a:bodyPr wrap="square" lIns="0" tIns="0" rIns="0" bIns="0" rtlCol="0" anchor="ctr"/>
          <a:lstStyle/>
          <a:p>
            <a:pPr indent="0" marL="0">
              <a:buNone/>
            </a:pPr>
            <a:r>
              <a:rPr lang="en-US" sz="1850" b="1" dirty="0">
                <a:solidFill>
                  <a:srgbClr val="B7503C"/>
                </a:solidFill>
              </a:rPr>
              <a:t>-42%</a:t>
            </a:r>
            <a:endParaRPr lang="en-US" sz="1850" dirty="0"/>
          </a:p>
        </p:txBody>
      </p:sp>
      <p:sp>
        <p:nvSpPr>
          <p:cNvPr id="26" name="Shape 24"/>
          <p:cNvSpPr/>
          <p:nvPr/>
        </p:nvSpPr>
        <p:spPr>
          <a:xfrm>
            <a:off x="9144000" y="3520440"/>
            <a:ext cx="2148840" cy="841248"/>
          </a:xfrm>
          <a:prstGeom prst="roundRect">
            <a:avLst>
              <a:gd name="adj" fmla="val 10870"/>
            </a:avLst>
          </a:prstGeom>
          <a:solidFill>
            <a:srgbClr val="F0E4CF"/>
          </a:solidFill>
          <a:ln w="12700">
            <a:solidFill>
              <a:srgbClr val="D2C7BB"/>
            </a:solidFill>
            <a:prstDash val="solid"/>
          </a:ln>
        </p:spPr>
      </p:sp>
      <p:sp>
        <p:nvSpPr>
          <p:cNvPr id="27" name="Text 25"/>
          <p:cNvSpPr/>
          <p:nvPr/>
        </p:nvSpPr>
        <p:spPr>
          <a:xfrm>
            <a:off x="9281160" y="3657600"/>
            <a:ext cx="1874520" cy="164592"/>
          </a:xfrm>
          <a:prstGeom prst="rect">
            <a:avLst/>
          </a:prstGeom>
          <a:noFill/>
          <a:ln/>
        </p:spPr>
        <p:txBody>
          <a:bodyPr wrap="square" lIns="0" tIns="0" rIns="0" bIns="0" rtlCol="0" anchor="ctr"/>
          <a:lstStyle/>
          <a:p>
            <a:pPr indent="0" marL="0">
              <a:buNone/>
            </a:pPr>
            <a:r>
              <a:rPr lang="en-US" sz="980" b="1" dirty="0">
                <a:solidFill>
                  <a:srgbClr val="5A6C77"/>
                </a:solidFill>
              </a:rPr>
              <a:t>Verdict</a:t>
            </a:r>
            <a:endParaRPr lang="en-US" sz="980" dirty="0"/>
          </a:p>
        </p:txBody>
      </p:sp>
      <p:sp>
        <p:nvSpPr>
          <p:cNvPr id="28" name="Text 26"/>
          <p:cNvSpPr/>
          <p:nvPr/>
        </p:nvSpPr>
        <p:spPr>
          <a:xfrm>
            <a:off x="9281160" y="3950208"/>
            <a:ext cx="1874520" cy="310896"/>
          </a:xfrm>
          <a:prstGeom prst="rect">
            <a:avLst/>
          </a:prstGeom>
          <a:noFill/>
          <a:ln/>
        </p:spPr>
        <p:txBody>
          <a:bodyPr wrap="square" lIns="0" tIns="0" rIns="0" bIns="0" rtlCol="0" anchor="ctr"/>
          <a:lstStyle/>
          <a:p>
            <a:pPr indent="0" marL="0">
              <a:buNone/>
            </a:pPr>
            <a:r>
              <a:rPr lang="en-US" sz="1850" b="1" dirty="0">
                <a:solidFill>
                  <a:srgbClr val="17324D"/>
                </a:solidFill>
              </a:rPr>
              <a:t>Overvalued</a:t>
            </a:r>
            <a:endParaRPr lang="en-US" sz="1850" dirty="0"/>
          </a:p>
        </p:txBody>
      </p:sp>
      <p:sp>
        <p:nvSpPr>
          <p:cNvPr id="29" name="Shape 27"/>
          <p:cNvSpPr/>
          <p:nvPr/>
        </p:nvSpPr>
        <p:spPr>
          <a:xfrm>
            <a:off x="6629400" y="4709160"/>
            <a:ext cx="4663440" cy="749808"/>
          </a:xfrm>
          <a:prstGeom prst="roundRect">
            <a:avLst>
              <a:gd name="adj" fmla="val 12195"/>
            </a:avLst>
          </a:prstGeom>
          <a:solidFill>
            <a:srgbClr val="D7E8EC"/>
          </a:solidFill>
          <a:ln w="12700">
            <a:solidFill>
              <a:srgbClr val="9BCBD1"/>
            </a:solidFill>
            <a:prstDash val="solid"/>
          </a:ln>
        </p:spPr>
      </p:sp>
      <p:sp>
        <p:nvSpPr>
          <p:cNvPr id="30" name="Text 28"/>
          <p:cNvSpPr/>
          <p:nvPr/>
        </p:nvSpPr>
        <p:spPr>
          <a:xfrm>
            <a:off x="6858000" y="4919472"/>
            <a:ext cx="4206240" cy="256032"/>
          </a:xfrm>
          <a:prstGeom prst="rect">
            <a:avLst/>
          </a:prstGeom>
          <a:noFill/>
          <a:ln/>
        </p:spPr>
        <p:txBody>
          <a:bodyPr wrap="square" lIns="254" tIns="254" rIns="254" bIns="254" rtlCol="0" anchor="t">
            <a:normAutofit/>
          </a:bodyPr>
          <a:lstStyle/>
          <a:p>
            <a:pPr indent="0" marL="0">
              <a:buNone/>
            </a:pPr>
            <a:r>
              <a:rPr lang="en-US" sz="1200" b="1" dirty="0">
                <a:solidFill>
                  <a:srgbClr val="17324D"/>
                </a:solidFill>
              </a:rPr>
              <a:t>Thesis in one line: Starlink drives cash flow, Launch protects the cost advantage and AI is upside that should be discounted until utilization and margins are proven.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502920" y="347472"/>
            <a:ext cx="10972800" cy="411480"/>
          </a:xfrm>
          <a:prstGeom prst="rect">
            <a:avLst/>
          </a:prstGeom>
          <a:noFill/>
          <a:ln/>
        </p:spPr>
        <p:txBody>
          <a:bodyPr wrap="square" lIns="0" tIns="0" rIns="0" bIns="0" rtlCol="0" anchor="ctr"/>
          <a:lstStyle/>
          <a:p>
            <a:pPr indent="0" marL="0">
              <a:buNone/>
            </a:pPr>
            <a:r>
              <a:rPr lang="en-US" sz="2850" b="1" dirty="0">
                <a:solidFill>
                  <a:srgbClr val="17324D"/>
                </a:solidFill>
                <a:latin typeface="Aptos Display" pitchFamily="34" charset="0"/>
                <a:ea typeface="Aptos Display" pitchFamily="34" charset="-122"/>
                <a:cs typeface="Aptos Display" pitchFamily="34" charset="-120"/>
              </a:rPr>
              <a:t>Business segments and growth drivers</a:t>
            </a:r>
            <a:endParaRPr lang="en-US" sz="2850" dirty="0"/>
          </a:p>
        </p:txBody>
      </p:sp>
      <p:sp>
        <p:nvSpPr>
          <p:cNvPr id="3" name="Text 1"/>
          <p:cNvSpPr/>
          <p:nvPr/>
        </p:nvSpPr>
        <p:spPr>
          <a:xfrm>
            <a:off x="521208" y="804672"/>
            <a:ext cx="10972800" cy="256032"/>
          </a:xfrm>
          <a:prstGeom prst="rect">
            <a:avLst/>
          </a:prstGeom>
          <a:noFill/>
          <a:ln/>
        </p:spPr>
        <p:txBody>
          <a:bodyPr wrap="square" lIns="0" tIns="0" rIns="0" bIns="0" rtlCol="0" anchor="ctr"/>
          <a:lstStyle/>
          <a:p>
            <a:pPr indent="0" marL="0">
              <a:buNone/>
            </a:pPr>
            <a:r>
              <a:rPr lang="en-US" sz="1250" dirty="0">
                <a:solidFill>
                  <a:srgbClr val="5A6C77"/>
                </a:solidFill>
              </a:rPr>
              <a:t>The DCF is built by segment because Launch, Starlink and AI have different growth, margin and capex profiles.</a:t>
            </a:r>
            <a:endParaRPr lang="en-US" sz="1250" dirty="0"/>
          </a:p>
        </p:txBody>
      </p:sp>
      <p:sp>
        <p:nvSpPr>
          <p:cNvPr id="4" name="Shape 2"/>
          <p:cNvSpPr/>
          <p:nvPr/>
        </p:nvSpPr>
        <p:spPr>
          <a:xfrm>
            <a:off x="502920" y="1078992"/>
            <a:ext cx="11155680" cy="0"/>
          </a:xfrm>
          <a:prstGeom prst="line">
            <a:avLst/>
          </a:prstGeom>
          <a:noFill/>
          <a:ln w="12700">
            <a:solidFill>
              <a:srgbClr val="D4CDC2"/>
            </a:solidFill>
            <a:prstDash val="solid"/>
          </a:ln>
        </p:spPr>
      </p:sp>
      <p:sp>
        <p:nvSpPr>
          <p:cNvPr id="5" name="Text 3"/>
          <p:cNvSpPr/>
          <p:nvPr/>
        </p:nvSpPr>
        <p:spPr>
          <a:xfrm>
            <a:off x="566928" y="1298448"/>
            <a:ext cx="3840480" cy="219456"/>
          </a:xfrm>
          <a:prstGeom prst="rect">
            <a:avLst/>
          </a:prstGeom>
          <a:noFill/>
          <a:ln/>
        </p:spPr>
        <p:txBody>
          <a:bodyPr wrap="square" lIns="0" tIns="0" rIns="0" bIns="0" rtlCol="0" anchor="ctr"/>
          <a:lstStyle/>
          <a:p>
            <a:pPr indent="0" marL="0">
              <a:buNone/>
            </a:pPr>
            <a:r>
              <a:rPr lang="en-US" sz="1020" b="1" dirty="0">
                <a:solidFill>
                  <a:srgbClr val="0F636B"/>
                </a:solidFill>
              </a:rPr>
              <a:t>2025 REVENUE BASE AND 2035 TARGET</a:t>
            </a:r>
            <a:endParaRPr lang="en-US" sz="102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66928" y="1591056"/>
          <a:ext cx="5440680" cy="1371600"/>
        </p:xfrm>
        <a:graphic>
          <a:graphicData uri="http://schemas.openxmlformats.org/drawingml/2006/table">
            <a:tbl>
              <a:tblPr/>
              <a:tblGrid>
                <a:gridCol w="1737360"/>
                <a:gridCol w="914400"/>
                <a:gridCol w="594360"/>
                <a:gridCol w="1005840"/>
                <a:gridCol w="777240"/>
              </a:tblGrid>
              <a:tr h="274320">
                <a:tc>
                  <a:txBody>
                    <a:bodyPr/>
                    <a:lstStyle/>
                    <a:p>
                      <a:pPr indent="0" marL="0">
                        <a:buNone/>
                      </a:pPr>
                      <a:r>
                        <a:rPr lang="en-US" sz="950" b="1" dirty="0">
                          <a:solidFill>
                            <a:srgbClr val="FFFFFF"/>
                          </a:solidFill>
                          <a:latin typeface="Aptos" pitchFamily="34" charset="0"/>
                          <a:ea typeface="Aptos" pitchFamily="34" charset="-122"/>
                          <a:cs typeface="Aptos" pitchFamily="34" charset="-120"/>
                        </a:rPr>
                        <a:t>Segment</a:t>
                      </a:r>
                      <a:endParaRPr lang="en-US" sz="95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0F636B"/>
                    </a:solidFill>
                  </a:tcPr>
                </a:tc>
                <a:tc>
                  <a:txBody>
                    <a:bodyPr/>
                    <a:lstStyle/>
                    <a:p>
                      <a:pPr indent="0" marL="0">
                        <a:buNone/>
                      </a:pPr>
                      <a:r>
                        <a:rPr lang="en-US" sz="950" b="1" dirty="0">
                          <a:solidFill>
                            <a:srgbClr val="FFFFFF"/>
                          </a:solidFill>
                          <a:latin typeface="Aptos" pitchFamily="34" charset="0"/>
                          <a:ea typeface="Aptos" pitchFamily="34" charset="-122"/>
                          <a:cs typeface="Aptos" pitchFamily="34" charset="-120"/>
                        </a:rPr>
                        <a:t>2025A</a:t>
                      </a:r>
                      <a:endParaRPr lang="en-US" sz="95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0F636B"/>
                    </a:solidFill>
                  </a:tcPr>
                </a:tc>
                <a:tc>
                  <a:txBody>
                    <a:bodyPr/>
                    <a:lstStyle/>
                    <a:p>
                      <a:pPr indent="0" marL="0">
                        <a:buNone/>
                      </a:pPr>
                      <a:r>
                        <a:rPr lang="en-US" sz="950" b="1" dirty="0">
                          <a:solidFill>
                            <a:srgbClr val="FFFFFF"/>
                          </a:solidFill>
                          <a:latin typeface="Aptos" pitchFamily="34" charset="0"/>
                          <a:ea typeface="Aptos" pitchFamily="34" charset="-122"/>
                          <a:cs typeface="Aptos" pitchFamily="34" charset="-120"/>
                        </a:rPr>
                        <a:t>Mix</a:t>
                      </a:r>
                      <a:endParaRPr lang="en-US" sz="95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0F636B"/>
                    </a:solidFill>
                  </a:tcPr>
                </a:tc>
                <a:tc>
                  <a:txBody>
                    <a:bodyPr/>
                    <a:lstStyle/>
                    <a:p>
                      <a:pPr indent="0" marL="0">
                        <a:buNone/>
                      </a:pPr>
                      <a:r>
                        <a:rPr lang="en-US" sz="950" b="1" dirty="0">
                          <a:solidFill>
                            <a:srgbClr val="FFFFFF"/>
                          </a:solidFill>
                          <a:latin typeface="Aptos" pitchFamily="34" charset="0"/>
                          <a:ea typeface="Aptos" pitchFamily="34" charset="-122"/>
                          <a:cs typeface="Aptos" pitchFamily="34" charset="-120"/>
                        </a:rPr>
                        <a:t>2035E</a:t>
                      </a:r>
                      <a:endParaRPr lang="en-US" sz="95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0F636B"/>
                    </a:solidFill>
                  </a:tcPr>
                </a:tc>
                <a:tc>
                  <a:txBody>
                    <a:bodyPr/>
                    <a:lstStyle/>
                    <a:p>
                      <a:pPr indent="0" marL="0">
                        <a:buNone/>
                      </a:pPr>
                      <a:r>
                        <a:rPr lang="en-US" sz="950" b="1" dirty="0">
                          <a:solidFill>
                            <a:srgbClr val="FFFFFF"/>
                          </a:solidFill>
                          <a:latin typeface="Aptos" pitchFamily="34" charset="0"/>
                          <a:ea typeface="Aptos" pitchFamily="34" charset="-122"/>
                          <a:cs typeface="Aptos" pitchFamily="34" charset="-120"/>
                        </a:rPr>
                        <a:t>CAGR</a:t>
                      </a:r>
                      <a:endParaRPr lang="en-US" sz="95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0F636B"/>
                    </a:solidFill>
                  </a:tcPr>
                </a:tc>
              </a:tr>
              <a:tr h="274320">
                <a:tc>
                  <a:txBody>
                    <a:bodyPr/>
                    <a:lstStyle/>
                    <a:p>
                      <a:pPr indent="0" marL="0">
                        <a:buNone/>
                      </a:pPr>
                      <a:r>
                        <a:rPr lang="en-US" sz="900" dirty="0">
                          <a:solidFill>
                            <a:srgbClr val="17324D"/>
                          </a:solidFill>
                          <a:latin typeface="Aptos" pitchFamily="34" charset="0"/>
                          <a:ea typeface="Aptos" pitchFamily="34" charset="-122"/>
                          <a:cs typeface="Aptos" pitchFamily="34" charset="-120"/>
                        </a:rPr>
                        <a:t>Launch / Space</a:t>
                      </a:r>
                      <a:endParaRPr lang="en-US" sz="90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FFFFF"/>
                    </a:solidFill>
                  </a:tcPr>
                </a:tc>
                <a:tc>
                  <a:txBody>
                    <a:bodyPr/>
                    <a:lstStyle/>
                    <a:p>
                      <a:pPr indent="0" marL="0">
                        <a:buNone/>
                      </a:pPr>
                      <a:r>
                        <a:rPr lang="en-US" sz="900" dirty="0">
                          <a:solidFill>
                            <a:srgbClr val="17324D"/>
                          </a:solidFill>
                          <a:latin typeface="Aptos" pitchFamily="34" charset="0"/>
                          <a:ea typeface="Aptos" pitchFamily="34" charset="-122"/>
                          <a:cs typeface="Aptos" pitchFamily="34" charset="-120"/>
                        </a:rPr>
                        <a:t>$4.1B</a:t>
                      </a:r>
                      <a:endParaRPr lang="en-US" sz="90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FFFFF"/>
                    </a:solidFill>
                  </a:tcPr>
                </a:tc>
                <a:tc>
                  <a:txBody>
                    <a:bodyPr/>
                    <a:lstStyle/>
                    <a:p>
                      <a:pPr indent="0" marL="0">
                        <a:buNone/>
                      </a:pPr>
                      <a:r>
                        <a:rPr lang="en-US" sz="900" dirty="0">
                          <a:solidFill>
                            <a:srgbClr val="17324D"/>
                          </a:solidFill>
                          <a:latin typeface="Aptos" pitchFamily="34" charset="0"/>
                          <a:ea typeface="Aptos" pitchFamily="34" charset="-122"/>
                          <a:cs typeface="Aptos" pitchFamily="34" charset="-120"/>
                        </a:rPr>
                        <a:t>22%</a:t>
                      </a:r>
                      <a:endParaRPr lang="en-US" sz="90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FFFFF"/>
                    </a:solidFill>
                  </a:tcPr>
                </a:tc>
                <a:tc>
                  <a:txBody>
                    <a:bodyPr/>
                    <a:lstStyle/>
                    <a:p>
                      <a:pPr indent="0" marL="0">
                        <a:buNone/>
                      </a:pPr>
                      <a:r>
                        <a:rPr lang="en-US" sz="900" dirty="0">
                          <a:solidFill>
                            <a:srgbClr val="17324D"/>
                          </a:solidFill>
                          <a:latin typeface="Aptos" pitchFamily="34" charset="0"/>
                          <a:ea typeface="Aptos" pitchFamily="34" charset="-122"/>
                          <a:cs typeface="Aptos" pitchFamily="34" charset="-120"/>
                        </a:rPr>
                        <a:t>$18.8B</a:t>
                      </a:r>
                      <a:endParaRPr lang="en-US" sz="90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FFFFF"/>
                    </a:solidFill>
                  </a:tcPr>
                </a:tc>
                <a:tc>
                  <a:txBody>
                    <a:bodyPr/>
                    <a:lstStyle/>
                    <a:p>
                      <a:pPr indent="0" marL="0">
                        <a:buNone/>
                      </a:pPr>
                      <a:r>
                        <a:rPr lang="en-US" sz="900" dirty="0">
                          <a:solidFill>
                            <a:srgbClr val="17324D"/>
                          </a:solidFill>
                          <a:latin typeface="Aptos" pitchFamily="34" charset="0"/>
                          <a:ea typeface="Aptos" pitchFamily="34" charset="-122"/>
                          <a:cs typeface="Aptos" pitchFamily="34" charset="-120"/>
                        </a:rPr>
                        <a:t>16.5%</a:t>
                      </a:r>
                      <a:endParaRPr lang="en-US" sz="90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FFFFF"/>
                    </a:solidFill>
                  </a:tcPr>
                </a:tc>
              </a:tr>
              <a:tr h="274320">
                <a:tc>
                  <a:txBody>
                    <a:bodyPr/>
                    <a:lstStyle/>
                    <a:p>
                      <a:pPr indent="0" marL="0">
                        <a:buNone/>
                      </a:pPr>
                      <a:r>
                        <a:rPr lang="en-US" sz="900" dirty="0">
                          <a:solidFill>
                            <a:srgbClr val="17324D"/>
                          </a:solidFill>
                          <a:latin typeface="Aptos" pitchFamily="34" charset="0"/>
                          <a:ea typeface="Aptos" pitchFamily="34" charset="-122"/>
                          <a:cs typeface="Aptos" pitchFamily="34" charset="-120"/>
                        </a:rPr>
                        <a:t>Starlink / Connectivity</a:t>
                      </a:r>
                      <a:endParaRPr lang="en-US" sz="90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4EFE6"/>
                    </a:solidFill>
                  </a:tcPr>
                </a:tc>
                <a:tc>
                  <a:txBody>
                    <a:bodyPr/>
                    <a:lstStyle/>
                    <a:p>
                      <a:pPr indent="0" marL="0">
                        <a:buNone/>
                      </a:pPr>
                      <a:r>
                        <a:rPr lang="en-US" sz="900" dirty="0">
                          <a:solidFill>
                            <a:srgbClr val="17324D"/>
                          </a:solidFill>
                          <a:latin typeface="Aptos" pitchFamily="34" charset="0"/>
                          <a:ea typeface="Aptos" pitchFamily="34" charset="-122"/>
                          <a:cs typeface="Aptos" pitchFamily="34" charset="-120"/>
                        </a:rPr>
                        <a:t>$11.4B</a:t>
                      </a:r>
                      <a:endParaRPr lang="en-US" sz="90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4EFE6"/>
                    </a:solidFill>
                  </a:tcPr>
                </a:tc>
                <a:tc>
                  <a:txBody>
                    <a:bodyPr/>
                    <a:lstStyle/>
                    <a:p>
                      <a:pPr indent="0" marL="0">
                        <a:buNone/>
                      </a:pPr>
                      <a:r>
                        <a:rPr lang="en-US" sz="900" dirty="0">
                          <a:solidFill>
                            <a:srgbClr val="17324D"/>
                          </a:solidFill>
                          <a:latin typeface="Aptos" pitchFamily="34" charset="0"/>
                          <a:ea typeface="Aptos" pitchFamily="34" charset="-122"/>
                          <a:cs typeface="Aptos" pitchFamily="34" charset="-120"/>
                        </a:rPr>
                        <a:t>61%</a:t>
                      </a:r>
                      <a:endParaRPr lang="en-US" sz="90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4EFE6"/>
                    </a:solidFill>
                  </a:tcPr>
                </a:tc>
                <a:tc>
                  <a:txBody>
                    <a:bodyPr/>
                    <a:lstStyle/>
                    <a:p>
                      <a:pPr indent="0" marL="0">
                        <a:buNone/>
                      </a:pPr>
                      <a:r>
                        <a:rPr lang="en-US" sz="900" dirty="0">
                          <a:solidFill>
                            <a:srgbClr val="17324D"/>
                          </a:solidFill>
                          <a:latin typeface="Aptos" pitchFamily="34" charset="0"/>
                          <a:ea typeface="Aptos" pitchFamily="34" charset="-122"/>
                          <a:cs typeface="Aptos" pitchFamily="34" charset="-120"/>
                        </a:rPr>
                        <a:t>$94.9B</a:t>
                      </a:r>
                      <a:endParaRPr lang="en-US" sz="90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4EFE6"/>
                    </a:solidFill>
                  </a:tcPr>
                </a:tc>
                <a:tc>
                  <a:txBody>
                    <a:bodyPr/>
                    <a:lstStyle/>
                    <a:p>
                      <a:pPr indent="0" marL="0">
                        <a:buNone/>
                      </a:pPr>
                      <a:r>
                        <a:rPr lang="en-US" sz="900" dirty="0">
                          <a:solidFill>
                            <a:srgbClr val="17324D"/>
                          </a:solidFill>
                          <a:latin typeface="Aptos" pitchFamily="34" charset="0"/>
                          <a:ea typeface="Aptos" pitchFamily="34" charset="-122"/>
                          <a:cs typeface="Aptos" pitchFamily="34" charset="-120"/>
                        </a:rPr>
                        <a:t>23.6%</a:t>
                      </a:r>
                      <a:endParaRPr lang="en-US" sz="90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4EFE6"/>
                    </a:solidFill>
                  </a:tcPr>
                </a:tc>
              </a:tr>
              <a:tr h="274320">
                <a:tc>
                  <a:txBody>
                    <a:bodyPr/>
                    <a:lstStyle/>
                    <a:p>
                      <a:pPr indent="0" marL="0">
                        <a:buNone/>
                      </a:pPr>
                      <a:r>
                        <a:rPr lang="en-US" sz="900" dirty="0">
                          <a:solidFill>
                            <a:srgbClr val="17324D"/>
                          </a:solidFill>
                          <a:latin typeface="Aptos" pitchFamily="34" charset="0"/>
                          <a:ea typeface="Aptos" pitchFamily="34" charset="-122"/>
                          <a:cs typeface="Aptos" pitchFamily="34" charset="-120"/>
                        </a:rPr>
                        <a:t>AI / Compute</a:t>
                      </a:r>
                      <a:endParaRPr lang="en-US" sz="90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FFFFF"/>
                    </a:solidFill>
                  </a:tcPr>
                </a:tc>
                <a:tc>
                  <a:txBody>
                    <a:bodyPr/>
                    <a:lstStyle/>
                    <a:p>
                      <a:pPr indent="0" marL="0">
                        <a:buNone/>
                      </a:pPr>
                      <a:r>
                        <a:rPr lang="en-US" sz="900" dirty="0">
                          <a:solidFill>
                            <a:srgbClr val="17324D"/>
                          </a:solidFill>
                          <a:latin typeface="Aptos" pitchFamily="34" charset="0"/>
                          <a:ea typeface="Aptos" pitchFamily="34" charset="-122"/>
                          <a:cs typeface="Aptos" pitchFamily="34" charset="-120"/>
                        </a:rPr>
                        <a:t>$3.2B</a:t>
                      </a:r>
                      <a:endParaRPr lang="en-US" sz="90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FFFFF"/>
                    </a:solidFill>
                  </a:tcPr>
                </a:tc>
                <a:tc>
                  <a:txBody>
                    <a:bodyPr/>
                    <a:lstStyle/>
                    <a:p>
                      <a:pPr indent="0" marL="0">
                        <a:buNone/>
                      </a:pPr>
                      <a:r>
                        <a:rPr lang="en-US" sz="900" dirty="0">
                          <a:solidFill>
                            <a:srgbClr val="17324D"/>
                          </a:solidFill>
                          <a:latin typeface="Aptos" pitchFamily="34" charset="0"/>
                          <a:ea typeface="Aptos" pitchFamily="34" charset="-122"/>
                          <a:cs typeface="Aptos" pitchFamily="34" charset="-120"/>
                        </a:rPr>
                        <a:t>17%</a:t>
                      </a:r>
                      <a:endParaRPr lang="en-US" sz="90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FFFFF"/>
                    </a:solidFill>
                  </a:tcPr>
                </a:tc>
                <a:tc>
                  <a:txBody>
                    <a:bodyPr/>
                    <a:lstStyle/>
                    <a:p>
                      <a:pPr indent="0" marL="0">
                        <a:buNone/>
                      </a:pPr>
                      <a:r>
                        <a:rPr lang="en-US" sz="900" dirty="0">
                          <a:solidFill>
                            <a:srgbClr val="17324D"/>
                          </a:solidFill>
                          <a:latin typeface="Aptos" pitchFamily="34" charset="0"/>
                          <a:ea typeface="Aptos" pitchFamily="34" charset="-122"/>
                          <a:cs typeface="Aptos" pitchFamily="34" charset="-120"/>
                        </a:rPr>
                        <a:t>$170.2B</a:t>
                      </a:r>
                      <a:endParaRPr lang="en-US" sz="90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FFFFF"/>
                    </a:solidFill>
                  </a:tcPr>
                </a:tc>
                <a:tc>
                  <a:txBody>
                    <a:bodyPr/>
                    <a:lstStyle/>
                    <a:p>
                      <a:pPr indent="0" marL="0">
                        <a:buNone/>
                      </a:pPr>
                      <a:r>
                        <a:rPr lang="en-US" sz="900" dirty="0">
                          <a:solidFill>
                            <a:srgbClr val="17324D"/>
                          </a:solidFill>
                          <a:latin typeface="Aptos" pitchFamily="34" charset="0"/>
                          <a:ea typeface="Aptos" pitchFamily="34" charset="-122"/>
                          <a:cs typeface="Aptos" pitchFamily="34" charset="-120"/>
                        </a:rPr>
                        <a:t>48.8%</a:t>
                      </a:r>
                      <a:endParaRPr lang="en-US" sz="90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FFFFF"/>
                    </a:solidFill>
                  </a:tcPr>
                </a:tc>
              </a:tr>
              <a:tr h="274320">
                <a:tc>
                  <a:txBody>
                    <a:bodyPr/>
                    <a:lstStyle/>
                    <a:p>
                      <a:pPr indent="0" marL="0">
                        <a:buNone/>
                      </a:pPr>
                      <a:r>
                        <a:rPr lang="en-US" sz="900" b="1" dirty="0">
                          <a:solidFill>
                            <a:srgbClr val="17324D"/>
                          </a:solidFill>
                          <a:latin typeface="Aptos" pitchFamily="34" charset="0"/>
                          <a:ea typeface="Aptos" pitchFamily="34" charset="-122"/>
                          <a:cs typeface="Aptos" pitchFamily="34" charset="-120"/>
                        </a:rPr>
                        <a:t>Total</a:t>
                      </a:r>
                      <a:endParaRPr lang="en-US" sz="90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4EFE6"/>
                    </a:solidFill>
                  </a:tcPr>
                </a:tc>
                <a:tc>
                  <a:txBody>
                    <a:bodyPr/>
                    <a:lstStyle/>
                    <a:p>
                      <a:pPr indent="0" marL="0">
                        <a:buNone/>
                      </a:pPr>
                      <a:r>
                        <a:rPr lang="en-US" sz="900" b="1" dirty="0">
                          <a:solidFill>
                            <a:srgbClr val="17324D"/>
                          </a:solidFill>
                          <a:latin typeface="Aptos" pitchFamily="34" charset="0"/>
                          <a:ea typeface="Aptos" pitchFamily="34" charset="-122"/>
                          <a:cs typeface="Aptos" pitchFamily="34" charset="-120"/>
                        </a:rPr>
                        <a:t>$18.7B</a:t>
                      </a:r>
                      <a:endParaRPr lang="en-US" sz="90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4EFE6"/>
                    </a:solidFill>
                  </a:tcPr>
                </a:tc>
                <a:tc>
                  <a:txBody>
                    <a:bodyPr/>
                    <a:lstStyle/>
                    <a:p>
                      <a:pPr indent="0" marL="0">
                        <a:buNone/>
                      </a:pPr>
                      <a:r>
                        <a:rPr lang="en-US" sz="900" b="1" dirty="0">
                          <a:solidFill>
                            <a:srgbClr val="17324D"/>
                          </a:solidFill>
                          <a:latin typeface="Aptos" pitchFamily="34" charset="0"/>
                          <a:ea typeface="Aptos" pitchFamily="34" charset="-122"/>
                          <a:cs typeface="Aptos" pitchFamily="34" charset="-120"/>
                        </a:rPr>
                        <a:t>100%</a:t>
                      </a:r>
                      <a:endParaRPr lang="en-US" sz="90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4EFE6"/>
                    </a:solidFill>
                  </a:tcPr>
                </a:tc>
                <a:tc>
                  <a:txBody>
                    <a:bodyPr/>
                    <a:lstStyle/>
                    <a:p>
                      <a:pPr indent="0" marL="0">
                        <a:buNone/>
                      </a:pPr>
                      <a:r>
                        <a:rPr lang="en-US" sz="900" b="1" dirty="0">
                          <a:solidFill>
                            <a:srgbClr val="17324D"/>
                          </a:solidFill>
                          <a:latin typeface="Aptos" pitchFamily="34" charset="0"/>
                          <a:ea typeface="Aptos" pitchFamily="34" charset="-122"/>
                          <a:cs typeface="Aptos" pitchFamily="34" charset="-120"/>
                        </a:rPr>
                        <a:t>$283.9B</a:t>
                      </a:r>
                      <a:endParaRPr lang="en-US" sz="90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4EFE6"/>
                    </a:solidFill>
                  </a:tcPr>
                </a:tc>
                <a:tc>
                  <a:txBody>
                    <a:bodyPr/>
                    <a:lstStyle/>
                    <a:p>
                      <a:pPr indent="0" marL="0">
                        <a:buNone/>
                      </a:pPr>
                      <a:r>
                        <a:rPr lang="en-US" sz="900" b="1" dirty="0">
                          <a:solidFill>
                            <a:srgbClr val="17324D"/>
                          </a:solidFill>
                          <a:latin typeface="Aptos" pitchFamily="34" charset="0"/>
                          <a:ea typeface="Aptos" pitchFamily="34" charset="-122"/>
                          <a:cs typeface="Aptos" pitchFamily="34" charset="-120"/>
                        </a:rPr>
                        <a:t>31.3%</a:t>
                      </a:r>
                      <a:endParaRPr lang="en-US" sz="90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4EFE6"/>
                    </a:solidFill>
                  </a:tcPr>
                </a:tc>
              </a:tr>
            </a:tbl>
          </a:graphicData>
        </a:graphic>
      </p:graphicFrame>
      <p:graphicFrame>
        <p:nvGraphicFramePr>
          <p:cNvPr id="7" name="Chart 0" descr=""/>
          <p:cNvGraphicFramePr/>
          <p:nvPr/>
        </p:nvGraphicFramePr>
        <p:xfrm>
          <a:off x="566928" y="3218688"/>
          <a:ext cx="5440680" cy="1444752"/>
        </p:xfrm>
        <a:graphic xmlns:a="http://schemas.openxmlformats.org/drawingml/2006/main">
          <a:graphicData uri="http://schemas.openxmlformats.org/drawingml/2006/chart">
            <c:chart xmlns:c="http://schemas.openxmlformats.org/drawingml/2006/chart" r:id="rId1"/>
          </a:graphicData>
        </a:graphic>
      </p:graphicFrame>
      <p:sp>
        <p:nvSpPr>
          <p:cNvPr id="8" name="Text 4"/>
          <p:cNvSpPr/>
          <p:nvPr/>
        </p:nvSpPr>
        <p:spPr>
          <a:xfrm>
            <a:off x="566928" y="4901184"/>
            <a:ext cx="5486400" cy="585216"/>
          </a:xfrm>
          <a:prstGeom prst="rect">
            <a:avLst/>
          </a:prstGeom>
          <a:noFill/>
          <a:ln/>
        </p:spPr>
        <p:txBody>
          <a:bodyPr wrap="square" lIns="254" tIns="254" rIns="254" bIns="254" rtlCol="0" anchor="t">
            <a:normAutofit/>
          </a:bodyPr>
          <a:lstStyle/>
          <a:p>
            <a:pPr indent="0" marL="0">
              <a:buNone/>
            </a:pPr>
            <a:r>
              <a:rPr lang="en-US" sz="1260" b="1" dirty="0">
                <a:solidFill>
                  <a:srgbClr val="17324D"/>
                </a:solidFill>
              </a:rPr>
              <a:t>The model shifts SpaceX from a launch-led story to a connectivity and compute platform. Launch remains essential because it lowers Starlink deployment cost and provides the foundation for future orbital infrastructure.</a:t>
            </a:r>
            <a:endParaRPr lang="en-US" sz="1260" dirty="0"/>
          </a:p>
        </p:txBody>
      </p:sp>
      <p:sp>
        <p:nvSpPr>
          <p:cNvPr id="9" name="Shape 5"/>
          <p:cNvSpPr/>
          <p:nvPr/>
        </p:nvSpPr>
        <p:spPr>
          <a:xfrm>
            <a:off x="6400800" y="1298448"/>
            <a:ext cx="5230368" cy="1078992"/>
          </a:xfrm>
          <a:prstGeom prst="roundRect">
            <a:avLst>
              <a:gd name="adj" fmla="val 8475"/>
            </a:avLst>
          </a:prstGeom>
          <a:solidFill>
            <a:srgbClr val="FFFFFF"/>
          </a:solidFill>
          <a:ln w="12700">
            <a:solidFill>
              <a:srgbClr val="CABFAF"/>
            </a:solidFill>
            <a:prstDash val="solid"/>
          </a:ln>
        </p:spPr>
      </p:sp>
      <p:sp>
        <p:nvSpPr>
          <p:cNvPr id="10" name="Text 6"/>
          <p:cNvSpPr/>
          <p:nvPr/>
        </p:nvSpPr>
        <p:spPr>
          <a:xfrm>
            <a:off x="6565392" y="1444752"/>
            <a:ext cx="4901184" cy="201168"/>
          </a:xfrm>
          <a:prstGeom prst="rect">
            <a:avLst/>
          </a:prstGeom>
          <a:noFill/>
          <a:ln/>
        </p:spPr>
        <p:txBody>
          <a:bodyPr wrap="square" lIns="0" tIns="0" rIns="0" bIns="0" rtlCol="0" anchor="ctr"/>
          <a:lstStyle/>
          <a:p>
            <a:pPr indent="0" marL="0">
              <a:buNone/>
            </a:pPr>
            <a:r>
              <a:rPr lang="en-US" sz="1100" b="1" dirty="0">
                <a:solidFill>
                  <a:srgbClr val="0F636B"/>
                </a:solidFill>
              </a:rPr>
              <a:t>Launch / Space</a:t>
            </a:r>
            <a:endParaRPr lang="en-US" sz="1100" dirty="0"/>
          </a:p>
        </p:txBody>
      </p:sp>
      <p:sp>
        <p:nvSpPr>
          <p:cNvPr id="11" name="Text 7"/>
          <p:cNvSpPr/>
          <p:nvPr/>
        </p:nvSpPr>
        <p:spPr>
          <a:xfrm>
            <a:off x="6565392" y="1737360"/>
            <a:ext cx="4901184" cy="530352"/>
          </a:xfrm>
          <a:prstGeom prst="rect">
            <a:avLst/>
          </a:prstGeom>
          <a:noFill/>
          <a:ln/>
        </p:spPr>
        <p:txBody>
          <a:bodyPr wrap="square" lIns="254" tIns="254" rIns="254" bIns="254" rtlCol="0" anchor="t">
            <a:normAutofit/>
          </a:bodyPr>
          <a:lstStyle/>
          <a:p>
            <a:pPr indent="0" marL="0">
              <a:buNone/>
            </a:pPr>
            <a:r>
              <a:rPr lang="en-US" sz="1070" dirty="0">
                <a:solidFill>
                  <a:srgbClr val="17324D"/>
                </a:solidFill>
              </a:rPr>
              <a:t>Cost advantage comes from reusable rockets, cadence and internal Starlink demand. Starship is a major upside lever, but the base case does not require every Starship goal to be achieved.</a:t>
            </a:r>
            <a:endParaRPr lang="en-US" sz="1070" dirty="0"/>
          </a:p>
        </p:txBody>
      </p:sp>
      <p:sp>
        <p:nvSpPr>
          <p:cNvPr id="12" name="Shape 8"/>
          <p:cNvSpPr/>
          <p:nvPr/>
        </p:nvSpPr>
        <p:spPr>
          <a:xfrm>
            <a:off x="6400800" y="2615184"/>
            <a:ext cx="5230368" cy="1115568"/>
          </a:xfrm>
          <a:prstGeom prst="roundRect">
            <a:avLst>
              <a:gd name="adj" fmla="val 8197"/>
            </a:avLst>
          </a:prstGeom>
          <a:solidFill>
            <a:srgbClr val="FFFFFF"/>
          </a:solidFill>
          <a:ln w="12700">
            <a:solidFill>
              <a:srgbClr val="CABFAF"/>
            </a:solidFill>
            <a:prstDash val="solid"/>
          </a:ln>
        </p:spPr>
      </p:sp>
      <p:sp>
        <p:nvSpPr>
          <p:cNvPr id="13" name="Text 9"/>
          <p:cNvSpPr/>
          <p:nvPr/>
        </p:nvSpPr>
        <p:spPr>
          <a:xfrm>
            <a:off x="6565392" y="2761488"/>
            <a:ext cx="4901184" cy="201168"/>
          </a:xfrm>
          <a:prstGeom prst="rect">
            <a:avLst/>
          </a:prstGeom>
          <a:noFill/>
          <a:ln/>
        </p:spPr>
        <p:txBody>
          <a:bodyPr wrap="square" lIns="0" tIns="0" rIns="0" bIns="0" rtlCol="0" anchor="ctr"/>
          <a:lstStyle/>
          <a:p>
            <a:pPr indent="0" marL="0">
              <a:buNone/>
            </a:pPr>
            <a:r>
              <a:rPr lang="en-US" sz="1100" b="1" dirty="0">
                <a:solidFill>
                  <a:srgbClr val="0F636B"/>
                </a:solidFill>
              </a:rPr>
              <a:t>Starlink / Connectivity</a:t>
            </a:r>
            <a:endParaRPr lang="en-US" sz="1100" dirty="0"/>
          </a:p>
        </p:txBody>
      </p:sp>
      <p:sp>
        <p:nvSpPr>
          <p:cNvPr id="14" name="Text 10"/>
          <p:cNvSpPr/>
          <p:nvPr/>
        </p:nvSpPr>
        <p:spPr>
          <a:xfrm>
            <a:off x="6565392" y="3054096"/>
            <a:ext cx="4901184" cy="566928"/>
          </a:xfrm>
          <a:prstGeom prst="rect">
            <a:avLst/>
          </a:prstGeom>
          <a:noFill/>
          <a:ln/>
        </p:spPr>
        <p:txBody>
          <a:bodyPr wrap="square" lIns="254" tIns="254" rIns="254" bIns="254" rtlCol="0" anchor="t">
            <a:normAutofit/>
          </a:bodyPr>
          <a:lstStyle/>
          <a:p>
            <a:pPr indent="0" marL="0">
              <a:buNone/>
            </a:pPr>
            <a:r>
              <a:rPr lang="en-US" sz="1070" dirty="0">
                <a:solidFill>
                  <a:srgbClr val="17324D"/>
                </a:solidFill>
              </a:rPr>
              <a:t>Highest-quality segment in the model: recurring revenue, direct-to-cell optionality, rural broadband, aviation, maritime and government connectivity. This is the segment that carries the base case.</a:t>
            </a:r>
            <a:endParaRPr lang="en-US" sz="1070" dirty="0"/>
          </a:p>
        </p:txBody>
      </p:sp>
      <p:sp>
        <p:nvSpPr>
          <p:cNvPr id="15" name="Shape 11"/>
          <p:cNvSpPr/>
          <p:nvPr/>
        </p:nvSpPr>
        <p:spPr>
          <a:xfrm>
            <a:off x="6400800" y="3986784"/>
            <a:ext cx="5230368" cy="1170432"/>
          </a:xfrm>
          <a:prstGeom prst="roundRect">
            <a:avLst>
              <a:gd name="adj" fmla="val 7813"/>
            </a:avLst>
          </a:prstGeom>
          <a:solidFill>
            <a:srgbClr val="FFFFFF"/>
          </a:solidFill>
          <a:ln w="12700">
            <a:solidFill>
              <a:srgbClr val="CABFAF"/>
            </a:solidFill>
            <a:prstDash val="solid"/>
          </a:ln>
        </p:spPr>
      </p:sp>
      <p:sp>
        <p:nvSpPr>
          <p:cNvPr id="16" name="Text 12"/>
          <p:cNvSpPr/>
          <p:nvPr/>
        </p:nvSpPr>
        <p:spPr>
          <a:xfrm>
            <a:off x="6565392" y="4133088"/>
            <a:ext cx="4901184" cy="201168"/>
          </a:xfrm>
          <a:prstGeom prst="rect">
            <a:avLst/>
          </a:prstGeom>
          <a:noFill/>
          <a:ln/>
        </p:spPr>
        <p:txBody>
          <a:bodyPr wrap="square" lIns="0" tIns="0" rIns="0" bIns="0" rtlCol="0" anchor="ctr"/>
          <a:lstStyle/>
          <a:p>
            <a:pPr indent="0" marL="0">
              <a:buNone/>
            </a:pPr>
            <a:r>
              <a:rPr lang="en-US" sz="1100" b="1" dirty="0">
                <a:solidFill>
                  <a:srgbClr val="0F636B"/>
                </a:solidFill>
              </a:rPr>
              <a:t>AI / Compute</a:t>
            </a:r>
            <a:endParaRPr lang="en-US" sz="1100" dirty="0"/>
          </a:p>
        </p:txBody>
      </p:sp>
      <p:sp>
        <p:nvSpPr>
          <p:cNvPr id="17" name="Text 13"/>
          <p:cNvSpPr/>
          <p:nvPr/>
        </p:nvSpPr>
        <p:spPr>
          <a:xfrm>
            <a:off x="6565392" y="4425696"/>
            <a:ext cx="4901184" cy="621792"/>
          </a:xfrm>
          <a:prstGeom prst="rect">
            <a:avLst/>
          </a:prstGeom>
          <a:noFill/>
          <a:ln/>
        </p:spPr>
        <p:txBody>
          <a:bodyPr wrap="square" lIns="254" tIns="254" rIns="254" bIns="254" rtlCol="0" anchor="t">
            <a:normAutofit/>
          </a:bodyPr>
          <a:lstStyle/>
          <a:p>
            <a:pPr indent="0" marL="0">
              <a:buNone/>
            </a:pPr>
            <a:r>
              <a:rPr lang="en-US" sz="1070" dirty="0">
                <a:solidFill>
                  <a:srgbClr val="17324D"/>
                </a:solidFill>
              </a:rPr>
              <a:t>Credit is given for Colossus utilization and infrastructure-style compute leasing, but the model does not fully capitalize orbital data centers or moonshot AI outcomes until pricing, customers and margins are more visible.</a:t>
            </a:r>
            <a:endParaRPr lang="en-US" sz="1070" dirty="0"/>
          </a:p>
        </p:txBody>
      </p:sp>
      <p:sp>
        <p:nvSpPr>
          <p:cNvPr id="18" name="Shape 14"/>
          <p:cNvSpPr/>
          <p:nvPr/>
        </p:nvSpPr>
        <p:spPr>
          <a:xfrm>
            <a:off x="6400800" y="5440680"/>
            <a:ext cx="5230368" cy="566928"/>
          </a:xfrm>
          <a:prstGeom prst="roundRect">
            <a:avLst>
              <a:gd name="adj" fmla="val 16129"/>
            </a:avLst>
          </a:prstGeom>
          <a:solidFill>
            <a:srgbClr val="DCE8DE"/>
          </a:solidFill>
          <a:ln w="12700">
            <a:solidFill>
              <a:srgbClr val="B5CEC1"/>
            </a:solidFill>
            <a:prstDash val="solid"/>
          </a:ln>
        </p:spPr>
      </p:sp>
      <p:sp>
        <p:nvSpPr>
          <p:cNvPr id="19" name="Text 15"/>
          <p:cNvSpPr/>
          <p:nvPr/>
        </p:nvSpPr>
        <p:spPr>
          <a:xfrm>
            <a:off x="6629400" y="5632704"/>
            <a:ext cx="4773168" cy="164592"/>
          </a:xfrm>
          <a:prstGeom prst="rect">
            <a:avLst/>
          </a:prstGeom>
          <a:noFill/>
          <a:ln/>
        </p:spPr>
        <p:txBody>
          <a:bodyPr wrap="square" lIns="254" tIns="254" rIns="254" bIns="254" rtlCol="0" anchor="t">
            <a:normAutofit/>
          </a:bodyPr>
          <a:lstStyle/>
          <a:p>
            <a:pPr indent="0" marL="0">
              <a:buNone/>
            </a:pPr>
            <a:r>
              <a:rPr lang="en-US" sz="1140" b="1" dirty="0">
                <a:solidFill>
                  <a:srgbClr val="17324D"/>
                </a:solidFill>
              </a:rPr>
              <a:t>Forecast implication: strong growth is reasonable, but segment-level capex and risk must be modeled separately.</a:t>
            </a:r>
            <a:endParaRPr lang="en-US" sz="11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502920" y="347472"/>
            <a:ext cx="10972800" cy="411480"/>
          </a:xfrm>
          <a:prstGeom prst="rect">
            <a:avLst/>
          </a:prstGeom>
          <a:noFill/>
          <a:ln/>
        </p:spPr>
        <p:txBody>
          <a:bodyPr wrap="square" lIns="0" tIns="0" rIns="0" bIns="0" rtlCol="0" anchor="ctr"/>
          <a:lstStyle/>
          <a:p>
            <a:pPr indent="0" marL="0">
              <a:buNone/>
            </a:pPr>
            <a:r>
              <a:rPr lang="en-US" sz="2850" b="1" dirty="0">
                <a:solidFill>
                  <a:srgbClr val="17324D"/>
                </a:solidFill>
                <a:latin typeface="Aptos Display" pitchFamily="34" charset="0"/>
                <a:ea typeface="Aptos Display" pitchFamily="34" charset="-122"/>
                <a:cs typeface="Aptos Display" pitchFamily="34" charset="-120"/>
              </a:rPr>
              <a:t>DCF bridge from operating forecast to share price</a:t>
            </a:r>
            <a:endParaRPr lang="en-US" sz="2850" dirty="0"/>
          </a:p>
        </p:txBody>
      </p:sp>
      <p:sp>
        <p:nvSpPr>
          <p:cNvPr id="3" name="Text 1"/>
          <p:cNvSpPr/>
          <p:nvPr/>
        </p:nvSpPr>
        <p:spPr>
          <a:xfrm>
            <a:off x="521208" y="804672"/>
            <a:ext cx="10972800" cy="256032"/>
          </a:xfrm>
          <a:prstGeom prst="rect">
            <a:avLst/>
          </a:prstGeom>
          <a:noFill/>
          <a:ln/>
        </p:spPr>
        <p:txBody>
          <a:bodyPr wrap="square" lIns="0" tIns="0" rIns="0" bIns="0" rtlCol="0" anchor="ctr"/>
          <a:lstStyle/>
          <a:p>
            <a:pPr indent="0" marL="0">
              <a:buNone/>
            </a:pPr>
            <a:r>
              <a:rPr lang="en-US" sz="1250" dirty="0">
                <a:solidFill>
                  <a:srgbClr val="5A6C77"/>
                </a:solidFill>
              </a:rPr>
              <a:t>This is the calculation path from segment revenue to the $93/share intrinsic value.</a:t>
            </a:r>
            <a:endParaRPr lang="en-US" sz="1250" dirty="0"/>
          </a:p>
        </p:txBody>
      </p:sp>
      <p:sp>
        <p:nvSpPr>
          <p:cNvPr id="4" name="Shape 2"/>
          <p:cNvSpPr/>
          <p:nvPr/>
        </p:nvSpPr>
        <p:spPr>
          <a:xfrm>
            <a:off x="502920" y="1078992"/>
            <a:ext cx="11155680" cy="0"/>
          </a:xfrm>
          <a:prstGeom prst="line">
            <a:avLst/>
          </a:prstGeom>
          <a:noFill/>
          <a:ln w="12700">
            <a:solidFill>
              <a:srgbClr val="D4CDC2"/>
            </a:solidFill>
            <a:prstDash val="solid"/>
          </a:ln>
        </p:spPr>
      </p:sp>
      <p:sp>
        <p:nvSpPr>
          <p:cNvPr id="5" name="Text 3"/>
          <p:cNvSpPr/>
          <p:nvPr/>
        </p:nvSpPr>
        <p:spPr>
          <a:xfrm>
            <a:off x="566928" y="1298448"/>
            <a:ext cx="2286000" cy="219456"/>
          </a:xfrm>
          <a:prstGeom prst="rect">
            <a:avLst/>
          </a:prstGeom>
          <a:noFill/>
          <a:ln/>
        </p:spPr>
        <p:txBody>
          <a:bodyPr wrap="square" lIns="0" tIns="0" rIns="0" bIns="0" rtlCol="0" anchor="ctr"/>
          <a:lstStyle/>
          <a:p>
            <a:pPr indent="0" marL="0">
              <a:buNone/>
            </a:pPr>
            <a:r>
              <a:rPr lang="en-US" sz="1020" b="1" dirty="0">
                <a:solidFill>
                  <a:srgbClr val="0F636B"/>
                </a:solidFill>
              </a:rPr>
              <a:t>OPERATING BRIDGE</a:t>
            </a:r>
            <a:endParaRPr lang="en-US" sz="102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66928" y="1572768"/>
          <a:ext cx="5074920" cy="2103120"/>
        </p:xfrm>
        <a:graphic>
          <a:graphicData uri="http://schemas.openxmlformats.org/drawingml/2006/table">
            <a:tbl>
              <a:tblPr/>
              <a:tblGrid>
                <a:gridCol w="960120"/>
                <a:gridCol w="932688"/>
                <a:gridCol w="932688"/>
                <a:gridCol w="2249424"/>
              </a:tblGrid>
              <a:tr h="300446">
                <a:tc>
                  <a:txBody>
                    <a:bodyPr/>
                    <a:lstStyle/>
                    <a:p>
                      <a:pPr indent="0" marL="0">
                        <a:buNone/>
                      </a:pPr>
                      <a:r>
                        <a:rPr lang="en-US" sz="920" b="1" dirty="0">
                          <a:solidFill>
                            <a:srgbClr val="FFFFFF"/>
                          </a:solidFill>
                          <a:latin typeface="Aptos" pitchFamily="34" charset="0"/>
                          <a:ea typeface="Aptos" pitchFamily="34" charset="-122"/>
                          <a:cs typeface="Aptos" pitchFamily="34" charset="-120"/>
                        </a:rPr>
                        <a:t>Metric</a:t>
                      </a:r>
                      <a:endParaRPr lang="en-US" sz="92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0F636B"/>
                    </a:solidFill>
                  </a:tcPr>
                </a:tc>
                <a:tc>
                  <a:txBody>
                    <a:bodyPr/>
                    <a:lstStyle/>
                    <a:p>
                      <a:pPr indent="0" marL="0">
                        <a:buNone/>
                      </a:pPr>
                      <a:r>
                        <a:rPr lang="en-US" sz="920" b="1" dirty="0">
                          <a:solidFill>
                            <a:srgbClr val="FFFFFF"/>
                          </a:solidFill>
                          <a:latin typeface="Aptos" pitchFamily="34" charset="0"/>
                          <a:ea typeface="Aptos" pitchFamily="34" charset="-122"/>
                          <a:cs typeface="Aptos" pitchFamily="34" charset="-120"/>
                        </a:rPr>
                        <a:t>2026E</a:t>
                      </a:r>
                      <a:endParaRPr lang="en-US" sz="92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0F636B"/>
                    </a:solidFill>
                  </a:tcPr>
                </a:tc>
                <a:tc>
                  <a:txBody>
                    <a:bodyPr/>
                    <a:lstStyle/>
                    <a:p>
                      <a:pPr indent="0" marL="0">
                        <a:buNone/>
                      </a:pPr>
                      <a:r>
                        <a:rPr lang="en-US" sz="920" b="1" dirty="0">
                          <a:solidFill>
                            <a:srgbClr val="FFFFFF"/>
                          </a:solidFill>
                          <a:latin typeface="Aptos" pitchFamily="34" charset="0"/>
                          <a:ea typeface="Aptos" pitchFamily="34" charset="-122"/>
                          <a:cs typeface="Aptos" pitchFamily="34" charset="-120"/>
                        </a:rPr>
                        <a:t>2035E</a:t>
                      </a:r>
                      <a:endParaRPr lang="en-US" sz="92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0F636B"/>
                    </a:solidFill>
                  </a:tcPr>
                </a:tc>
                <a:tc>
                  <a:txBody>
                    <a:bodyPr/>
                    <a:lstStyle/>
                    <a:p>
                      <a:pPr indent="0" marL="0">
                        <a:buNone/>
                      </a:pPr>
                      <a:r>
                        <a:rPr lang="en-US" sz="920" b="1" dirty="0">
                          <a:solidFill>
                            <a:srgbClr val="FFFFFF"/>
                          </a:solidFill>
                          <a:latin typeface="Aptos" pitchFamily="34" charset="0"/>
                          <a:ea typeface="Aptos" pitchFamily="34" charset="-122"/>
                          <a:cs typeface="Aptos" pitchFamily="34" charset="-120"/>
                        </a:rPr>
                        <a:t>Why it changes</a:t>
                      </a:r>
                      <a:endParaRPr lang="en-US" sz="92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0F636B"/>
                    </a:solidFill>
                  </a:tcPr>
                </a:tc>
              </a:tr>
              <a:tr h="300446">
                <a:tc>
                  <a:txBody>
                    <a:bodyPr/>
                    <a:lstStyle/>
                    <a:p>
                      <a:pPr indent="0" marL="0">
                        <a:buNone/>
                      </a:pPr>
                      <a:r>
                        <a:rPr lang="en-US" sz="880" dirty="0">
                          <a:solidFill>
                            <a:srgbClr val="17324D"/>
                          </a:solidFill>
                          <a:latin typeface="Aptos" pitchFamily="34" charset="0"/>
                          <a:ea typeface="Aptos" pitchFamily="34" charset="-122"/>
                          <a:cs typeface="Aptos" pitchFamily="34" charset="-120"/>
                        </a:rPr>
                        <a:t>Revenue</a:t>
                      </a:r>
                      <a:endParaRPr lang="en-US" sz="88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FFFFF"/>
                    </a:solidFill>
                  </a:tcPr>
                </a:tc>
                <a:tc>
                  <a:txBody>
                    <a:bodyPr/>
                    <a:lstStyle/>
                    <a:p>
                      <a:pPr indent="0" marL="0">
                        <a:buNone/>
                      </a:pPr>
                      <a:r>
                        <a:rPr lang="en-US" sz="880" dirty="0">
                          <a:solidFill>
                            <a:srgbClr val="17324D"/>
                          </a:solidFill>
                          <a:latin typeface="Aptos" pitchFamily="34" charset="0"/>
                          <a:ea typeface="Aptos" pitchFamily="34" charset="-122"/>
                          <a:cs typeface="Aptos" pitchFamily="34" charset="-120"/>
                        </a:rPr>
                        <a:t>$34.8B</a:t>
                      </a:r>
                      <a:endParaRPr lang="en-US" sz="88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FFFFF"/>
                    </a:solidFill>
                  </a:tcPr>
                </a:tc>
                <a:tc>
                  <a:txBody>
                    <a:bodyPr/>
                    <a:lstStyle/>
                    <a:p>
                      <a:pPr indent="0" marL="0">
                        <a:buNone/>
                      </a:pPr>
                      <a:r>
                        <a:rPr lang="en-US" sz="880" dirty="0">
                          <a:solidFill>
                            <a:srgbClr val="17324D"/>
                          </a:solidFill>
                          <a:latin typeface="Aptos" pitchFamily="34" charset="0"/>
                          <a:ea typeface="Aptos" pitchFamily="34" charset="-122"/>
                          <a:cs typeface="Aptos" pitchFamily="34" charset="-120"/>
                        </a:rPr>
                        <a:t>$283.9B</a:t>
                      </a:r>
                      <a:endParaRPr lang="en-US" sz="88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FFFFF"/>
                    </a:solidFill>
                  </a:tcPr>
                </a:tc>
                <a:tc>
                  <a:txBody>
                    <a:bodyPr/>
                    <a:lstStyle/>
                    <a:p>
                      <a:pPr indent="0" marL="0">
                        <a:buNone/>
                      </a:pPr>
                      <a:r>
                        <a:rPr lang="en-US" sz="880" dirty="0">
                          <a:solidFill>
                            <a:srgbClr val="17324D"/>
                          </a:solidFill>
                          <a:latin typeface="Aptos" pitchFamily="34" charset="0"/>
                          <a:ea typeface="Aptos" pitchFamily="34" charset="-122"/>
                          <a:cs typeface="Aptos" pitchFamily="34" charset="-120"/>
                        </a:rPr>
                        <a:t>Starlink scale plus AI compute ramp</a:t>
                      </a:r>
                      <a:endParaRPr lang="en-US" sz="88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FFFFF"/>
                    </a:solidFill>
                  </a:tcPr>
                </a:tc>
              </a:tr>
              <a:tr h="300446">
                <a:tc>
                  <a:txBody>
                    <a:bodyPr/>
                    <a:lstStyle/>
                    <a:p>
                      <a:pPr indent="0" marL="0">
                        <a:buNone/>
                      </a:pPr>
                      <a:r>
                        <a:rPr lang="en-US" sz="880" dirty="0">
                          <a:solidFill>
                            <a:srgbClr val="17324D"/>
                          </a:solidFill>
                          <a:latin typeface="Aptos" pitchFamily="34" charset="0"/>
                          <a:ea typeface="Aptos" pitchFamily="34" charset="-122"/>
                          <a:cs typeface="Aptos" pitchFamily="34" charset="-120"/>
                        </a:rPr>
                        <a:t>EBIT</a:t>
                      </a:r>
                      <a:endParaRPr lang="en-US" sz="88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4EFE6"/>
                    </a:solidFill>
                  </a:tcPr>
                </a:tc>
                <a:tc>
                  <a:txBody>
                    <a:bodyPr/>
                    <a:lstStyle/>
                    <a:p>
                      <a:pPr indent="0" marL="0">
                        <a:buNone/>
                      </a:pPr>
                      <a:r>
                        <a:rPr lang="en-US" sz="880" dirty="0">
                          <a:solidFill>
                            <a:srgbClr val="17324D"/>
                          </a:solidFill>
                          <a:latin typeface="Aptos" pitchFamily="34" charset="0"/>
                          <a:ea typeface="Aptos" pitchFamily="34" charset="-122"/>
                          <a:cs typeface="Aptos" pitchFamily="34" charset="-120"/>
                        </a:rPr>
                        <a:t>-$0.5B</a:t>
                      </a:r>
                      <a:endParaRPr lang="en-US" sz="88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4EFE6"/>
                    </a:solidFill>
                  </a:tcPr>
                </a:tc>
                <a:tc>
                  <a:txBody>
                    <a:bodyPr/>
                    <a:lstStyle/>
                    <a:p>
                      <a:pPr indent="0" marL="0">
                        <a:buNone/>
                      </a:pPr>
                      <a:r>
                        <a:rPr lang="en-US" sz="880" dirty="0">
                          <a:solidFill>
                            <a:srgbClr val="17324D"/>
                          </a:solidFill>
                          <a:latin typeface="Aptos" pitchFamily="34" charset="0"/>
                          <a:ea typeface="Aptos" pitchFamily="34" charset="-122"/>
                          <a:cs typeface="Aptos" pitchFamily="34" charset="-120"/>
                        </a:rPr>
                        <a:t>$156.6B</a:t>
                      </a:r>
                      <a:endParaRPr lang="en-US" sz="88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4EFE6"/>
                    </a:solidFill>
                  </a:tcPr>
                </a:tc>
                <a:tc>
                  <a:txBody>
                    <a:bodyPr/>
                    <a:lstStyle/>
                    <a:p>
                      <a:pPr indent="0" marL="0">
                        <a:buNone/>
                      </a:pPr>
                      <a:r>
                        <a:rPr lang="en-US" sz="880" dirty="0">
                          <a:solidFill>
                            <a:srgbClr val="17324D"/>
                          </a:solidFill>
                          <a:latin typeface="Aptos" pitchFamily="34" charset="0"/>
                          <a:ea typeface="Aptos" pitchFamily="34" charset="-122"/>
                          <a:cs typeface="Aptos" pitchFamily="34" charset="-120"/>
                        </a:rPr>
                        <a:t>Margins improve as capex-heavy buildout scales</a:t>
                      </a:r>
                      <a:endParaRPr lang="en-US" sz="88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4EFE6"/>
                    </a:solidFill>
                  </a:tcPr>
                </a:tc>
              </a:tr>
              <a:tr h="300446">
                <a:tc>
                  <a:txBody>
                    <a:bodyPr/>
                    <a:lstStyle/>
                    <a:p>
                      <a:pPr indent="0" marL="0">
                        <a:buNone/>
                      </a:pPr>
                      <a:r>
                        <a:rPr lang="en-US" sz="880" dirty="0">
                          <a:solidFill>
                            <a:srgbClr val="17324D"/>
                          </a:solidFill>
                          <a:latin typeface="Aptos" pitchFamily="34" charset="0"/>
                          <a:ea typeface="Aptos" pitchFamily="34" charset="-122"/>
                          <a:cs typeface="Aptos" pitchFamily="34" charset="-120"/>
                        </a:rPr>
                        <a:t>NOPAT</a:t>
                      </a:r>
                      <a:endParaRPr lang="en-US" sz="88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FFFFF"/>
                    </a:solidFill>
                  </a:tcPr>
                </a:tc>
                <a:tc>
                  <a:txBody>
                    <a:bodyPr/>
                    <a:lstStyle/>
                    <a:p>
                      <a:pPr indent="0" marL="0">
                        <a:buNone/>
                      </a:pPr>
                      <a:r>
                        <a:rPr lang="en-US" sz="880" dirty="0">
                          <a:solidFill>
                            <a:srgbClr val="17324D"/>
                          </a:solidFill>
                          <a:latin typeface="Aptos" pitchFamily="34" charset="0"/>
                          <a:ea typeface="Aptos" pitchFamily="34" charset="-122"/>
                          <a:cs typeface="Aptos" pitchFamily="34" charset="-120"/>
                        </a:rPr>
                        <a:t>-$0.4B</a:t>
                      </a:r>
                      <a:endParaRPr lang="en-US" sz="88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FFFFF"/>
                    </a:solidFill>
                  </a:tcPr>
                </a:tc>
                <a:tc>
                  <a:txBody>
                    <a:bodyPr/>
                    <a:lstStyle/>
                    <a:p>
                      <a:pPr indent="0" marL="0">
                        <a:buNone/>
                      </a:pPr>
                      <a:r>
                        <a:rPr lang="en-US" sz="880" dirty="0">
                          <a:solidFill>
                            <a:srgbClr val="17324D"/>
                          </a:solidFill>
                          <a:latin typeface="Aptos" pitchFamily="34" charset="0"/>
                          <a:ea typeface="Aptos" pitchFamily="34" charset="-122"/>
                          <a:cs typeface="Aptos" pitchFamily="34" charset="-120"/>
                        </a:rPr>
                        <a:t>$123.7B</a:t>
                      </a:r>
                      <a:endParaRPr lang="en-US" sz="88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FFFFF"/>
                    </a:solidFill>
                  </a:tcPr>
                </a:tc>
                <a:tc>
                  <a:txBody>
                    <a:bodyPr/>
                    <a:lstStyle/>
                    <a:p>
                      <a:pPr indent="0" marL="0">
                        <a:buNone/>
                      </a:pPr>
                      <a:r>
                        <a:rPr lang="en-US" sz="880" dirty="0">
                          <a:solidFill>
                            <a:srgbClr val="17324D"/>
                          </a:solidFill>
                          <a:latin typeface="Aptos" pitchFamily="34" charset="0"/>
                          <a:ea typeface="Aptos" pitchFamily="34" charset="-122"/>
                          <a:cs typeface="Aptos" pitchFamily="34" charset="-120"/>
                        </a:rPr>
                        <a:t>Operating profit taxed at 21%</a:t>
                      </a:r>
                      <a:endParaRPr lang="en-US" sz="88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FFFFF"/>
                    </a:solidFill>
                  </a:tcPr>
                </a:tc>
              </a:tr>
              <a:tr h="300446">
                <a:tc>
                  <a:txBody>
                    <a:bodyPr/>
                    <a:lstStyle/>
                    <a:p>
                      <a:pPr indent="0" marL="0">
                        <a:buNone/>
                      </a:pPr>
                      <a:r>
                        <a:rPr lang="en-US" sz="880" dirty="0">
                          <a:solidFill>
                            <a:srgbClr val="17324D"/>
                          </a:solidFill>
                          <a:latin typeface="Aptos" pitchFamily="34" charset="0"/>
                          <a:ea typeface="Aptos" pitchFamily="34" charset="-122"/>
                          <a:cs typeface="Aptos" pitchFamily="34" charset="-120"/>
                        </a:rPr>
                        <a:t>D&amp;A</a:t>
                      </a:r>
                      <a:endParaRPr lang="en-US" sz="88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4EFE6"/>
                    </a:solidFill>
                  </a:tcPr>
                </a:tc>
                <a:tc>
                  <a:txBody>
                    <a:bodyPr/>
                    <a:lstStyle/>
                    <a:p>
                      <a:pPr indent="0" marL="0">
                        <a:buNone/>
                      </a:pPr>
                      <a:r>
                        <a:rPr lang="en-US" sz="880" dirty="0">
                          <a:solidFill>
                            <a:srgbClr val="17324D"/>
                          </a:solidFill>
                          <a:latin typeface="Aptos" pitchFamily="34" charset="0"/>
                          <a:ea typeface="Aptos" pitchFamily="34" charset="-122"/>
                          <a:cs typeface="Aptos" pitchFamily="34" charset="-120"/>
                        </a:rPr>
                        <a:t>$10.2B</a:t>
                      </a:r>
                      <a:endParaRPr lang="en-US" sz="88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4EFE6"/>
                    </a:solidFill>
                  </a:tcPr>
                </a:tc>
                <a:tc>
                  <a:txBody>
                    <a:bodyPr/>
                    <a:lstStyle/>
                    <a:p>
                      <a:pPr indent="0" marL="0">
                        <a:buNone/>
                      </a:pPr>
                      <a:r>
                        <a:rPr lang="en-US" sz="880" dirty="0">
                          <a:solidFill>
                            <a:srgbClr val="17324D"/>
                          </a:solidFill>
                          <a:latin typeface="Aptos" pitchFamily="34" charset="0"/>
                          <a:ea typeface="Aptos" pitchFamily="34" charset="-122"/>
                          <a:cs typeface="Aptos" pitchFamily="34" charset="-120"/>
                        </a:rPr>
                        <a:t>$56.1B</a:t>
                      </a:r>
                      <a:endParaRPr lang="en-US" sz="88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4EFE6"/>
                    </a:solidFill>
                  </a:tcPr>
                </a:tc>
                <a:tc>
                  <a:txBody>
                    <a:bodyPr/>
                    <a:lstStyle/>
                    <a:p>
                      <a:pPr indent="0" marL="0">
                        <a:buNone/>
                      </a:pPr>
                      <a:r>
                        <a:rPr lang="en-US" sz="880" dirty="0">
                          <a:solidFill>
                            <a:srgbClr val="17324D"/>
                          </a:solidFill>
                          <a:latin typeface="Aptos" pitchFamily="34" charset="0"/>
                          <a:ea typeface="Aptos" pitchFamily="34" charset="-122"/>
                          <a:cs typeface="Aptos" pitchFamily="34" charset="-120"/>
                        </a:rPr>
                        <a:t>High due to satellites, GPUs and data centers</a:t>
                      </a:r>
                      <a:endParaRPr lang="en-US" sz="88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4EFE6"/>
                    </a:solidFill>
                  </a:tcPr>
                </a:tc>
              </a:tr>
              <a:tr h="300446">
                <a:tc>
                  <a:txBody>
                    <a:bodyPr/>
                    <a:lstStyle/>
                    <a:p>
                      <a:pPr indent="0" marL="0">
                        <a:buNone/>
                      </a:pPr>
                      <a:r>
                        <a:rPr lang="en-US" sz="880" dirty="0">
                          <a:solidFill>
                            <a:srgbClr val="17324D"/>
                          </a:solidFill>
                          <a:latin typeface="Aptos" pitchFamily="34" charset="0"/>
                          <a:ea typeface="Aptos" pitchFamily="34" charset="-122"/>
                          <a:cs typeface="Aptos" pitchFamily="34" charset="-120"/>
                        </a:rPr>
                        <a:t>Capex</a:t>
                      </a:r>
                      <a:endParaRPr lang="en-US" sz="88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FFFFF"/>
                    </a:solidFill>
                  </a:tcPr>
                </a:tc>
                <a:tc>
                  <a:txBody>
                    <a:bodyPr/>
                    <a:lstStyle/>
                    <a:p>
                      <a:pPr indent="0" marL="0">
                        <a:buNone/>
                      </a:pPr>
                      <a:r>
                        <a:rPr lang="en-US" sz="880" dirty="0">
                          <a:solidFill>
                            <a:srgbClr val="17324D"/>
                          </a:solidFill>
                          <a:latin typeface="Aptos" pitchFamily="34" charset="0"/>
                          <a:ea typeface="Aptos" pitchFamily="34" charset="-122"/>
                          <a:cs typeface="Aptos" pitchFamily="34" charset="-120"/>
                        </a:rPr>
                        <a:t>$25.3B</a:t>
                      </a:r>
                      <a:endParaRPr lang="en-US" sz="88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FFFFF"/>
                    </a:solidFill>
                  </a:tcPr>
                </a:tc>
                <a:tc>
                  <a:txBody>
                    <a:bodyPr/>
                    <a:lstStyle/>
                    <a:p>
                      <a:pPr indent="0" marL="0">
                        <a:buNone/>
                      </a:pPr>
                      <a:r>
                        <a:rPr lang="en-US" sz="880" dirty="0">
                          <a:solidFill>
                            <a:srgbClr val="17324D"/>
                          </a:solidFill>
                          <a:latin typeface="Aptos" pitchFamily="34" charset="0"/>
                          <a:ea typeface="Aptos" pitchFamily="34" charset="-122"/>
                          <a:cs typeface="Aptos" pitchFamily="34" charset="-120"/>
                        </a:rPr>
                        <a:t>$46.6B</a:t>
                      </a:r>
                      <a:endParaRPr lang="en-US" sz="88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FFFFF"/>
                    </a:solidFill>
                  </a:tcPr>
                </a:tc>
                <a:tc>
                  <a:txBody>
                    <a:bodyPr/>
                    <a:lstStyle/>
                    <a:p>
                      <a:pPr indent="0" marL="0">
                        <a:buNone/>
                      </a:pPr>
                      <a:r>
                        <a:rPr lang="en-US" sz="880" dirty="0">
                          <a:solidFill>
                            <a:srgbClr val="17324D"/>
                          </a:solidFill>
                          <a:latin typeface="Aptos" pitchFamily="34" charset="0"/>
                          <a:ea typeface="Aptos" pitchFamily="34" charset="-122"/>
                          <a:cs typeface="Aptos" pitchFamily="34" charset="-120"/>
                        </a:rPr>
                        <a:t>Still large, but lower as a percent of revenue</a:t>
                      </a:r>
                      <a:endParaRPr lang="en-US" sz="88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FFFFF"/>
                    </a:solidFill>
                  </a:tcPr>
                </a:tc>
              </a:tr>
              <a:tr h="300446">
                <a:tc>
                  <a:txBody>
                    <a:bodyPr/>
                    <a:lstStyle/>
                    <a:p>
                      <a:pPr indent="0" marL="0">
                        <a:buNone/>
                      </a:pPr>
                      <a:r>
                        <a:rPr lang="en-US" sz="880" b="1" dirty="0">
                          <a:solidFill>
                            <a:srgbClr val="17324D"/>
                          </a:solidFill>
                          <a:latin typeface="Aptos" pitchFamily="34" charset="0"/>
                          <a:ea typeface="Aptos" pitchFamily="34" charset="-122"/>
                          <a:cs typeface="Aptos" pitchFamily="34" charset="-120"/>
                        </a:rPr>
                        <a:t>UFCF</a:t>
                      </a:r>
                      <a:endParaRPr lang="en-US" sz="88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4EFE6"/>
                    </a:solidFill>
                  </a:tcPr>
                </a:tc>
                <a:tc>
                  <a:txBody>
                    <a:bodyPr/>
                    <a:lstStyle/>
                    <a:p>
                      <a:pPr indent="0" marL="0">
                        <a:buNone/>
                      </a:pPr>
                      <a:r>
                        <a:rPr lang="en-US" sz="880" b="1" dirty="0">
                          <a:solidFill>
                            <a:srgbClr val="17324D"/>
                          </a:solidFill>
                          <a:latin typeface="Aptos" pitchFamily="34" charset="0"/>
                          <a:ea typeface="Aptos" pitchFamily="34" charset="-122"/>
                          <a:cs typeface="Aptos" pitchFamily="34" charset="-120"/>
                        </a:rPr>
                        <a:t>-$15.6B</a:t>
                      </a:r>
                      <a:endParaRPr lang="en-US" sz="88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4EFE6"/>
                    </a:solidFill>
                  </a:tcPr>
                </a:tc>
                <a:tc>
                  <a:txBody>
                    <a:bodyPr/>
                    <a:lstStyle/>
                    <a:p>
                      <a:pPr indent="0" marL="0">
                        <a:buNone/>
                      </a:pPr>
                      <a:r>
                        <a:rPr lang="en-US" sz="880" b="1" dirty="0">
                          <a:solidFill>
                            <a:srgbClr val="17324D"/>
                          </a:solidFill>
                          <a:latin typeface="Aptos" pitchFamily="34" charset="0"/>
                          <a:ea typeface="Aptos" pitchFamily="34" charset="-122"/>
                          <a:cs typeface="Aptos" pitchFamily="34" charset="-120"/>
                        </a:rPr>
                        <a:t>$132.9B</a:t>
                      </a:r>
                      <a:endParaRPr lang="en-US" sz="88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4EFE6"/>
                    </a:solidFill>
                  </a:tcPr>
                </a:tc>
                <a:tc>
                  <a:txBody>
                    <a:bodyPr/>
                    <a:lstStyle/>
                    <a:p>
                      <a:pPr indent="0" marL="0">
                        <a:buNone/>
                      </a:pPr>
                      <a:r>
                        <a:rPr lang="en-US" sz="880" b="1" dirty="0">
                          <a:solidFill>
                            <a:srgbClr val="17324D"/>
                          </a:solidFill>
                          <a:latin typeface="Aptos" pitchFamily="34" charset="0"/>
                          <a:ea typeface="Aptos" pitchFamily="34" charset="-122"/>
                          <a:cs typeface="Aptos" pitchFamily="34" charset="-120"/>
                        </a:rPr>
                        <a:t>FCF turns positive when revenue scale outruns buildout</a:t>
                      </a:r>
                      <a:endParaRPr lang="en-US" sz="88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4EFE6"/>
                    </a:solidFill>
                  </a:tcPr>
                </a:tc>
              </a:tr>
            </a:tbl>
          </a:graphicData>
        </a:graphic>
      </p:graphicFrame>
      <p:sp>
        <p:nvSpPr>
          <p:cNvPr id="7" name="Shape 4"/>
          <p:cNvSpPr/>
          <p:nvPr/>
        </p:nvSpPr>
        <p:spPr>
          <a:xfrm>
            <a:off x="566928" y="3886200"/>
            <a:ext cx="2395728" cy="1033272"/>
          </a:xfrm>
          <a:prstGeom prst="roundRect">
            <a:avLst>
              <a:gd name="adj" fmla="val 8850"/>
            </a:avLst>
          </a:prstGeom>
          <a:solidFill>
            <a:srgbClr val="D7E8EC"/>
          </a:solidFill>
          <a:ln w="12700">
            <a:solidFill>
              <a:srgbClr val="CABFAF"/>
            </a:solidFill>
            <a:prstDash val="solid"/>
          </a:ln>
        </p:spPr>
      </p:sp>
      <p:sp>
        <p:nvSpPr>
          <p:cNvPr id="8" name="Text 5"/>
          <p:cNvSpPr/>
          <p:nvPr/>
        </p:nvSpPr>
        <p:spPr>
          <a:xfrm>
            <a:off x="731520" y="4032504"/>
            <a:ext cx="2066544" cy="201168"/>
          </a:xfrm>
          <a:prstGeom prst="rect">
            <a:avLst/>
          </a:prstGeom>
          <a:noFill/>
          <a:ln/>
        </p:spPr>
        <p:txBody>
          <a:bodyPr wrap="square" lIns="0" tIns="0" rIns="0" bIns="0" rtlCol="0" anchor="ctr"/>
          <a:lstStyle/>
          <a:p>
            <a:pPr indent="0" marL="0">
              <a:buNone/>
            </a:pPr>
            <a:r>
              <a:rPr lang="en-US" sz="1100" b="1" dirty="0">
                <a:solidFill>
                  <a:srgbClr val="0F636B"/>
                </a:solidFill>
              </a:rPr>
              <a:t>Why FCF turns positive in 2029</a:t>
            </a:r>
            <a:endParaRPr lang="en-US" sz="1100" dirty="0"/>
          </a:p>
        </p:txBody>
      </p:sp>
      <p:sp>
        <p:nvSpPr>
          <p:cNvPr id="9" name="Text 6"/>
          <p:cNvSpPr/>
          <p:nvPr/>
        </p:nvSpPr>
        <p:spPr>
          <a:xfrm>
            <a:off x="731520" y="4325112"/>
            <a:ext cx="2066544" cy="484632"/>
          </a:xfrm>
          <a:prstGeom prst="rect">
            <a:avLst/>
          </a:prstGeom>
          <a:noFill/>
          <a:ln/>
        </p:spPr>
        <p:txBody>
          <a:bodyPr wrap="square" lIns="254" tIns="254" rIns="254" bIns="254" rtlCol="0" anchor="t">
            <a:normAutofit/>
          </a:bodyPr>
          <a:lstStyle/>
          <a:p>
            <a:pPr indent="0" marL="0">
              <a:buNone/>
            </a:pPr>
            <a:r>
              <a:rPr lang="en-US" sz="1070" dirty="0">
                <a:solidFill>
                  <a:srgbClr val="17324D"/>
                </a:solidFill>
              </a:rPr>
              <a:t>Capex is front-loaded into Starship, Starlink satellite refreshes and AI data centers. FCF improves as revenue scale builds and capex intensity fades.</a:t>
            </a:r>
            <a:endParaRPr lang="en-US" sz="1070" dirty="0"/>
          </a:p>
        </p:txBody>
      </p:sp>
      <p:sp>
        <p:nvSpPr>
          <p:cNvPr id="10" name="Shape 7"/>
          <p:cNvSpPr/>
          <p:nvPr/>
        </p:nvSpPr>
        <p:spPr>
          <a:xfrm>
            <a:off x="3154680" y="3886200"/>
            <a:ext cx="2487168" cy="1033272"/>
          </a:xfrm>
          <a:prstGeom prst="roundRect">
            <a:avLst>
              <a:gd name="adj" fmla="val 8850"/>
            </a:avLst>
          </a:prstGeom>
          <a:solidFill>
            <a:srgbClr val="FFFFFF"/>
          </a:solidFill>
          <a:ln w="12700">
            <a:solidFill>
              <a:srgbClr val="CABFAF"/>
            </a:solidFill>
            <a:prstDash val="solid"/>
          </a:ln>
        </p:spPr>
      </p:sp>
      <p:sp>
        <p:nvSpPr>
          <p:cNvPr id="11" name="Text 8"/>
          <p:cNvSpPr/>
          <p:nvPr/>
        </p:nvSpPr>
        <p:spPr>
          <a:xfrm>
            <a:off x="3319272" y="4032504"/>
            <a:ext cx="2157984" cy="201168"/>
          </a:xfrm>
          <a:prstGeom prst="rect">
            <a:avLst/>
          </a:prstGeom>
          <a:noFill/>
          <a:ln/>
        </p:spPr>
        <p:txBody>
          <a:bodyPr wrap="square" lIns="0" tIns="0" rIns="0" bIns="0" rtlCol="0" anchor="ctr"/>
          <a:lstStyle/>
          <a:p>
            <a:pPr indent="0" marL="0">
              <a:buNone/>
            </a:pPr>
            <a:r>
              <a:rPr lang="en-US" sz="1100" b="1" dirty="0">
                <a:solidFill>
                  <a:srgbClr val="0F636B"/>
                </a:solidFill>
              </a:rPr>
              <a:t>What is not assumed</a:t>
            </a:r>
            <a:endParaRPr lang="en-US" sz="1100" dirty="0"/>
          </a:p>
        </p:txBody>
      </p:sp>
      <p:sp>
        <p:nvSpPr>
          <p:cNvPr id="12" name="Text 9"/>
          <p:cNvSpPr/>
          <p:nvPr/>
        </p:nvSpPr>
        <p:spPr>
          <a:xfrm>
            <a:off x="3319272" y="4325112"/>
            <a:ext cx="2157984" cy="484632"/>
          </a:xfrm>
          <a:prstGeom prst="rect">
            <a:avLst/>
          </a:prstGeom>
          <a:noFill/>
          <a:ln/>
        </p:spPr>
        <p:txBody>
          <a:bodyPr wrap="square" lIns="254" tIns="254" rIns="254" bIns="254" rtlCol="0" anchor="t">
            <a:normAutofit/>
          </a:bodyPr>
          <a:lstStyle/>
          <a:p>
            <a:pPr indent="0" marL="0">
              <a:buNone/>
            </a:pPr>
            <a:r>
              <a:rPr lang="en-US" sz="1070" dirty="0">
                <a:solidFill>
                  <a:srgbClr val="17324D"/>
                </a:solidFill>
              </a:rPr>
              <a:t>The model does not give full value to orbital data centers, a Tesla merger or a direct-to-cell monopoly. Those remain upside cases.</a:t>
            </a:r>
            <a:endParaRPr lang="en-US" sz="1070" dirty="0"/>
          </a:p>
        </p:txBody>
      </p:sp>
      <p:sp>
        <p:nvSpPr>
          <p:cNvPr id="13" name="Text 10"/>
          <p:cNvSpPr/>
          <p:nvPr/>
        </p:nvSpPr>
        <p:spPr>
          <a:xfrm>
            <a:off x="6172200" y="1298448"/>
            <a:ext cx="2743200" cy="219456"/>
          </a:xfrm>
          <a:prstGeom prst="rect">
            <a:avLst/>
          </a:prstGeom>
          <a:noFill/>
          <a:ln/>
        </p:spPr>
        <p:txBody>
          <a:bodyPr wrap="square" lIns="0" tIns="0" rIns="0" bIns="0" rtlCol="0" anchor="ctr"/>
          <a:lstStyle/>
          <a:p>
            <a:pPr indent="0" marL="0">
              <a:buNone/>
            </a:pPr>
            <a:r>
              <a:rPr lang="en-US" sz="1020" b="1" dirty="0">
                <a:solidFill>
                  <a:srgbClr val="0F636B"/>
                </a:solidFill>
              </a:rPr>
              <a:t>VALUATION BRIDGE</a:t>
            </a:r>
            <a:endParaRPr lang="en-US" sz="1020" dirty="0"/>
          </a:p>
        </p:txBody>
      </p:sp>
      <p:graphicFrame>
        <p:nvGraphicFramePr>
          <p:cNvPr id="14" name="Chart 0" descr=""/>
          <p:cNvGraphicFramePr/>
          <p:nvPr/>
        </p:nvGraphicFramePr>
        <p:xfrm>
          <a:off x="6172200" y="1572768"/>
          <a:ext cx="5257800" cy="2331720"/>
        </p:xfrm>
        <a:graphic xmlns:a="http://schemas.openxmlformats.org/drawingml/2006/main">
          <a:graphicData uri="http://schemas.openxmlformats.org/drawingml/2006/chart">
            <c:chart xmlns:c="http://schemas.openxmlformats.org/drawingml/2006/chart" r:id="rId1"/>
          </a:graphicData>
        </a:graphic>
      </p:graphicFrame>
      <p:sp>
        <p:nvSpPr>
          <p:cNvPr id="15" name="Shape 11"/>
          <p:cNvSpPr/>
          <p:nvPr/>
        </p:nvSpPr>
        <p:spPr>
          <a:xfrm>
            <a:off x="6172200" y="4160520"/>
            <a:ext cx="1737360" cy="749808"/>
          </a:xfrm>
          <a:prstGeom prst="roundRect">
            <a:avLst>
              <a:gd name="adj" fmla="val 12195"/>
            </a:avLst>
          </a:prstGeom>
          <a:solidFill>
            <a:srgbClr val="FFFFFF"/>
          </a:solidFill>
          <a:ln w="12700">
            <a:solidFill>
              <a:srgbClr val="D2C7BB"/>
            </a:solidFill>
            <a:prstDash val="solid"/>
          </a:ln>
        </p:spPr>
      </p:sp>
      <p:sp>
        <p:nvSpPr>
          <p:cNvPr id="16" name="Text 12"/>
          <p:cNvSpPr/>
          <p:nvPr/>
        </p:nvSpPr>
        <p:spPr>
          <a:xfrm>
            <a:off x="6309360" y="4297680"/>
            <a:ext cx="1463040" cy="164592"/>
          </a:xfrm>
          <a:prstGeom prst="rect">
            <a:avLst/>
          </a:prstGeom>
          <a:noFill/>
          <a:ln/>
        </p:spPr>
        <p:txBody>
          <a:bodyPr wrap="square" lIns="0" tIns="0" rIns="0" bIns="0" rtlCol="0" anchor="ctr"/>
          <a:lstStyle/>
          <a:p>
            <a:pPr indent="0" marL="0">
              <a:buNone/>
            </a:pPr>
            <a:r>
              <a:rPr lang="en-US" sz="980" b="1" dirty="0">
                <a:solidFill>
                  <a:srgbClr val="5A6C77"/>
                </a:solidFill>
              </a:rPr>
              <a:t>PV of FCF</a:t>
            </a:r>
            <a:endParaRPr lang="en-US" sz="980" dirty="0"/>
          </a:p>
        </p:txBody>
      </p:sp>
      <p:sp>
        <p:nvSpPr>
          <p:cNvPr id="17" name="Text 13"/>
          <p:cNvSpPr/>
          <p:nvPr/>
        </p:nvSpPr>
        <p:spPr>
          <a:xfrm>
            <a:off x="6309360" y="4590288"/>
            <a:ext cx="1463040" cy="310896"/>
          </a:xfrm>
          <a:prstGeom prst="rect">
            <a:avLst/>
          </a:prstGeom>
          <a:noFill/>
          <a:ln/>
        </p:spPr>
        <p:txBody>
          <a:bodyPr wrap="square" lIns="0" tIns="0" rIns="0" bIns="0" rtlCol="0" anchor="ctr"/>
          <a:lstStyle/>
          <a:p>
            <a:pPr indent="0" marL="0">
              <a:buNone/>
            </a:pPr>
            <a:r>
              <a:rPr lang="en-US" sz="1600" b="1" dirty="0">
                <a:solidFill>
                  <a:srgbClr val="17324D"/>
                </a:solidFill>
              </a:rPr>
              <a:t>$238B</a:t>
            </a:r>
            <a:endParaRPr lang="en-US" sz="1600" dirty="0"/>
          </a:p>
        </p:txBody>
      </p:sp>
      <p:sp>
        <p:nvSpPr>
          <p:cNvPr id="18" name="Shape 14"/>
          <p:cNvSpPr/>
          <p:nvPr/>
        </p:nvSpPr>
        <p:spPr>
          <a:xfrm>
            <a:off x="8138160" y="4160520"/>
            <a:ext cx="1737360" cy="749808"/>
          </a:xfrm>
          <a:prstGeom prst="roundRect">
            <a:avLst>
              <a:gd name="adj" fmla="val 12195"/>
            </a:avLst>
          </a:prstGeom>
          <a:solidFill>
            <a:srgbClr val="FFFFFF"/>
          </a:solidFill>
          <a:ln w="12700">
            <a:solidFill>
              <a:srgbClr val="D2C7BB"/>
            </a:solidFill>
            <a:prstDash val="solid"/>
          </a:ln>
        </p:spPr>
      </p:sp>
      <p:sp>
        <p:nvSpPr>
          <p:cNvPr id="19" name="Text 15"/>
          <p:cNvSpPr/>
          <p:nvPr/>
        </p:nvSpPr>
        <p:spPr>
          <a:xfrm>
            <a:off x="8275320" y="4297680"/>
            <a:ext cx="1463040" cy="164592"/>
          </a:xfrm>
          <a:prstGeom prst="rect">
            <a:avLst/>
          </a:prstGeom>
          <a:noFill/>
          <a:ln/>
        </p:spPr>
        <p:txBody>
          <a:bodyPr wrap="square" lIns="0" tIns="0" rIns="0" bIns="0" rtlCol="0" anchor="ctr"/>
          <a:lstStyle/>
          <a:p>
            <a:pPr indent="0" marL="0">
              <a:buNone/>
            </a:pPr>
            <a:r>
              <a:rPr lang="en-US" sz="980" b="1" dirty="0">
                <a:solidFill>
                  <a:srgbClr val="5A6C77"/>
                </a:solidFill>
              </a:rPr>
              <a:t>PV of TV</a:t>
            </a:r>
            <a:endParaRPr lang="en-US" sz="980" dirty="0"/>
          </a:p>
        </p:txBody>
      </p:sp>
      <p:sp>
        <p:nvSpPr>
          <p:cNvPr id="20" name="Text 16"/>
          <p:cNvSpPr/>
          <p:nvPr/>
        </p:nvSpPr>
        <p:spPr>
          <a:xfrm>
            <a:off x="8275320" y="4590288"/>
            <a:ext cx="1463040" cy="310896"/>
          </a:xfrm>
          <a:prstGeom prst="rect">
            <a:avLst/>
          </a:prstGeom>
          <a:noFill/>
          <a:ln/>
        </p:spPr>
        <p:txBody>
          <a:bodyPr wrap="square" lIns="0" tIns="0" rIns="0" bIns="0" rtlCol="0" anchor="ctr"/>
          <a:lstStyle/>
          <a:p>
            <a:pPr indent="0" marL="0">
              <a:buNone/>
            </a:pPr>
            <a:r>
              <a:rPr lang="en-US" sz="1600" b="1" dirty="0">
                <a:solidFill>
                  <a:srgbClr val="17324D"/>
                </a:solidFill>
              </a:rPr>
              <a:t>$925B</a:t>
            </a:r>
            <a:endParaRPr lang="en-US" sz="1600" dirty="0"/>
          </a:p>
        </p:txBody>
      </p:sp>
      <p:sp>
        <p:nvSpPr>
          <p:cNvPr id="21" name="Shape 17"/>
          <p:cNvSpPr/>
          <p:nvPr/>
        </p:nvSpPr>
        <p:spPr>
          <a:xfrm>
            <a:off x="10104120" y="4160520"/>
            <a:ext cx="1325880" cy="749808"/>
          </a:xfrm>
          <a:prstGeom prst="roundRect">
            <a:avLst>
              <a:gd name="adj" fmla="val 12195"/>
            </a:avLst>
          </a:prstGeom>
          <a:solidFill>
            <a:srgbClr val="FFFFFF"/>
          </a:solidFill>
          <a:ln w="12700">
            <a:solidFill>
              <a:srgbClr val="D2C7BB"/>
            </a:solidFill>
            <a:prstDash val="solid"/>
          </a:ln>
        </p:spPr>
      </p:sp>
      <p:sp>
        <p:nvSpPr>
          <p:cNvPr id="22" name="Text 18"/>
          <p:cNvSpPr/>
          <p:nvPr/>
        </p:nvSpPr>
        <p:spPr>
          <a:xfrm>
            <a:off x="10241280" y="4297680"/>
            <a:ext cx="1051560" cy="164592"/>
          </a:xfrm>
          <a:prstGeom prst="rect">
            <a:avLst/>
          </a:prstGeom>
          <a:noFill/>
          <a:ln/>
        </p:spPr>
        <p:txBody>
          <a:bodyPr wrap="square" lIns="0" tIns="0" rIns="0" bIns="0" rtlCol="0" anchor="ctr"/>
          <a:lstStyle/>
          <a:p>
            <a:pPr indent="0" marL="0">
              <a:buNone/>
            </a:pPr>
            <a:r>
              <a:rPr lang="en-US" sz="980" b="1" dirty="0">
                <a:solidFill>
                  <a:srgbClr val="5A6C77"/>
                </a:solidFill>
              </a:rPr>
              <a:t>EV</a:t>
            </a:r>
            <a:endParaRPr lang="en-US" sz="980" dirty="0"/>
          </a:p>
        </p:txBody>
      </p:sp>
      <p:sp>
        <p:nvSpPr>
          <p:cNvPr id="23" name="Text 19"/>
          <p:cNvSpPr/>
          <p:nvPr/>
        </p:nvSpPr>
        <p:spPr>
          <a:xfrm>
            <a:off x="10241280" y="4590288"/>
            <a:ext cx="1051560" cy="310896"/>
          </a:xfrm>
          <a:prstGeom prst="rect">
            <a:avLst/>
          </a:prstGeom>
          <a:noFill/>
          <a:ln/>
        </p:spPr>
        <p:txBody>
          <a:bodyPr wrap="square" lIns="0" tIns="0" rIns="0" bIns="0" rtlCol="0" anchor="ctr"/>
          <a:lstStyle/>
          <a:p>
            <a:pPr indent="0" marL="0">
              <a:buNone/>
            </a:pPr>
            <a:r>
              <a:rPr lang="en-US" sz="1600" b="1" dirty="0">
                <a:solidFill>
                  <a:srgbClr val="17324D"/>
                </a:solidFill>
              </a:rPr>
              <a:t>$1.16T</a:t>
            </a:r>
            <a:endParaRPr lang="en-US" sz="1600" dirty="0"/>
          </a:p>
        </p:txBody>
      </p:sp>
      <p:sp>
        <p:nvSpPr>
          <p:cNvPr id="24" name="Shape 20"/>
          <p:cNvSpPr/>
          <p:nvPr/>
        </p:nvSpPr>
        <p:spPr>
          <a:xfrm>
            <a:off x="6656832" y="5138928"/>
            <a:ext cx="1920240" cy="713232"/>
          </a:xfrm>
          <a:prstGeom prst="roundRect">
            <a:avLst>
              <a:gd name="adj" fmla="val 12821"/>
            </a:avLst>
          </a:prstGeom>
          <a:solidFill>
            <a:srgbClr val="FFFFFF"/>
          </a:solidFill>
          <a:ln w="12700">
            <a:solidFill>
              <a:srgbClr val="D2C7BB"/>
            </a:solidFill>
            <a:prstDash val="solid"/>
          </a:ln>
        </p:spPr>
      </p:sp>
      <p:sp>
        <p:nvSpPr>
          <p:cNvPr id="25" name="Text 21"/>
          <p:cNvSpPr/>
          <p:nvPr/>
        </p:nvSpPr>
        <p:spPr>
          <a:xfrm>
            <a:off x="6793992" y="5276088"/>
            <a:ext cx="1645920" cy="164592"/>
          </a:xfrm>
          <a:prstGeom prst="rect">
            <a:avLst/>
          </a:prstGeom>
          <a:noFill/>
          <a:ln/>
        </p:spPr>
        <p:txBody>
          <a:bodyPr wrap="square" lIns="0" tIns="0" rIns="0" bIns="0" rtlCol="0" anchor="ctr"/>
          <a:lstStyle/>
          <a:p>
            <a:pPr indent="0" marL="0">
              <a:buNone/>
            </a:pPr>
            <a:r>
              <a:rPr lang="en-US" sz="980" b="1" dirty="0">
                <a:solidFill>
                  <a:srgbClr val="5A6C77"/>
                </a:solidFill>
              </a:rPr>
              <a:t>Equity value</a:t>
            </a:r>
            <a:endParaRPr lang="en-US" sz="980" dirty="0"/>
          </a:p>
        </p:txBody>
      </p:sp>
      <p:sp>
        <p:nvSpPr>
          <p:cNvPr id="26" name="Text 22"/>
          <p:cNvSpPr/>
          <p:nvPr/>
        </p:nvSpPr>
        <p:spPr>
          <a:xfrm>
            <a:off x="6793992" y="5568696"/>
            <a:ext cx="1645920" cy="310896"/>
          </a:xfrm>
          <a:prstGeom prst="rect">
            <a:avLst/>
          </a:prstGeom>
          <a:noFill/>
          <a:ln/>
        </p:spPr>
        <p:txBody>
          <a:bodyPr wrap="square" lIns="0" tIns="0" rIns="0" bIns="0" rtlCol="0" anchor="ctr"/>
          <a:lstStyle/>
          <a:p>
            <a:pPr indent="0" marL="0">
              <a:buNone/>
            </a:pPr>
            <a:r>
              <a:rPr lang="en-US" sz="1600" b="1" dirty="0">
                <a:solidFill>
                  <a:srgbClr val="17324D"/>
                </a:solidFill>
              </a:rPr>
              <a:t>$1.22T</a:t>
            </a:r>
            <a:endParaRPr lang="en-US" sz="1600" dirty="0"/>
          </a:p>
        </p:txBody>
      </p:sp>
      <p:sp>
        <p:nvSpPr>
          <p:cNvPr id="27" name="Shape 23"/>
          <p:cNvSpPr/>
          <p:nvPr/>
        </p:nvSpPr>
        <p:spPr>
          <a:xfrm>
            <a:off x="8823960" y="5138928"/>
            <a:ext cx="1920240" cy="713232"/>
          </a:xfrm>
          <a:prstGeom prst="roundRect">
            <a:avLst>
              <a:gd name="adj" fmla="val 12821"/>
            </a:avLst>
          </a:prstGeom>
          <a:solidFill>
            <a:srgbClr val="FFFFFF"/>
          </a:solidFill>
          <a:ln w="12700">
            <a:solidFill>
              <a:srgbClr val="D2C7BB"/>
            </a:solidFill>
            <a:prstDash val="solid"/>
          </a:ln>
        </p:spPr>
      </p:sp>
      <p:sp>
        <p:nvSpPr>
          <p:cNvPr id="28" name="Text 24"/>
          <p:cNvSpPr/>
          <p:nvPr/>
        </p:nvSpPr>
        <p:spPr>
          <a:xfrm>
            <a:off x="8961120" y="5276088"/>
            <a:ext cx="1645920" cy="164592"/>
          </a:xfrm>
          <a:prstGeom prst="rect">
            <a:avLst/>
          </a:prstGeom>
          <a:noFill/>
          <a:ln/>
        </p:spPr>
        <p:txBody>
          <a:bodyPr wrap="square" lIns="0" tIns="0" rIns="0" bIns="0" rtlCol="0" anchor="ctr"/>
          <a:lstStyle/>
          <a:p>
            <a:pPr indent="0" marL="0">
              <a:buNone/>
            </a:pPr>
            <a:r>
              <a:rPr lang="en-US" sz="980" b="1" dirty="0">
                <a:solidFill>
                  <a:srgbClr val="5A6C77"/>
                </a:solidFill>
              </a:rPr>
              <a:t>Diluted shares</a:t>
            </a:r>
            <a:endParaRPr lang="en-US" sz="980" dirty="0"/>
          </a:p>
        </p:txBody>
      </p:sp>
      <p:sp>
        <p:nvSpPr>
          <p:cNvPr id="29" name="Text 25"/>
          <p:cNvSpPr/>
          <p:nvPr/>
        </p:nvSpPr>
        <p:spPr>
          <a:xfrm>
            <a:off x="8961120" y="5568696"/>
            <a:ext cx="1645920" cy="310896"/>
          </a:xfrm>
          <a:prstGeom prst="rect">
            <a:avLst/>
          </a:prstGeom>
          <a:noFill/>
          <a:ln/>
        </p:spPr>
        <p:txBody>
          <a:bodyPr wrap="square" lIns="0" tIns="0" rIns="0" bIns="0" rtlCol="0" anchor="ctr"/>
          <a:lstStyle/>
          <a:p>
            <a:pPr indent="0" marL="0">
              <a:buNone/>
            </a:pPr>
            <a:r>
              <a:rPr lang="en-US" sz="1600" b="1" dirty="0">
                <a:solidFill>
                  <a:srgbClr val="17324D"/>
                </a:solidFill>
              </a:rPr>
              <a:t>13.1B</a:t>
            </a:r>
            <a:endParaRPr lang="en-US" sz="1600" dirty="0"/>
          </a:p>
        </p:txBody>
      </p:sp>
      <p:sp>
        <p:nvSpPr>
          <p:cNvPr id="30" name="Shape 26"/>
          <p:cNvSpPr/>
          <p:nvPr/>
        </p:nvSpPr>
        <p:spPr>
          <a:xfrm>
            <a:off x="7845552" y="5980176"/>
            <a:ext cx="2194560" cy="502920"/>
          </a:xfrm>
          <a:prstGeom prst="roundRect">
            <a:avLst>
              <a:gd name="adj" fmla="val 18182"/>
            </a:avLst>
          </a:prstGeom>
          <a:solidFill>
            <a:srgbClr val="F0E4CF"/>
          </a:solidFill>
          <a:ln w="12700">
            <a:solidFill>
              <a:srgbClr val="CABFAF"/>
            </a:solidFill>
            <a:prstDash val="solid"/>
          </a:ln>
        </p:spPr>
      </p:sp>
      <p:sp>
        <p:nvSpPr>
          <p:cNvPr id="31" name="Text 27"/>
          <p:cNvSpPr/>
          <p:nvPr/>
        </p:nvSpPr>
        <p:spPr>
          <a:xfrm>
            <a:off x="8138160" y="6108192"/>
            <a:ext cx="1554480" cy="182880"/>
          </a:xfrm>
          <a:prstGeom prst="rect">
            <a:avLst/>
          </a:prstGeom>
          <a:noFill/>
          <a:ln/>
        </p:spPr>
        <p:txBody>
          <a:bodyPr wrap="square" lIns="254" tIns="254" rIns="254" bIns="254" rtlCol="0" anchor="t">
            <a:normAutofit/>
          </a:bodyPr>
          <a:lstStyle/>
          <a:p>
            <a:pPr indent="0" marL="0">
              <a:buNone/>
            </a:pPr>
            <a:r>
              <a:rPr lang="en-US" sz="1750" b="1" dirty="0">
                <a:solidFill>
                  <a:srgbClr val="0F636B"/>
                </a:solidFill>
              </a:rPr>
              <a:t>$93/share</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502920" y="347472"/>
            <a:ext cx="10972800" cy="411480"/>
          </a:xfrm>
          <a:prstGeom prst="rect">
            <a:avLst/>
          </a:prstGeom>
          <a:noFill/>
          <a:ln/>
        </p:spPr>
        <p:txBody>
          <a:bodyPr wrap="square" lIns="0" tIns="0" rIns="0" bIns="0" rtlCol="0" anchor="ctr"/>
          <a:lstStyle/>
          <a:p>
            <a:pPr indent="0" marL="0">
              <a:buNone/>
            </a:pPr>
            <a:r>
              <a:rPr lang="en-US" sz="2850" b="1" dirty="0">
                <a:solidFill>
                  <a:srgbClr val="17324D"/>
                </a:solidFill>
                <a:latin typeface="Aptos Display" pitchFamily="34" charset="0"/>
                <a:ea typeface="Aptos Display" pitchFamily="34" charset="-122"/>
                <a:cs typeface="Aptos Display" pitchFamily="34" charset="-120"/>
              </a:rPr>
              <a:t>Assumptions, support and AI detail</a:t>
            </a:r>
            <a:endParaRPr lang="en-US" sz="2850" dirty="0"/>
          </a:p>
        </p:txBody>
      </p:sp>
      <p:sp>
        <p:nvSpPr>
          <p:cNvPr id="3" name="Text 1"/>
          <p:cNvSpPr/>
          <p:nvPr/>
        </p:nvSpPr>
        <p:spPr>
          <a:xfrm>
            <a:off x="521208" y="804672"/>
            <a:ext cx="10972800" cy="256032"/>
          </a:xfrm>
          <a:prstGeom prst="rect">
            <a:avLst/>
          </a:prstGeom>
          <a:noFill/>
          <a:ln/>
        </p:spPr>
        <p:txBody>
          <a:bodyPr wrap="square" lIns="0" tIns="0" rIns="0" bIns="0" rtlCol="0" anchor="ctr"/>
          <a:lstStyle/>
          <a:p>
            <a:pPr indent="0" marL="0">
              <a:buNone/>
            </a:pPr>
            <a:r>
              <a:rPr lang="en-US" sz="1250" dirty="0">
                <a:solidFill>
                  <a:srgbClr val="5A6C77"/>
                </a:solidFill>
              </a:rPr>
              <a:t>The key forecast inputs are tied to business logic rather than one blended growth rate.</a:t>
            </a:r>
            <a:endParaRPr lang="en-US" sz="1250" dirty="0"/>
          </a:p>
        </p:txBody>
      </p:sp>
      <p:sp>
        <p:nvSpPr>
          <p:cNvPr id="4" name="Shape 2"/>
          <p:cNvSpPr/>
          <p:nvPr/>
        </p:nvSpPr>
        <p:spPr>
          <a:xfrm>
            <a:off x="502920" y="1078992"/>
            <a:ext cx="11155680" cy="0"/>
          </a:xfrm>
          <a:prstGeom prst="line">
            <a:avLst/>
          </a:prstGeom>
          <a:noFill/>
          <a:ln w="12700">
            <a:solidFill>
              <a:srgbClr val="D4CDC2"/>
            </a:solidFill>
            <a:prstDash val="solid"/>
          </a:ln>
        </p:spPr>
      </p:sp>
      <p:sp>
        <p:nvSpPr>
          <p:cNvPr id="5" name="Text 3"/>
          <p:cNvSpPr/>
          <p:nvPr/>
        </p:nvSpPr>
        <p:spPr>
          <a:xfrm>
            <a:off x="566928" y="1298448"/>
            <a:ext cx="2743200" cy="219456"/>
          </a:xfrm>
          <a:prstGeom prst="rect">
            <a:avLst/>
          </a:prstGeom>
          <a:noFill/>
          <a:ln/>
        </p:spPr>
        <p:txBody>
          <a:bodyPr wrap="square" lIns="0" tIns="0" rIns="0" bIns="0" rtlCol="0" anchor="ctr"/>
          <a:lstStyle/>
          <a:p>
            <a:pPr indent="0" marL="0">
              <a:buNone/>
            </a:pPr>
            <a:r>
              <a:rPr lang="en-US" sz="1020" b="1" dirty="0">
                <a:solidFill>
                  <a:srgbClr val="0F636B"/>
                </a:solidFill>
              </a:rPr>
              <a:t>KEY VALUATION ASSUMPTIONS</a:t>
            </a:r>
            <a:endParaRPr lang="en-US" sz="102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66928" y="1581912"/>
          <a:ext cx="5715000" cy="2468880"/>
        </p:xfrm>
        <a:graphic>
          <a:graphicData uri="http://schemas.openxmlformats.org/drawingml/2006/table">
            <a:tbl>
              <a:tblPr/>
              <a:tblGrid>
                <a:gridCol w="1143000"/>
                <a:gridCol w="914400"/>
                <a:gridCol w="3657600"/>
              </a:tblGrid>
              <a:tr h="493776">
                <a:tc>
                  <a:txBody>
                    <a:bodyPr/>
                    <a:lstStyle/>
                    <a:p>
                      <a:pPr indent="0" marL="0">
                        <a:buNone/>
                      </a:pPr>
                      <a:r>
                        <a:rPr lang="en-US" sz="880" b="1" dirty="0">
                          <a:solidFill>
                            <a:srgbClr val="FFFFFF"/>
                          </a:solidFill>
                          <a:latin typeface="Aptos" pitchFamily="34" charset="0"/>
                          <a:ea typeface="Aptos" pitchFamily="34" charset="-122"/>
                          <a:cs typeface="Aptos" pitchFamily="34" charset="-120"/>
                        </a:rPr>
                        <a:t>Input</a:t>
                      </a:r>
                      <a:endParaRPr lang="en-US" sz="88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0F636B"/>
                    </a:solidFill>
                  </a:tcPr>
                </a:tc>
                <a:tc>
                  <a:txBody>
                    <a:bodyPr/>
                    <a:lstStyle/>
                    <a:p>
                      <a:pPr indent="0" marL="0">
                        <a:buNone/>
                      </a:pPr>
                      <a:r>
                        <a:rPr lang="en-US" sz="880" b="1" dirty="0">
                          <a:solidFill>
                            <a:srgbClr val="FFFFFF"/>
                          </a:solidFill>
                          <a:latin typeface="Aptos" pitchFamily="34" charset="0"/>
                          <a:ea typeface="Aptos" pitchFamily="34" charset="-122"/>
                          <a:cs typeface="Aptos" pitchFamily="34" charset="-120"/>
                        </a:rPr>
                        <a:t>Base case</a:t>
                      </a:r>
                      <a:endParaRPr lang="en-US" sz="88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0F636B"/>
                    </a:solidFill>
                  </a:tcPr>
                </a:tc>
                <a:tc>
                  <a:txBody>
                    <a:bodyPr/>
                    <a:lstStyle/>
                    <a:p>
                      <a:pPr indent="0" marL="0">
                        <a:buNone/>
                      </a:pPr>
                      <a:r>
                        <a:rPr lang="en-US" sz="880" b="1" dirty="0">
                          <a:solidFill>
                            <a:srgbClr val="FFFFFF"/>
                          </a:solidFill>
                          <a:latin typeface="Aptos" pitchFamily="34" charset="0"/>
                          <a:ea typeface="Aptos" pitchFamily="34" charset="-122"/>
                          <a:cs typeface="Aptos" pitchFamily="34" charset="-120"/>
                        </a:rPr>
                        <a:t>Support and reason</a:t>
                      </a:r>
                      <a:endParaRPr lang="en-US" sz="88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0F636B"/>
                    </a:solidFill>
                  </a:tcPr>
                </a:tc>
              </a:tr>
              <a:tr h="493776">
                <a:tc>
                  <a:txBody>
                    <a:bodyPr/>
                    <a:lstStyle/>
                    <a:p>
                      <a:pPr indent="0" marL="0">
                        <a:buNone/>
                      </a:pPr>
                      <a:r>
                        <a:rPr lang="en-US" sz="820" dirty="0">
                          <a:solidFill>
                            <a:srgbClr val="17324D"/>
                          </a:solidFill>
                          <a:latin typeface="Aptos" pitchFamily="34" charset="0"/>
                          <a:ea typeface="Aptos" pitchFamily="34" charset="-122"/>
                          <a:cs typeface="Aptos" pitchFamily="34" charset="-120"/>
                        </a:rPr>
                        <a:t>WACC</a:t>
                      </a:r>
                      <a:endParaRPr lang="en-US" sz="82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FFFFF"/>
                    </a:solidFill>
                  </a:tcPr>
                </a:tc>
                <a:tc>
                  <a:txBody>
                    <a:bodyPr/>
                    <a:lstStyle/>
                    <a:p>
                      <a:pPr indent="0" marL="0">
                        <a:buNone/>
                      </a:pPr>
                      <a:r>
                        <a:rPr lang="en-US" sz="820" dirty="0">
                          <a:solidFill>
                            <a:srgbClr val="17324D"/>
                          </a:solidFill>
                          <a:latin typeface="Aptos" pitchFamily="34" charset="0"/>
                          <a:ea typeface="Aptos" pitchFamily="34" charset="-122"/>
                          <a:cs typeface="Aptos" pitchFamily="34" charset="-120"/>
                        </a:rPr>
                        <a:t>9.5%</a:t>
                      </a:r>
                      <a:endParaRPr lang="en-US" sz="82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FFFFF"/>
                    </a:solidFill>
                  </a:tcPr>
                </a:tc>
                <a:tc>
                  <a:txBody>
                    <a:bodyPr/>
                    <a:lstStyle/>
                    <a:p>
                      <a:pPr indent="0" marL="0">
                        <a:buNone/>
                      </a:pPr>
                      <a:r>
                        <a:rPr lang="en-US" sz="820" dirty="0">
                          <a:solidFill>
                            <a:srgbClr val="17324D"/>
                          </a:solidFill>
                          <a:latin typeface="Aptos" pitchFamily="34" charset="0"/>
                          <a:ea typeface="Aptos" pitchFamily="34" charset="-122"/>
                          <a:cs typeface="Aptos" pitchFamily="34" charset="-120"/>
                        </a:rPr>
                        <a:t>Selected beta of 1.20, 4.25% risk-free rate, 5.00% equity risk premium and 10.25% cost of equity. Moat lowers risk, but Starship, AI, capex and governance risk remain material.</a:t>
                      </a:r>
                      <a:endParaRPr lang="en-US" sz="82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FFFFF"/>
                    </a:solidFill>
                  </a:tcPr>
                </a:tc>
              </a:tr>
              <a:tr h="493776">
                <a:tc>
                  <a:txBody>
                    <a:bodyPr/>
                    <a:lstStyle/>
                    <a:p>
                      <a:pPr indent="0" marL="0">
                        <a:buNone/>
                      </a:pPr>
                      <a:r>
                        <a:rPr lang="en-US" sz="820" dirty="0">
                          <a:solidFill>
                            <a:srgbClr val="17324D"/>
                          </a:solidFill>
                          <a:latin typeface="Aptos" pitchFamily="34" charset="0"/>
                          <a:ea typeface="Aptos" pitchFamily="34" charset="-122"/>
                          <a:cs typeface="Aptos" pitchFamily="34" charset="-120"/>
                        </a:rPr>
                        <a:t>Terminal growth</a:t>
                      </a:r>
                      <a:endParaRPr lang="en-US" sz="82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4EFE6"/>
                    </a:solidFill>
                  </a:tcPr>
                </a:tc>
                <a:tc>
                  <a:txBody>
                    <a:bodyPr/>
                    <a:lstStyle/>
                    <a:p>
                      <a:pPr indent="0" marL="0">
                        <a:buNone/>
                      </a:pPr>
                      <a:r>
                        <a:rPr lang="en-US" sz="820" dirty="0">
                          <a:solidFill>
                            <a:srgbClr val="17324D"/>
                          </a:solidFill>
                          <a:latin typeface="Aptos" pitchFamily="34" charset="0"/>
                          <a:ea typeface="Aptos" pitchFamily="34" charset="-122"/>
                          <a:cs typeface="Aptos" pitchFamily="34" charset="-120"/>
                        </a:rPr>
                        <a:t>3.5%</a:t>
                      </a:r>
                      <a:endParaRPr lang="en-US" sz="82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4EFE6"/>
                    </a:solidFill>
                  </a:tcPr>
                </a:tc>
                <a:tc>
                  <a:txBody>
                    <a:bodyPr/>
                    <a:lstStyle/>
                    <a:p>
                      <a:pPr indent="0" marL="0">
                        <a:buNone/>
                      </a:pPr>
                      <a:r>
                        <a:rPr lang="en-US" sz="820" dirty="0">
                          <a:solidFill>
                            <a:srgbClr val="17324D"/>
                          </a:solidFill>
                          <a:latin typeface="Aptos" pitchFamily="34" charset="0"/>
                          <a:ea typeface="Aptos" pitchFamily="34" charset="-122"/>
                          <a:cs typeface="Aptos" pitchFamily="34" charset="-120"/>
                        </a:rPr>
                        <a:t>Long-term global infrastructure growth after 2035. Kept below explicit forecast growth because no segment can compound at hypergrowth forever.</a:t>
                      </a:r>
                      <a:endParaRPr lang="en-US" sz="82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4EFE6"/>
                    </a:solidFill>
                  </a:tcPr>
                </a:tc>
              </a:tr>
              <a:tr h="493776">
                <a:tc>
                  <a:txBody>
                    <a:bodyPr/>
                    <a:lstStyle/>
                    <a:p>
                      <a:pPr indent="0" marL="0">
                        <a:buNone/>
                      </a:pPr>
                      <a:r>
                        <a:rPr lang="en-US" sz="820" dirty="0">
                          <a:solidFill>
                            <a:srgbClr val="17324D"/>
                          </a:solidFill>
                          <a:latin typeface="Aptos" pitchFamily="34" charset="0"/>
                          <a:ea typeface="Aptos" pitchFamily="34" charset="-122"/>
                          <a:cs typeface="Aptos" pitchFamily="34" charset="-120"/>
                        </a:rPr>
                        <a:t>2035 revenue target</a:t>
                      </a:r>
                      <a:endParaRPr lang="en-US" sz="82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FFFFF"/>
                    </a:solidFill>
                  </a:tcPr>
                </a:tc>
                <a:tc>
                  <a:txBody>
                    <a:bodyPr/>
                    <a:lstStyle/>
                    <a:p>
                      <a:pPr indent="0" marL="0">
                        <a:buNone/>
                      </a:pPr>
                      <a:r>
                        <a:rPr lang="en-US" sz="820" dirty="0">
                          <a:solidFill>
                            <a:srgbClr val="17324D"/>
                          </a:solidFill>
                          <a:latin typeface="Aptos" pitchFamily="34" charset="0"/>
                          <a:ea typeface="Aptos" pitchFamily="34" charset="-122"/>
                          <a:cs typeface="Aptos" pitchFamily="34" charset="-120"/>
                        </a:rPr>
                        <a:t>$283.9B</a:t>
                      </a:r>
                      <a:endParaRPr lang="en-US" sz="82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FFFFF"/>
                    </a:solidFill>
                  </a:tcPr>
                </a:tc>
                <a:tc>
                  <a:txBody>
                    <a:bodyPr/>
                    <a:lstStyle/>
                    <a:p>
                      <a:pPr indent="0" marL="0">
                        <a:buNone/>
                      </a:pPr>
                      <a:r>
                        <a:rPr lang="en-US" sz="820" dirty="0">
                          <a:solidFill>
                            <a:srgbClr val="17324D"/>
                          </a:solidFill>
                          <a:latin typeface="Aptos" pitchFamily="34" charset="0"/>
                          <a:ea typeface="Aptos" pitchFamily="34" charset="-122"/>
                          <a:cs typeface="Aptos" pitchFamily="34" charset="-120"/>
                        </a:rPr>
                        <a:t>Segment build: Launch $18.8B, Starlink $94.9B and AI $170.2B. Targets reflect Starlink scale, government/launch moat and compute infrastructure upside.</a:t>
                      </a:r>
                      <a:endParaRPr lang="en-US" sz="82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FFFFF"/>
                    </a:solidFill>
                  </a:tcPr>
                </a:tc>
              </a:tr>
              <a:tr h="493776">
                <a:tc>
                  <a:txBody>
                    <a:bodyPr/>
                    <a:lstStyle/>
                    <a:p>
                      <a:pPr indent="0" marL="0">
                        <a:buNone/>
                      </a:pPr>
                      <a:r>
                        <a:rPr lang="en-US" sz="820" dirty="0">
                          <a:solidFill>
                            <a:srgbClr val="17324D"/>
                          </a:solidFill>
                          <a:latin typeface="Aptos" pitchFamily="34" charset="0"/>
                          <a:ea typeface="Aptos" pitchFamily="34" charset="-122"/>
                          <a:cs typeface="Aptos" pitchFamily="34" charset="-120"/>
                        </a:rPr>
                        <a:t>Tax / NWC</a:t>
                      </a:r>
                      <a:endParaRPr lang="en-US" sz="82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4EFE6"/>
                    </a:solidFill>
                  </a:tcPr>
                </a:tc>
                <a:tc>
                  <a:txBody>
                    <a:bodyPr/>
                    <a:lstStyle/>
                    <a:p>
                      <a:pPr indent="0" marL="0">
                        <a:buNone/>
                      </a:pPr>
                      <a:r>
                        <a:rPr lang="en-US" sz="820" dirty="0">
                          <a:solidFill>
                            <a:srgbClr val="17324D"/>
                          </a:solidFill>
                          <a:latin typeface="Aptos" pitchFamily="34" charset="0"/>
                          <a:ea typeface="Aptos" pitchFamily="34" charset="-122"/>
                          <a:cs typeface="Aptos" pitchFamily="34" charset="-120"/>
                        </a:rPr>
                        <a:t>21% / 1%</a:t>
                      </a:r>
                      <a:endParaRPr lang="en-US" sz="82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4EFE6"/>
                    </a:solidFill>
                  </a:tcPr>
                </a:tc>
                <a:tc>
                  <a:txBody>
                    <a:bodyPr/>
                    <a:lstStyle/>
                    <a:p>
                      <a:pPr indent="0" marL="0">
                        <a:buNone/>
                      </a:pPr>
                      <a:r>
                        <a:rPr lang="en-US" sz="820" dirty="0">
                          <a:solidFill>
                            <a:srgbClr val="17324D"/>
                          </a:solidFill>
                          <a:latin typeface="Aptos" pitchFamily="34" charset="0"/>
                          <a:ea typeface="Aptos" pitchFamily="34" charset="-122"/>
                          <a:cs typeface="Aptos" pitchFamily="34" charset="-120"/>
                        </a:rPr>
                        <a:t>Uses a U.S. statutory tax proxy and a simple working-capital drag so the model stays easy to audit.</a:t>
                      </a:r>
                      <a:endParaRPr lang="en-US" sz="82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4EFE6"/>
                    </a:solidFill>
                  </a:tcPr>
                </a:tc>
              </a:tr>
            </a:tbl>
          </a:graphicData>
        </a:graphic>
      </p:graphicFrame>
      <p:sp>
        <p:nvSpPr>
          <p:cNvPr id="7" name="Text 4"/>
          <p:cNvSpPr/>
          <p:nvPr/>
        </p:nvSpPr>
        <p:spPr>
          <a:xfrm>
            <a:off x="6492240" y="1298448"/>
            <a:ext cx="2103120" cy="219456"/>
          </a:xfrm>
          <a:prstGeom prst="rect">
            <a:avLst/>
          </a:prstGeom>
          <a:noFill/>
          <a:ln/>
        </p:spPr>
        <p:txBody>
          <a:bodyPr wrap="square" lIns="0" tIns="0" rIns="0" bIns="0" rtlCol="0" anchor="ctr"/>
          <a:lstStyle/>
          <a:p>
            <a:pPr indent="0" marL="0">
              <a:buNone/>
            </a:pPr>
            <a:r>
              <a:rPr lang="en-US" sz="1020" b="1" dirty="0">
                <a:solidFill>
                  <a:srgbClr val="0F636B"/>
                </a:solidFill>
              </a:rPr>
              <a:t>AI SEGMENT DETAIL</a:t>
            </a:r>
            <a:endParaRPr lang="en-US" sz="1020" dirty="0"/>
          </a:p>
        </p:txBody>
      </p:sp>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6492240" y="1581912"/>
          <a:ext cx="5074920" cy="2468880"/>
        </p:xfrm>
        <a:graphic>
          <a:graphicData uri="http://schemas.openxmlformats.org/drawingml/2006/table">
            <a:tbl>
              <a:tblPr/>
              <a:tblGrid>
                <a:gridCol w="1234440"/>
                <a:gridCol w="3840480"/>
              </a:tblGrid>
              <a:tr h="411480">
                <a:tc>
                  <a:txBody>
                    <a:bodyPr/>
                    <a:lstStyle/>
                    <a:p>
                      <a:pPr indent="0" marL="0">
                        <a:buNone/>
                      </a:pPr>
                      <a:r>
                        <a:rPr lang="en-US" sz="880" b="1" dirty="0">
                          <a:solidFill>
                            <a:srgbClr val="FFFFFF"/>
                          </a:solidFill>
                          <a:latin typeface="Aptos" pitchFamily="34" charset="0"/>
                          <a:ea typeface="Aptos" pitchFamily="34" charset="-122"/>
                          <a:cs typeface="Aptos" pitchFamily="34" charset="-120"/>
                        </a:rPr>
                        <a:t>Topic</a:t>
                      </a:r>
                      <a:endParaRPr lang="en-US" sz="88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0F636B"/>
                    </a:solidFill>
                  </a:tcPr>
                </a:tc>
                <a:tc>
                  <a:txBody>
                    <a:bodyPr/>
                    <a:lstStyle/>
                    <a:p>
                      <a:pPr indent="0" marL="0">
                        <a:buNone/>
                      </a:pPr>
                      <a:r>
                        <a:rPr lang="en-US" sz="880" b="1" dirty="0">
                          <a:solidFill>
                            <a:srgbClr val="FFFFFF"/>
                          </a:solidFill>
                          <a:latin typeface="Aptos" pitchFamily="34" charset="0"/>
                          <a:ea typeface="Aptos" pitchFamily="34" charset="-122"/>
                          <a:cs typeface="Aptos" pitchFamily="34" charset="-120"/>
                        </a:rPr>
                        <a:t>Model treatment</a:t>
                      </a:r>
                      <a:endParaRPr lang="en-US" sz="88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0F636B"/>
                    </a:solidFill>
                  </a:tcPr>
                </a:tc>
              </a:tr>
              <a:tr h="411480">
                <a:tc>
                  <a:txBody>
                    <a:bodyPr/>
                    <a:lstStyle/>
                    <a:p>
                      <a:pPr indent="0" marL="0">
                        <a:buNone/>
                      </a:pPr>
                      <a:r>
                        <a:rPr lang="en-US" sz="830" dirty="0">
                          <a:solidFill>
                            <a:srgbClr val="17324D"/>
                          </a:solidFill>
                          <a:latin typeface="Aptos" pitchFamily="34" charset="0"/>
                          <a:ea typeface="Aptos" pitchFamily="34" charset="-122"/>
                          <a:cs typeface="Aptos" pitchFamily="34" charset="-120"/>
                        </a:rPr>
                        <a:t>Customers</a:t>
                      </a:r>
                      <a:endParaRPr lang="en-US" sz="83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FFFFF"/>
                    </a:solidFill>
                  </a:tcPr>
                </a:tc>
                <a:tc>
                  <a:txBody>
                    <a:bodyPr/>
                    <a:lstStyle/>
                    <a:p>
                      <a:pPr indent="0" marL="0">
                        <a:buNone/>
                      </a:pPr>
                      <a:r>
                        <a:rPr lang="en-US" sz="830" dirty="0">
                          <a:solidFill>
                            <a:srgbClr val="17324D"/>
                          </a:solidFill>
                          <a:latin typeface="Aptos" pitchFamily="34" charset="0"/>
                          <a:ea typeface="Aptos" pitchFamily="34" charset="-122"/>
                          <a:cs typeface="Aptos" pitchFamily="34" charset="-120"/>
                        </a:rPr>
                        <a:t>Internal Grok and X usage plus external compute leasing to AI labs and enterprises.</a:t>
                      </a:r>
                      <a:endParaRPr lang="en-US" sz="83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FFFFF"/>
                    </a:solidFill>
                  </a:tcPr>
                </a:tc>
              </a:tr>
              <a:tr h="411480">
                <a:tc>
                  <a:txBody>
                    <a:bodyPr/>
                    <a:lstStyle/>
                    <a:p>
                      <a:pPr indent="0" marL="0">
                        <a:buNone/>
                      </a:pPr>
                      <a:r>
                        <a:rPr lang="en-US" sz="830" dirty="0">
                          <a:solidFill>
                            <a:srgbClr val="17324D"/>
                          </a:solidFill>
                          <a:latin typeface="Aptos" pitchFamily="34" charset="0"/>
                          <a:ea typeface="Aptos" pitchFamily="34" charset="-122"/>
                          <a:cs typeface="Aptos" pitchFamily="34" charset="-120"/>
                        </a:rPr>
                        <a:t>Pricing</a:t>
                      </a:r>
                      <a:endParaRPr lang="en-US" sz="83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4EFE6"/>
                    </a:solidFill>
                  </a:tcPr>
                </a:tc>
                <a:tc>
                  <a:txBody>
                    <a:bodyPr/>
                    <a:lstStyle/>
                    <a:p>
                      <a:pPr indent="0" marL="0">
                        <a:buNone/>
                      </a:pPr>
                      <a:r>
                        <a:rPr lang="en-US" sz="830" dirty="0">
                          <a:solidFill>
                            <a:srgbClr val="17324D"/>
                          </a:solidFill>
                          <a:latin typeface="Aptos" pitchFamily="34" charset="0"/>
                          <a:ea typeface="Aptos" pitchFamily="34" charset="-122"/>
                          <a:cs typeface="Aptos" pitchFamily="34" charset="-120"/>
                        </a:rPr>
                        <a:t>Modeled as infrastructure revenue, closer to CoreWeave than pure LLM subscriptions.</a:t>
                      </a:r>
                      <a:endParaRPr lang="en-US" sz="83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4EFE6"/>
                    </a:solidFill>
                  </a:tcPr>
                </a:tc>
              </a:tr>
              <a:tr h="411480">
                <a:tc>
                  <a:txBody>
                    <a:bodyPr/>
                    <a:lstStyle/>
                    <a:p>
                      <a:pPr indent="0" marL="0">
                        <a:buNone/>
                      </a:pPr>
                      <a:r>
                        <a:rPr lang="en-US" sz="830" dirty="0">
                          <a:solidFill>
                            <a:srgbClr val="17324D"/>
                          </a:solidFill>
                          <a:latin typeface="Aptos" pitchFamily="34" charset="0"/>
                          <a:ea typeface="Aptos" pitchFamily="34" charset="-122"/>
                          <a:cs typeface="Aptos" pitchFamily="34" charset="-120"/>
                        </a:rPr>
                        <a:t>GPU depreciation</a:t>
                      </a:r>
                      <a:endParaRPr lang="en-US" sz="83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FFFFF"/>
                    </a:solidFill>
                  </a:tcPr>
                </a:tc>
                <a:tc>
                  <a:txBody>
                    <a:bodyPr/>
                    <a:lstStyle/>
                    <a:p>
                      <a:pPr indent="0" marL="0">
                        <a:buNone/>
                      </a:pPr>
                      <a:r>
                        <a:rPr lang="en-US" sz="830" dirty="0">
                          <a:solidFill>
                            <a:srgbClr val="17324D"/>
                          </a:solidFill>
                          <a:latin typeface="Aptos" pitchFamily="34" charset="0"/>
                          <a:ea typeface="Aptos" pitchFamily="34" charset="-122"/>
                          <a:cs typeface="Aptos" pitchFamily="34" charset="-120"/>
                        </a:rPr>
                        <a:t>High early D&amp;A because GPUs and data centers are capitalized and depreciated.</a:t>
                      </a:r>
                      <a:endParaRPr lang="en-US" sz="83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FFFFF"/>
                    </a:solidFill>
                  </a:tcPr>
                </a:tc>
              </a:tr>
              <a:tr h="411480">
                <a:tc>
                  <a:txBody>
                    <a:bodyPr/>
                    <a:lstStyle/>
                    <a:p>
                      <a:pPr indent="0" marL="0">
                        <a:buNone/>
                      </a:pPr>
                      <a:r>
                        <a:rPr lang="en-US" sz="830" dirty="0">
                          <a:solidFill>
                            <a:srgbClr val="17324D"/>
                          </a:solidFill>
                          <a:latin typeface="Aptos" pitchFamily="34" charset="0"/>
                          <a:ea typeface="Aptos" pitchFamily="34" charset="-122"/>
                          <a:cs typeface="Aptos" pitchFamily="34" charset="-120"/>
                        </a:rPr>
                        <a:t>Capex</a:t>
                      </a:r>
                      <a:endParaRPr lang="en-US" sz="83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4EFE6"/>
                    </a:solidFill>
                  </a:tcPr>
                </a:tc>
                <a:tc>
                  <a:txBody>
                    <a:bodyPr/>
                    <a:lstStyle/>
                    <a:p>
                      <a:pPr indent="0" marL="0">
                        <a:buNone/>
                      </a:pPr>
                      <a:r>
                        <a:rPr lang="en-US" sz="830" dirty="0">
                          <a:solidFill>
                            <a:srgbClr val="17324D"/>
                          </a:solidFill>
                          <a:latin typeface="Aptos" pitchFamily="34" charset="0"/>
                          <a:ea typeface="Aptos" pitchFamily="34" charset="-122"/>
                          <a:cs typeface="Aptos" pitchFamily="34" charset="-120"/>
                        </a:rPr>
                        <a:t>AI capex starts extremely high and fades as utilization improves.</a:t>
                      </a:r>
                      <a:endParaRPr lang="en-US" sz="83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4EFE6"/>
                    </a:solidFill>
                  </a:tcPr>
                </a:tc>
              </a:tr>
              <a:tr h="411480">
                <a:tc>
                  <a:txBody>
                    <a:bodyPr/>
                    <a:lstStyle/>
                    <a:p>
                      <a:pPr indent="0" marL="0">
                        <a:buNone/>
                      </a:pPr>
                      <a:r>
                        <a:rPr lang="en-US" sz="830" dirty="0">
                          <a:solidFill>
                            <a:srgbClr val="17324D"/>
                          </a:solidFill>
                          <a:latin typeface="Aptos" pitchFamily="34" charset="0"/>
                          <a:ea typeface="Aptos" pitchFamily="34" charset="-122"/>
                          <a:cs typeface="Aptos" pitchFamily="34" charset="-120"/>
                        </a:rPr>
                        <a:t>Orbital compute</a:t>
                      </a:r>
                      <a:endParaRPr lang="en-US" sz="83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FFFFF"/>
                    </a:solidFill>
                  </a:tcPr>
                </a:tc>
                <a:tc>
                  <a:txBody>
                    <a:bodyPr/>
                    <a:lstStyle/>
                    <a:p>
                      <a:pPr indent="0" marL="0">
                        <a:buNone/>
                      </a:pPr>
                      <a:r>
                        <a:rPr lang="en-US" sz="830" dirty="0">
                          <a:solidFill>
                            <a:srgbClr val="17324D"/>
                          </a:solidFill>
                          <a:latin typeface="Aptos" pitchFamily="34" charset="0"/>
                          <a:ea typeface="Aptos" pitchFamily="34" charset="-122"/>
                          <a:cs typeface="Aptos" pitchFamily="34" charset="-120"/>
                        </a:rPr>
                        <a:t>Upside only, not fully capitalized in the base case.</a:t>
                      </a:r>
                      <a:endParaRPr lang="en-US" sz="83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FFFFF"/>
                    </a:solidFill>
                  </a:tcPr>
                </a:tc>
              </a:tr>
            </a:tbl>
          </a:graphicData>
        </a:graphic>
      </p:graphicFrame>
      <p:sp>
        <p:nvSpPr>
          <p:cNvPr id="9" name="Shape 5"/>
          <p:cNvSpPr/>
          <p:nvPr/>
        </p:nvSpPr>
        <p:spPr>
          <a:xfrm>
            <a:off x="566928" y="4370832"/>
            <a:ext cx="3611880" cy="1078992"/>
          </a:xfrm>
          <a:prstGeom prst="roundRect">
            <a:avLst>
              <a:gd name="adj" fmla="val 8475"/>
            </a:avLst>
          </a:prstGeom>
          <a:solidFill>
            <a:srgbClr val="D7E8EC"/>
          </a:solidFill>
          <a:ln w="12700">
            <a:solidFill>
              <a:srgbClr val="CABFAF"/>
            </a:solidFill>
            <a:prstDash val="solid"/>
          </a:ln>
        </p:spPr>
      </p:sp>
      <p:sp>
        <p:nvSpPr>
          <p:cNvPr id="10" name="Text 6"/>
          <p:cNvSpPr/>
          <p:nvPr/>
        </p:nvSpPr>
        <p:spPr>
          <a:xfrm>
            <a:off x="731520" y="4517136"/>
            <a:ext cx="3282696" cy="201168"/>
          </a:xfrm>
          <a:prstGeom prst="rect">
            <a:avLst/>
          </a:prstGeom>
          <a:noFill/>
          <a:ln/>
        </p:spPr>
        <p:txBody>
          <a:bodyPr wrap="square" lIns="0" tIns="0" rIns="0" bIns="0" rtlCol="0" anchor="ctr"/>
          <a:lstStyle/>
          <a:p>
            <a:pPr indent="0" marL="0">
              <a:buNone/>
            </a:pPr>
            <a:r>
              <a:rPr lang="en-US" sz="1100" b="1" dirty="0">
                <a:solidFill>
                  <a:srgbClr val="0F636B"/>
                </a:solidFill>
              </a:rPr>
              <a:t>Forecast implication</a:t>
            </a:r>
            <a:endParaRPr lang="en-US" sz="1100" dirty="0"/>
          </a:p>
        </p:txBody>
      </p:sp>
      <p:sp>
        <p:nvSpPr>
          <p:cNvPr id="11" name="Text 7"/>
          <p:cNvSpPr/>
          <p:nvPr/>
        </p:nvSpPr>
        <p:spPr>
          <a:xfrm>
            <a:off x="731520" y="4809744"/>
            <a:ext cx="3282696" cy="530352"/>
          </a:xfrm>
          <a:prstGeom prst="rect">
            <a:avLst/>
          </a:prstGeom>
          <a:noFill/>
          <a:ln/>
        </p:spPr>
        <p:txBody>
          <a:bodyPr wrap="square" lIns="254" tIns="254" rIns="254" bIns="254" rtlCol="0" anchor="t">
            <a:normAutofit/>
          </a:bodyPr>
          <a:lstStyle/>
          <a:p>
            <a:pPr indent="0" marL="0">
              <a:buNone/>
            </a:pPr>
            <a:r>
              <a:rPr lang="en-US" sz="1070" dirty="0">
                <a:solidFill>
                  <a:srgbClr val="17324D"/>
                </a:solidFill>
              </a:rPr>
              <a:t>SpaceX receives credit for the platform, but the DCF waits for AI utilization, external demand and cash conversion before adding full moonshot value.</a:t>
            </a:r>
            <a:endParaRPr lang="en-US" sz="1070" dirty="0"/>
          </a:p>
        </p:txBody>
      </p:sp>
      <p:sp>
        <p:nvSpPr>
          <p:cNvPr id="12" name="Shape 8"/>
          <p:cNvSpPr/>
          <p:nvPr/>
        </p:nvSpPr>
        <p:spPr>
          <a:xfrm>
            <a:off x="4407408" y="4370832"/>
            <a:ext cx="3383280" cy="1078992"/>
          </a:xfrm>
          <a:prstGeom prst="roundRect">
            <a:avLst>
              <a:gd name="adj" fmla="val 8475"/>
            </a:avLst>
          </a:prstGeom>
          <a:solidFill>
            <a:srgbClr val="FFFFFF"/>
          </a:solidFill>
          <a:ln w="12700">
            <a:solidFill>
              <a:srgbClr val="CABFAF"/>
            </a:solidFill>
            <a:prstDash val="solid"/>
          </a:ln>
        </p:spPr>
      </p:sp>
      <p:sp>
        <p:nvSpPr>
          <p:cNvPr id="13" name="Text 9"/>
          <p:cNvSpPr/>
          <p:nvPr/>
        </p:nvSpPr>
        <p:spPr>
          <a:xfrm>
            <a:off x="4572000" y="4517136"/>
            <a:ext cx="3054096" cy="201168"/>
          </a:xfrm>
          <a:prstGeom prst="rect">
            <a:avLst/>
          </a:prstGeom>
          <a:noFill/>
          <a:ln/>
        </p:spPr>
        <p:txBody>
          <a:bodyPr wrap="square" lIns="0" tIns="0" rIns="0" bIns="0" rtlCol="0" anchor="ctr"/>
          <a:lstStyle/>
          <a:p>
            <a:pPr indent="0" marL="0">
              <a:buNone/>
            </a:pPr>
            <a:r>
              <a:rPr lang="en-US" sz="1100" b="1" dirty="0">
                <a:solidFill>
                  <a:srgbClr val="0F636B"/>
                </a:solidFill>
              </a:rPr>
              <a:t>What the market may be pricing in</a:t>
            </a:r>
            <a:endParaRPr lang="en-US" sz="1100" dirty="0"/>
          </a:p>
        </p:txBody>
      </p:sp>
      <p:sp>
        <p:nvSpPr>
          <p:cNvPr id="14" name="Text 10"/>
          <p:cNvSpPr/>
          <p:nvPr/>
        </p:nvSpPr>
        <p:spPr>
          <a:xfrm>
            <a:off x="4572000" y="4809744"/>
            <a:ext cx="3054096" cy="530352"/>
          </a:xfrm>
          <a:prstGeom prst="rect">
            <a:avLst/>
          </a:prstGeom>
          <a:noFill/>
          <a:ln/>
        </p:spPr>
        <p:txBody>
          <a:bodyPr wrap="square" lIns="254" tIns="254" rIns="254" bIns="254" rtlCol="0" anchor="t">
            <a:normAutofit/>
          </a:bodyPr>
          <a:lstStyle/>
          <a:p>
            <a:pPr indent="0" marL="0">
              <a:buNone/>
            </a:pPr>
            <a:r>
              <a:rPr lang="en-US" sz="1070" dirty="0">
                <a:solidFill>
                  <a:srgbClr val="17324D"/>
                </a:solidFill>
              </a:rPr>
              <a:t>The market appears to be giving more immediate credit for Starship reuse, direct-to-cell, orbital compute and possible ecosystem deals than the base case can prove today.</a:t>
            </a:r>
            <a:endParaRPr lang="en-US" sz="1070" dirty="0"/>
          </a:p>
        </p:txBody>
      </p:sp>
      <p:sp>
        <p:nvSpPr>
          <p:cNvPr id="15" name="Shape 11"/>
          <p:cNvSpPr/>
          <p:nvPr/>
        </p:nvSpPr>
        <p:spPr>
          <a:xfrm>
            <a:off x="8028432" y="4370832"/>
            <a:ext cx="3538728" cy="1078992"/>
          </a:xfrm>
          <a:prstGeom prst="roundRect">
            <a:avLst>
              <a:gd name="adj" fmla="val 8475"/>
            </a:avLst>
          </a:prstGeom>
          <a:solidFill>
            <a:srgbClr val="DCE8DE"/>
          </a:solidFill>
          <a:ln w="12700">
            <a:solidFill>
              <a:srgbClr val="CABFAF"/>
            </a:solidFill>
            <a:prstDash val="solid"/>
          </a:ln>
        </p:spPr>
      </p:sp>
      <p:sp>
        <p:nvSpPr>
          <p:cNvPr id="16" name="Text 12"/>
          <p:cNvSpPr/>
          <p:nvPr/>
        </p:nvSpPr>
        <p:spPr>
          <a:xfrm>
            <a:off x="8193024" y="4517136"/>
            <a:ext cx="3209544" cy="201168"/>
          </a:xfrm>
          <a:prstGeom prst="rect">
            <a:avLst/>
          </a:prstGeom>
          <a:noFill/>
          <a:ln/>
        </p:spPr>
        <p:txBody>
          <a:bodyPr wrap="square" lIns="0" tIns="0" rIns="0" bIns="0" rtlCol="0" anchor="ctr"/>
          <a:lstStyle/>
          <a:p>
            <a:pPr indent="0" marL="0">
              <a:buNone/>
            </a:pPr>
            <a:r>
              <a:rPr lang="en-US" sz="1100" b="1" dirty="0">
                <a:solidFill>
                  <a:srgbClr val="0F636B"/>
                </a:solidFill>
              </a:rPr>
              <a:t>Why the base case stays constructive</a:t>
            </a:r>
            <a:endParaRPr lang="en-US" sz="1100" dirty="0"/>
          </a:p>
        </p:txBody>
      </p:sp>
      <p:sp>
        <p:nvSpPr>
          <p:cNvPr id="17" name="Text 13"/>
          <p:cNvSpPr/>
          <p:nvPr/>
        </p:nvSpPr>
        <p:spPr>
          <a:xfrm>
            <a:off x="8193024" y="4809744"/>
            <a:ext cx="3209544" cy="530352"/>
          </a:xfrm>
          <a:prstGeom prst="rect">
            <a:avLst/>
          </a:prstGeom>
          <a:noFill/>
          <a:ln/>
        </p:spPr>
        <p:txBody>
          <a:bodyPr wrap="square" lIns="254" tIns="254" rIns="254" bIns="254" rtlCol="0" anchor="t">
            <a:normAutofit/>
          </a:bodyPr>
          <a:lstStyle/>
          <a:p>
            <a:pPr indent="0" marL="0">
              <a:buNone/>
            </a:pPr>
            <a:r>
              <a:rPr lang="en-US" sz="1070" dirty="0">
                <a:solidFill>
                  <a:srgbClr val="17324D"/>
                </a:solidFill>
              </a:rPr>
              <a:t>The model still assumes major growth, improving margins and high terminal cash flow. It is conservative only on unproven certainty, not on SpaceX quality.</a:t>
            </a:r>
            <a:endParaRPr lang="en-US" sz="107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502920" y="347472"/>
            <a:ext cx="10972800" cy="411480"/>
          </a:xfrm>
          <a:prstGeom prst="rect">
            <a:avLst/>
          </a:prstGeom>
          <a:noFill/>
          <a:ln/>
        </p:spPr>
        <p:txBody>
          <a:bodyPr wrap="square" lIns="0" tIns="0" rIns="0" bIns="0" rtlCol="0" anchor="ctr"/>
          <a:lstStyle/>
          <a:p>
            <a:pPr indent="0" marL="0">
              <a:buNone/>
            </a:pPr>
            <a:r>
              <a:rPr lang="en-US" sz="2850" b="1" dirty="0">
                <a:solidFill>
                  <a:srgbClr val="17324D"/>
                </a:solidFill>
                <a:latin typeface="Aptos Display" pitchFamily="34" charset="0"/>
                <a:ea typeface="Aptos Display" pitchFamily="34" charset="-122"/>
                <a:cs typeface="Aptos Display" pitchFamily="34" charset="-120"/>
              </a:rPr>
              <a:t>Peer multiples and cost of capital checks</a:t>
            </a:r>
            <a:endParaRPr lang="en-US" sz="2850" dirty="0"/>
          </a:p>
        </p:txBody>
      </p:sp>
      <p:sp>
        <p:nvSpPr>
          <p:cNvPr id="3" name="Text 1"/>
          <p:cNvSpPr/>
          <p:nvPr/>
        </p:nvSpPr>
        <p:spPr>
          <a:xfrm>
            <a:off x="521208" y="804672"/>
            <a:ext cx="10972800" cy="256032"/>
          </a:xfrm>
          <a:prstGeom prst="rect">
            <a:avLst/>
          </a:prstGeom>
          <a:noFill/>
          <a:ln/>
        </p:spPr>
        <p:txBody>
          <a:bodyPr wrap="square" lIns="0" tIns="0" rIns="0" bIns="0" rtlCol="0" anchor="ctr"/>
          <a:lstStyle/>
          <a:p>
            <a:pPr indent="0" marL="0">
              <a:buNone/>
            </a:pPr>
            <a:r>
              <a:rPr lang="en-US" sz="1250" dirty="0">
                <a:solidFill>
                  <a:srgbClr val="5A6C77"/>
                </a:solidFill>
              </a:rPr>
              <a:t>The peer set pressure-tests the DCF and the WACC, but no single comp fully matches SpaceX.</a:t>
            </a:r>
            <a:endParaRPr lang="en-US" sz="1250" dirty="0"/>
          </a:p>
        </p:txBody>
      </p:sp>
      <p:sp>
        <p:nvSpPr>
          <p:cNvPr id="4" name="Shape 2"/>
          <p:cNvSpPr/>
          <p:nvPr/>
        </p:nvSpPr>
        <p:spPr>
          <a:xfrm>
            <a:off x="502920" y="1078992"/>
            <a:ext cx="11155680" cy="0"/>
          </a:xfrm>
          <a:prstGeom prst="line">
            <a:avLst/>
          </a:prstGeom>
          <a:noFill/>
          <a:ln w="12700">
            <a:solidFill>
              <a:srgbClr val="D4CDC2"/>
            </a:solidFill>
            <a:prstDash val="solid"/>
          </a:ln>
        </p:spPr>
      </p:sp>
      <p:sp>
        <p:nvSpPr>
          <p:cNvPr id="5" name="Text 3"/>
          <p:cNvSpPr/>
          <p:nvPr/>
        </p:nvSpPr>
        <p:spPr>
          <a:xfrm>
            <a:off x="566928" y="1298448"/>
            <a:ext cx="2743200" cy="219456"/>
          </a:xfrm>
          <a:prstGeom prst="rect">
            <a:avLst/>
          </a:prstGeom>
          <a:noFill/>
          <a:ln/>
        </p:spPr>
        <p:txBody>
          <a:bodyPr wrap="square" lIns="0" tIns="0" rIns="0" bIns="0" rtlCol="0" anchor="ctr"/>
          <a:lstStyle/>
          <a:p>
            <a:pPr indent="0" marL="0">
              <a:buNone/>
            </a:pPr>
            <a:r>
              <a:rPr lang="en-US" sz="1020" b="1" dirty="0">
                <a:solidFill>
                  <a:srgbClr val="0F636B"/>
                </a:solidFill>
              </a:rPr>
              <a:t>PEER MULTIPLE SANITY CHECK</a:t>
            </a:r>
            <a:endParaRPr lang="en-US" sz="102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66928" y="1572768"/>
          <a:ext cx="6492240" cy="2816352"/>
        </p:xfrm>
        <a:graphic>
          <a:graphicData uri="http://schemas.openxmlformats.org/drawingml/2006/table">
            <a:tbl>
              <a:tblPr/>
              <a:tblGrid>
                <a:gridCol w="1005840"/>
                <a:gridCol w="1143000"/>
                <a:gridCol w="685800"/>
                <a:gridCol w="777240"/>
                <a:gridCol w="2880360"/>
              </a:tblGrid>
              <a:tr h="352044">
                <a:tc>
                  <a:txBody>
                    <a:bodyPr/>
                    <a:lstStyle/>
                    <a:p>
                      <a:pPr indent="0" marL="0">
                        <a:buNone/>
                      </a:pPr>
                      <a:r>
                        <a:rPr lang="en-US" sz="830" b="1" dirty="0">
                          <a:solidFill>
                            <a:srgbClr val="FFFFFF"/>
                          </a:solidFill>
                          <a:latin typeface="Aptos" pitchFamily="34" charset="0"/>
                          <a:ea typeface="Aptos" pitchFamily="34" charset="-122"/>
                          <a:cs typeface="Aptos" pitchFamily="34" charset="-120"/>
                        </a:rPr>
                        <a:t>Company</a:t>
                      </a:r>
                      <a:endParaRPr lang="en-US" sz="83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0F636B"/>
                    </a:solidFill>
                  </a:tcPr>
                </a:tc>
                <a:tc>
                  <a:txBody>
                    <a:bodyPr/>
                    <a:lstStyle/>
                    <a:p>
                      <a:pPr indent="0" marL="0">
                        <a:buNone/>
                      </a:pPr>
                      <a:r>
                        <a:rPr lang="en-US" sz="830" b="1" dirty="0">
                          <a:solidFill>
                            <a:srgbClr val="FFFFFF"/>
                          </a:solidFill>
                          <a:latin typeface="Aptos" pitchFamily="34" charset="0"/>
                          <a:ea typeface="Aptos" pitchFamily="34" charset="-122"/>
                          <a:cs typeface="Aptos" pitchFamily="34" charset="-120"/>
                        </a:rPr>
                        <a:t>Segment</a:t>
                      </a:r>
                      <a:endParaRPr lang="en-US" sz="83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0F636B"/>
                    </a:solidFill>
                  </a:tcPr>
                </a:tc>
                <a:tc>
                  <a:txBody>
                    <a:bodyPr/>
                    <a:lstStyle/>
                    <a:p>
                      <a:pPr indent="0" marL="0">
                        <a:buNone/>
                      </a:pPr>
                      <a:r>
                        <a:rPr lang="en-US" sz="830" b="1" dirty="0">
                          <a:solidFill>
                            <a:srgbClr val="FFFFFF"/>
                          </a:solidFill>
                          <a:latin typeface="Aptos" pitchFamily="34" charset="0"/>
                          <a:ea typeface="Aptos" pitchFamily="34" charset="-122"/>
                          <a:cs typeface="Aptos" pitchFamily="34" charset="-120"/>
                        </a:rPr>
                        <a:t>EV/Rev.</a:t>
                      </a:r>
                      <a:endParaRPr lang="en-US" sz="83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0F636B"/>
                    </a:solidFill>
                  </a:tcPr>
                </a:tc>
                <a:tc>
                  <a:txBody>
                    <a:bodyPr/>
                    <a:lstStyle/>
                    <a:p>
                      <a:pPr indent="0" marL="0">
                        <a:buNone/>
                      </a:pPr>
                      <a:r>
                        <a:rPr lang="en-US" sz="830" b="1" dirty="0">
                          <a:solidFill>
                            <a:srgbClr val="FFFFFF"/>
                          </a:solidFill>
                          <a:latin typeface="Aptos" pitchFamily="34" charset="0"/>
                          <a:ea typeface="Aptos" pitchFamily="34" charset="-122"/>
                          <a:cs typeface="Aptos" pitchFamily="34" charset="-120"/>
                        </a:rPr>
                        <a:t>EV/EBITDA</a:t>
                      </a:r>
                      <a:endParaRPr lang="en-US" sz="83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0F636B"/>
                    </a:solidFill>
                  </a:tcPr>
                </a:tc>
                <a:tc>
                  <a:txBody>
                    <a:bodyPr/>
                    <a:lstStyle/>
                    <a:p>
                      <a:pPr indent="0" marL="0">
                        <a:buNone/>
                      </a:pPr>
                      <a:r>
                        <a:rPr lang="en-US" sz="830" b="1" dirty="0">
                          <a:solidFill>
                            <a:srgbClr val="FFFFFF"/>
                          </a:solidFill>
                          <a:latin typeface="Aptos" pitchFamily="34" charset="0"/>
                          <a:ea typeface="Aptos" pitchFamily="34" charset="-122"/>
                          <a:cs typeface="Aptos" pitchFamily="34" charset="-120"/>
                        </a:rPr>
                        <a:t>Read-through</a:t>
                      </a:r>
                      <a:endParaRPr lang="en-US" sz="83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0F636B"/>
                    </a:solidFill>
                  </a:tcPr>
                </a:tc>
              </a:tr>
              <a:tr h="352044">
                <a:tc>
                  <a:txBody>
                    <a:bodyPr/>
                    <a:lstStyle/>
                    <a:p>
                      <a:pPr indent="0" marL="0">
                        <a:buNone/>
                      </a:pPr>
                      <a:r>
                        <a:rPr lang="en-US" sz="760" dirty="0">
                          <a:solidFill>
                            <a:srgbClr val="17324D"/>
                          </a:solidFill>
                          <a:latin typeface="Aptos" pitchFamily="34" charset="0"/>
                          <a:ea typeface="Aptos" pitchFamily="34" charset="-122"/>
                          <a:cs typeface="Aptos" pitchFamily="34" charset="-120"/>
                        </a:rPr>
                        <a:t>Rocket Lab</a:t>
                      </a:r>
                      <a:endParaRPr lang="en-US" sz="76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FFFFF"/>
                    </a:solidFill>
                  </a:tcPr>
                </a:tc>
                <a:tc>
                  <a:txBody>
                    <a:bodyPr/>
                    <a:lstStyle/>
                    <a:p>
                      <a:pPr indent="0" marL="0">
                        <a:buNone/>
                      </a:pPr>
                      <a:r>
                        <a:rPr lang="en-US" sz="760" dirty="0">
                          <a:solidFill>
                            <a:srgbClr val="17324D"/>
                          </a:solidFill>
                          <a:latin typeface="Aptos" pitchFamily="34" charset="0"/>
                          <a:ea typeface="Aptos" pitchFamily="34" charset="-122"/>
                          <a:cs typeface="Aptos" pitchFamily="34" charset="-120"/>
                        </a:rPr>
                        <a:t>Launch</a:t>
                      </a:r>
                      <a:endParaRPr lang="en-US" sz="76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FFFFF"/>
                    </a:solidFill>
                  </a:tcPr>
                </a:tc>
                <a:tc>
                  <a:txBody>
                    <a:bodyPr/>
                    <a:lstStyle/>
                    <a:p>
                      <a:pPr indent="0" marL="0">
                        <a:buNone/>
                      </a:pPr>
                      <a:r>
                        <a:rPr lang="en-US" sz="760" dirty="0">
                          <a:solidFill>
                            <a:srgbClr val="17324D"/>
                          </a:solidFill>
                          <a:latin typeface="Aptos" pitchFamily="34" charset="0"/>
                          <a:ea typeface="Aptos" pitchFamily="34" charset="-122"/>
                          <a:cs typeface="Aptos" pitchFamily="34" charset="-120"/>
                        </a:rPr>
                        <a:t>59.1x</a:t>
                      </a:r>
                      <a:endParaRPr lang="en-US" sz="76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FFFFF"/>
                    </a:solidFill>
                  </a:tcPr>
                </a:tc>
                <a:tc>
                  <a:txBody>
                    <a:bodyPr/>
                    <a:lstStyle/>
                    <a:p>
                      <a:pPr indent="0" marL="0">
                        <a:buNone/>
                      </a:pPr>
                      <a:r>
                        <a:rPr lang="en-US" sz="760" dirty="0">
                          <a:solidFill>
                            <a:srgbClr val="17324D"/>
                          </a:solidFill>
                          <a:latin typeface="Aptos" pitchFamily="34" charset="0"/>
                          <a:ea typeface="Aptos" pitchFamily="34" charset="-122"/>
                          <a:cs typeface="Aptos" pitchFamily="34" charset="-120"/>
                        </a:rPr>
                        <a:t>N.M.</a:t>
                      </a:r>
                      <a:endParaRPr lang="en-US" sz="76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FFFFF"/>
                    </a:solidFill>
                  </a:tcPr>
                </a:tc>
                <a:tc>
                  <a:txBody>
                    <a:bodyPr/>
                    <a:lstStyle/>
                    <a:p>
                      <a:pPr indent="0" marL="0">
                        <a:buNone/>
                      </a:pPr>
                      <a:r>
                        <a:rPr lang="en-US" sz="760" dirty="0">
                          <a:solidFill>
                            <a:srgbClr val="17324D"/>
                          </a:solidFill>
                          <a:latin typeface="Aptos" pitchFamily="34" charset="0"/>
                          <a:ea typeface="Aptos" pitchFamily="34" charset="-122"/>
                          <a:cs typeface="Aptos" pitchFamily="34" charset="-120"/>
                        </a:rPr>
                        <a:t>Scarce public launch exposure trades at a large revenue multiple, but EBITDA is negative.</a:t>
                      </a:r>
                      <a:endParaRPr lang="en-US" sz="76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FFFFF"/>
                    </a:solidFill>
                  </a:tcPr>
                </a:tc>
              </a:tr>
              <a:tr h="352044">
                <a:tc>
                  <a:txBody>
                    <a:bodyPr/>
                    <a:lstStyle/>
                    <a:p>
                      <a:pPr indent="0" marL="0">
                        <a:buNone/>
                      </a:pPr>
                      <a:r>
                        <a:rPr lang="en-US" sz="760" dirty="0">
                          <a:solidFill>
                            <a:srgbClr val="17324D"/>
                          </a:solidFill>
                          <a:latin typeface="Aptos" pitchFamily="34" charset="0"/>
                          <a:ea typeface="Aptos" pitchFamily="34" charset="-122"/>
                          <a:cs typeface="Aptos" pitchFamily="34" charset="-120"/>
                        </a:rPr>
                        <a:t>Viasat</a:t>
                      </a:r>
                      <a:endParaRPr lang="en-US" sz="76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4EFE6"/>
                    </a:solidFill>
                  </a:tcPr>
                </a:tc>
                <a:tc>
                  <a:txBody>
                    <a:bodyPr/>
                    <a:lstStyle/>
                    <a:p>
                      <a:pPr indent="0" marL="0">
                        <a:buNone/>
                      </a:pPr>
                      <a:r>
                        <a:rPr lang="en-US" sz="760" dirty="0">
                          <a:solidFill>
                            <a:srgbClr val="17324D"/>
                          </a:solidFill>
                          <a:latin typeface="Aptos" pitchFamily="34" charset="0"/>
                          <a:ea typeface="Aptos" pitchFamily="34" charset="-122"/>
                          <a:cs typeface="Aptos" pitchFamily="34" charset="-120"/>
                        </a:rPr>
                        <a:t>Connectivity</a:t>
                      </a:r>
                      <a:endParaRPr lang="en-US" sz="76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4EFE6"/>
                    </a:solidFill>
                  </a:tcPr>
                </a:tc>
                <a:tc>
                  <a:txBody>
                    <a:bodyPr/>
                    <a:lstStyle/>
                    <a:p>
                      <a:pPr indent="0" marL="0">
                        <a:buNone/>
                      </a:pPr>
                      <a:r>
                        <a:rPr lang="en-US" sz="760" dirty="0">
                          <a:solidFill>
                            <a:srgbClr val="17324D"/>
                          </a:solidFill>
                          <a:latin typeface="Aptos" pitchFamily="34" charset="0"/>
                          <a:ea typeface="Aptos" pitchFamily="34" charset="-122"/>
                          <a:cs typeface="Aptos" pitchFamily="34" charset="-120"/>
                        </a:rPr>
                        <a:t>3.3x</a:t>
                      </a:r>
                      <a:endParaRPr lang="en-US" sz="76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4EFE6"/>
                    </a:solidFill>
                  </a:tcPr>
                </a:tc>
                <a:tc>
                  <a:txBody>
                    <a:bodyPr/>
                    <a:lstStyle/>
                    <a:p>
                      <a:pPr indent="0" marL="0">
                        <a:buNone/>
                      </a:pPr>
                      <a:r>
                        <a:rPr lang="en-US" sz="760" dirty="0">
                          <a:solidFill>
                            <a:srgbClr val="17324D"/>
                          </a:solidFill>
                          <a:latin typeface="Aptos" pitchFamily="34" charset="0"/>
                          <a:ea typeface="Aptos" pitchFamily="34" charset="-122"/>
                          <a:cs typeface="Aptos" pitchFamily="34" charset="-120"/>
                        </a:rPr>
                        <a:t>10.9x</a:t>
                      </a:r>
                      <a:endParaRPr lang="en-US" sz="76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4EFE6"/>
                    </a:solidFill>
                  </a:tcPr>
                </a:tc>
                <a:tc>
                  <a:txBody>
                    <a:bodyPr/>
                    <a:lstStyle/>
                    <a:p>
                      <a:pPr indent="0" marL="0">
                        <a:buNone/>
                      </a:pPr>
                      <a:r>
                        <a:rPr lang="en-US" sz="760" dirty="0">
                          <a:solidFill>
                            <a:srgbClr val="17324D"/>
                          </a:solidFill>
                          <a:latin typeface="Aptos" pitchFamily="34" charset="0"/>
                          <a:ea typeface="Aptos" pitchFamily="34" charset="-122"/>
                          <a:cs typeface="Aptos" pitchFamily="34" charset="-120"/>
                        </a:rPr>
                        <a:t>Mature satellite connectivity comp with slower growth and legacy architecture.</a:t>
                      </a:r>
                      <a:endParaRPr lang="en-US" sz="76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4EFE6"/>
                    </a:solidFill>
                  </a:tcPr>
                </a:tc>
              </a:tr>
              <a:tr h="352044">
                <a:tc>
                  <a:txBody>
                    <a:bodyPr/>
                    <a:lstStyle/>
                    <a:p>
                      <a:pPr indent="0" marL="0">
                        <a:buNone/>
                      </a:pPr>
                      <a:r>
                        <a:rPr lang="en-US" sz="760" dirty="0">
                          <a:solidFill>
                            <a:srgbClr val="17324D"/>
                          </a:solidFill>
                          <a:latin typeface="Aptos" pitchFamily="34" charset="0"/>
                          <a:ea typeface="Aptos" pitchFamily="34" charset="-122"/>
                          <a:cs typeface="Aptos" pitchFamily="34" charset="-120"/>
                        </a:rPr>
                        <a:t>Iridium</a:t>
                      </a:r>
                      <a:endParaRPr lang="en-US" sz="76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FFFFF"/>
                    </a:solidFill>
                  </a:tcPr>
                </a:tc>
                <a:tc>
                  <a:txBody>
                    <a:bodyPr/>
                    <a:lstStyle/>
                    <a:p>
                      <a:pPr indent="0" marL="0">
                        <a:buNone/>
                      </a:pPr>
                      <a:r>
                        <a:rPr lang="en-US" sz="760" dirty="0">
                          <a:solidFill>
                            <a:srgbClr val="17324D"/>
                          </a:solidFill>
                          <a:latin typeface="Aptos" pitchFamily="34" charset="0"/>
                          <a:ea typeface="Aptos" pitchFamily="34" charset="-122"/>
                          <a:cs typeface="Aptos" pitchFamily="34" charset="-120"/>
                        </a:rPr>
                        <a:t>Satellite services</a:t>
                      </a:r>
                      <a:endParaRPr lang="en-US" sz="76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FFFFF"/>
                    </a:solidFill>
                  </a:tcPr>
                </a:tc>
                <a:tc>
                  <a:txBody>
                    <a:bodyPr/>
                    <a:lstStyle/>
                    <a:p>
                      <a:pPr indent="0" marL="0">
                        <a:buNone/>
                      </a:pPr>
                      <a:r>
                        <a:rPr lang="en-US" sz="760" dirty="0">
                          <a:solidFill>
                            <a:srgbClr val="17324D"/>
                          </a:solidFill>
                          <a:latin typeface="Aptos" pitchFamily="34" charset="0"/>
                          <a:ea typeface="Aptos" pitchFamily="34" charset="-122"/>
                          <a:cs typeface="Aptos" pitchFamily="34" charset="-120"/>
                        </a:rPr>
                        <a:t>8.0x</a:t>
                      </a:r>
                      <a:endParaRPr lang="en-US" sz="76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FFFFF"/>
                    </a:solidFill>
                  </a:tcPr>
                </a:tc>
                <a:tc>
                  <a:txBody>
                    <a:bodyPr/>
                    <a:lstStyle/>
                    <a:p>
                      <a:pPr indent="0" marL="0">
                        <a:buNone/>
                      </a:pPr>
                      <a:r>
                        <a:rPr lang="en-US" sz="760" dirty="0">
                          <a:solidFill>
                            <a:srgbClr val="17324D"/>
                          </a:solidFill>
                          <a:latin typeface="Aptos" pitchFamily="34" charset="0"/>
                          <a:ea typeface="Aptos" pitchFamily="34" charset="-122"/>
                          <a:cs typeface="Aptos" pitchFamily="34" charset="-120"/>
                        </a:rPr>
                        <a:t>15.7x</a:t>
                      </a:r>
                      <a:endParaRPr lang="en-US" sz="76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FFFFF"/>
                    </a:solidFill>
                  </a:tcPr>
                </a:tc>
                <a:tc>
                  <a:txBody>
                    <a:bodyPr/>
                    <a:lstStyle/>
                    <a:p>
                      <a:pPr indent="0" marL="0">
                        <a:buNone/>
                      </a:pPr>
                      <a:r>
                        <a:rPr lang="en-US" sz="760" dirty="0">
                          <a:solidFill>
                            <a:srgbClr val="17324D"/>
                          </a:solidFill>
                          <a:latin typeface="Aptos" pitchFamily="34" charset="0"/>
                          <a:ea typeface="Aptos" pitchFamily="34" charset="-122"/>
                          <a:cs typeface="Aptos" pitchFamily="34" charset="-120"/>
                        </a:rPr>
                        <a:t>Recurring satellite service revenue, narrower than Starlink broadband.</a:t>
                      </a:r>
                      <a:endParaRPr lang="en-US" sz="76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FFFFF"/>
                    </a:solidFill>
                  </a:tcPr>
                </a:tc>
              </a:tr>
              <a:tr h="352044">
                <a:tc>
                  <a:txBody>
                    <a:bodyPr/>
                    <a:lstStyle/>
                    <a:p>
                      <a:pPr indent="0" marL="0">
                        <a:buNone/>
                      </a:pPr>
                      <a:r>
                        <a:rPr lang="en-US" sz="760" dirty="0">
                          <a:solidFill>
                            <a:srgbClr val="17324D"/>
                          </a:solidFill>
                          <a:latin typeface="Aptos" pitchFamily="34" charset="0"/>
                          <a:ea typeface="Aptos" pitchFamily="34" charset="-122"/>
                          <a:cs typeface="Aptos" pitchFamily="34" charset="-120"/>
                        </a:rPr>
                        <a:t>CoreWeave</a:t>
                      </a:r>
                      <a:endParaRPr lang="en-US" sz="76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4EFE6"/>
                    </a:solidFill>
                  </a:tcPr>
                </a:tc>
                <a:tc>
                  <a:txBody>
                    <a:bodyPr/>
                    <a:lstStyle/>
                    <a:p>
                      <a:pPr indent="0" marL="0">
                        <a:buNone/>
                      </a:pPr>
                      <a:r>
                        <a:rPr lang="en-US" sz="760" dirty="0">
                          <a:solidFill>
                            <a:srgbClr val="17324D"/>
                          </a:solidFill>
                          <a:latin typeface="Aptos" pitchFamily="34" charset="0"/>
                          <a:ea typeface="Aptos" pitchFamily="34" charset="-122"/>
                          <a:cs typeface="Aptos" pitchFamily="34" charset="-120"/>
                        </a:rPr>
                        <a:t>AI compute</a:t>
                      </a:r>
                      <a:endParaRPr lang="en-US" sz="76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4EFE6"/>
                    </a:solidFill>
                  </a:tcPr>
                </a:tc>
                <a:tc>
                  <a:txBody>
                    <a:bodyPr/>
                    <a:lstStyle/>
                    <a:p>
                      <a:pPr indent="0" marL="0">
                        <a:buNone/>
                      </a:pPr>
                      <a:r>
                        <a:rPr lang="en-US" sz="760" dirty="0">
                          <a:solidFill>
                            <a:srgbClr val="17324D"/>
                          </a:solidFill>
                          <a:latin typeface="Aptos" pitchFamily="34" charset="0"/>
                          <a:ea typeface="Aptos" pitchFamily="34" charset="-122"/>
                          <a:cs typeface="Aptos" pitchFamily="34" charset="-120"/>
                        </a:rPr>
                        <a:t>11.7x</a:t>
                      </a:r>
                      <a:endParaRPr lang="en-US" sz="76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4EFE6"/>
                    </a:solidFill>
                  </a:tcPr>
                </a:tc>
                <a:tc>
                  <a:txBody>
                    <a:bodyPr/>
                    <a:lstStyle/>
                    <a:p>
                      <a:pPr indent="0" marL="0">
                        <a:buNone/>
                      </a:pPr>
                      <a:r>
                        <a:rPr lang="en-US" sz="760" dirty="0">
                          <a:solidFill>
                            <a:srgbClr val="17324D"/>
                          </a:solidFill>
                          <a:latin typeface="Aptos" pitchFamily="34" charset="0"/>
                          <a:ea typeface="Aptos" pitchFamily="34" charset="-122"/>
                          <a:cs typeface="Aptos" pitchFamily="34" charset="-120"/>
                        </a:rPr>
                        <a:t>24.1x</a:t>
                      </a:r>
                      <a:endParaRPr lang="en-US" sz="76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4EFE6"/>
                    </a:solidFill>
                  </a:tcPr>
                </a:tc>
                <a:tc>
                  <a:txBody>
                    <a:bodyPr/>
                    <a:lstStyle/>
                    <a:p>
                      <a:pPr indent="0" marL="0">
                        <a:buNone/>
                      </a:pPr>
                      <a:r>
                        <a:rPr lang="en-US" sz="760" dirty="0">
                          <a:solidFill>
                            <a:srgbClr val="17324D"/>
                          </a:solidFill>
                          <a:latin typeface="Aptos" pitchFamily="34" charset="0"/>
                          <a:ea typeface="Aptos" pitchFamily="34" charset="-122"/>
                          <a:cs typeface="Aptos" pitchFamily="34" charset="-120"/>
                        </a:rPr>
                        <a:t>AI infrastructure upside, but also capex and debt risk.</a:t>
                      </a:r>
                      <a:endParaRPr lang="en-US" sz="76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4EFE6"/>
                    </a:solidFill>
                  </a:tcPr>
                </a:tc>
              </a:tr>
              <a:tr h="352044">
                <a:tc>
                  <a:txBody>
                    <a:bodyPr/>
                    <a:lstStyle/>
                    <a:p>
                      <a:pPr indent="0" marL="0">
                        <a:buNone/>
                      </a:pPr>
                      <a:r>
                        <a:rPr lang="en-US" sz="760" dirty="0">
                          <a:solidFill>
                            <a:srgbClr val="17324D"/>
                          </a:solidFill>
                          <a:latin typeface="Aptos" pitchFamily="34" charset="0"/>
                          <a:ea typeface="Aptos" pitchFamily="34" charset="-122"/>
                          <a:cs typeface="Aptos" pitchFamily="34" charset="-120"/>
                        </a:rPr>
                        <a:t>Lockheed</a:t>
                      </a:r>
                      <a:endParaRPr lang="en-US" sz="76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FFFFF"/>
                    </a:solidFill>
                  </a:tcPr>
                </a:tc>
                <a:tc>
                  <a:txBody>
                    <a:bodyPr/>
                    <a:lstStyle/>
                    <a:p>
                      <a:pPr indent="0" marL="0">
                        <a:buNone/>
                      </a:pPr>
                      <a:r>
                        <a:rPr lang="en-US" sz="760" dirty="0">
                          <a:solidFill>
                            <a:srgbClr val="17324D"/>
                          </a:solidFill>
                          <a:latin typeface="Aptos" pitchFamily="34" charset="0"/>
                          <a:ea typeface="Aptos" pitchFamily="34" charset="-122"/>
                          <a:cs typeface="Aptos" pitchFamily="34" charset="-120"/>
                        </a:rPr>
                        <a:t>Defense / Space</a:t>
                      </a:r>
                      <a:endParaRPr lang="en-US" sz="76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FFFFF"/>
                    </a:solidFill>
                  </a:tcPr>
                </a:tc>
                <a:tc>
                  <a:txBody>
                    <a:bodyPr/>
                    <a:lstStyle/>
                    <a:p>
                      <a:pPr indent="0" marL="0">
                        <a:buNone/>
                      </a:pPr>
                      <a:r>
                        <a:rPr lang="en-US" sz="760" dirty="0">
                          <a:solidFill>
                            <a:srgbClr val="17324D"/>
                          </a:solidFill>
                          <a:latin typeface="Aptos" pitchFamily="34" charset="0"/>
                          <a:ea typeface="Aptos" pitchFamily="34" charset="-122"/>
                          <a:cs typeface="Aptos" pitchFamily="34" charset="-120"/>
                        </a:rPr>
                        <a:t>1.8x</a:t>
                      </a:r>
                      <a:endParaRPr lang="en-US" sz="76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FFFFF"/>
                    </a:solidFill>
                  </a:tcPr>
                </a:tc>
                <a:tc>
                  <a:txBody>
                    <a:bodyPr/>
                    <a:lstStyle/>
                    <a:p>
                      <a:pPr indent="0" marL="0">
                        <a:buNone/>
                      </a:pPr>
                      <a:r>
                        <a:rPr lang="en-US" sz="760" dirty="0">
                          <a:solidFill>
                            <a:srgbClr val="17324D"/>
                          </a:solidFill>
                          <a:latin typeface="Aptos" pitchFamily="34" charset="0"/>
                          <a:ea typeface="Aptos" pitchFamily="34" charset="-122"/>
                          <a:cs typeface="Aptos" pitchFamily="34" charset="-120"/>
                        </a:rPr>
                        <a:t>17.2x</a:t>
                      </a:r>
                      <a:endParaRPr lang="en-US" sz="76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FFFFF"/>
                    </a:solidFill>
                  </a:tcPr>
                </a:tc>
                <a:tc>
                  <a:txBody>
                    <a:bodyPr/>
                    <a:lstStyle/>
                    <a:p>
                      <a:pPr indent="0" marL="0">
                        <a:buNone/>
                      </a:pPr>
                      <a:r>
                        <a:rPr lang="en-US" sz="760" dirty="0">
                          <a:solidFill>
                            <a:srgbClr val="17324D"/>
                          </a:solidFill>
                          <a:latin typeface="Aptos" pitchFamily="34" charset="0"/>
                          <a:ea typeface="Aptos" pitchFamily="34" charset="-122"/>
                          <a:cs typeface="Aptos" pitchFamily="34" charset="-120"/>
                        </a:rPr>
                        <a:t>Mature government contract and defense margin benchmark.</a:t>
                      </a:r>
                      <a:endParaRPr lang="en-US" sz="76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FFFFF"/>
                    </a:solidFill>
                  </a:tcPr>
                </a:tc>
              </a:tr>
              <a:tr h="352044">
                <a:tc>
                  <a:txBody>
                    <a:bodyPr/>
                    <a:lstStyle/>
                    <a:p>
                      <a:pPr indent="0" marL="0">
                        <a:buNone/>
                      </a:pPr>
                      <a:r>
                        <a:rPr lang="en-US" sz="760" b="1" dirty="0">
                          <a:solidFill>
                            <a:srgbClr val="17324D"/>
                          </a:solidFill>
                          <a:latin typeface="Aptos" pitchFamily="34" charset="0"/>
                          <a:ea typeface="Aptos" pitchFamily="34" charset="-122"/>
                          <a:cs typeface="Aptos" pitchFamily="34" charset="-120"/>
                        </a:rPr>
                        <a:t>SpaceX DCF</a:t>
                      </a:r>
                      <a:endParaRPr lang="en-US" sz="76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D7E8EC"/>
                    </a:solidFill>
                  </a:tcPr>
                </a:tc>
                <a:tc>
                  <a:txBody>
                    <a:bodyPr/>
                    <a:lstStyle/>
                    <a:p>
                      <a:pPr indent="0" marL="0">
                        <a:buNone/>
                      </a:pPr>
                      <a:r>
                        <a:rPr lang="en-US" sz="760" b="1" dirty="0">
                          <a:solidFill>
                            <a:srgbClr val="17324D"/>
                          </a:solidFill>
                          <a:latin typeface="Aptos" pitchFamily="34" charset="0"/>
                          <a:ea typeface="Aptos" pitchFamily="34" charset="-122"/>
                          <a:cs typeface="Aptos" pitchFamily="34" charset="-120"/>
                        </a:rPr>
                        <a:t>2026E base</a:t>
                      </a:r>
                      <a:endParaRPr lang="en-US" sz="76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D7E8EC"/>
                    </a:solidFill>
                  </a:tcPr>
                </a:tc>
                <a:tc>
                  <a:txBody>
                    <a:bodyPr/>
                    <a:lstStyle/>
                    <a:p>
                      <a:pPr indent="0" marL="0">
                        <a:buNone/>
                      </a:pPr>
                      <a:r>
                        <a:rPr lang="en-US" sz="760" b="1" dirty="0">
                          <a:solidFill>
                            <a:srgbClr val="17324D"/>
                          </a:solidFill>
                          <a:latin typeface="Aptos" pitchFamily="34" charset="0"/>
                          <a:ea typeface="Aptos" pitchFamily="34" charset="-122"/>
                          <a:cs typeface="Aptos" pitchFamily="34" charset="-120"/>
                        </a:rPr>
                        <a:t>33.4x</a:t>
                      </a:r>
                      <a:endParaRPr lang="en-US" sz="76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D7E8EC"/>
                    </a:solidFill>
                  </a:tcPr>
                </a:tc>
                <a:tc>
                  <a:txBody>
                    <a:bodyPr/>
                    <a:lstStyle/>
                    <a:p>
                      <a:pPr indent="0" marL="0">
                        <a:buNone/>
                      </a:pPr>
                      <a:r>
                        <a:rPr lang="en-US" sz="760" b="1" dirty="0">
                          <a:solidFill>
                            <a:srgbClr val="17324D"/>
                          </a:solidFill>
                          <a:latin typeface="Aptos" pitchFamily="34" charset="0"/>
                          <a:ea typeface="Aptos" pitchFamily="34" charset="-122"/>
                          <a:cs typeface="Aptos" pitchFamily="34" charset="-120"/>
                        </a:rPr>
                        <a:t>120.3x</a:t>
                      </a:r>
                      <a:endParaRPr lang="en-US" sz="76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D7E8EC"/>
                    </a:solidFill>
                  </a:tcPr>
                </a:tc>
                <a:tc>
                  <a:txBody>
                    <a:bodyPr/>
                    <a:lstStyle/>
                    <a:p>
                      <a:pPr indent="0" marL="0">
                        <a:buNone/>
                      </a:pPr>
                      <a:r>
                        <a:rPr lang="en-US" sz="760" b="1" dirty="0">
                          <a:solidFill>
                            <a:srgbClr val="17324D"/>
                          </a:solidFill>
                          <a:latin typeface="Aptos" pitchFamily="34" charset="0"/>
                          <a:ea typeface="Aptos" pitchFamily="34" charset="-122"/>
                          <a:cs typeface="Aptos" pitchFamily="34" charset="-120"/>
                        </a:rPr>
                        <a:t>Expensive on near-term earnings, but still below Rocket Lab on revenue with much greater scale.</a:t>
                      </a:r>
                      <a:endParaRPr lang="en-US" sz="76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D7E8EC"/>
                    </a:solidFill>
                  </a:tcPr>
                </a:tc>
              </a:tr>
              <a:tr h="352044">
                <a:tc>
                  <a:txBody>
                    <a:bodyPr/>
                    <a:lstStyle/>
                    <a:p>
                      <a:pPr indent="0" marL="0">
                        <a:buNone/>
                      </a:pPr>
                      <a:r>
                        <a:rPr lang="en-US" sz="760" b="1" dirty="0">
                          <a:solidFill>
                            <a:srgbClr val="17324D"/>
                          </a:solidFill>
                          <a:latin typeface="Aptos" pitchFamily="34" charset="0"/>
                          <a:ea typeface="Aptos" pitchFamily="34" charset="-122"/>
                          <a:cs typeface="Aptos" pitchFamily="34" charset="-120"/>
                        </a:rPr>
                        <a:t>SpaceX DCF</a:t>
                      </a:r>
                      <a:endParaRPr lang="en-US" sz="76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DCE8DE"/>
                    </a:solidFill>
                  </a:tcPr>
                </a:tc>
                <a:tc>
                  <a:txBody>
                    <a:bodyPr/>
                    <a:lstStyle/>
                    <a:p>
                      <a:pPr indent="0" marL="0">
                        <a:buNone/>
                      </a:pPr>
                      <a:r>
                        <a:rPr lang="en-US" sz="760" b="1" dirty="0">
                          <a:solidFill>
                            <a:srgbClr val="17324D"/>
                          </a:solidFill>
                          <a:latin typeface="Aptos" pitchFamily="34" charset="0"/>
                          <a:ea typeface="Aptos" pitchFamily="34" charset="-122"/>
                          <a:cs typeface="Aptos" pitchFamily="34" charset="-120"/>
                        </a:rPr>
                        <a:t>2035E scale</a:t>
                      </a:r>
                      <a:endParaRPr lang="en-US" sz="76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DCE8DE"/>
                    </a:solidFill>
                  </a:tcPr>
                </a:tc>
                <a:tc>
                  <a:txBody>
                    <a:bodyPr/>
                    <a:lstStyle/>
                    <a:p>
                      <a:pPr indent="0" marL="0">
                        <a:buNone/>
                      </a:pPr>
                      <a:r>
                        <a:rPr lang="en-US" sz="760" b="1" dirty="0">
                          <a:solidFill>
                            <a:srgbClr val="17324D"/>
                          </a:solidFill>
                          <a:latin typeface="Aptos" pitchFamily="34" charset="0"/>
                          <a:ea typeface="Aptos" pitchFamily="34" charset="-122"/>
                          <a:cs typeface="Aptos" pitchFamily="34" charset="-120"/>
                        </a:rPr>
                        <a:t>4.1x</a:t>
                      </a:r>
                      <a:endParaRPr lang="en-US" sz="76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DCE8DE"/>
                    </a:solidFill>
                  </a:tcPr>
                </a:tc>
                <a:tc>
                  <a:txBody>
                    <a:bodyPr/>
                    <a:lstStyle/>
                    <a:p>
                      <a:pPr indent="0" marL="0">
                        <a:buNone/>
                      </a:pPr>
                      <a:r>
                        <a:rPr lang="en-US" sz="760" b="1" dirty="0">
                          <a:solidFill>
                            <a:srgbClr val="17324D"/>
                          </a:solidFill>
                          <a:latin typeface="Aptos" pitchFamily="34" charset="0"/>
                          <a:ea typeface="Aptos" pitchFamily="34" charset="-122"/>
                          <a:cs typeface="Aptos" pitchFamily="34" charset="-120"/>
                        </a:rPr>
                        <a:t>5.5x</a:t>
                      </a:r>
                      <a:endParaRPr lang="en-US" sz="76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DCE8DE"/>
                    </a:solidFill>
                  </a:tcPr>
                </a:tc>
                <a:tc>
                  <a:txBody>
                    <a:bodyPr/>
                    <a:lstStyle/>
                    <a:p>
                      <a:pPr indent="0" marL="0">
                        <a:buNone/>
                      </a:pPr>
                      <a:r>
                        <a:rPr lang="en-US" sz="760" b="1" dirty="0">
                          <a:solidFill>
                            <a:srgbClr val="17324D"/>
                          </a:solidFill>
                          <a:latin typeface="Aptos" pitchFamily="34" charset="0"/>
                          <a:ea typeface="Aptos" pitchFamily="34" charset="-122"/>
                          <a:cs typeface="Aptos" pitchFamily="34" charset="-120"/>
                        </a:rPr>
                        <a:t>Valuation depends on scaling into cash flow, not being cheap on current revenue.</a:t>
                      </a:r>
                      <a:endParaRPr lang="en-US" sz="76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DCE8DE"/>
                    </a:solidFill>
                  </a:tcPr>
                </a:tc>
              </a:tr>
            </a:tbl>
          </a:graphicData>
        </a:graphic>
      </p:graphicFrame>
      <p:graphicFrame>
        <p:nvGraphicFramePr>
          <p:cNvPr id="7" name="Chart 0" descr=""/>
          <p:cNvGraphicFramePr/>
          <p:nvPr/>
        </p:nvGraphicFramePr>
        <p:xfrm>
          <a:off x="7315200" y="1600200"/>
          <a:ext cx="4251960" cy="2148840"/>
        </p:xfrm>
        <a:graphic xmlns:a="http://schemas.openxmlformats.org/drawingml/2006/main">
          <a:graphicData uri="http://schemas.openxmlformats.org/drawingml/2006/chart">
            <c:chart xmlns:c="http://schemas.openxmlformats.org/drawingml/2006/chart" r:id="rId1"/>
          </a:graphicData>
        </a:graphic>
      </p:graphicFrame>
      <p:sp>
        <p:nvSpPr>
          <p:cNvPr id="8" name="Shape 4"/>
          <p:cNvSpPr/>
          <p:nvPr/>
        </p:nvSpPr>
        <p:spPr>
          <a:xfrm>
            <a:off x="7315200" y="3977640"/>
            <a:ext cx="4251960" cy="868680"/>
          </a:xfrm>
          <a:prstGeom prst="roundRect">
            <a:avLst>
              <a:gd name="adj" fmla="val 10526"/>
            </a:avLst>
          </a:prstGeom>
          <a:solidFill>
            <a:srgbClr val="D7E8EC"/>
          </a:solidFill>
          <a:ln w="12700">
            <a:solidFill>
              <a:srgbClr val="CABFAF"/>
            </a:solidFill>
            <a:prstDash val="solid"/>
          </a:ln>
        </p:spPr>
      </p:sp>
      <p:sp>
        <p:nvSpPr>
          <p:cNvPr id="9" name="Text 5"/>
          <p:cNvSpPr/>
          <p:nvPr/>
        </p:nvSpPr>
        <p:spPr>
          <a:xfrm>
            <a:off x="7479792" y="4123944"/>
            <a:ext cx="3922776" cy="201168"/>
          </a:xfrm>
          <a:prstGeom prst="rect">
            <a:avLst/>
          </a:prstGeom>
          <a:noFill/>
          <a:ln/>
        </p:spPr>
        <p:txBody>
          <a:bodyPr wrap="square" lIns="0" tIns="0" rIns="0" bIns="0" rtlCol="0" anchor="ctr"/>
          <a:lstStyle/>
          <a:p>
            <a:pPr indent="0" marL="0">
              <a:buNone/>
            </a:pPr>
            <a:r>
              <a:rPr lang="en-US" sz="1100" b="1" dirty="0">
                <a:solidFill>
                  <a:srgbClr val="0F636B"/>
                </a:solidFill>
              </a:rPr>
              <a:t>Multiple check conclusion</a:t>
            </a:r>
            <a:endParaRPr lang="en-US" sz="1100" dirty="0"/>
          </a:p>
        </p:txBody>
      </p:sp>
      <p:sp>
        <p:nvSpPr>
          <p:cNvPr id="10" name="Text 6"/>
          <p:cNvSpPr/>
          <p:nvPr/>
        </p:nvSpPr>
        <p:spPr>
          <a:xfrm>
            <a:off x="7479792" y="4416552"/>
            <a:ext cx="3922776" cy="320040"/>
          </a:xfrm>
          <a:prstGeom prst="rect">
            <a:avLst/>
          </a:prstGeom>
          <a:noFill/>
          <a:ln/>
        </p:spPr>
        <p:txBody>
          <a:bodyPr wrap="square" lIns="254" tIns="254" rIns="254" bIns="254" rtlCol="0" anchor="t">
            <a:normAutofit/>
          </a:bodyPr>
          <a:lstStyle/>
          <a:p>
            <a:pPr indent="0" marL="0">
              <a:buNone/>
            </a:pPr>
            <a:r>
              <a:rPr lang="en-US" sz="1070" dirty="0">
                <a:solidFill>
                  <a:srgbClr val="17324D"/>
                </a:solidFill>
              </a:rPr>
              <a:t>The DCF is not cheap on 2026E numbers, but it becomes reasonable if SpaceX grows into the 2035 revenue and cash-flow profile. The comps support a premium, but not unlimited hype.</a:t>
            </a:r>
            <a:endParaRPr lang="en-US" sz="1070" dirty="0"/>
          </a:p>
        </p:txBody>
      </p:sp>
      <p:sp>
        <p:nvSpPr>
          <p:cNvPr id="11" name="Text 7"/>
          <p:cNvSpPr/>
          <p:nvPr/>
        </p:nvSpPr>
        <p:spPr>
          <a:xfrm>
            <a:off x="566928" y="4828032"/>
            <a:ext cx="2743200" cy="219456"/>
          </a:xfrm>
          <a:prstGeom prst="rect">
            <a:avLst/>
          </a:prstGeom>
          <a:noFill/>
          <a:ln/>
        </p:spPr>
        <p:txBody>
          <a:bodyPr wrap="square" lIns="0" tIns="0" rIns="0" bIns="0" rtlCol="0" anchor="ctr"/>
          <a:lstStyle/>
          <a:p>
            <a:pPr indent="0" marL="0">
              <a:buNone/>
            </a:pPr>
            <a:r>
              <a:rPr lang="en-US" sz="1020" b="1" dirty="0">
                <a:solidFill>
                  <a:srgbClr val="0F636B"/>
                </a:solidFill>
              </a:rPr>
              <a:t>COST OF CAPITAL BUILD</a:t>
            </a:r>
            <a:endParaRPr lang="en-US" sz="1020" dirty="0"/>
          </a:p>
        </p:txBody>
      </p:sp>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566928" y="5102352"/>
          <a:ext cx="4754880" cy="1097280"/>
        </p:xfrm>
        <a:graphic>
          <a:graphicData uri="http://schemas.openxmlformats.org/drawingml/2006/table">
            <a:tbl>
              <a:tblPr/>
              <a:tblGrid>
                <a:gridCol w="1325880"/>
                <a:gridCol w="1051560"/>
                <a:gridCol w="2377440"/>
              </a:tblGrid>
              <a:tr h="219456">
                <a:tc>
                  <a:txBody>
                    <a:bodyPr/>
                    <a:lstStyle/>
                    <a:p>
                      <a:pPr indent="0" marL="0">
                        <a:buNone/>
                      </a:pPr>
                      <a:r>
                        <a:rPr lang="en-US" sz="830" b="1" dirty="0">
                          <a:solidFill>
                            <a:srgbClr val="FFFFFF"/>
                          </a:solidFill>
                          <a:latin typeface="Aptos" pitchFamily="34" charset="0"/>
                          <a:ea typeface="Aptos" pitchFamily="34" charset="-122"/>
                          <a:cs typeface="Aptos" pitchFamily="34" charset="-120"/>
                        </a:rPr>
                        <a:t>Input</a:t>
                      </a:r>
                      <a:endParaRPr lang="en-US" sz="83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0F636B"/>
                    </a:solidFill>
                  </a:tcPr>
                </a:tc>
                <a:tc>
                  <a:txBody>
                    <a:bodyPr/>
                    <a:lstStyle/>
                    <a:p>
                      <a:pPr indent="0" marL="0">
                        <a:buNone/>
                      </a:pPr>
                      <a:r>
                        <a:rPr lang="en-US" sz="830" b="1" dirty="0">
                          <a:solidFill>
                            <a:srgbClr val="FFFFFF"/>
                          </a:solidFill>
                          <a:latin typeface="Aptos" pitchFamily="34" charset="0"/>
                          <a:ea typeface="Aptos" pitchFamily="34" charset="-122"/>
                          <a:cs typeface="Aptos" pitchFamily="34" charset="-120"/>
                        </a:rPr>
                        <a:t>Assumption</a:t>
                      </a:r>
                      <a:endParaRPr lang="en-US" sz="83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0F636B"/>
                    </a:solidFill>
                  </a:tcPr>
                </a:tc>
                <a:tc>
                  <a:txBody>
                    <a:bodyPr/>
                    <a:lstStyle/>
                    <a:p>
                      <a:pPr indent="0" marL="0">
                        <a:buNone/>
                      </a:pPr>
                      <a:r>
                        <a:rPr lang="en-US" sz="830" b="1" dirty="0">
                          <a:solidFill>
                            <a:srgbClr val="FFFFFF"/>
                          </a:solidFill>
                          <a:latin typeface="Aptos" pitchFamily="34" charset="0"/>
                          <a:ea typeface="Aptos" pitchFamily="34" charset="-122"/>
                          <a:cs typeface="Aptos" pitchFamily="34" charset="-120"/>
                        </a:rPr>
                        <a:t>Model use</a:t>
                      </a:r>
                      <a:endParaRPr lang="en-US" sz="83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0F636B"/>
                    </a:solidFill>
                  </a:tcPr>
                </a:tc>
              </a:tr>
              <a:tr h="219456">
                <a:tc>
                  <a:txBody>
                    <a:bodyPr/>
                    <a:lstStyle/>
                    <a:p>
                      <a:pPr indent="0" marL="0">
                        <a:buNone/>
                      </a:pPr>
                      <a:r>
                        <a:rPr lang="en-US" sz="780" dirty="0">
                          <a:solidFill>
                            <a:srgbClr val="17324D"/>
                          </a:solidFill>
                          <a:latin typeface="Aptos" pitchFamily="34" charset="0"/>
                          <a:ea typeface="Aptos" pitchFamily="34" charset="-122"/>
                          <a:cs typeface="Aptos" pitchFamily="34" charset="-120"/>
                        </a:rPr>
                        <a:t>Risk-free rate</a:t>
                      </a:r>
                      <a:endParaRPr lang="en-US" sz="78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FFFFF"/>
                    </a:solidFill>
                  </a:tcPr>
                </a:tc>
                <a:tc>
                  <a:txBody>
                    <a:bodyPr/>
                    <a:lstStyle/>
                    <a:p>
                      <a:pPr indent="0" marL="0">
                        <a:buNone/>
                      </a:pPr>
                      <a:r>
                        <a:rPr lang="en-US" sz="780" dirty="0">
                          <a:solidFill>
                            <a:srgbClr val="17324D"/>
                          </a:solidFill>
                          <a:latin typeface="Aptos" pitchFamily="34" charset="0"/>
                          <a:ea typeface="Aptos" pitchFamily="34" charset="-122"/>
                          <a:cs typeface="Aptos" pitchFamily="34" charset="-120"/>
                        </a:rPr>
                        <a:t>4.25%</a:t>
                      </a:r>
                      <a:endParaRPr lang="en-US" sz="78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FFFFF"/>
                    </a:solidFill>
                  </a:tcPr>
                </a:tc>
                <a:tc>
                  <a:txBody>
                    <a:bodyPr/>
                    <a:lstStyle/>
                    <a:p>
                      <a:pPr indent="0" marL="0">
                        <a:buNone/>
                      </a:pPr>
                      <a:r>
                        <a:rPr lang="en-US" sz="780" dirty="0">
                          <a:solidFill>
                            <a:srgbClr val="17324D"/>
                          </a:solidFill>
                          <a:latin typeface="Aptos" pitchFamily="34" charset="0"/>
                          <a:ea typeface="Aptos" pitchFamily="34" charset="-122"/>
                          <a:cs typeface="Aptos" pitchFamily="34" charset="-120"/>
                        </a:rPr>
                        <a:t>Treasury proxy</a:t>
                      </a:r>
                      <a:endParaRPr lang="en-US" sz="78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FFFFF"/>
                    </a:solidFill>
                  </a:tcPr>
                </a:tc>
              </a:tr>
              <a:tr h="219456">
                <a:tc>
                  <a:txBody>
                    <a:bodyPr/>
                    <a:lstStyle/>
                    <a:p>
                      <a:pPr indent="0" marL="0">
                        <a:buNone/>
                      </a:pPr>
                      <a:r>
                        <a:rPr lang="en-US" sz="780" dirty="0">
                          <a:solidFill>
                            <a:srgbClr val="17324D"/>
                          </a:solidFill>
                          <a:latin typeface="Aptos" pitchFamily="34" charset="0"/>
                          <a:ea typeface="Aptos" pitchFamily="34" charset="-122"/>
                          <a:cs typeface="Aptos" pitchFamily="34" charset="-120"/>
                        </a:rPr>
                        <a:t>Selected beta</a:t>
                      </a:r>
                      <a:endParaRPr lang="en-US" sz="78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4EFE6"/>
                    </a:solidFill>
                  </a:tcPr>
                </a:tc>
                <a:tc>
                  <a:txBody>
                    <a:bodyPr/>
                    <a:lstStyle/>
                    <a:p>
                      <a:pPr indent="0" marL="0">
                        <a:buNone/>
                      </a:pPr>
                      <a:r>
                        <a:rPr lang="en-US" sz="780" dirty="0">
                          <a:solidFill>
                            <a:srgbClr val="17324D"/>
                          </a:solidFill>
                          <a:latin typeface="Aptos" pitchFamily="34" charset="0"/>
                          <a:ea typeface="Aptos" pitchFamily="34" charset="-122"/>
                          <a:cs typeface="Aptos" pitchFamily="34" charset="-120"/>
                        </a:rPr>
                        <a:t>1.20</a:t>
                      </a:r>
                      <a:endParaRPr lang="en-US" sz="78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4EFE6"/>
                    </a:solidFill>
                  </a:tcPr>
                </a:tc>
                <a:tc>
                  <a:txBody>
                    <a:bodyPr/>
                    <a:lstStyle/>
                    <a:p>
                      <a:pPr indent="0" marL="0">
                        <a:buNone/>
                      </a:pPr>
                      <a:r>
                        <a:rPr lang="en-US" sz="780" dirty="0">
                          <a:solidFill>
                            <a:srgbClr val="17324D"/>
                          </a:solidFill>
                          <a:latin typeface="Aptos" pitchFamily="34" charset="0"/>
                          <a:ea typeface="Aptos" pitchFamily="34" charset="-122"/>
                          <a:cs typeface="Aptos" pitchFamily="34" charset="-120"/>
                        </a:rPr>
                        <a:t>Riskier than market, stronger than early-stage space comps</a:t>
                      </a:r>
                      <a:endParaRPr lang="en-US" sz="78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4EFE6"/>
                    </a:solidFill>
                  </a:tcPr>
                </a:tc>
              </a:tr>
              <a:tr h="219456">
                <a:tc>
                  <a:txBody>
                    <a:bodyPr/>
                    <a:lstStyle/>
                    <a:p>
                      <a:pPr indent="0" marL="0">
                        <a:buNone/>
                      </a:pPr>
                      <a:r>
                        <a:rPr lang="en-US" sz="780" dirty="0">
                          <a:solidFill>
                            <a:srgbClr val="17324D"/>
                          </a:solidFill>
                          <a:latin typeface="Aptos" pitchFamily="34" charset="0"/>
                          <a:ea typeface="Aptos" pitchFamily="34" charset="-122"/>
                          <a:cs typeface="Aptos" pitchFamily="34" charset="-120"/>
                        </a:rPr>
                        <a:t>Cost of equity</a:t>
                      </a:r>
                      <a:endParaRPr lang="en-US" sz="78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FFFFF"/>
                    </a:solidFill>
                  </a:tcPr>
                </a:tc>
                <a:tc>
                  <a:txBody>
                    <a:bodyPr/>
                    <a:lstStyle/>
                    <a:p>
                      <a:pPr indent="0" marL="0">
                        <a:buNone/>
                      </a:pPr>
                      <a:r>
                        <a:rPr lang="en-US" sz="780" dirty="0">
                          <a:solidFill>
                            <a:srgbClr val="17324D"/>
                          </a:solidFill>
                          <a:latin typeface="Aptos" pitchFamily="34" charset="0"/>
                          <a:ea typeface="Aptos" pitchFamily="34" charset="-122"/>
                          <a:cs typeface="Aptos" pitchFamily="34" charset="-120"/>
                        </a:rPr>
                        <a:t>10.25%</a:t>
                      </a:r>
                      <a:endParaRPr lang="en-US" sz="78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FFFFF"/>
                    </a:solidFill>
                  </a:tcPr>
                </a:tc>
                <a:tc>
                  <a:txBody>
                    <a:bodyPr/>
                    <a:lstStyle/>
                    <a:p>
                      <a:pPr indent="0" marL="0">
                        <a:buNone/>
                      </a:pPr>
                      <a:r>
                        <a:rPr lang="en-US" sz="780" dirty="0">
                          <a:solidFill>
                            <a:srgbClr val="17324D"/>
                          </a:solidFill>
                          <a:latin typeface="Aptos" pitchFamily="34" charset="0"/>
                          <a:ea typeface="Aptos" pitchFamily="34" charset="-122"/>
                          <a:cs typeface="Aptos" pitchFamily="34" charset="-120"/>
                        </a:rPr>
                        <a:t>4.25% + 1.20 × 5.00%</a:t>
                      </a:r>
                      <a:endParaRPr lang="en-US" sz="78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FFFFF"/>
                    </a:solidFill>
                  </a:tcPr>
                </a:tc>
              </a:tr>
              <a:tr h="219456">
                <a:tc>
                  <a:txBody>
                    <a:bodyPr/>
                    <a:lstStyle/>
                    <a:p>
                      <a:pPr indent="0" marL="0">
                        <a:buNone/>
                      </a:pPr>
                      <a:r>
                        <a:rPr lang="en-US" sz="780" b="1" dirty="0">
                          <a:solidFill>
                            <a:srgbClr val="17324D"/>
                          </a:solidFill>
                          <a:latin typeface="Aptos" pitchFamily="34" charset="0"/>
                          <a:ea typeface="Aptos" pitchFamily="34" charset="-122"/>
                          <a:cs typeface="Aptos" pitchFamily="34" charset="-120"/>
                        </a:rPr>
                        <a:t>Selected WACC</a:t>
                      </a:r>
                      <a:endParaRPr lang="en-US" sz="78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4EFE6"/>
                    </a:solidFill>
                  </a:tcPr>
                </a:tc>
                <a:tc>
                  <a:txBody>
                    <a:bodyPr/>
                    <a:lstStyle/>
                    <a:p>
                      <a:pPr indent="0" marL="0">
                        <a:buNone/>
                      </a:pPr>
                      <a:r>
                        <a:rPr lang="en-US" sz="780" b="1" dirty="0">
                          <a:solidFill>
                            <a:srgbClr val="17324D"/>
                          </a:solidFill>
                          <a:latin typeface="Aptos" pitchFamily="34" charset="0"/>
                          <a:ea typeface="Aptos" pitchFamily="34" charset="-122"/>
                          <a:cs typeface="Aptos" pitchFamily="34" charset="-120"/>
                        </a:rPr>
                        <a:t>9.5%</a:t>
                      </a:r>
                      <a:endParaRPr lang="en-US" sz="78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4EFE6"/>
                    </a:solidFill>
                  </a:tcPr>
                </a:tc>
                <a:tc>
                  <a:txBody>
                    <a:bodyPr/>
                    <a:lstStyle/>
                    <a:p>
                      <a:pPr indent="0" marL="0">
                        <a:buNone/>
                      </a:pPr>
                      <a:r>
                        <a:rPr lang="en-US" sz="780" b="1" dirty="0">
                          <a:solidFill>
                            <a:srgbClr val="17324D"/>
                          </a:solidFill>
                          <a:latin typeface="Aptos" pitchFamily="34" charset="0"/>
                          <a:ea typeface="Aptos" pitchFamily="34" charset="-122"/>
                          <a:cs typeface="Aptos" pitchFamily="34" charset="-120"/>
                        </a:rPr>
                        <a:t>Discount rate used in DCF</a:t>
                      </a:r>
                      <a:endParaRPr lang="en-US" sz="78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4EFE6"/>
                    </a:solidFill>
                  </a:tcPr>
                </a:tc>
              </a:tr>
            </a:tbl>
          </a:graphicData>
        </a:graphic>
      </p:graphicFrame>
      <p:sp>
        <p:nvSpPr>
          <p:cNvPr id="13" name="Shape 8"/>
          <p:cNvSpPr/>
          <p:nvPr/>
        </p:nvSpPr>
        <p:spPr>
          <a:xfrm>
            <a:off x="5532120" y="5102352"/>
            <a:ext cx="6035040" cy="1097280"/>
          </a:xfrm>
          <a:prstGeom prst="roundRect">
            <a:avLst>
              <a:gd name="adj" fmla="val 8333"/>
            </a:avLst>
          </a:prstGeom>
          <a:solidFill>
            <a:srgbClr val="FFFFFF"/>
          </a:solidFill>
          <a:ln w="12700">
            <a:solidFill>
              <a:srgbClr val="CABFAF"/>
            </a:solidFill>
            <a:prstDash val="solid"/>
          </a:ln>
        </p:spPr>
      </p:sp>
      <p:sp>
        <p:nvSpPr>
          <p:cNvPr id="14" name="Text 9"/>
          <p:cNvSpPr/>
          <p:nvPr/>
        </p:nvSpPr>
        <p:spPr>
          <a:xfrm>
            <a:off x="5742432" y="5285232"/>
            <a:ext cx="2743200" cy="219456"/>
          </a:xfrm>
          <a:prstGeom prst="rect">
            <a:avLst/>
          </a:prstGeom>
          <a:noFill/>
          <a:ln/>
        </p:spPr>
        <p:txBody>
          <a:bodyPr wrap="square" lIns="0" tIns="0" rIns="0" bIns="0" rtlCol="0" anchor="ctr"/>
          <a:lstStyle/>
          <a:p>
            <a:pPr indent="0" marL="0">
              <a:buNone/>
            </a:pPr>
            <a:r>
              <a:rPr lang="en-US" sz="1020" b="1" dirty="0">
                <a:solidFill>
                  <a:srgbClr val="0F636B"/>
                </a:solidFill>
              </a:rPr>
              <a:t>WHY 9.5% IS DEFENDABLE</a:t>
            </a:r>
            <a:endParaRPr lang="en-US" sz="1020" dirty="0"/>
          </a:p>
        </p:txBody>
      </p:sp>
      <p:sp>
        <p:nvSpPr>
          <p:cNvPr id="15" name="Text 10"/>
          <p:cNvSpPr/>
          <p:nvPr/>
        </p:nvSpPr>
        <p:spPr>
          <a:xfrm>
            <a:off x="5742432" y="5559552"/>
            <a:ext cx="5623560" cy="347472"/>
          </a:xfrm>
          <a:prstGeom prst="rect">
            <a:avLst/>
          </a:prstGeom>
          <a:noFill/>
          <a:ln/>
        </p:spPr>
        <p:txBody>
          <a:bodyPr wrap="square" lIns="254" tIns="254" rIns="254" bIns="254" rtlCol="0" anchor="t">
            <a:normAutofit/>
          </a:bodyPr>
          <a:lstStyle/>
          <a:p>
            <a:pPr indent="0" marL="0">
              <a:buNone/>
            </a:pPr>
            <a:r>
              <a:rPr lang="en-US" sz="1090" b="1" dirty="0">
                <a:solidFill>
                  <a:srgbClr val="17324D"/>
                </a:solidFill>
              </a:rPr>
              <a:t>Beta raises the cost of equity, which flows into WACC and discounts future cash flow. The 9.5% discount rate gives credit for scale, Starlink profitability and government relevance, while still pricing in Starship execution, AI utilization, capital intensity and governance concentration.</a:t>
            </a:r>
            <a:endParaRPr lang="en-US" sz="109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502920" y="347472"/>
            <a:ext cx="10972800" cy="411480"/>
          </a:xfrm>
          <a:prstGeom prst="rect">
            <a:avLst/>
          </a:prstGeom>
          <a:noFill/>
          <a:ln/>
        </p:spPr>
        <p:txBody>
          <a:bodyPr wrap="square" lIns="0" tIns="0" rIns="0" bIns="0" rtlCol="0" anchor="ctr"/>
          <a:lstStyle/>
          <a:p>
            <a:pPr indent="0" marL="0">
              <a:buNone/>
            </a:pPr>
            <a:r>
              <a:rPr lang="en-US" sz="2850" b="1" dirty="0">
                <a:solidFill>
                  <a:srgbClr val="17324D"/>
                </a:solidFill>
                <a:latin typeface="Aptos Display" pitchFamily="34" charset="0"/>
                <a:ea typeface="Aptos Display" pitchFamily="34" charset="-122"/>
                <a:cs typeface="Aptos Display" pitchFamily="34" charset="-120"/>
              </a:rPr>
              <a:t>Sensitivity and risk detail</a:t>
            </a:r>
            <a:endParaRPr lang="en-US" sz="2850" dirty="0"/>
          </a:p>
        </p:txBody>
      </p:sp>
      <p:sp>
        <p:nvSpPr>
          <p:cNvPr id="3" name="Text 1"/>
          <p:cNvSpPr/>
          <p:nvPr/>
        </p:nvSpPr>
        <p:spPr>
          <a:xfrm>
            <a:off x="521208" y="804672"/>
            <a:ext cx="10972800" cy="256032"/>
          </a:xfrm>
          <a:prstGeom prst="rect">
            <a:avLst/>
          </a:prstGeom>
          <a:noFill/>
          <a:ln/>
        </p:spPr>
        <p:txBody>
          <a:bodyPr wrap="square" lIns="0" tIns="0" rIns="0" bIns="0" rtlCol="0" anchor="ctr"/>
          <a:lstStyle/>
          <a:p>
            <a:pPr indent="0" marL="0">
              <a:buNone/>
            </a:pPr>
            <a:r>
              <a:rPr lang="en-US" sz="1250" dirty="0">
                <a:solidFill>
                  <a:srgbClr val="5A6C77"/>
                </a:solidFill>
              </a:rPr>
              <a:t>The valuation is most sensitive to discount rate, terminal growth, Starlink growth, margins, launch cadence and AI utilization.</a:t>
            </a:r>
            <a:endParaRPr lang="en-US" sz="1250" dirty="0"/>
          </a:p>
        </p:txBody>
      </p:sp>
      <p:sp>
        <p:nvSpPr>
          <p:cNvPr id="4" name="Shape 2"/>
          <p:cNvSpPr/>
          <p:nvPr/>
        </p:nvSpPr>
        <p:spPr>
          <a:xfrm>
            <a:off x="502920" y="1078992"/>
            <a:ext cx="11155680" cy="0"/>
          </a:xfrm>
          <a:prstGeom prst="line">
            <a:avLst/>
          </a:prstGeom>
          <a:noFill/>
          <a:ln w="12700">
            <a:solidFill>
              <a:srgbClr val="D4CDC2"/>
            </a:solidFill>
            <a:prstDash val="solid"/>
          </a:ln>
        </p:spPr>
      </p:sp>
      <p:sp>
        <p:nvSpPr>
          <p:cNvPr id="5" name="Text 3"/>
          <p:cNvSpPr/>
          <p:nvPr/>
        </p:nvSpPr>
        <p:spPr>
          <a:xfrm>
            <a:off x="566928" y="1298448"/>
            <a:ext cx="3657600" cy="219456"/>
          </a:xfrm>
          <a:prstGeom prst="rect">
            <a:avLst/>
          </a:prstGeom>
          <a:noFill/>
          <a:ln/>
        </p:spPr>
        <p:txBody>
          <a:bodyPr wrap="square" lIns="0" tIns="0" rIns="0" bIns="0" rtlCol="0" anchor="ctr"/>
          <a:lstStyle/>
          <a:p>
            <a:pPr indent="0" marL="0">
              <a:buNone/>
            </a:pPr>
            <a:r>
              <a:rPr lang="en-US" sz="1020" b="1" dirty="0">
                <a:solidFill>
                  <a:srgbClr val="0F636B"/>
                </a:solidFill>
              </a:rPr>
              <a:t>WACC AND TERMINAL GROWTH SENSITIVITY</a:t>
            </a:r>
            <a:endParaRPr lang="en-US" sz="102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1572768"/>
          <a:ext cx="5029200" cy="2157984"/>
        </p:xfrm>
        <a:graphic>
          <a:graphicData uri="http://schemas.openxmlformats.org/drawingml/2006/table">
            <a:tbl>
              <a:tblPr/>
              <a:tblGrid>
                <a:gridCol w="1143000"/>
                <a:gridCol w="777240"/>
                <a:gridCol w="777240"/>
                <a:gridCol w="777240"/>
                <a:gridCol w="777240"/>
                <a:gridCol w="777240"/>
              </a:tblGrid>
              <a:tr h="359664">
                <a:tc>
                  <a:txBody>
                    <a:bodyPr/>
                    <a:lstStyle/>
                    <a:p>
                      <a:pPr indent="0" marL="0">
                        <a:buNone/>
                      </a:pPr>
                      <a:r>
                        <a:rPr lang="en-US" sz="830" b="1" dirty="0">
                          <a:solidFill>
                            <a:srgbClr val="FFFFFF"/>
                          </a:solidFill>
                          <a:latin typeface="Aptos" pitchFamily="34" charset="0"/>
                          <a:ea typeface="Aptos" pitchFamily="34" charset="-122"/>
                          <a:cs typeface="Aptos" pitchFamily="34" charset="-120"/>
                        </a:rPr>
                        <a:t>WACC / g →</a:t>
                      </a:r>
                      <a:endParaRPr lang="en-US" sz="830" dirty="0">
                        <a:latin typeface="Aptos" charset="0"/>
                        <a:ea typeface="Aptos" charset="0"/>
                        <a:cs typeface="Aptos" charset="0"/>
                      </a:endParaRPr>
                    </a:p>
                  </a:txBody>
                  <a:tcPr marL="36576" marR="36576" marT="36576" marB="36576"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0F636B"/>
                    </a:solidFill>
                  </a:tcPr>
                </a:tc>
                <a:tc>
                  <a:txBody>
                    <a:bodyPr/>
                    <a:lstStyle/>
                    <a:p>
                      <a:pPr indent="0" marL="0">
                        <a:buNone/>
                      </a:pPr>
                      <a:r>
                        <a:rPr lang="en-US" sz="830" b="1" dirty="0">
                          <a:solidFill>
                            <a:srgbClr val="FFFFFF"/>
                          </a:solidFill>
                          <a:latin typeface="Aptos" pitchFamily="34" charset="0"/>
                          <a:ea typeface="Aptos" pitchFamily="34" charset="-122"/>
                          <a:cs typeface="Aptos" pitchFamily="34" charset="-120"/>
                        </a:rPr>
                        <a:t>2.5%</a:t>
                      </a:r>
                      <a:endParaRPr lang="en-US" sz="830" dirty="0">
                        <a:latin typeface="Aptos" charset="0"/>
                        <a:ea typeface="Aptos" charset="0"/>
                        <a:cs typeface="Aptos" charset="0"/>
                      </a:endParaRPr>
                    </a:p>
                  </a:txBody>
                  <a:tcPr marL="36576" marR="36576" marT="36576" marB="36576"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0F636B"/>
                    </a:solidFill>
                  </a:tcPr>
                </a:tc>
                <a:tc>
                  <a:txBody>
                    <a:bodyPr/>
                    <a:lstStyle/>
                    <a:p>
                      <a:pPr indent="0" marL="0">
                        <a:buNone/>
                      </a:pPr>
                      <a:r>
                        <a:rPr lang="en-US" sz="830" b="1" dirty="0">
                          <a:solidFill>
                            <a:srgbClr val="FFFFFF"/>
                          </a:solidFill>
                          <a:latin typeface="Aptos" pitchFamily="34" charset="0"/>
                          <a:ea typeface="Aptos" pitchFamily="34" charset="-122"/>
                          <a:cs typeface="Aptos" pitchFamily="34" charset="-120"/>
                        </a:rPr>
                        <a:t>3.0%</a:t>
                      </a:r>
                      <a:endParaRPr lang="en-US" sz="830" dirty="0">
                        <a:latin typeface="Aptos" charset="0"/>
                        <a:ea typeface="Aptos" charset="0"/>
                        <a:cs typeface="Aptos" charset="0"/>
                      </a:endParaRPr>
                    </a:p>
                  </a:txBody>
                  <a:tcPr marL="36576" marR="36576" marT="36576" marB="36576"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0F636B"/>
                    </a:solidFill>
                  </a:tcPr>
                </a:tc>
                <a:tc>
                  <a:txBody>
                    <a:bodyPr/>
                    <a:lstStyle/>
                    <a:p>
                      <a:pPr indent="0" marL="0">
                        <a:buNone/>
                      </a:pPr>
                      <a:r>
                        <a:rPr lang="en-US" sz="830" b="1" dirty="0">
                          <a:solidFill>
                            <a:srgbClr val="FFFFFF"/>
                          </a:solidFill>
                          <a:latin typeface="Aptos" pitchFamily="34" charset="0"/>
                          <a:ea typeface="Aptos" pitchFamily="34" charset="-122"/>
                          <a:cs typeface="Aptos" pitchFamily="34" charset="-120"/>
                        </a:rPr>
                        <a:t>3.5%</a:t>
                      </a:r>
                      <a:endParaRPr lang="en-US" sz="830" dirty="0">
                        <a:latin typeface="Aptos" charset="0"/>
                        <a:ea typeface="Aptos" charset="0"/>
                        <a:cs typeface="Aptos" charset="0"/>
                      </a:endParaRPr>
                    </a:p>
                  </a:txBody>
                  <a:tcPr marL="36576" marR="36576" marT="36576" marB="36576"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0F636B"/>
                    </a:solidFill>
                  </a:tcPr>
                </a:tc>
                <a:tc>
                  <a:txBody>
                    <a:bodyPr/>
                    <a:lstStyle/>
                    <a:p>
                      <a:pPr indent="0" marL="0">
                        <a:buNone/>
                      </a:pPr>
                      <a:r>
                        <a:rPr lang="en-US" sz="830" b="1" dirty="0">
                          <a:solidFill>
                            <a:srgbClr val="FFFFFF"/>
                          </a:solidFill>
                          <a:latin typeface="Aptos" pitchFamily="34" charset="0"/>
                          <a:ea typeface="Aptos" pitchFamily="34" charset="-122"/>
                          <a:cs typeface="Aptos" pitchFamily="34" charset="-120"/>
                        </a:rPr>
                        <a:t>4.0%</a:t>
                      </a:r>
                      <a:endParaRPr lang="en-US" sz="830" dirty="0">
                        <a:latin typeface="Aptos" charset="0"/>
                        <a:ea typeface="Aptos" charset="0"/>
                        <a:cs typeface="Aptos" charset="0"/>
                      </a:endParaRPr>
                    </a:p>
                  </a:txBody>
                  <a:tcPr marL="36576" marR="36576" marT="36576" marB="36576"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0F636B"/>
                    </a:solidFill>
                  </a:tcPr>
                </a:tc>
                <a:tc>
                  <a:txBody>
                    <a:bodyPr/>
                    <a:lstStyle/>
                    <a:p>
                      <a:pPr indent="0" marL="0">
                        <a:buNone/>
                      </a:pPr>
                      <a:r>
                        <a:rPr lang="en-US" sz="830" b="1" dirty="0">
                          <a:solidFill>
                            <a:srgbClr val="FFFFFF"/>
                          </a:solidFill>
                          <a:latin typeface="Aptos" pitchFamily="34" charset="0"/>
                          <a:ea typeface="Aptos" pitchFamily="34" charset="-122"/>
                          <a:cs typeface="Aptos" pitchFamily="34" charset="-120"/>
                        </a:rPr>
                        <a:t>4.5%</a:t>
                      </a:r>
                      <a:endParaRPr lang="en-US" sz="830" dirty="0">
                        <a:latin typeface="Aptos" charset="0"/>
                        <a:ea typeface="Aptos" charset="0"/>
                        <a:cs typeface="Aptos" charset="0"/>
                      </a:endParaRPr>
                    </a:p>
                  </a:txBody>
                  <a:tcPr marL="36576" marR="36576" marT="36576" marB="36576"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0F636B"/>
                    </a:solidFill>
                  </a:tcPr>
                </a:tc>
              </a:tr>
              <a:tr h="359664">
                <a:tc>
                  <a:txBody>
                    <a:bodyPr/>
                    <a:lstStyle/>
                    <a:p>
                      <a:pPr indent="0" marL="0">
                        <a:buNone/>
                      </a:pPr>
                      <a:r>
                        <a:rPr lang="en-US" sz="830" b="1" dirty="0">
                          <a:solidFill>
                            <a:srgbClr val="17324D"/>
                          </a:solidFill>
                          <a:latin typeface="Aptos" pitchFamily="34" charset="0"/>
                          <a:ea typeface="Aptos" pitchFamily="34" charset="-122"/>
                          <a:cs typeface="Aptos" pitchFamily="34" charset="-120"/>
                        </a:rPr>
                        <a:t>8.5%</a:t>
                      </a:r>
                      <a:endParaRPr lang="en-US" sz="830" dirty="0">
                        <a:latin typeface="Aptos" charset="0"/>
                        <a:ea typeface="Aptos" charset="0"/>
                        <a:cs typeface="Aptos" charset="0"/>
                      </a:endParaRPr>
                    </a:p>
                  </a:txBody>
                  <a:tcPr marL="36576" marR="36576" marT="36576" marB="36576"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FFFFF"/>
                    </a:solidFill>
                  </a:tcPr>
                </a:tc>
                <a:tc>
                  <a:txBody>
                    <a:bodyPr/>
                    <a:lstStyle/>
                    <a:p>
                      <a:pPr indent="0" marL="0">
                        <a:buNone/>
                      </a:pPr>
                      <a:r>
                        <a:rPr lang="en-US" sz="830" b="1" dirty="0">
                          <a:solidFill>
                            <a:srgbClr val="17324D"/>
                          </a:solidFill>
                          <a:latin typeface="Aptos" pitchFamily="34" charset="0"/>
                          <a:ea typeface="Aptos" pitchFamily="34" charset="-122"/>
                          <a:cs typeface="Aptos" pitchFamily="34" charset="-120"/>
                        </a:rPr>
                        <a:t>$101</a:t>
                      </a:r>
                      <a:endParaRPr lang="en-US" sz="830" dirty="0">
                        <a:latin typeface="Aptos" charset="0"/>
                        <a:ea typeface="Aptos" charset="0"/>
                        <a:cs typeface="Aptos" charset="0"/>
                      </a:endParaRPr>
                    </a:p>
                  </a:txBody>
                  <a:tcPr marL="36576" marR="36576" marT="36576" marB="36576"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D8E4D8"/>
                    </a:solidFill>
                  </a:tcPr>
                </a:tc>
                <a:tc>
                  <a:txBody>
                    <a:bodyPr/>
                    <a:lstStyle/>
                    <a:p>
                      <a:pPr indent="0" marL="0">
                        <a:buNone/>
                      </a:pPr>
                      <a:r>
                        <a:rPr lang="en-US" sz="830" b="1" dirty="0">
                          <a:solidFill>
                            <a:srgbClr val="17324D"/>
                          </a:solidFill>
                          <a:latin typeface="Aptos" pitchFamily="34" charset="0"/>
                          <a:ea typeface="Aptos" pitchFamily="34" charset="-122"/>
                          <a:cs typeface="Aptos" pitchFamily="34" charset="-120"/>
                        </a:rPr>
                        <a:t>$108</a:t>
                      </a:r>
                      <a:endParaRPr lang="en-US" sz="830" dirty="0">
                        <a:latin typeface="Aptos" charset="0"/>
                        <a:ea typeface="Aptos" charset="0"/>
                        <a:cs typeface="Aptos" charset="0"/>
                      </a:endParaRPr>
                    </a:p>
                  </a:txBody>
                  <a:tcPr marL="36576" marR="36576" marT="36576" marB="36576"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D8E4D8"/>
                    </a:solidFill>
                  </a:tcPr>
                </a:tc>
                <a:tc>
                  <a:txBody>
                    <a:bodyPr/>
                    <a:lstStyle/>
                    <a:p>
                      <a:pPr indent="0" marL="0">
                        <a:buNone/>
                      </a:pPr>
                      <a:r>
                        <a:rPr lang="en-US" sz="830" b="1" dirty="0">
                          <a:solidFill>
                            <a:srgbClr val="17324D"/>
                          </a:solidFill>
                          <a:latin typeface="Aptos" pitchFamily="34" charset="0"/>
                          <a:ea typeface="Aptos" pitchFamily="34" charset="-122"/>
                          <a:cs typeface="Aptos" pitchFamily="34" charset="-120"/>
                        </a:rPr>
                        <a:t>$117</a:t>
                      </a:r>
                      <a:endParaRPr lang="en-US" sz="830" dirty="0">
                        <a:latin typeface="Aptos" charset="0"/>
                        <a:ea typeface="Aptos" charset="0"/>
                        <a:cs typeface="Aptos" charset="0"/>
                      </a:endParaRPr>
                    </a:p>
                  </a:txBody>
                  <a:tcPr marL="36576" marR="36576" marT="36576" marB="36576"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C2D9C9"/>
                    </a:solidFill>
                  </a:tcPr>
                </a:tc>
                <a:tc>
                  <a:txBody>
                    <a:bodyPr/>
                    <a:lstStyle/>
                    <a:p>
                      <a:pPr indent="0" marL="0">
                        <a:buNone/>
                      </a:pPr>
                      <a:r>
                        <a:rPr lang="en-US" sz="830" b="1" dirty="0">
                          <a:solidFill>
                            <a:srgbClr val="17324D"/>
                          </a:solidFill>
                          <a:latin typeface="Aptos" pitchFamily="34" charset="0"/>
                          <a:ea typeface="Aptos" pitchFamily="34" charset="-122"/>
                          <a:cs typeface="Aptos" pitchFamily="34" charset="-120"/>
                        </a:rPr>
                        <a:t>$128</a:t>
                      </a:r>
                      <a:endParaRPr lang="en-US" sz="830" dirty="0">
                        <a:latin typeface="Aptos" charset="0"/>
                        <a:ea typeface="Aptos" charset="0"/>
                        <a:cs typeface="Aptos" charset="0"/>
                      </a:endParaRPr>
                    </a:p>
                  </a:txBody>
                  <a:tcPr marL="36576" marR="36576" marT="36576" marB="36576"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C2D9C9"/>
                    </a:solidFill>
                  </a:tcPr>
                </a:tc>
                <a:tc>
                  <a:txBody>
                    <a:bodyPr/>
                    <a:lstStyle/>
                    <a:p>
                      <a:pPr indent="0" marL="0">
                        <a:buNone/>
                      </a:pPr>
                      <a:r>
                        <a:rPr lang="en-US" sz="830" b="1" dirty="0">
                          <a:solidFill>
                            <a:srgbClr val="17324D"/>
                          </a:solidFill>
                          <a:latin typeface="Aptos" pitchFamily="34" charset="0"/>
                          <a:ea typeface="Aptos" pitchFamily="34" charset="-122"/>
                          <a:cs typeface="Aptos" pitchFamily="34" charset="-120"/>
                        </a:rPr>
                        <a:t>$142</a:t>
                      </a:r>
                      <a:endParaRPr lang="en-US" sz="830" dirty="0">
                        <a:latin typeface="Aptos" charset="0"/>
                        <a:ea typeface="Aptos" charset="0"/>
                        <a:cs typeface="Aptos" charset="0"/>
                      </a:endParaRPr>
                    </a:p>
                  </a:txBody>
                  <a:tcPr marL="36576" marR="36576" marT="36576" marB="36576"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C2D9C9"/>
                    </a:solidFill>
                  </a:tcPr>
                </a:tc>
              </a:tr>
              <a:tr h="359664">
                <a:tc>
                  <a:txBody>
                    <a:bodyPr/>
                    <a:lstStyle/>
                    <a:p>
                      <a:pPr indent="0" marL="0">
                        <a:buNone/>
                      </a:pPr>
                      <a:r>
                        <a:rPr lang="en-US" sz="830" b="1" dirty="0">
                          <a:solidFill>
                            <a:srgbClr val="17324D"/>
                          </a:solidFill>
                          <a:latin typeface="Aptos" pitchFamily="34" charset="0"/>
                          <a:ea typeface="Aptos" pitchFamily="34" charset="-122"/>
                          <a:cs typeface="Aptos" pitchFamily="34" charset="-120"/>
                        </a:rPr>
                        <a:t>9.0%</a:t>
                      </a:r>
                      <a:endParaRPr lang="en-US" sz="830" dirty="0">
                        <a:latin typeface="Aptos" charset="0"/>
                        <a:ea typeface="Aptos" charset="0"/>
                        <a:cs typeface="Aptos" charset="0"/>
                      </a:endParaRPr>
                    </a:p>
                  </a:txBody>
                  <a:tcPr marL="36576" marR="36576" marT="36576" marB="36576"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FFFFF"/>
                    </a:solidFill>
                  </a:tcPr>
                </a:tc>
                <a:tc>
                  <a:txBody>
                    <a:bodyPr/>
                    <a:lstStyle/>
                    <a:p>
                      <a:pPr indent="0" marL="0">
                        <a:buNone/>
                      </a:pPr>
                      <a:r>
                        <a:rPr lang="en-US" sz="830" b="1" dirty="0">
                          <a:solidFill>
                            <a:srgbClr val="17324D"/>
                          </a:solidFill>
                          <a:latin typeface="Aptos" pitchFamily="34" charset="0"/>
                          <a:ea typeface="Aptos" pitchFamily="34" charset="-122"/>
                          <a:cs typeface="Aptos" pitchFamily="34" charset="-120"/>
                        </a:rPr>
                        <a:t>$91</a:t>
                      </a:r>
                      <a:endParaRPr lang="en-US" sz="830" dirty="0">
                        <a:latin typeface="Aptos" charset="0"/>
                        <a:ea typeface="Aptos" charset="0"/>
                        <a:cs typeface="Aptos" charset="0"/>
                      </a:endParaRPr>
                    </a:p>
                  </a:txBody>
                  <a:tcPr marL="36576" marR="36576" marT="36576" marB="36576"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E5D6CE"/>
                    </a:solidFill>
                  </a:tcPr>
                </a:tc>
                <a:tc>
                  <a:txBody>
                    <a:bodyPr/>
                    <a:lstStyle/>
                    <a:p>
                      <a:pPr indent="0" marL="0">
                        <a:buNone/>
                      </a:pPr>
                      <a:r>
                        <a:rPr lang="en-US" sz="830" b="1" dirty="0">
                          <a:solidFill>
                            <a:srgbClr val="17324D"/>
                          </a:solidFill>
                          <a:latin typeface="Aptos" pitchFamily="34" charset="0"/>
                          <a:ea typeface="Aptos" pitchFamily="34" charset="-122"/>
                          <a:cs typeface="Aptos" pitchFamily="34" charset="-120"/>
                        </a:rPr>
                        <a:t>$97</a:t>
                      </a:r>
                      <a:endParaRPr lang="en-US" sz="830" dirty="0">
                        <a:latin typeface="Aptos" charset="0"/>
                        <a:ea typeface="Aptos" charset="0"/>
                        <a:cs typeface="Aptos" charset="0"/>
                      </a:endParaRPr>
                    </a:p>
                  </a:txBody>
                  <a:tcPr marL="36576" marR="36576" marT="36576" marB="36576"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D8E4D8"/>
                    </a:solidFill>
                  </a:tcPr>
                </a:tc>
                <a:tc>
                  <a:txBody>
                    <a:bodyPr/>
                    <a:lstStyle/>
                    <a:p>
                      <a:pPr indent="0" marL="0">
                        <a:buNone/>
                      </a:pPr>
                      <a:r>
                        <a:rPr lang="en-US" sz="830" b="1" dirty="0">
                          <a:solidFill>
                            <a:srgbClr val="17324D"/>
                          </a:solidFill>
                          <a:latin typeface="Aptos" pitchFamily="34" charset="0"/>
                          <a:ea typeface="Aptos" pitchFamily="34" charset="-122"/>
                          <a:cs typeface="Aptos" pitchFamily="34" charset="-120"/>
                        </a:rPr>
                        <a:t>$104</a:t>
                      </a:r>
                      <a:endParaRPr lang="en-US" sz="830" dirty="0">
                        <a:latin typeface="Aptos" charset="0"/>
                        <a:ea typeface="Aptos" charset="0"/>
                        <a:cs typeface="Aptos" charset="0"/>
                      </a:endParaRPr>
                    </a:p>
                  </a:txBody>
                  <a:tcPr marL="36576" marR="36576" marT="36576" marB="36576"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D8E4D8"/>
                    </a:solidFill>
                  </a:tcPr>
                </a:tc>
                <a:tc>
                  <a:txBody>
                    <a:bodyPr/>
                    <a:lstStyle/>
                    <a:p>
                      <a:pPr indent="0" marL="0">
                        <a:buNone/>
                      </a:pPr>
                      <a:r>
                        <a:rPr lang="en-US" sz="830" b="1" dirty="0">
                          <a:solidFill>
                            <a:srgbClr val="17324D"/>
                          </a:solidFill>
                          <a:latin typeface="Aptos" pitchFamily="34" charset="0"/>
                          <a:ea typeface="Aptos" pitchFamily="34" charset="-122"/>
                          <a:cs typeface="Aptos" pitchFamily="34" charset="-120"/>
                        </a:rPr>
                        <a:t>$113</a:t>
                      </a:r>
                      <a:endParaRPr lang="en-US" sz="830" dirty="0">
                        <a:latin typeface="Aptos" charset="0"/>
                        <a:ea typeface="Aptos" charset="0"/>
                        <a:cs typeface="Aptos" charset="0"/>
                      </a:endParaRPr>
                    </a:p>
                  </a:txBody>
                  <a:tcPr marL="36576" marR="36576" marT="36576" marB="36576"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C2D9C9"/>
                    </a:solidFill>
                  </a:tcPr>
                </a:tc>
                <a:tc>
                  <a:txBody>
                    <a:bodyPr/>
                    <a:lstStyle/>
                    <a:p>
                      <a:pPr indent="0" marL="0">
                        <a:buNone/>
                      </a:pPr>
                      <a:r>
                        <a:rPr lang="en-US" sz="830" b="1" dirty="0">
                          <a:solidFill>
                            <a:srgbClr val="17324D"/>
                          </a:solidFill>
                          <a:latin typeface="Aptos" pitchFamily="34" charset="0"/>
                          <a:ea typeface="Aptos" pitchFamily="34" charset="-122"/>
                          <a:cs typeface="Aptos" pitchFamily="34" charset="-120"/>
                        </a:rPr>
                        <a:t>$123</a:t>
                      </a:r>
                      <a:endParaRPr lang="en-US" sz="830" dirty="0">
                        <a:latin typeface="Aptos" charset="0"/>
                        <a:ea typeface="Aptos" charset="0"/>
                        <a:cs typeface="Aptos" charset="0"/>
                      </a:endParaRPr>
                    </a:p>
                  </a:txBody>
                  <a:tcPr marL="36576" marR="36576" marT="36576" marB="36576"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C2D9C9"/>
                    </a:solidFill>
                  </a:tcPr>
                </a:tc>
              </a:tr>
              <a:tr h="359664">
                <a:tc>
                  <a:txBody>
                    <a:bodyPr/>
                    <a:lstStyle/>
                    <a:p>
                      <a:pPr indent="0" marL="0">
                        <a:buNone/>
                      </a:pPr>
                      <a:r>
                        <a:rPr lang="en-US" sz="830" b="1" dirty="0">
                          <a:solidFill>
                            <a:srgbClr val="17324D"/>
                          </a:solidFill>
                          <a:latin typeface="Aptos" pitchFamily="34" charset="0"/>
                          <a:ea typeface="Aptos" pitchFamily="34" charset="-122"/>
                          <a:cs typeface="Aptos" pitchFamily="34" charset="-120"/>
                        </a:rPr>
                        <a:t>9.5%</a:t>
                      </a:r>
                      <a:endParaRPr lang="en-US" sz="830" dirty="0">
                        <a:latin typeface="Aptos" charset="0"/>
                        <a:ea typeface="Aptos" charset="0"/>
                        <a:cs typeface="Aptos" charset="0"/>
                      </a:endParaRPr>
                    </a:p>
                  </a:txBody>
                  <a:tcPr marL="36576" marR="36576" marT="36576" marB="36576"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FFFFF"/>
                    </a:solidFill>
                  </a:tcPr>
                </a:tc>
                <a:tc>
                  <a:txBody>
                    <a:bodyPr/>
                    <a:lstStyle/>
                    <a:p>
                      <a:pPr indent="0" marL="0">
                        <a:buNone/>
                      </a:pPr>
                      <a:r>
                        <a:rPr lang="en-US" sz="830" b="1" dirty="0">
                          <a:solidFill>
                            <a:srgbClr val="17324D"/>
                          </a:solidFill>
                          <a:latin typeface="Aptos" pitchFamily="34" charset="0"/>
                          <a:ea typeface="Aptos" pitchFamily="34" charset="-122"/>
                          <a:cs typeface="Aptos" pitchFamily="34" charset="-120"/>
                        </a:rPr>
                        <a:t>$83</a:t>
                      </a:r>
                      <a:endParaRPr lang="en-US" sz="830" dirty="0">
                        <a:latin typeface="Aptos" charset="0"/>
                        <a:ea typeface="Aptos" charset="0"/>
                        <a:cs typeface="Aptos" charset="0"/>
                      </a:endParaRPr>
                    </a:p>
                  </a:txBody>
                  <a:tcPr marL="36576" marR="36576" marT="36576" marB="36576"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E5D6CE"/>
                    </a:solidFill>
                  </a:tcPr>
                </a:tc>
                <a:tc>
                  <a:txBody>
                    <a:bodyPr/>
                    <a:lstStyle/>
                    <a:p>
                      <a:pPr indent="0" marL="0">
                        <a:buNone/>
                      </a:pPr>
                      <a:r>
                        <a:rPr lang="en-US" sz="830" b="1" dirty="0">
                          <a:solidFill>
                            <a:srgbClr val="17324D"/>
                          </a:solidFill>
                          <a:latin typeface="Aptos" pitchFamily="34" charset="0"/>
                          <a:ea typeface="Aptos" pitchFamily="34" charset="-122"/>
                          <a:cs typeface="Aptos" pitchFamily="34" charset="-120"/>
                        </a:rPr>
                        <a:t>$88</a:t>
                      </a:r>
                      <a:endParaRPr lang="en-US" sz="830" dirty="0">
                        <a:latin typeface="Aptos" charset="0"/>
                        <a:ea typeface="Aptos" charset="0"/>
                        <a:cs typeface="Aptos" charset="0"/>
                      </a:endParaRPr>
                    </a:p>
                  </a:txBody>
                  <a:tcPr marL="36576" marR="36576" marT="36576" marB="36576"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E5D6CE"/>
                    </a:solidFill>
                  </a:tcPr>
                </a:tc>
                <a:tc>
                  <a:txBody>
                    <a:bodyPr/>
                    <a:lstStyle/>
                    <a:p>
                      <a:pPr indent="0" marL="0">
                        <a:buNone/>
                      </a:pPr>
                      <a:r>
                        <a:rPr lang="en-US" sz="830" b="1" dirty="0">
                          <a:solidFill>
                            <a:srgbClr val="FFFFFF"/>
                          </a:solidFill>
                          <a:latin typeface="Aptos" pitchFamily="34" charset="0"/>
                          <a:ea typeface="Aptos" pitchFamily="34" charset="-122"/>
                          <a:cs typeface="Aptos" pitchFamily="34" charset="-120"/>
                        </a:rPr>
                        <a:t>$93</a:t>
                      </a:r>
                      <a:endParaRPr lang="en-US" sz="830" dirty="0">
                        <a:latin typeface="Aptos" charset="0"/>
                        <a:ea typeface="Aptos" charset="0"/>
                        <a:cs typeface="Aptos" charset="0"/>
                      </a:endParaRPr>
                    </a:p>
                  </a:txBody>
                  <a:tcPr marL="36576" marR="36576" marT="36576" marB="36576"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0F636B"/>
                    </a:solidFill>
                  </a:tcPr>
                </a:tc>
                <a:tc>
                  <a:txBody>
                    <a:bodyPr/>
                    <a:lstStyle/>
                    <a:p>
                      <a:pPr indent="0" marL="0">
                        <a:buNone/>
                      </a:pPr>
                      <a:r>
                        <a:rPr lang="en-US" sz="830" b="1" dirty="0">
                          <a:solidFill>
                            <a:srgbClr val="17324D"/>
                          </a:solidFill>
                          <a:latin typeface="Aptos" pitchFamily="34" charset="0"/>
                          <a:ea typeface="Aptos" pitchFamily="34" charset="-122"/>
                          <a:cs typeface="Aptos" pitchFamily="34" charset="-120"/>
                        </a:rPr>
                        <a:t>$100</a:t>
                      </a:r>
                      <a:endParaRPr lang="en-US" sz="830" dirty="0">
                        <a:latin typeface="Aptos" charset="0"/>
                        <a:ea typeface="Aptos" charset="0"/>
                        <a:cs typeface="Aptos" charset="0"/>
                      </a:endParaRPr>
                    </a:p>
                  </a:txBody>
                  <a:tcPr marL="36576" marR="36576" marT="36576" marB="36576"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D8E4D8"/>
                    </a:solidFill>
                  </a:tcPr>
                </a:tc>
                <a:tc>
                  <a:txBody>
                    <a:bodyPr/>
                    <a:lstStyle/>
                    <a:p>
                      <a:pPr indent="0" marL="0">
                        <a:buNone/>
                      </a:pPr>
                      <a:r>
                        <a:rPr lang="en-US" sz="830" b="1" dirty="0">
                          <a:solidFill>
                            <a:srgbClr val="17324D"/>
                          </a:solidFill>
                          <a:latin typeface="Aptos" pitchFamily="34" charset="0"/>
                          <a:ea typeface="Aptos" pitchFamily="34" charset="-122"/>
                          <a:cs typeface="Aptos" pitchFamily="34" charset="-120"/>
                        </a:rPr>
                        <a:t>$108</a:t>
                      </a:r>
                      <a:endParaRPr lang="en-US" sz="830" dirty="0">
                        <a:latin typeface="Aptos" charset="0"/>
                        <a:ea typeface="Aptos" charset="0"/>
                        <a:cs typeface="Aptos" charset="0"/>
                      </a:endParaRPr>
                    </a:p>
                  </a:txBody>
                  <a:tcPr marL="36576" marR="36576" marT="36576" marB="36576"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D8E4D8"/>
                    </a:solidFill>
                  </a:tcPr>
                </a:tc>
              </a:tr>
              <a:tr h="359664">
                <a:tc>
                  <a:txBody>
                    <a:bodyPr/>
                    <a:lstStyle/>
                    <a:p>
                      <a:pPr indent="0" marL="0">
                        <a:buNone/>
                      </a:pPr>
                      <a:r>
                        <a:rPr lang="en-US" sz="830" b="1" dirty="0">
                          <a:solidFill>
                            <a:srgbClr val="17324D"/>
                          </a:solidFill>
                          <a:latin typeface="Aptos" pitchFamily="34" charset="0"/>
                          <a:ea typeface="Aptos" pitchFamily="34" charset="-122"/>
                          <a:cs typeface="Aptos" pitchFamily="34" charset="-120"/>
                        </a:rPr>
                        <a:t>10.0%</a:t>
                      </a:r>
                      <a:endParaRPr lang="en-US" sz="830" dirty="0">
                        <a:latin typeface="Aptos" charset="0"/>
                        <a:ea typeface="Aptos" charset="0"/>
                        <a:cs typeface="Aptos" charset="0"/>
                      </a:endParaRPr>
                    </a:p>
                  </a:txBody>
                  <a:tcPr marL="36576" marR="36576" marT="36576" marB="36576"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FFFFF"/>
                    </a:solidFill>
                  </a:tcPr>
                </a:tc>
                <a:tc>
                  <a:txBody>
                    <a:bodyPr/>
                    <a:lstStyle/>
                    <a:p>
                      <a:pPr indent="0" marL="0">
                        <a:buNone/>
                      </a:pPr>
                      <a:r>
                        <a:rPr lang="en-US" sz="830" b="1" dirty="0">
                          <a:solidFill>
                            <a:srgbClr val="17324D"/>
                          </a:solidFill>
                          <a:latin typeface="Aptos" pitchFamily="34" charset="0"/>
                          <a:ea typeface="Aptos" pitchFamily="34" charset="-122"/>
                          <a:cs typeface="Aptos" pitchFamily="34" charset="-120"/>
                        </a:rPr>
                        <a:t>$76</a:t>
                      </a:r>
                      <a:endParaRPr lang="en-US" sz="830" dirty="0">
                        <a:latin typeface="Aptos" charset="0"/>
                        <a:ea typeface="Aptos" charset="0"/>
                        <a:cs typeface="Aptos" charset="0"/>
                      </a:endParaRPr>
                    </a:p>
                  </a:txBody>
                  <a:tcPr marL="36576" marR="36576" marT="36576" marB="36576"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E5C4BE"/>
                    </a:solidFill>
                  </a:tcPr>
                </a:tc>
                <a:tc>
                  <a:txBody>
                    <a:bodyPr/>
                    <a:lstStyle/>
                    <a:p>
                      <a:pPr indent="0" marL="0">
                        <a:buNone/>
                      </a:pPr>
                      <a:r>
                        <a:rPr lang="en-US" sz="830" b="1" dirty="0">
                          <a:solidFill>
                            <a:srgbClr val="17324D"/>
                          </a:solidFill>
                          <a:latin typeface="Aptos" pitchFamily="34" charset="0"/>
                          <a:ea typeface="Aptos" pitchFamily="34" charset="-122"/>
                          <a:cs typeface="Aptos" pitchFamily="34" charset="-120"/>
                        </a:rPr>
                        <a:t>$80</a:t>
                      </a:r>
                      <a:endParaRPr lang="en-US" sz="830" dirty="0">
                        <a:latin typeface="Aptos" charset="0"/>
                        <a:ea typeface="Aptos" charset="0"/>
                        <a:cs typeface="Aptos" charset="0"/>
                      </a:endParaRPr>
                    </a:p>
                  </a:txBody>
                  <a:tcPr marL="36576" marR="36576" marT="36576" marB="36576"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E5D6CE"/>
                    </a:solidFill>
                  </a:tcPr>
                </a:tc>
                <a:tc>
                  <a:txBody>
                    <a:bodyPr/>
                    <a:lstStyle/>
                    <a:p>
                      <a:pPr indent="0" marL="0">
                        <a:buNone/>
                      </a:pPr>
                      <a:r>
                        <a:rPr lang="en-US" sz="830" b="1" dirty="0">
                          <a:solidFill>
                            <a:srgbClr val="17324D"/>
                          </a:solidFill>
                          <a:latin typeface="Aptos" pitchFamily="34" charset="0"/>
                          <a:ea typeface="Aptos" pitchFamily="34" charset="-122"/>
                          <a:cs typeface="Aptos" pitchFamily="34" charset="-120"/>
                        </a:rPr>
                        <a:t>$84</a:t>
                      </a:r>
                      <a:endParaRPr lang="en-US" sz="830" dirty="0">
                        <a:latin typeface="Aptos" charset="0"/>
                        <a:ea typeface="Aptos" charset="0"/>
                        <a:cs typeface="Aptos" charset="0"/>
                      </a:endParaRPr>
                    </a:p>
                  </a:txBody>
                  <a:tcPr marL="36576" marR="36576" marT="36576" marB="36576"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E5D6CE"/>
                    </a:solidFill>
                  </a:tcPr>
                </a:tc>
                <a:tc>
                  <a:txBody>
                    <a:bodyPr/>
                    <a:lstStyle/>
                    <a:p>
                      <a:pPr indent="0" marL="0">
                        <a:buNone/>
                      </a:pPr>
                      <a:r>
                        <a:rPr lang="en-US" sz="830" b="1" dirty="0">
                          <a:solidFill>
                            <a:srgbClr val="17324D"/>
                          </a:solidFill>
                          <a:latin typeface="Aptos" pitchFamily="34" charset="0"/>
                          <a:ea typeface="Aptos" pitchFamily="34" charset="-122"/>
                          <a:cs typeface="Aptos" pitchFamily="34" charset="-120"/>
                        </a:rPr>
                        <a:t>$90</a:t>
                      </a:r>
                      <a:endParaRPr lang="en-US" sz="830" dirty="0">
                        <a:latin typeface="Aptos" charset="0"/>
                        <a:ea typeface="Aptos" charset="0"/>
                        <a:cs typeface="Aptos" charset="0"/>
                      </a:endParaRPr>
                    </a:p>
                  </a:txBody>
                  <a:tcPr marL="36576" marR="36576" marT="36576" marB="36576"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E5D6CE"/>
                    </a:solidFill>
                  </a:tcPr>
                </a:tc>
                <a:tc>
                  <a:txBody>
                    <a:bodyPr/>
                    <a:lstStyle/>
                    <a:p>
                      <a:pPr indent="0" marL="0">
                        <a:buNone/>
                      </a:pPr>
                      <a:r>
                        <a:rPr lang="en-US" sz="830" b="1" dirty="0">
                          <a:solidFill>
                            <a:srgbClr val="17324D"/>
                          </a:solidFill>
                          <a:latin typeface="Aptos" pitchFamily="34" charset="0"/>
                          <a:ea typeface="Aptos" pitchFamily="34" charset="-122"/>
                          <a:cs typeface="Aptos" pitchFamily="34" charset="-120"/>
                        </a:rPr>
                        <a:t>$97</a:t>
                      </a:r>
                      <a:endParaRPr lang="en-US" sz="830" dirty="0">
                        <a:latin typeface="Aptos" charset="0"/>
                        <a:ea typeface="Aptos" charset="0"/>
                        <a:cs typeface="Aptos" charset="0"/>
                      </a:endParaRPr>
                    </a:p>
                  </a:txBody>
                  <a:tcPr marL="36576" marR="36576" marT="36576" marB="36576"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D8E4D8"/>
                    </a:solidFill>
                  </a:tcPr>
                </a:tc>
              </a:tr>
              <a:tr h="359664">
                <a:tc>
                  <a:txBody>
                    <a:bodyPr/>
                    <a:lstStyle/>
                    <a:p>
                      <a:pPr indent="0" marL="0">
                        <a:buNone/>
                      </a:pPr>
                      <a:r>
                        <a:rPr lang="en-US" sz="830" b="1" dirty="0">
                          <a:solidFill>
                            <a:srgbClr val="17324D"/>
                          </a:solidFill>
                          <a:latin typeface="Aptos" pitchFamily="34" charset="0"/>
                          <a:ea typeface="Aptos" pitchFamily="34" charset="-122"/>
                          <a:cs typeface="Aptos" pitchFamily="34" charset="-120"/>
                        </a:rPr>
                        <a:t>10.5%</a:t>
                      </a:r>
                      <a:endParaRPr lang="en-US" sz="830" dirty="0">
                        <a:latin typeface="Aptos" charset="0"/>
                        <a:ea typeface="Aptos" charset="0"/>
                        <a:cs typeface="Aptos" charset="0"/>
                      </a:endParaRPr>
                    </a:p>
                  </a:txBody>
                  <a:tcPr marL="36576" marR="36576" marT="36576" marB="36576"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FFFFF"/>
                    </a:solidFill>
                  </a:tcPr>
                </a:tc>
                <a:tc>
                  <a:txBody>
                    <a:bodyPr/>
                    <a:lstStyle/>
                    <a:p>
                      <a:pPr indent="0" marL="0">
                        <a:buNone/>
                      </a:pPr>
                      <a:r>
                        <a:rPr lang="en-US" sz="830" b="1" dirty="0">
                          <a:solidFill>
                            <a:srgbClr val="17324D"/>
                          </a:solidFill>
                          <a:latin typeface="Aptos" pitchFamily="34" charset="0"/>
                          <a:ea typeface="Aptos" pitchFamily="34" charset="-122"/>
                          <a:cs typeface="Aptos" pitchFamily="34" charset="-120"/>
                        </a:rPr>
                        <a:t>$69</a:t>
                      </a:r>
                      <a:endParaRPr lang="en-US" sz="830" dirty="0">
                        <a:latin typeface="Aptos" charset="0"/>
                        <a:ea typeface="Aptos" charset="0"/>
                        <a:cs typeface="Aptos" charset="0"/>
                      </a:endParaRPr>
                    </a:p>
                  </a:txBody>
                  <a:tcPr marL="36576" marR="36576" marT="36576" marB="36576"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E5C4BE"/>
                    </a:solidFill>
                  </a:tcPr>
                </a:tc>
                <a:tc>
                  <a:txBody>
                    <a:bodyPr/>
                    <a:lstStyle/>
                    <a:p>
                      <a:pPr indent="0" marL="0">
                        <a:buNone/>
                      </a:pPr>
                      <a:r>
                        <a:rPr lang="en-US" sz="830" b="1" dirty="0">
                          <a:solidFill>
                            <a:srgbClr val="17324D"/>
                          </a:solidFill>
                          <a:latin typeface="Aptos" pitchFamily="34" charset="0"/>
                          <a:ea typeface="Aptos" pitchFamily="34" charset="-122"/>
                          <a:cs typeface="Aptos" pitchFamily="34" charset="-120"/>
                        </a:rPr>
                        <a:t>$73</a:t>
                      </a:r>
                      <a:endParaRPr lang="en-US" sz="830" dirty="0">
                        <a:latin typeface="Aptos" charset="0"/>
                        <a:ea typeface="Aptos" charset="0"/>
                        <a:cs typeface="Aptos" charset="0"/>
                      </a:endParaRPr>
                    </a:p>
                  </a:txBody>
                  <a:tcPr marL="36576" marR="36576" marT="36576" marB="36576"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E5C4BE"/>
                    </a:solidFill>
                  </a:tcPr>
                </a:tc>
                <a:tc>
                  <a:txBody>
                    <a:bodyPr/>
                    <a:lstStyle/>
                    <a:p>
                      <a:pPr indent="0" marL="0">
                        <a:buNone/>
                      </a:pPr>
                      <a:r>
                        <a:rPr lang="en-US" sz="830" b="1" dirty="0">
                          <a:solidFill>
                            <a:srgbClr val="17324D"/>
                          </a:solidFill>
                          <a:latin typeface="Aptos" pitchFamily="34" charset="0"/>
                          <a:ea typeface="Aptos" pitchFamily="34" charset="-122"/>
                          <a:cs typeface="Aptos" pitchFamily="34" charset="-120"/>
                        </a:rPr>
                        <a:t>$77</a:t>
                      </a:r>
                      <a:endParaRPr lang="en-US" sz="830" dirty="0">
                        <a:latin typeface="Aptos" charset="0"/>
                        <a:ea typeface="Aptos" charset="0"/>
                        <a:cs typeface="Aptos" charset="0"/>
                      </a:endParaRPr>
                    </a:p>
                  </a:txBody>
                  <a:tcPr marL="36576" marR="36576" marT="36576" marB="36576"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E5C4BE"/>
                    </a:solidFill>
                  </a:tcPr>
                </a:tc>
                <a:tc>
                  <a:txBody>
                    <a:bodyPr/>
                    <a:lstStyle/>
                    <a:p>
                      <a:pPr indent="0" marL="0">
                        <a:buNone/>
                      </a:pPr>
                      <a:r>
                        <a:rPr lang="en-US" sz="830" b="1" dirty="0">
                          <a:solidFill>
                            <a:srgbClr val="17324D"/>
                          </a:solidFill>
                          <a:latin typeface="Aptos" pitchFamily="34" charset="0"/>
                          <a:ea typeface="Aptos" pitchFamily="34" charset="-122"/>
                          <a:cs typeface="Aptos" pitchFamily="34" charset="-120"/>
                        </a:rPr>
                        <a:t>$81</a:t>
                      </a:r>
                      <a:endParaRPr lang="en-US" sz="830" dirty="0">
                        <a:latin typeface="Aptos" charset="0"/>
                        <a:ea typeface="Aptos" charset="0"/>
                        <a:cs typeface="Aptos" charset="0"/>
                      </a:endParaRPr>
                    </a:p>
                  </a:txBody>
                  <a:tcPr marL="36576" marR="36576" marT="36576" marB="36576"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E5D6CE"/>
                    </a:solidFill>
                  </a:tcPr>
                </a:tc>
                <a:tc>
                  <a:txBody>
                    <a:bodyPr/>
                    <a:lstStyle/>
                    <a:p>
                      <a:pPr indent="0" marL="0">
                        <a:buNone/>
                      </a:pPr>
                      <a:r>
                        <a:rPr lang="en-US" sz="830" b="1" dirty="0">
                          <a:solidFill>
                            <a:srgbClr val="17324D"/>
                          </a:solidFill>
                          <a:latin typeface="Aptos" pitchFamily="34" charset="0"/>
                          <a:ea typeface="Aptos" pitchFamily="34" charset="-122"/>
                          <a:cs typeface="Aptos" pitchFamily="34" charset="-120"/>
                        </a:rPr>
                        <a:t>$87</a:t>
                      </a:r>
                      <a:endParaRPr lang="en-US" sz="830" dirty="0">
                        <a:latin typeface="Aptos" charset="0"/>
                        <a:ea typeface="Aptos" charset="0"/>
                        <a:cs typeface="Aptos" charset="0"/>
                      </a:endParaRPr>
                    </a:p>
                  </a:txBody>
                  <a:tcPr marL="36576" marR="36576" marT="36576" marB="36576"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E5D6CE"/>
                    </a:solidFill>
                  </a:tcPr>
                </a:tc>
              </a:tr>
            </a:tbl>
          </a:graphicData>
        </a:graphic>
      </p:graphicFrame>
      <p:sp>
        <p:nvSpPr>
          <p:cNvPr id="7" name="Text 4"/>
          <p:cNvSpPr/>
          <p:nvPr/>
        </p:nvSpPr>
        <p:spPr>
          <a:xfrm>
            <a:off x="5870448" y="1298448"/>
            <a:ext cx="3657600" cy="219456"/>
          </a:xfrm>
          <a:prstGeom prst="rect">
            <a:avLst/>
          </a:prstGeom>
          <a:noFill/>
          <a:ln/>
        </p:spPr>
        <p:txBody>
          <a:bodyPr wrap="square" lIns="0" tIns="0" rIns="0" bIns="0" rtlCol="0" anchor="ctr"/>
          <a:lstStyle/>
          <a:p>
            <a:pPr indent="0" marL="0">
              <a:buNone/>
            </a:pPr>
            <a:r>
              <a:rPr lang="en-US" sz="1020" b="1" dirty="0">
                <a:solidFill>
                  <a:srgbClr val="0F636B"/>
                </a:solidFill>
              </a:rPr>
              <a:t>OPERATING SENSITIVITY BEYOND WACC</a:t>
            </a:r>
            <a:endParaRPr lang="en-US" sz="1020" dirty="0"/>
          </a:p>
        </p:txBody>
      </p:sp>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5870448" y="1572768"/>
          <a:ext cx="3858768" cy="1600200"/>
        </p:xfrm>
        <a:graphic>
          <a:graphicData uri="http://schemas.openxmlformats.org/drawingml/2006/table">
            <a:tbl>
              <a:tblPr/>
              <a:tblGrid>
                <a:gridCol w="1371600"/>
                <a:gridCol w="822960"/>
                <a:gridCol w="822960"/>
                <a:gridCol w="822960"/>
              </a:tblGrid>
              <a:tr h="320040">
                <a:tc>
                  <a:txBody>
                    <a:bodyPr/>
                    <a:lstStyle/>
                    <a:p>
                      <a:pPr indent="0" marL="0">
                        <a:buNone/>
                      </a:pPr>
                      <a:r>
                        <a:rPr lang="en-US" sz="830" b="1" dirty="0">
                          <a:solidFill>
                            <a:srgbClr val="FFFFFF"/>
                          </a:solidFill>
                          <a:latin typeface="Aptos" pitchFamily="34" charset="0"/>
                          <a:ea typeface="Aptos" pitchFamily="34" charset="-122"/>
                          <a:cs typeface="Aptos" pitchFamily="34" charset="-120"/>
                        </a:rPr>
                        <a:t>Driver</a:t>
                      </a:r>
                      <a:endParaRPr lang="en-US" sz="83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0F636B"/>
                    </a:solidFill>
                  </a:tcPr>
                </a:tc>
                <a:tc>
                  <a:txBody>
                    <a:bodyPr/>
                    <a:lstStyle/>
                    <a:p>
                      <a:pPr indent="0" marL="0">
                        <a:buNone/>
                      </a:pPr>
                      <a:r>
                        <a:rPr lang="en-US" sz="830" b="1" dirty="0">
                          <a:solidFill>
                            <a:srgbClr val="FFFFFF"/>
                          </a:solidFill>
                          <a:latin typeface="Aptos" pitchFamily="34" charset="0"/>
                          <a:ea typeface="Aptos" pitchFamily="34" charset="-122"/>
                          <a:cs typeface="Aptos" pitchFamily="34" charset="-120"/>
                        </a:rPr>
                        <a:t>Downside</a:t>
                      </a:r>
                      <a:endParaRPr lang="en-US" sz="83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0F636B"/>
                    </a:solidFill>
                  </a:tcPr>
                </a:tc>
                <a:tc>
                  <a:txBody>
                    <a:bodyPr/>
                    <a:lstStyle/>
                    <a:p>
                      <a:pPr indent="0" marL="0">
                        <a:buNone/>
                      </a:pPr>
                      <a:r>
                        <a:rPr lang="en-US" sz="830" b="1" dirty="0">
                          <a:solidFill>
                            <a:srgbClr val="FFFFFF"/>
                          </a:solidFill>
                          <a:latin typeface="Aptos" pitchFamily="34" charset="0"/>
                          <a:ea typeface="Aptos" pitchFamily="34" charset="-122"/>
                          <a:cs typeface="Aptos" pitchFamily="34" charset="-120"/>
                        </a:rPr>
                        <a:t>Base</a:t>
                      </a:r>
                      <a:endParaRPr lang="en-US" sz="83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0F636B"/>
                    </a:solidFill>
                  </a:tcPr>
                </a:tc>
                <a:tc>
                  <a:txBody>
                    <a:bodyPr/>
                    <a:lstStyle/>
                    <a:p>
                      <a:pPr indent="0" marL="0">
                        <a:buNone/>
                      </a:pPr>
                      <a:r>
                        <a:rPr lang="en-US" sz="830" b="1" dirty="0">
                          <a:solidFill>
                            <a:srgbClr val="FFFFFF"/>
                          </a:solidFill>
                          <a:latin typeface="Aptos" pitchFamily="34" charset="0"/>
                          <a:ea typeface="Aptos" pitchFamily="34" charset="-122"/>
                          <a:cs typeface="Aptos" pitchFamily="34" charset="-120"/>
                        </a:rPr>
                        <a:t>Upside</a:t>
                      </a:r>
                      <a:endParaRPr lang="en-US" sz="83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0F636B"/>
                    </a:solidFill>
                  </a:tcPr>
                </a:tc>
              </a:tr>
              <a:tr h="320040">
                <a:tc>
                  <a:txBody>
                    <a:bodyPr/>
                    <a:lstStyle/>
                    <a:p>
                      <a:pPr indent="0" marL="0">
                        <a:buNone/>
                      </a:pPr>
                      <a:r>
                        <a:rPr lang="en-US" sz="780" dirty="0">
                          <a:solidFill>
                            <a:srgbClr val="17324D"/>
                          </a:solidFill>
                          <a:latin typeface="Aptos" pitchFamily="34" charset="0"/>
                          <a:ea typeface="Aptos" pitchFamily="34" charset="-122"/>
                          <a:cs typeface="Aptos" pitchFamily="34" charset="-120"/>
                        </a:rPr>
                        <a:t>Starlink 2035 revenue</a:t>
                      </a:r>
                      <a:endParaRPr lang="en-US" sz="78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FFFFF"/>
                    </a:solidFill>
                  </a:tcPr>
                </a:tc>
                <a:tc>
                  <a:txBody>
                    <a:bodyPr/>
                    <a:lstStyle/>
                    <a:p>
                      <a:pPr indent="0" marL="0">
                        <a:buNone/>
                      </a:pPr>
                      <a:r>
                        <a:rPr lang="en-US" sz="780" dirty="0">
                          <a:solidFill>
                            <a:srgbClr val="17324D"/>
                          </a:solidFill>
                          <a:latin typeface="Aptos" pitchFamily="34" charset="0"/>
                          <a:ea typeface="Aptos" pitchFamily="34" charset="-122"/>
                          <a:cs typeface="Aptos" pitchFamily="34" charset="-120"/>
                        </a:rPr>
                        <a:t>$79B</a:t>
                      </a:r>
                      <a:endParaRPr lang="en-US" sz="78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FFFFF"/>
                    </a:solidFill>
                  </a:tcPr>
                </a:tc>
                <a:tc>
                  <a:txBody>
                    <a:bodyPr/>
                    <a:lstStyle/>
                    <a:p>
                      <a:pPr indent="0" marL="0">
                        <a:buNone/>
                      </a:pPr>
                      <a:r>
                        <a:rPr lang="en-US" sz="780" dirty="0">
                          <a:solidFill>
                            <a:srgbClr val="17324D"/>
                          </a:solidFill>
                          <a:latin typeface="Aptos" pitchFamily="34" charset="0"/>
                          <a:ea typeface="Aptos" pitchFamily="34" charset="-122"/>
                          <a:cs typeface="Aptos" pitchFamily="34" charset="-120"/>
                        </a:rPr>
                        <a:t>$95B</a:t>
                      </a:r>
                      <a:endParaRPr lang="en-US" sz="78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FFFFF"/>
                    </a:solidFill>
                  </a:tcPr>
                </a:tc>
                <a:tc>
                  <a:txBody>
                    <a:bodyPr/>
                    <a:lstStyle/>
                    <a:p>
                      <a:pPr indent="0" marL="0">
                        <a:buNone/>
                      </a:pPr>
                      <a:r>
                        <a:rPr lang="en-US" sz="780" dirty="0">
                          <a:solidFill>
                            <a:srgbClr val="17324D"/>
                          </a:solidFill>
                          <a:latin typeface="Aptos" pitchFamily="34" charset="0"/>
                          <a:ea typeface="Aptos" pitchFamily="34" charset="-122"/>
                          <a:cs typeface="Aptos" pitchFamily="34" charset="-120"/>
                        </a:rPr>
                        <a:t>$107B</a:t>
                      </a:r>
                      <a:endParaRPr lang="en-US" sz="78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FFFFF"/>
                    </a:solidFill>
                  </a:tcPr>
                </a:tc>
              </a:tr>
              <a:tr h="320040">
                <a:tc>
                  <a:txBody>
                    <a:bodyPr/>
                    <a:lstStyle/>
                    <a:p>
                      <a:pPr indent="0" marL="0">
                        <a:buNone/>
                      </a:pPr>
                      <a:r>
                        <a:rPr lang="en-US" sz="780" dirty="0">
                          <a:solidFill>
                            <a:srgbClr val="17324D"/>
                          </a:solidFill>
                          <a:latin typeface="Aptos" pitchFamily="34" charset="0"/>
                          <a:ea typeface="Aptos" pitchFamily="34" charset="-122"/>
                          <a:cs typeface="Aptos" pitchFamily="34" charset="-120"/>
                        </a:rPr>
                        <a:t>2035 EBIT margin</a:t>
                      </a:r>
                      <a:endParaRPr lang="en-US" sz="78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4EFE6"/>
                    </a:solidFill>
                  </a:tcPr>
                </a:tc>
                <a:tc>
                  <a:txBody>
                    <a:bodyPr/>
                    <a:lstStyle/>
                    <a:p>
                      <a:pPr indent="0" marL="0">
                        <a:buNone/>
                      </a:pPr>
                      <a:r>
                        <a:rPr lang="en-US" sz="780" dirty="0">
                          <a:solidFill>
                            <a:srgbClr val="17324D"/>
                          </a:solidFill>
                          <a:latin typeface="Aptos" pitchFamily="34" charset="0"/>
                          <a:ea typeface="Aptos" pitchFamily="34" charset="-122"/>
                          <a:cs typeface="Aptos" pitchFamily="34" charset="-120"/>
                        </a:rPr>
                        <a:t>$81</a:t>
                      </a:r>
                      <a:endParaRPr lang="en-US" sz="78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4EFE6"/>
                    </a:solidFill>
                  </a:tcPr>
                </a:tc>
                <a:tc>
                  <a:txBody>
                    <a:bodyPr/>
                    <a:lstStyle/>
                    <a:p>
                      <a:pPr indent="0" marL="0">
                        <a:buNone/>
                      </a:pPr>
                      <a:r>
                        <a:rPr lang="en-US" sz="780" dirty="0">
                          <a:solidFill>
                            <a:srgbClr val="17324D"/>
                          </a:solidFill>
                          <a:latin typeface="Aptos" pitchFamily="34" charset="0"/>
                          <a:ea typeface="Aptos" pitchFamily="34" charset="-122"/>
                          <a:cs typeface="Aptos" pitchFamily="34" charset="-120"/>
                        </a:rPr>
                        <a:t>$93</a:t>
                      </a:r>
                      <a:endParaRPr lang="en-US" sz="78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4EFE6"/>
                    </a:solidFill>
                  </a:tcPr>
                </a:tc>
                <a:tc>
                  <a:txBody>
                    <a:bodyPr/>
                    <a:lstStyle/>
                    <a:p>
                      <a:pPr indent="0" marL="0">
                        <a:buNone/>
                      </a:pPr>
                      <a:r>
                        <a:rPr lang="en-US" sz="780" dirty="0">
                          <a:solidFill>
                            <a:srgbClr val="17324D"/>
                          </a:solidFill>
                          <a:latin typeface="Aptos" pitchFamily="34" charset="0"/>
                          <a:ea typeface="Aptos" pitchFamily="34" charset="-122"/>
                          <a:cs typeface="Aptos" pitchFamily="34" charset="-120"/>
                        </a:rPr>
                        <a:t>$106</a:t>
                      </a:r>
                      <a:endParaRPr lang="en-US" sz="78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4EFE6"/>
                    </a:solidFill>
                  </a:tcPr>
                </a:tc>
              </a:tr>
              <a:tr h="320040">
                <a:tc>
                  <a:txBody>
                    <a:bodyPr/>
                    <a:lstStyle/>
                    <a:p>
                      <a:pPr indent="0" marL="0">
                        <a:buNone/>
                      </a:pPr>
                      <a:r>
                        <a:rPr lang="en-US" sz="780" dirty="0">
                          <a:solidFill>
                            <a:srgbClr val="17324D"/>
                          </a:solidFill>
                          <a:latin typeface="Aptos" pitchFamily="34" charset="0"/>
                          <a:ea typeface="Aptos" pitchFamily="34" charset="-122"/>
                          <a:cs typeface="Aptos" pitchFamily="34" charset="-120"/>
                        </a:rPr>
                        <a:t>Launch cadence / Starship</a:t>
                      </a:r>
                      <a:endParaRPr lang="en-US" sz="78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FFFFF"/>
                    </a:solidFill>
                  </a:tcPr>
                </a:tc>
                <a:tc>
                  <a:txBody>
                    <a:bodyPr/>
                    <a:lstStyle/>
                    <a:p>
                      <a:pPr indent="0" marL="0">
                        <a:buNone/>
                      </a:pPr>
                      <a:r>
                        <a:rPr lang="en-US" sz="780" dirty="0">
                          <a:solidFill>
                            <a:srgbClr val="17324D"/>
                          </a:solidFill>
                          <a:latin typeface="Aptos" pitchFamily="34" charset="0"/>
                          <a:ea typeface="Aptos" pitchFamily="34" charset="-122"/>
                          <a:cs typeface="Aptos" pitchFamily="34" charset="-120"/>
                        </a:rPr>
                        <a:t>$84</a:t>
                      </a:r>
                      <a:endParaRPr lang="en-US" sz="78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FFFFF"/>
                    </a:solidFill>
                  </a:tcPr>
                </a:tc>
                <a:tc>
                  <a:txBody>
                    <a:bodyPr/>
                    <a:lstStyle/>
                    <a:p>
                      <a:pPr indent="0" marL="0">
                        <a:buNone/>
                      </a:pPr>
                      <a:r>
                        <a:rPr lang="en-US" sz="780" dirty="0">
                          <a:solidFill>
                            <a:srgbClr val="17324D"/>
                          </a:solidFill>
                          <a:latin typeface="Aptos" pitchFamily="34" charset="0"/>
                          <a:ea typeface="Aptos" pitchFamily="34" charset="-122"/>
                          <a:cs typeface="Aptos" pitchFamily="34" charset="-120"/>
                        </a:rPr>
                        <a:t>$93</a:t>
                      </a:r>
                      <a:endParaRPr lang="en-US" sz="78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FFFFF"/>
                    </a:solidFill>
                  </a:tcPr>
                </a:tc>
                <a:tc>
                  <a:txBody>
                    <a:bodyPr/>
                    <a:lstStyle/>
                    <a:p>
                      <a:pPr indent="0" marL="0">
                        <a:buNone/>
                      </a:pPr>
                      <a:r>
                        <a:rPr lang="en-US" sz="780" dirty="0">
                          <a:solidFill>
                            <a:srgbClr val="17324D"/>
                          </a:solidFill>
                          <a:latin typeface="Aptos" pitchFamily="34" charset="0"/>
                          <a:ea typeface="Aptos" pitchFamily="34" charset="-122"/>
                          <a:cs typeface="Aptos" pitchFamily="34" charset="-120"/>
                        </a:rPr>
                        <a:t>$103</a:t>
                      </a:r>
                      <a:endParaRPr lang="en-US" sz="78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FFFFF"/>
                    </a:solidFill>
                  </a:tcPr>
                </a:tc>
              </a:tr>
              <a:tr h="320040">
                <a:tc>
                  <a:txBody>
                    <a:bodyPr/>
                    <a:lstStyle/>
                    <a:p>
                      <a:pPr indent="0" marL="0">
                        <a:buNone/>
                      </a:pPr>
                      <a:r>
                        <a:rPr lang="en-US" sz="780" dirty="0">
                          <a:solidFill>
                            <a:srgbClr val="17324D"/>
                          </a:solidFill>
                          <a:latin typeface="Aptos" pitchFamily="34" charset="0"/>
                          <a:ea typeface="Aptos" pitchFamily="34" charset="-122"/>
                          <a:cs typeface="Aptos" pitchFamily="34" charset="-120"/>
                        </a:rPr>
                        <a:t>AI utilization / GPU D&amp;A</a:t>
                      </a:r>
                      <a:endParaRPr lang="en-US" sz="78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4EFE6"/>
                    </a:solidFill>
                  </a:tcPr>
                </a:tc>
                <a:tc>
                  <a:txBody>
                    <a:bodyPr/>
                    <a:lstStyle/>
                    <a:p>
                      <a:pPr indent="0" marL="0">
                        <a:buNone/>
                      </a:pPr>
                      <a:r>
                        <a:rPr lang="en-US" sz="780" dirty="0">
                          <a:solidFill>
                            <a:srgbClr val="17324D"/>
                          </a:solidFill>
                          <a:latin typeface="Aptos" pitchFamily="34" charset="0"/>
                          <a:ea typeface="Aptos" pitchFamily="34" charset="-122"/>
                          <a:cs typeface="Aptos" pitchFamily="34" charset="-120"/>
                        </a:rPr>
                        <a:t>$72</a:t>
                      </a:r>
                      <a:endParaRPr lang="en-US" sz="78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4EFE6"/>
                    </a:solidFill>
                  </a:tcPr>
                </a:tc>
                <a:tc>
                  <a:txBody>
                    <a:bodyPr/>
                    <a:lstStyle/>
                    <a:p>
                      <a:pPr indent="0" marL="0">
                        <a:buNone/>
                      </a:pPr>
                      <a:r>
                        <a:rPr lang="en-US" sz="780" dirty="0">
                          <a:solidFill>
                            <a:srgbClr val="17324D"/>
                          </a:solidFill>
                          <a:latin typeface="Aptos" pitchFamily="34" charset="0"/>
                          <a:ea typeface="Aptos" pitchFamily="34" charset="-122"/>
                          <a:cs typeface="Aptos" pitchFamily="34" charset="-120"/>
                        </a:rPr>
                        <a:t>$93</a:t>
                      </a:r>
                      <a:endParaRPr lang="en-US" sz="78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4EFE6"/>
                    </a:solidFill>
                  </a:tcPr>
                </a:tc>
                <a:tc>
                  <a:txBody>
                    <a:bodyPr/>
                    <a:lstStyle/>
                    <a:p>
                      <a:pPr indent="0" marL="0">
                        <a:buNone/>
                      </a:pPr>
                      <a:r>
                        <a:rPr lang="en-US" sz="780" dirty="0">
                          <a:solidFill>
                            <a:srgbClr val="17324D"/>
                          </a:solidFill>
                          <a:latin typeface="Aptos" pitchFamily="34" charset="0"/>
                          <a:ea typeface="Aptos" pitchFamily="34" charset="-122"/>
                          <a:cs typeface="Aptos" pitchFamily="34" charset="-120"/>
                        </a:rPr>
                        <a:t>$111</a:t>
                      </a:r>
                      <a:endParaRPr lang="en-US" sz="780" dirty="0">
                        <a:latin typeface="Aptos" charset="0"/>
                        <a:ea typeface="Aptos" charset="0"/>
                        <a:cs typeface="Aptos" charset="0"/>
                      </a:endParaRPr>
                    </a:p>
                  </a:txBody>
                  <a:tcPr marL="45720" marR="45720" marT="45720" marB="45720" anchor="mid">
                    <a:lnL w="12700" cap="flat" cmpd="sng" algn="ctr">
                      <a:solidFill>
                        <a:srgbClr val="D8D0C5"/>
                      </a:solidFill>
                      <a:prstDash val="solid"/>
                      <a:round/>
                      <a:headEnd type="none" w="med" len="med"/>
                      <a:tailEnd type="none" w="med" len="med"/>
                    </a:lnL>
                    <a:lnR w="12700" cap="flat" cmpd="sng" algn="ctr">
                      <a:solidFill>
                        <a:srgbClr val="D8D0C5"/>
                      </a:solidFill>
                      <a:prstDash val="solid"/>
                      <a:round/>
                      <a:headEnd type="none" w="med" len="med"/>
                      <a:tailEnd type="none" w="med" len="med"/>
                    </a:lnR>
                    <a:lnT w="12700" cap="flat" cmpd="sng" algn="ctr">
                      <a:solidFill>
                        <a:srgbClr val="D8D0C5"/>
                      </a:solidFill>
                      <a:prstDash val="solid"/>
                      <a:round/>
                      <a:headEnd type="none" w="med" len="med"/>
                      <a:tailEnd type="none" w="med" len="med"/>
                    </a:lnT>
                    <a:lnB w="12700" cap="flat" cmpd="sng" algn="ctr">
                      <a:solidFill>
                        <a:srgbClr val="D8D0C5"/>
                      </a:solidFill>
                      <a:prstDash val="solid"/>
                      <a:round/>
                      <a:headEnd type="none" w="med" len="med"/>
                      <a:tailEnd type="none" w="med" len="med"/>
                    </a:lnB>
                    <a:solidFill>
                      <a:srgbClr val="F4EFE6"/>
                    </a:solidFill>
                  </a:tcPr>
                </a:tc>
              </a:tr>
            </a:tbl>
          </a:graphicData>
        </a:graphic>
      </p:graphicFrame>
      <p:sp>
        <p:nvSpPr>
          <p:cNvPr id="9" name="Shape 5"/>
          <p:cNvSpPr/>
          <p:nvPr/>
        </p:nvSpPr>
        <p:spPr>
          <a:xfrm>
            <a:off x="10012680" y="1572768"/>
            <a:ext cx="1298448" cy="658368"/>
          </a:xfrm>
          <a:prstGeom prst="roundRect">
            <a:avLst>
              <a:gd name="adj" fmla="val 13889"/>
            </a:avLst>
          </a:prstGeom>
          <a:solidFill>
            <a:srgbClr val="D7E8EC"/>
          </a:solidFill>
          <a:ln w="12700">
            <a:solidFill>
              <a:srgbClr val="D2C7BB"/>
            </a:solidFill>
            <a:prstDash val="solid"/>
          </a:ln>
        </p:spPr>
      </p:sp>
      <p:sp>
        <p:nvSpPr>
          <p:cNvPr id="10" name="Text 6"/>
          <p:cNvSpPr/>
          <p:nvPr/>
        </p:nvSpPr>
        <p:spPr>
          <a:xfrm>
            <a:off x="10149840" y="1709928"/>
            <a:ext cx="1024128" cy="164592"/>
          </a:xfrm>
          <a:prstGeom prst="rect">
            <a:avLst/>
          </a:prstGeom>
          <a:noFill/>
          <a:ln/>
        </p:spPr>
        <p:txBody>
          <a:bodyPr wrap="square" lIns="0" tIns="0" rIns="0" bIns="0" rtlCol="0" anchor="ctr"/>
          <a:lstStyle/>
          <a:p>
            <a:pPr indent="0" marL="0">
              <a:buNone/>
            </a:pPr>
            <a:r>
              <a:rPr lang="en-US" sz="980" b="1" dirty="0">
                <a:solidFill>
                  <a:srgbClr val="5A6C77"/>
                </a:solidFill>
              </a:rPr>
              <a:t>Base case</a:t>
            </a:r>
            <a:endParaRPr lang="en-US" sz="980" dirty="0"/>
          </a:p>
        </p:txBody>
      </p:sp>
      <p:sp>
        <p:nvSpPr>
          <p:cNvPr id="11" name="Text 7"/>
          <p:cNvSpPr/>
          <p:nvPr/>
        </p:nvSpPr>
        <p:spPr>
          <a:xfrm>
            <a:off x="10149840" y="2002536"/>
            <a:ext cx="1024128" cy="310896"/>
          </a:xfrm>
          <a:prstGeom prst="rect">
            <a:avLst/>
          </a:prstGeom>
          <a:noFill/>
          <a:ln/>
        </p:spPr>
        <p:txBody>
          <a:bodyPr wrap="square" lIns="0" tIns="0" rIns="0" bIns="0" rtlCol="0" anchor="ctr"/>
          <a:lstStyle/>
          <a:p>
            <a:pPr indent="0" marL="0">
              <a:buNone/>
            </a:pPr>
            <a:r>
              <a:rPr lang="en-US" sz="1800" b="1" dirty="0">
                <a:solidFill>
                  <a:srgbClr val="0F636B"/>
                </a:solidFill>
              </a:rPr>
              <a:t>$93</a:t>
            </a:r>
            <a:endParaRPr lang="en-US" sz="1800" dirty="0"/>
          </a:p>
        </p:txBody>
      </p:sp>
      <p:sp>
        <p:nvSpPr>
          <p:cNvPr id="12" name="Shape 8"/>
          <p:cNvSpPr/>
          <p:nvPr/>
        </p:nvSpPr>
        <p:spPr>
          <a:xfrm>
            <a:off x="10012680" y="2331720"/>
            <a:ext cx="1298448" cy="658368"/>
          </a:xfrm>
          <a:prstGeom prst="roundRect">
            <a:avLst>
              <a:gd name="adj" fmla="val 13889"/>
            </a:avLst>
          </a:prstGeom>
          <a:solidFill>
            <a:srgbClr val="DCE8DE"/>
          </a:solidFill>
          <a:ln w="12700">
            <a:solidFill>
              <a:srgbClr val="D2C7BB"/>
            </a:solidFill>
            <a:prstDash val="solid"/>
          </a:ln>
        </p:spPr>
      </p:sp>
      <p:sp>
        <p:nvSpPr>
          <p:cNvPr id="13" name="Text 9"/>
          <p:cNvSpPr/>
          <p:nvPr/>
        </p:nvSpPr>
        <p:spPr>
          <a:xfrm>
            <a:off x="10149840" y="2468880"/>
            <a:ext cx="1024128" cy="164592"/>
          </a:xfrm>
          <a:prstGeom prst="rect">
            <a:avLst/>
          </a:prstGeom>
          <a:noFill/>
          <a:ln/>
        </p:spPr>
        <p:txBody>
          <a:bodyPr wrap="square" lIns="0" tIns="0" rIns="0" bIns="0" rtlCol="0" anchor="ctr"/>
          <a:lstStyle/>
          <a:p>
            <a:pPr indent="0" marL="0">
              <a:buNone/>
            </a:pPr>
            <a:r>
              <a:rPr lang="en-US" sz="980" b="1" dirty="0">
                <a:solidFill>
                  <a:srgbClr val="5A6C77"/>
                </a:solidFill>
              </a:rPr>
              <a:t>Upside read</a:t>
            </a:r>
            <a:endParaRPr lang="en-US" sz="980" dirty="0"/>
          </a:p>
        </p:txBody>
      </p:sp>
      <p:sp>
        <p:nvSpPr>
          <p:cNvPr id="14" name="Text 10"/>
          <p:cNvSpPr/>
          <p:nvPr/>
        </p:nvSpPr>
        <p:spPr>
          <a:xfrm>
            <a:off x="10149840" y="2761488"/>
            <a:ext cx="1024128" cy="310896"/>
          </a:xfrm>
          <a:prstGeom prst="rect">
            <a:avLst/>
          </a:prstGeom>
          <a:noFill/>
          <a:ln/>
        </p:spPr>
        <p:txBody>
          <a:bodyPr wrap="square" lIns="0" tIns="0" rIns="0" bIns="0" rtlCol="0" anchor="ctr"/>
          <a:lstStyle/>
          <a:p>
            <a:pPr indent="0" marL="0">
              <a:buNone/>
            </a:pPr>
            <a:r>
              <a:rPr lang="en-US" sz="1800" b="1" dirty="0">
                <a:solidFill>
                  <a:srgbClr val="5B8F71"/>
                </a:solidFill>
              </a:rPr>
              <a:t>$117</a:t>
            </a:r>
            <a:endParaRPr lang="en-US" sz="1800" dirty="0"/>
          </a:p>
        </p:txBody>
      </p:sp>
      <p:sp>
        <p:nvSpPr>
          <p:cNvPr id="15" name="Shape 11"/>
          <p:cNvSpPr/>
          <p:nvPr/>
        </p:nvSpPr>
        <p:spPr>
          <a:xfrm>
            <a:off x="10012680" y="3090672"/>
            <a:ext cx="1298448" cy="658368"/>
          </a:xfrm>
          <a:prstGeom prst="roundRect">
            <a:avLst>
              <a:gd name="adj" fmla="val 13889"/>
            </a:avLst>
          </a:prstGeom>
          <a:solidFill>
            <a:srgbClr val="E8D0CA"/>
          </a:solidFill>
          <a:ln w="12700">
            <a:solidFill>
              <a:srgbClr val="D2C7BB"/>
            </a:solidFill>
            <a:prstDash val="solid"/>
          </a:ln>
        </p:spPr>
      </p:sp>
      <p:sp>
        <p:nvSpPr>
          <p:cNvPr id="16" name="Text 12"/>
          <p:cNvSpPr/>
          <p:nvPr/>
        </p:nvSpPr>
        <p:spPr>
          <a:xfrm>
            <a:off x="10149840" y="3227832"/>
            <a:ext cx="1024128" cy="164592"/>
          </a:xfrm>
          <a:prstGeom prst="rect">
            <a:avLst/>
          </a:prstGeom>
          <a:noFill/>
          <a:ln/>
        </p:spPr>
        <p:txBody>
          <a:bodyPr wrap="square" lIns="0" tIns="0" rIns="0" bIns="0" rtlCol="0" anchor="ctr"/>
          <a:lstStyle/>
          <a:p>
            <a:pPr indent="0" marL="0">
              <a:buNone/>
            </a:pPr>
            <a:r>
              <a:rPr lang="en-US" sz="980" b="1" dirty="0">
                <a:solidFill>
                  <a:srgbClr val="5A6C77"/>
                </a:solidFill>
              </a:rPr>
              <a:t>Bear read</a:t>
            </a:r>
            <a:endParaRPr lang="en-US" sz="980" dirty="0"/>
          </a:p>
        </p:txBody>
      </p:sp>
      <p:sp>
        <p:nvSpPr>
          <p:cNvPr id="17" name="Text 13"/>
          <p:cNvSpPr/>
          <p:nvPr/>
        </p:nvSpPr>
        <p:spPr>
          <a:xfrm>
            <a:off x="10149840" y="3520440"/>
            <a:ext cx="1024128" cy="310896"/>
          </a:xfrm>
          <a:prstGeom prst="rect">
            <a:avLst/>
          </a:prstGeom>
          <a:noFill/>
          <a:ln/>
        </p:spPr>
        <p:txBody>
          <a:bodyPr wrap="square" lIns="0" tIns="0" rIns="0" bIns="0" rtlCol="0" anchor="ctr"/>
          <a:lstStyle/>
          <a:p>
            <a:pPr indent="0" marL="0">
              <a:buNone/>
            </a:pPr>
            <a:r>
              <a:rPr lang="en-US" sz="1800" b="1" dirty="0">
                <a:solidFill>
                  <a:srgbClr val="B7503C"/>
                </a:solidFill>
              </a:rPr>
              <a:t>$69</a:t>
            </a:r>
            <a:endParaRPr lang="en-US" sz="1800" dirty="0"/>
          </a:p>
        </p:txBody>
      </p:sp>
      <p:sp>
        <p:nvSpPr>
          <p:cNvPr id="18" name="Shape 14"/>
          <p:cNvSpPr/>
          <p:nvPr/>
        </p:nvSpPr>
        <p:spPr>
          <a:xfrm>
            <a:off x="566928" y="4096512"/>
            <a:ext cx="3611880" cy="1216152"/>
          </a:xfrm>
          <a:prstGeom prst="roundRect">
            <a:avLst>
              <a:gd name="adj" fmla="val 7519"/>
            </a:avLst>
          </a:prstGeom>
          <a:solidFill>
            <a:srgbClr val="FFFFFF"/>
          </a:solidFill>
          <a:ln w="12700">
            <a:solidFill>
              <a:srgbClr val="CABFAF"/>
            </a:solidFill>
            <a:prstDash val="solid"/>
          </a:ln>
        </p:spPr>
      </p:sp>
      <p:sp>
        <p:nvSpPr>
          <p:cNvPr id="19" name="Text 15"/>
          <p:cNvSpPr/>
          <p:nvPr/>
        </p:nvSpPr>
        <p:spPr>
          <a:xfrm>
            <a:off x="731520" y="4242816"/>
            <a:ext cx="3282696" cy="201168"/>
          </a:xfrm>
          <a:prstGeom prst="rect">
            <a:avLst/>
          </a:prstGeom>
          <a:noFill/>
          <a:ln/>
        </p:spPr>
        <p:txBody>
          <a:bodyPr wrap="square" lIns="0" tIns="0" rIns="0" bIns="0" rtlCol="0" anchor="ctr"/>
          <a:lstStyle/>
          <a:p>
            <a:pPr indent="0" marL="0">
              <a:buNone/>
            </a:pPr>
            <a:r>
              <a:rPr lang="en-US" sz="1100" b="1" dirty="0">
                <a:solidFill>
                  <a:srgbClr val="0F636B"/>
                </a:solidFill>
              </a:rPr>
              <a:t>Risks that move the model</a:t>
            </a:r>
            <a:endParaRPr lang="en-US" sz="1100" dirty="0"/>
          </a:p>
        </p:txBody>
      </p:sp>
      <p:sp>
        <p:nvSpPr>
          <p:cNvPr id="20" name="Text 16"/>
          <p:cNvSpPr/>
          <p:nvPr/>
        </p:nvSpPr>
        <p:spPr>
          <a:xfrm>
            <a:off x="731520" y="4535424"/>
            <a:ext cx="3282696" cy="667512"/>
          </a:xfrm>
          <a:prstGeom prst="rect">
            <a:avLst/>
          </a:prstGeom>
          <a:noFill/>
          <a:ln/>
        </p:spPr>
        <p:txBody>
          <a:bodyPr wrap="square" lIns="254" tIns="254" rIns="254" bIns="254" rtlCol="0" anchor="t">
            <a:normAutofit/>
          </a:bodyPr>
          <a:lstStyle/>
          <a:p>
            <a:pPr indent="0" marL="0">
              <a:buNone/>
            </a:pPr>
            <a:r>
              <a:rPr lang="en-US" sz="1070" dirty="0">
                <a:solidFill>
                  <a:srgbClr val="17324D"/>
                </a:solidFill>
              </a:rPr>
              <a:t>Starship reuse and cadence determine launch cost curve. Spectrum, direct-to-cell approvals and carrier execution affect Starlink adoption. AI capacity utilization and GPU depreciation drive cash flow. Governance, key-man and related-party risk stay in WACC.</a:t>
            </a:r>
            <a:endParaRPr lang="en-US" sz="1070" dirty="0"/>
          </a:p>
        </p:txBody>
      </p:sp>
      <p:sp>
        <p:nvSpPr>
          <p:cNvPr id="21" name="Shape 17"/>
          <p:cNvSpPr/>
          <p:nvPr/>
        </p:nvSpPr>
        <p:spPr>
          <a:xfrm>
            <a:off x="4370832" y="4096512"/>
            <a:ext cx="3429000" cy="1216152"/>
          </a:xfrm>
          <a:prstGeom prst="roundRect">
            <a:avLst>
              <a:gd name="adj" fmla="val 7519"/>
            </a:avLst>
          </a:prstGeom>
          <a:solidFill>
            <a:srgbClr val="D7E8EC"/>
          </a:solidFill>
          <a:ln w="12700">
            <a:solidFill>
              <a:srgbClr val="CABFAF"/>
            </a:solidFill>
            <a:prstDash val="solid"/>
          </a:ln>
        </p:spPr>
      </p:sp>
      <p:sp>
        <p:nvSpPr>
          <p:cNvPr id="22" name="Text 18"/>
          <p:cNvSpPr/>
          <p:nvPr/>
        </p:nvSpPr>
        <p:spPr>
          <a:xfrm>
            <a:off x="4535424" y="4242816"/>
            <a:ext cx="3099816" cy="201168"/>
          </a:xfrm>
          <a:prstGeom prst="rect">
            <a:avLst/>
          </a:prstGeom>
          <a:noFill/>
          <a:ln/>
        </p:spPr>
        <p:txBody>
          <a:bodyPr wrap="square" lIns="0" tIns="0" rIns="0" bIns="0" rtlCol="0" anchor="ctr"/>
          <a:lstStyle/>
          <a:p>
            <a:pPr indent="0" marL="0">
              <a:buNone/>
            </a:pPr>
            <a:r>
              <a:rPr lang="en-US" sz="1100" b="1" dirty="0">
                <a:solidFill>
                  <a:srgbClr val="0F636B"/>
                </a:solidFill>
              </a:rPr>
              <a:t>Market context</a:t>
            </a:r>
            <a:endParaRPr lang="en-US" sz="1100" dirty="0"/>
          </a:p>
        </p:txBody>
      </p:sp>
      <p:sp>
        <p:nvSpPr>
          <p:cNvPr id="23" name="Text 19"/>
          <p:cNvSpPr/>
          <p:nvPr/>
        </p:nvSpPr>
        <p:spPr>
          <a:xfrm>
            <a:off x="4535424" y="4535424"/>
            <a:ext cx="3099816" cy="667512"/>
          </a:xfrm>
          <a:prstGeom prst="rect">
            <a:avLst/>
          </a:prstGeom>
          <a:noFill/>
          <a:ln/>
        </p:spPr>
        <p:txBody>
          <a:bodyPr wrap="square" lIns="254" tIns="254" rIns="254" bIns="254" rtlCol="0" anchor="t">
            <a:normAutofit/>
          </a:bodyPr>
          <a:lstStyle/>
          <a:p>
            <a:pPr indent="0" marL="0">
              <a:buNone/>
            </a:pPr>
            <a:r>
              <a:rPr lang="en-US" sz="1070" dirty="0">
                <a:solidFill>
                  <a:srgbClr val="17324D"/>
                </a:solidFill>
              </a:rPr>
              <a:t>The market may be pricing in faster proof around Starship reuse, Starlink direct-to-cell scale and AI compute economics. If those milestones arrive faster, the sensitivity range can move toward the higher valuation cases.</a:t>
            </a:r>
            <a:endParaRPr lang="en-US" sz="1070" dirty="0"/>
          </a:p>
        </p:txBody>
      </p:sp>
      <p:sp>
        <p:nvSpPr>
          <p:cNvPr id="24" name="Shape 20"/>
          <p:cNvSpPr/>
          <p:nvPr/>
        </p:nvSpPr>
        <p:spPr>
          <a:xfrm>
            <a:off x="8001000" y="4096512"/>
            <a:ext cx="3310128" cy="1216152"/>
          </a:xfrm>
          <a:prstGeom prst="roundRect">
            <a:avLst>
              <a:gd name="adj" fmla="val 7519"/>
            </a:avLst>
          </a:prstGeom>
          <a:solidFill>
            <a:srgbClr val="DCE8DE"/>
          </a:solidFill>
          <a:ln w="12700">
            <a:solidFill>
              <a:srgbClr val="CABFAF"/>
            </a:solidFill>
            <a:prstDash val="solid"/>
          </a:ln>
        </p:spPr>
      </p:sp>
      <p:sp>
        <p:nvSpPr>
          <p:cNvPr id="25" name="Text 21"/>
          <p:cNvSpPr/>
          <p:nvPr/>
        </p:nvSpPr>
        <p:spPr>
          <a:xfrm>
            <a:off x="8165592" y="4242816"/>
            <a:ext cx="2980944" cy="201168"/>
          </a:xfrm>
          <a:prstGeom prst="rect">
            <a:avLst/>
          </a:prstGeom>
          <a:noFill/>
          <a:ln/>
        </p:spPr>
        <p:txBody>
          <a:bodyPr wrap="square" lIns="0" tIns="0" rIns="0" bIns="0" rtlCol="0" anchor="ctr"/>
          <a:lstStyle/>
          <a:p>
            <a:pPr indent="0" marL="0">
              <a:buNone/>
            </a:pPr>
            <a:r>
              <a:rPr lang="en-US" sz="1100" b="1" dirty="0">
                <a:solidFill>
                  <a:srgbClr val="0F636B"/>
                </a:solidFill>
              </a:rPr>
              <a:t>Final read-through</a:t>
            </a:r>
            <a:endParaRPr lang="en-US" sz="1100" dirty="0"/>
          </a:p>
        </p:txBody>
      </p:sp>
      <p:sp>
        <p:nvSpPr>
          <p:cNvPr id="26" name="Text 22"/>
          <p:cNvSpPr/>
          <p:nvPr/>
        </p:nvSpPr>
        <p:spPr>
          <a:xfrm>
            <a:off x="8165592" y="4535424"/>
            <a:ext cx="2980944" cy="667512"/>
          </a:xfrm>
          <a:prstGeom prst="rect">
            <a:avLst/>
          </a:prstGeom>
          <a:noFill/>
          <a:ln/>
        </p:spPr>
        <p:txBody>
          <a:bodyPr wrap="square" lIns="254" tIns="254" rIns="254" bIns="254" rtlCol="0" anchor="t">
            <a:normAutofit/>
          </a:bodyPr>
          <a:lstStyle/>
          <a:p>
            <a:pPr indent="0" marL="0">
              <a:buNone/>
            </a:pPr>
            <a:r>
              <a:rPr lang="en-US" sz="1070" dirty="0">
                <a:solidFill>
                  <a:srgbClr val="17324D"/>
                </a:solidFill>
              </a:rPr>
              <a:t>Base value is $93/share with a reasonable range of $69 to $117. The investment conclusion is disciplined: premium company, but the market price still embeds more certainty than the base case supports.</a:t>
            </a:r>
            <a:endParaRPr lang="en-US" sz="107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502920" y="347472"/>
            <a:ext cx="10972800" cy="411480"/>
          </a:xfrm>
          <a:prstGeom prst="rect">
            <a:avLst/>
          </a:prstGeom>
          <a:noFill/>
          <a:ln/>
        </p:spPr>
        <p:txBody>
          <a:bodyPr wrap="square" lIns="0" tIns="0" rIns="0" bIns="0" rtlCol="0" anchor="ctr"/>
          <a:lstStyle/>
          <a:p>
            <a:pPr indent="0" marL="0">
              <a:buNone/>
            </a:pPr>
            <a:r>
              <a:rPr lang="en-US" sz="2850" b="1" dirty="0">
                <a:solidFill>
                  <a:srgbClr val="17324D"/>
                </a:solidFill>
                <a:latin typeface="Aptos Display" pitchFamily="34" charset="0"/>
                <a:ea typeface="Aptos Display" pitchFamily="34" charset="-122"/>
                <a:cs typeface="Aptos Display" pitchFamily="34" charset="-120"/>
              </a:rPr>
              <a:t>Sources and research use</a:t>
            </a:r>
            <a:endParaRPr lang="en-US" sz="2850" dirty="0"/>
          </a:p>
        </p:txBody>
      </p:sp>
      <p:sp>
        <p:nvSpPr>
          <p:cNvPr id="3" name="Text 1"/>
          <p:cNvSpPr/>
          <p:nvPr/>
        </p:nvSpPr>
        <p:spPr>
          <a:xfrm>
            <a:off x="521208" y="804672"/>
            <a:ext cx="10972800" cy="256032"/>
          </a:xfrm>
          <a:prstGeom prst="rect">
            <a:avLst/>
          </a:prstGeom>
          <a:noFill/>
          <a:ln/>
        </p:spPr>
        <p:txBody>
          <a:bodyPr wrap="square" lIns="0" tIns="0" rIns="0" bIns="0" rtlCol="0" anchor="ctr"/>
          <a:lstStyle/>
          <a:p>
            <a:pPr indent="0" marL="0">
              <a:buNone/>
            </a:pPr>
            <a:r>
              <a:rPr lang="en-US" sz="1250" dirty="0">
                <a:solidFill>
                  <a:srgbClr val="5A6C77"/>
                </a:solidFill>
              </a:rPr>
              <a:t>Primary sources supporting the valuation assumptions, peer checks and narrative framing.</a:t>
            </a:r>
            <a:endParaRPr lang="en-US" sz="1250" dirty="0"/>
          </a:p>
        </p:txBody>
      </p:sp>
      <p:sp>
        <p:nvSpPr>
          <p:cNvPr id="4" name="Shape 2"/>
          <p:cNvSpPr/>
          <p:nvPr/>
        </p:nvSpPr>
        <p:spPr>
          <a:xfrm>
            <a:off x="502920" y="1078992"/>
            <a:ext cx="11155680" cy="0"/>
          </a:xfrm>
          <a:prstGeom prst="line">
            <a:avLst/>
          </a:prstGeom>
          <a:noFill/>
          <a:ln w="12700">
            <a:solidFill>
              <a:srgbClr val="D4CDC2"/>
            </a:solidFill>
            <a:prstDash val="solid"/>
          </a:ln>
        </p:spPr>
      </p:sp>
      <p:sp>
        <p:nvSpPr>
          <p:cNvPr id="5" name="Text 3"/>
          <p:cNvSpPr/>
          <p:nvPr/>
        </p:nvSpPr>
        <p:spPr>
          <a:xfrm>
            <a:off x="566928" y="1298448"/>
            <a:ext cx="2926080" cy="219456"/>
          </a:xfrm>
          <a:prstGeom prst="rect">
            <a:avLst/>
          </a:prstGeom>
          <a:noFill/>
          <a:ln/>
        </p:spPr>
        <p:txBody>
          <a:bodyPr wrap="square" lIns="0" tIns="0" rIns="0" bIns="0" rtlCol="0" anchor="ctr"/>
          <a:lstStyle/>
          <a:p>
            <a:pPr indent="0" marL="0">
              <a:buNone/>
            </a:pPr>
            <a:r>
              <a:rPr lang="en-US" sz="1020" b="1" dirty="0">
                <a:solidFill>
                  <a:srgbClr val="0F636B"/>
                </a:solidFill>
              </a:rPr>
              <a:t>HOW THE SOURCES ARE USED</a:t>
            </a:r>
            <a:endParaRPr lang="en-US" sz="1020" dirty="0"/>
          </a:p>
        </p:txBody>
      </p:sp>
      <p:sp>
        <p:nvSpPr>
          <p:cNvPr id="6" name="Text 4"/>
          <p:cNvSpPr/>
          <p:nvPr/>
        </p:nvSpPr>
        <p:spPr>
          <a:xfrm>
            <a:off x="566928" y="1572768"/>
            <a:ext cx="11018520" cy="438912"/>
          </a:xfrm>
          <a:prstGeom prst="rect">
            <a:avLst/>
          </a:prstGeom>
          <a:noFill/>
          <a:ln/>
        </p:spPr>
        <p:txBody>
          <a:bodyPr wrap="square" lIns="254" tIns="254" rIns="254" bIns="254" rtlCol="0" anchor="t">
            <a:normAutofit/>
          </a:bodyPr>
          <a:lstStyle/>
          <a:p>
            <a:pPr indent="0" marL="0">
              <a:buNone/>
            </a:pPr>
            <a:r>
              <a:rPr lang="en-US" sz="1220" b="1" dirty="0">
                <a:solidFill>
                  <a:srgbClr val="17324D"/>
                </a:solidFill>
              </a:rPr>
              <a:t>The workbook remains the calculation source of truth. This page consolidates the research sources so the main deck stays clean without small footnotes. Source links are grouped by how they support the model rather than placed as tiny notes on each slide.</a:t>
            </a:r>
            <a:endParaRPr lang="en-US" sz="1220" dirty="0"/>
          </a:p>
        </p:txBody>
      </p:sp>
      <p:sp>
        <p:nvSpPr>
          <p:cNvPr id="7" name="Shape 5"/>
          <p:cNvSpPr/>
          <p:nvPr/>
        </p:nvSpPr>
        <p:spPr>
          <a:xfrm>
            <a:off x="566928" y="2121408"/>
            <a:ext cx="5413248" cy="749808"/>
          </a:xfrm>
          <a:prstGeom prst="roundRect">
            <a:avLst>
              <a:gd name="adj" fmla="val 12195"/>
            </a:avLst>
          </a:prstGeom>
          <a:solidFill>
            <a:srgbClr val="FFFFFF"/>
          </a:solidFill>
          <a:ln w="12700">
            <a:solidFill>
              <a:srgbClr val="CABFAF"/>
            </a:solidFill>
            <a:prstDash val="solid"/>
          </a:ln>
        </p:spPr>
      </p:sp>
      <p:sp>
        <p:nvSpPr>
          <p:cNvPr id="8" name="Text 6">
            <a:hlinkClick r:id="rId1" tooltip=""/>
          </p:cNvPr>
          <p:cNvSpPr/>
          <p:nvPr/>
        </p:nvSpPr>
        <p:spPr>
          <a:xfrm>
            <a:off x="713232" y="2231136"/>
            <a:ext cx="3566160" cy="164592"/>
          </a:xfrm>
          <a:prstGeom prst="rect">
            <a:avLst/>
          </a:prstGeom>
          <a:noFill/>
          <a:ln/>
        </p:spPr>
        <p:txBody>
          <a:bodyPr wrap="square" lIns="0" tIns="0" rIns="0" bIns="0" rtlCol="0" anchor="ctr"/>
          <a:lstStyle/>
          <a:p>
            <a:pPr indent="0" marL="0">
              <a:buNone/>
            </a:pPr>
            <a:r>
              <a:rPr lang="en-US" sz="940" b="1" u="sng" dirty="0">
                <a:solidFill>
                  <a:srgbClr val="0F636B"/>
                </a:solidFill>
                <a:hlinkClick r:id="rId1" invalidUrl="" action="" tgtFrame="" tooltip="" history="1" highlightClick="0" endSnd="0">
                  <a:extLst>
                    <a:ext uri="{A12FA001-AC4F-418D-AE19-62706E023703}">
                      <ahyp:hlinkClr xmlns:ahyp="http://schemas.microsoft.com/office/drawing/2018/hyperlinkcolor" val="tx"/>
                    </a:ext>
                  </a:extLst>
                </a:hlinkClick>
              </a:rPr>
              <a:t>Morningstar SpaceX initiation research</a:t>
            </a:r>
            <a:endParaRPr lang="en-US" sz="940" dirty="0"/>
          </a:p>
        </p:txBody>
      </p:sp>
      <p:sp>
        <p:nvSpPr>
          <p:cNvPr id="9" name="Text 7"/>
          <p:cNvSpPr/>
          <p:nvPr/>
        </p:nvSpPr>
        <p:spPr>
          <a:xfrm>
            <a:off x="713232" y="2432304"/>
            <a:ext cx="3995928" cy="219456"/>
          </a:xfrm>
          <a:prstGeom prst="rect">
            <a:avLst/>
          </a:prstGeom>
          <a:noFill/>
          <a:ln/>
        </p:spPr>
        <p:txBody>
          <a:bodyPr wrap="square" lIns="254" tIns="254" rIns="254" bIns="254" rtlCol="0" anchor="t">
            <a:normAutofit/>
          </a:bodyPr>
          <a:lstStyle/>
          <a:p>
            <a:pPr indent="0" marL="0">
              <a:buNone/>
            </a:pPr>
            <a:r>
              <a:rPr lang="en-US" sz="840" dirty="0">
                <a:solidFill>
                  <a:srgbClr val="17324D"/>
                </a:solidFill>
              </a:rPr>
              <a:t>Used for moat framing, Starlink economics, AI scenario logic, market-context pushback and the core idea that SpaceX can be excellent while still overvalued.</a:t>
            </a:r>
            <a:endParaRPr lang="en-US" sz="840" dirty="0"/>
          </a:p>
        </p:txBody>
      </p:sp>
      <p:sp>
        <p:nvSpPr>
          <p:cNvPr id="10" name="Text 8"/>
          <p:cNvSpPr/>
          <p:nvPr/>
        </p:nvSpPr>
        <p:spPr>
          <a:xfrm>
            <a:off x="4837176" y="2304288"/>
            <a:ext cx="960120" cy="164592"/>
          </a:xfrm>
          <a:prstGeom prst="rect">
            <a:avLst/>
          </a:prstGeom>
          <a:noFill/>
          <a:ln/>
        </p:spPr>
        <p:txBody>
          <a:bodyPr wrap="square" lIns="254" tIns="254" rIns="254" bIns="254" rtlCol="0" anchor="t">
            <a:normAutofit/>
          </a:bodyPr>
          <a:lstStyle/>
          <a:p>
            <a:pPr indent="0" marL="0">
              <a:buNone/>
            </a:pPr>
            <a:r>
              <a:rPr lang="en-US" sz="820" b="1" dirty="0">
                <a:solidFill>
                  <a:srgbClr val="17324D"/>
                </a:solidFill>
              </a:rPr>
              <a:t>Slides 1, 2, 4, 6</a:t>
            </a:r>
            <a:endParaRPr lang="en-US" sz="820" dirty="0"/>
          </a:p>
        </p:txBody>
      </p:sp>
      <p:sp>
        <p:nvSpPr>
          <p:cNvPr id="11" name="Text 9">
            <a:hlinkClick r:id="rId2" tooltip=""/>
          </p:cNvPr>
          <p:cNvSpPr/>
          <p:nvPr/>
        </p:nvSpPr>
        <p:spPr>
          <a:xfrm>
            <a:off x="4837176" y="2560320"/>
            <a:ext cx="914400" cy="146304"/>
          </a:xfrm>
          <a:prstGeom prst="rect">
            <a:avLst/>
          </a:prstGeom>
          <a:noFill/>
          <a:ln/>
        </p:spPr>
        <p:txBody>
          <a:bodyPr wrap="square" lIns="0" tIns="0" rIns="0" bIns="0" rtlCol="0" anchor="ctr"/>
          <a:lstStyle/>
          <a:p>
            <a:pPr indent="0" marL="0">
              <a:buNone/>
            </a:pPr>
            <a:r>
              <a:rPr lang="en-US" sz="800" b="1" u="sng" dirty="0">
                <a:solidFill>
                  <a:srgbClr val="0F636B"/>
                </a:solidFill>
                <a:hlinkClick r:id="rId2" invalidUrl="" action="" tgtFrame="" tooltip="" history="1" highlightClick="0" endSnd="0">
                  <a:extLst>
                    <a:ext uri="{A12FA001-AC4F-418D-AE19-62706E023703}">
                      <ahyp:hlinkClr xmlns:ahyp="http://schemas.microsoft.com/office/drawing/2018/hyperlinkcolor" val="tx"/>
                    </a:ext>
                  </a:extLst>
                </a:hlinkClick>
              </a:rPr>
              <a:t>Open source</a:t>
            </a:r>
            <a:endParaRPr lang="en-US" sz="800" dirty="0"/>
          </a:p>
        </p:txBody>
      </p:sp>
      <p:sp>
        <p:nvSpPr>
          <p:cNvPr id="12" name="Shape 10"/>
          <p:cNvSpPr/>
          <p:nvPr/>
        </p:nvSpPr>
        <p:spPr>
          <a:xfrm>
            <a:off x="6281928" y="2121408"/>
            <a:ext cx="5413248" cy="749808"/>
          </a:xfrm>
          <a:prstGeom prst="roundRect">
            <a:avLst>
              <a:gd name="adj" fmla="val 12195"/>
            </a:avLst>
          </a:prstGeom>
          <a:solidFill>
            <a:srgbClr val="FFFFFF"/>
          </a:solidFill>
          <a:ln w="12700">
            <a:solidFill>
              <a:srgbClr val="CABFAF"/>
            </a:solidFill>
            <a:prstDash val="solid"/>
          </a:ln>
        </p:spPr>
      </p:sp>
      <p:sp>
        <p:nvSpPr>
          <p:cNvPr id="13" name="Text 11">
            <a:hlinkClick r:id="rId3" tooltip=""/>
          </p:cNvPr>
          <p:cNvSpPr/>
          <p:nvPr/>
        </p:nvSpPr>
        <p:spPr>
          <a:xfrm>
            <a:off x="6428232" y="2231136"/>
            <a:ext cx="3566160" cy="164592"/>
          </a:xfrm>
          <a:prstGeom prst="rect">
            <a:avLst/>
          </a:prstGeom>
          <a:noFill/>
          <a:ln/>
        </p:spPr>
        <p:txBody>
          <a:bodyPr wrap="square" lIns="0" tIns="0" rIns="0" bIns="0" rtlCol="0" anchor="ctr"/>
          <a:lstStyle/>
          <a:p>
            <a:pPr indent="0" marL="0">
              <a:buNone/>
            </a:pPr>
            <a:r>
              <a:rPr lang="en-US" sz="940" b="1" u="sng" dirty="0">
                <a:solidFill>
                  <a:srgbClr val="0F636B"/>
                </a:solidFill>
                <a:hlinkClick r:id="rId3" invalidUrl="" action="" tgtFrame="" tooltip="" history="1" highlightClick="0" endSnd="0">
                  <a:extLst>
                    <a:ext uri="{A12FA001-AC4F-418D-AE19-62706E023703}">
                      <ahyp:hlinkClr xmlns:ahyp="http://schemas.microsoft.com/office/drawing/2018/hyperlinkcolor" val="tx"/>
                    </a:ext>
                  </a:extLst>
                </a:hlinkClick>
              </a:rPr>
              <a:t>SpaceX S-1 / IPO filing research</a:t>
            </a:r>
            <a:endParaRPr lang="en-US" sz="940" dirty="0"/>
          </a:p>
        </p:txBody>
      </p:sp>
      <p:sp>
        <p:nvSpPr>
          <p:cNvPr id="14" name="Text 12"/>
          <p:cNvSpPr/>
          <p:nvPr/>
        </p:nvSpPr>
        <p:spPr>
          <a:xfrm>
            <a:off x="6428232" y="2432304"/>
            <a:ext cx="3995928" cy="219456"/>
          </a:xfrm>
          <a:prstGeom prst="rect">
            <a:avLst/>
          </a:prstGeom>
          <a:noFill/>
          <a:ln/>
        </p:spPr>
        <p:txBody>
          <a:bodyPr wrap="square" lIns="254" tIns="254" rIns="254" bIns="254" rtlCol="0" anchor="t">
            <a:normAutofit/>
          </a:bodyPr>
          <a:lstStyle/>
          <a:p>
            <a:pPr indent="0" marL="0">
              <a:buNone/>
            </a:pPr>
            <a:r>
              <a:rPr lang="en-US" sz="840" dirty="0">
                <a:solidFill>
                  <a:srgbClr val="17324D"/>
                </a:solidFill>
              </a:rPr>
              <a:t>Used for the SpaceX revenue mix, segment financials, IPO context, share count, capex split and risk-factor framing.</a:t>
            </a:r>
            <a:endParaRPr lang="en-US" sz="840" dirty="0"/>
          </a:p>
        </p:txBody>
      </p:sp>
      <p:sp>
        <p:nvSpPr>
          <p:cNvPr id="15" name="Text 13"/>
          <p:cNvSpPr/>
          <p:nvPr/>
        </p:nvSpPr>
        <p:spPr>
          <a:xfrm>
            <a:off x="10552176" y="2304288"/>
            <a:ext cx="960120" cy="164592"/>
          </a:xfrm>
          <a:prstGeom prst="rect">
            <a:avLst/>
          </a:prstGeom>
          <a:noFill/>
          <a:ln/>
        </p:spPr>
        <p:txBody>
          <a:bodyPr wrap="square" lIns="254" tIns="254" rIns="254" bIns="254" rtlCol="0" anchor="t">
            <a:normAutofit/>
          </a:bodyPr>
          <a:lstStyle/>
          <a:p>
            <a:pPr indent="0" marL="0">
              <a:buNone/>
            </a:pPr>
            <a:r>
              <a:rPr lang="en-US" sz="820" b="1" dirty="0">
                <a:solidFill>
                  <a:srgbClr val="17324D"/>
                </a:solidFill>
              </a:rPr>
              <a:t>Slides 1, 2, 3, 4</a:t>
            </a:r>
            <a:endParaRPr lang="en-US" sz="820" dirty="0"/>
          </a:p>
        </p:txBody>
      </p:sp>
      <p:sp>
        <p:nvSpPr>
          <p:cNvPr id="16" name="Text 14">
            <a:hlinkClick r:id="rId4" tooltip=""/>
          </p:cNvPr>
          <p:cNvSpPr/>
          <p:nvPr/>
        </p:nvSpPr>
        <p:spPr>
          <a:xfrm>
            <a:off x="10552176" y="2560320"/>
            <a:ext cx="914400" cy="146304"/>
          </a:xfrm>
          <a:prstGeom prst="rect">
            <a:avLst/>
          </a:prstGeom>
          <a:noFill/>
          <a:ln/>
        </p:spPr>
        <p:txBody>
          <a:bodyPr wrap="square" lIns="0" tIns="0" rIns="0" bIns="0" rtlCol="0" anchor="ctr"/>
          <a:lstStyle/>
          <a:p>
            <a:pPr indent="0" marL="0">
              <a:buNone/>
            </a:pPr>
            <a:r>
              <a:rPr lang="en-US" sz="800" b="1" u="sng" dirty="0">
                <a:solidFill>
                  <a:srgbClr val="0F636B"/>
                </a:solidFill>
                <a:hlinkClick r:id="rId4" invalidUrl="" action="" tgtFrame="" tooltip="" history="1" highlightClick="0" endSnd="0">
                  <a:extLst>
                    <a:ext uri="{A12FA001-AC4F-418D-AE19-62706E023703}">
                      <ahyp:hlinkClr xmlns:ahyp="http://schemas.microsoft.com/office/drawing/2018/hyperlinkcolor" val="tx"/>
                    </a:ext>
                  </a:extLst>
                </a:hlinkClick>
              </a:rPr>
              <a:t>Open source</a:t>
            </a:r>
            <a:endParaRPr lang="en-US" sz="800" dirty="0"/>
          </a:p>
        </p:txBody>
      </p:sp>
      <p:sp>
        <p:nvSpPr>
          <p:cNvPr id="17" name="Shape 15"/>
          <p:cNvSpPr/>
          <p:nvPr/>
        </p:nvSpPr>
        <p:spPr>
          <a:xfrm>
            <a:off x="566928" y="3063240"/>
            <a:ext cx="5413248" cy="749808"/>
          </a:xfrm>
          <a:prstGeom prst="roundRect">
            <a:avLst>
              <a:gd name="adj" fmla="val 12195"/>
            </a:avLst>
          </a:prstGeom>
          <a:solidFill>
            <a:srgbClr val="F4EFE6"/>
          </a:solidFill>
          <a:ln w="12700">
            <a:solidFill>
              <a:srgbClr val="CABFAF"/>
            </a:solidFill>
            <a:prstDash val="solid"/>
          </a:ln>
        </p:spPr>
      </p:sp>
      <p:sp>
        <p:nvSpPr>
          <p:cNvPr id="18" name="Text 16">
            <a:hlinkClick r:id="rId5" tooltip=""/>
          </p:cNvPr>
          <p:cNvSpPr/>
          <p:nvPr/>
        </p:nvSpPr>
        <p:spPr>
          <a:xfrm>
            <a:off x="713232" y="3172968"/>
            <a:ext cx="3566160" cy="164592"/>
          </a:xfrm>
          <a:prstGeom prst="rect">
            <a:avLst/>
          </a:prstGeom>
          <a:noFill/>
          <a:ln/>
        </p:spPr>
        <p:txBody>
          <a:bodyPr wrap="square" lIns="0" tIns="0" rIns="0" bIns="0" rtlCol="0" anchor="ctr"/>
          <a:lstStyle/>
          <a:p>
            <a:pPr indent="0" marL="0">
              <a:buNone/>
            </a:pPr>
            <a:r>
              <a:rPr lang="en-US" sz="940" b="1" u="sng" dirty="0">
                <a:solidFill>
                  <a:srgbClr val="0F636B"/>
                </a:solidFill>
                <a:hlinkClick r:id="rId5" invalidUrl="" action="" tgtFrame="" tooltip="" history="1" highlightClick="0" endSnd="0">
                  <a:extLst>
                    <a:ext uri="{A12FA001-AC4F-418D-AE19-62706E023703}">
                      <ahyp:hlinkClr xmlns:ahyp="http://schemas.microsoft.com/office/drawing/2018/hyperlinkcolor" val="tx"/>
                    </a:ext>
                  </a:extLst>
                </a:hlinkClick>
              </a:rPr>
              <a:t>Rocket Lab and Firefly SEC filings</a:t>
            </a:r>
            <a:endParaRPr lang="en-US" sz="940" dirty="0"/>
          </a:p>
        </p:txBody>
      </p:sp>
      <p:sp>
        <p:nvSpPr>
          <p:cNvPr id="19" name="Text 17"/>
          <p:cNvSpPr/>
          <p:nvPr/>
        </p:nvSpPr>
        <p:spPr>
          <a:xfrm>
            <a:off x="713232" y="3374136"/>
            <a:ext cx="3995928" cy="219456"/>
          </a:xfrm>
          <a:prstGeom prst="rect">
            <a:avLst/>
          </a:prstGeom>
          <a:noFill/>
          <a:ln/>
        </p:spPr>
        <p:txBody>
          <a:bodyPr wrap="square" lIns="254" tIns="254" rIns="254" bIns="254" rtlCol="0" anchor="t">
            <a:normAutofit/>
          </a:bodyPr>
          <a:lstStyle/>
          <a:p>
            <a:pPr indent="0" marL="0">
              <a:buNone/>
            </a:pPr>
            <a:r>
              <a:rPr lang="en-US" sz="840" dirty="0">
                <a:solidFill>
                  <a:srgbClr val="17324D"/>
                </a:solidFill>
              </a:rPr>
              <a:t>Used for launch peer revenue, margins, capex and early-stage space company operating benchmarks.</a:t>
            </a:r>
            <a:endParaRPr lang="en-US" sz="840" dirty="0"/>
          </a:p>
        </p:txBody>
      </p:sp>
      <p:sp>
        <p:nvSpPr>
          <p:cNvPr id="20" name="Text 18"/>
          <p:cNvSpPr/>
          <p:nvPr/>
        </p:nvSpPr>
        <p:spPr>
          <a:xfrm>
            <a:off x="4837176" y="3246120"/>
            <a:ext cx="960120" cy="164592"/>
          </a:xfrm>
          <a:prstGeom prst="rect">
            <a:avLst/>
          </a:prstGeom>
          <a:noFill/>
          <a:ln/>
        </p:spPr>
        <p:txBody>
          <a:bodyPr wrap="square" lIns="254" tIns="254" rIns="254" bIns="254" rtlCol="0" anchor="t">
            <a:normAutofit/>
          </a:bodyPr>
          <a:lstStyle/>
          <a:p>
            <a:pPr indent="0" marL="0">
              <a:buNone/>
            </a:pPr>
            <a:r>
              <a:rPr lang="en-US" sz="820" b="1" dirty="0">
                <a:solidFill>
                  <a:srgbClr val="17324D"/>
                </a:solidFill>
              </a:rPr>
              <a:t>Slides 2, 5</a:t>
            </a:r>
            <a:endParaRPr lang="en-US" sz="820" dirty="0"/>
          </a:p>
        </p:txBody>
      </p:sp>
      <p:sp>
        <p:nvSpPr>
          <p:cNvPr id="21" name="Text 19">
            <a:hlinkClick r:id="rId6" tooltip=""/>
          </p:cNvPr>
          <p:cNvSpPr/>
          <p:nvPr/>
        </p:nvSpPr>
        <p:spPr>
          <a:xfrm>
            <a:off x="4837176" y="3502152"/>
            <a:ext cx="914400" cy="146304"/>
          </a:xfrm>
          <a:prstGeom prst="rect">
            <a:avLst/>
          </a:prstGeom>
          <a:noFill/>
          <a:ln/>
        </p:spPr>
        <p:txBody>
          <a:bodyPr wrap="square" lIns="0" tIns="0" rIns="0" bIns="0" rtlCol="0" anchor="ctr"/>
          <a:lstStyle/>
          <a:p>
            <a:pPr indent="0" marL="0">
              <a:buNone/>
            </a:pPr>
            <a:r>
              <a:rPr lang="en-US" sz="800" b="1" u="sng" dirty="0">
                <a:solidFill>
                  <a:srgbClr val="0F636B"/>
                </a:solidFill>
                <a:hlinkClick r:id="rId6" invalidUrl="" action="" tgtFrame="" tooltip="" history="1" highlightClick="0" endSnd="0">
                  <a:extLst>
                    <a:ext uri="{A12FA001-AC4F-418D-AE19-62706E023703}">
                      <ahyp:hlinkClr xmlns:ahyp="http://schemas.microsoft.com/office/drawing/2018/hyperlinkcolor" val="tx"/>
                    </a:ext>
                  </a:extLst>
                </a:hlinkClick>
              </a:rPr>
              <a:t>Open source</a:t>
            </a:r>
            <a:endParaRPr lang="en-US" sz="800" dirty="0"/>
          </a:p>
        </p:txBody>
      </p:sp>
      <p:sp>
        <p:nvSpPr>
          <p:cNvPr id="22" name="Shape 20"/>
          <p:cNvSpPr/>
          <p:nvPr/>
        </p:nvSpPr>
        <p:spPr>
          <a:xfrm>
            <a:off x="6281928" y="3063240"/>
            <a:ext cx="5413248" cy="749808"/>
          </a:xfrm>
          <a:prstGeom prst="roundRect">
            <a:avLst>
              <a:gd name="adj" fmla="val 12195"/>
            </a:avLst>
          </a:prstGeom>
          <a:solidFill>
            <a:srgbClr val="F4EFE6"/>
          </a:solidFill>
          <a:ln w="12700">
            <a:solidFill>
              <a:srgbClr val="CABFAF"/>
            </a:solidFill>
            <a:prstDash val="solid"/>
          </a:ln>
        </p:spPr>
      </p:sp>
      <p:sp>
        <p:nvSpPr>
          <p:cNvPr id="23" name="Text 21">
            <a:hlinkClick r:id="rId7" tooltip=""/>
          </p:cNvPr>
          <p:cNvSpPr/>
          <p:nvPr/>
        </p:nvSpPr>
        <p:spPr>
          <a:xfrm>
            <a:off x="6428232" y="3172968"/>
            <a:ext cx="3566160" cy="164592"/>
          </a:xfrm>
          <a:prstGeom prst="rect">
            <a:avLst/>
          </a:prstGeom>
          <a:noFill/>
          <a:ln/>
        </p:spPr>
        <p:txBody>
          <a:bodyPr wrap="square" lIns="0" tIns="0" rIns="0" bIns="0" rtlCol="0" anchor="ctr"/>
          <a:lstStyle/>
          <a:p>
            <a:pPr indent="0" marL="0">
              <a:buNone/>
            </a:pPr>
            <a:r>
              <a:rPr lang="en-US" sz="940" b="1" u="sng" dirty="0">
                <a:solidFill>
                  <a:srgbClr val="0F636B"/>
                </a:solidFill>
                <a:hlinkClick r:id="rId7" invalidUrl="" action="" tgtFrame="" tooltip="" history="1" highlightClick="0" endSnd="0">
                  <a:extLst>
                    <a:ext uri="{A12FA001-AC4F-418D-AE19-62706E023703}">
                      <ahyp:hlinkClr xmlns:ahyp="http://schemas.microsoft.com/office/drawing/2018/hyperlinkcolor" val="tx"/>
                    </a:ext>
                  </a:extLst>
                </a:hlinkClick>
              </a:rPr>
              <a:t>Viasat, AST SpaceMobile and Iridium filings</a:t>
            </a:r>
            <a:endParaRPr lang="en-US" sz="940" dirty="0"/>
          </a:p>
        </p:txBody>
      </p:sp>
      <p:sp>
        <p:nvSpPr>
          <p:cNvPr id="24" name="Text 22"/>
          <p:cNvSpPr/>
          <p:nvPr/>
        </p:nvSpPr>
        <p:spPr>
          <a:xfrm>
            <a:off x="6428232" y="3374136"/>
            <a:ext cx="3995928" cy="219456"/>
          </a:xfrm>
          <a:prstGeom prst="rect">
            <a:avLst/>
          </a:prstGeom>
          <a:noFill/>
          <a:ln/>
        </p:spPr>
        <p:txBody>
          <a:bodyPr wrap="square" lIns="254" tIns="254" rIns="254" bIns="254" rtlCol="0" anchor="t">
            <a:normAutofit/>
          </a:bodyPr>
          <a:lstStyle/>
          <a:p>
            <a:pPr indent="0" marL="0">
              <a:buNone/>
            </a:pPr>
            <a:r>
              <a:rPr lang="en-US" sz="840" dirty="0">
                <a:solidFill>
                  <a:srgbClr val="17324D"/>
                </a:solidFill>
              </a:rPr>
              <a:t>Used for satellite connectivity economics, direct-to-cell risk, recurring subscriber models and mature satellite service margin checks.</a:t>
            </a:r>
            <a:endParaRPr lang="en-US" sz="840" dirty="0"/>
          </a:p>
        </p:txBody>
      </p:sp>
      <p:sp>
        <p:nvSpPr>
          <p:cNvPr id="25" name="Text 23"/>
          <p:cNvSpPr/>
          <p:nvPr/>
        </p:nvSpPr>
        <p:spPr>
          <a:xfrm>
            <a:off x="10552176" y="3246120"/>
            <a:ext cx="960120" cy="164592"/>
          </a:xfrm>
          <a:prstGeom prst="rect">
            <a:avLst/>
          </a:prstGeom>
          <a:noFill/>
          <a:ln/>
        </p:spPr>
        <p:txBody>
          <a:bodyPr wrap="square" lIns="254" tIns="254" rIns="254" bIns="254" rtlCol="0" anchor="t">
            <a:normAutofit/>
          </a:bodyPr>
          <a:lstStyle/>
          <a:p>
            <a:pPr indent="0" marL="0">
              <a:buNone/>
            </a:pPr>
            <a:r>
              <a:rPr lang="en-US" sz="820" b="1" dirty="0">
                <a:solidFill>
                  <a:srgbClr val="17324D"/>
                </a:solidFill>
              </a:rPr>
              <a:t>Slides 2, 5, 6</a:t>
            </a:r>
            <a:endParaRPr lang="en-US" sz="820" dirty="0"/>
          </a:p>
        </p:txBody>
      </p:sp>
      <p:sp>
        <p:nvSpPr>
          <p:cNvPr id="26" name="Text 24">
            <a:hlinkClick r:id="rId8" tooltip=""/>
          </p:cNvPr>
          <p:cNvSpPr/>
          <p:nvPr/>
        </p:nvSpPr>
        <p:spPr>
          <a:xfrm>
            <a:off x="10552176" y="3502152"/>
            <a:ext cx="914400" cy="146304"/>
          </a:xfrm>
          <a:prstGeom prst="rect">
            <a:avLst/>
          </a:prstGeom>
          <a:noFill/>
          <a:ln/>
        </p:spPr>
        <p:txBody>
          <a:bodyPr wrap="square" lIns="0" tIns="0" rIns="0" bIns="0" rtlCol="0" anchor="ctr"/>
          <a:lstStyle/>
          <a:p>
            <a:pPr indent="0" marL="0">
              <a:buNone/>
            </a:pPr>
            <a:r>
              <a:rPr lang="en-US" sz="800" b="1" u="sng" dirty="0">
                <a:solidFill>
                  <a:srgbClr val="0F636B"/>
                </a:solidFill>
                <a:hlinkClick r:id="rId8" invalidUrl="" action="" tgtFrame="" tooltip="" history="1" highlightClick="0" endSnd="0">
                  <a:extLst>
                    <a:ext uri="{A12FA001-AC4F-418D-AE19-62706E023703}">
                      <ahyp:hlinkClr xmlns:ahyp="http://schemas.microsoft.com/office/drawing/2018/hyperlinkcolor" val="tx"/>
                    </a:ext>
                  </a:extLst>
                </a:hlinkClick>
              </a:rPr>
              <a:t>Open source</a:t>
            </a:r>
            <a:endParaRPr lang="en-US" sz="800" dirty="0"/>
          </a:p>
        </p:txBody>
      </p:sp>
      <p:sp>
        <p:nvSpPr>
          <p:cNvPr id="27" name="Shape 25"/>
          <p:cNvSpPr/>
          <p:nvPr/>
        </p:nvSpPr>
        <p:spPr>
          <a:xfrm>
            <a:off x="566928" y="4005072"/>
            <a:ext cx="5413248" cy="749808"/>
          </a:xfrm>
          <a:prstGeom prst="roundRect">
            <a:avLst>
              <a:gd name="adj" fmla="val 12195"/>
            </a:avLst>
          </a:prstGeom>
          <a:solidFill>
            <a:srgbClr val="FFFFFF"/>
          </a:solidFill>
          <a:ln w="12700">
            <a:solidFill>
              <a:srgbClr val="CABFAF"/>
            </a:solidFill>
            <a:prstDash val="solid"/>
          </a:ln>
        </p:spPr>
      </p:sp>
      <p:sp>
        <p:nvSpPr>
          <p:cNvPr id="28" name="Text 26">
            <a:hlinkClick r:id="rId9" tooltip=""/>
          </p:cNvPr>
          <p:cNvSpPr/>
          <p:nvPr/>
        </p:nvSpPr>
        <p:spPr>
          <a:xfrm>
            <a:off x="713232" y="4114800"/>
            <a:ext cx="3566160" cy="164592"/>
          </a:xfrm>
          <a:prstGeom prst="rect">
            <a:avLst/>
          </a:prstGeom>
          <a:noFill/>
          <a:ln/>
        </p:spPr>
        <p:txBody>
          <a:bodyPr wrap="square" lIns="0" tIns="0" rIns="0" bIns="0" rtlCol="0" anchor="ctr"/>
          <a:lstStyle/>
          <a:p>
            <a:pPr indent="0" marL="0">
              <a:buNone/>
            </a:pPr>
            <a:r>
              <a:rPr lang="en-US" sz="940" b="1" u="sng" dirty="0">
                <a:solidFill>
                  <a:srgbClr val="0F636B"/>
                </a:solidFill>
                <a:hlinkClick r:id="rId9" invalidUrl="" action="" tgtFrame="" tooltip="" history="1" highlightClick="0" endSnd="0">
                  <a:extLst>
                    <a:ext uri="{A12FA001-AC4F-418D-AE19-62706E023703}">
                      <ahyp:hlinkClr xmlns:ahyp="http://schemas.microsoft.com/office/drawing/2018/hyperlinkcolor" val="tx"/>
                    </a:ext>
                  </a:extLst>
                </a:hlinkClick>
              </a:rPr>
              <a:t>CoreWeave FY2025 filing data</a:t>
            </a:r>
            <a:endParaRPr lang="en-US" sz="940" dirty="0"/>
          </a:p>
        </p:txBody>
      </p:sp>
      <p:sp>
        <p:nvSpPr>
          <p:cNvPr id="29" name="Text 27"/>
          <p:cNvSpPr/>
          <p:nvPr/>
        </p:nvSpPr>
        <p:spPr>
          <a:xfrm>
            <a:off x="713232" y="4315968"/>
            <a:ext cx="3995928" cy="219456"/>
          </a:xfrm>
          <a:prstGeom prst="rect">
            <a:avLst/>
          </a:prstGeom>
          <a:noFill/>
          <a:ln/>
        </p:spPr>
        <p:txBody>
          <a:bodyPr wrap="square" lIns="254" tIns="254" rIns="254" bIns="254" rtlCol="0" anchor="t">
            <a:normAutofit/>
          </a:bodyPr>
          <a:lstStyle/>
          <a:p>
            <a:pPr indent="0" marL="0">
              <a:buNone/>
            </a:pPr>
            <a:r>
              <a:rPr lang="en-US" sz="840" dirty="0">
                <a:solidFill>
                  <a:srgbClr val="17324D"/>
                </a:solidFill>
              </a:rPr>
              <a:t>Used for AI infrastructure revenue growth, GPU depreciation, capex intensity and the compute-leasing business model.</a:t>
            </a:r>
            <a:endParaRPr lang="en-US" sz="840" dirty="0"/>
          </a:p>
        </p:txBody>
      </p:sp>
      <p:sp>
        <p:nvSpPr>
          <p:cNvPr id="30" name="Text 28"/>
          <p:cNvSpPr/>
          <p:nvPr/>
        </p:nvSpPr>
        <p:spPr>
          <a:xfrm>
            <a:off x="4837176" y="4187952"/>
            <a:ext cx="960120" cy="164592"/>
          </a:xfrm>
          <a:prstGeom prst="rect">
            <a:avLst/>
          </a:prstGeom>
          <a:noFill/>
          <a:ln/>
        </p:spPr>
        <p:txBody>
          <a:bodyPr wrap="square" lIns="254" tIns="254" rIns="254" bIns="254" rtlCol="0" anchor="t">
            <a:normAutofit/>
          </a:bodyPr>
          <a:lstStyle/>
          <a:p>
            <a:pPr indent="0" marL="0">
              <a:buNone/>
            </a:pPr>
            <a:r>
              <a:rPr lang="en-US" sz="820" b="1" dirty="0">
                <a:solidFill>
                  <a:srgbClr val="17324D"/>
                </a:solidFill>
              </a:rPr>
              <a:t>Slides 2, 4, 5, 6</a:t>
            </a:r>
            <a:endParaRPr lang="en-US" sz="820" dirty="0"/>
          </a:p>
        </p:txBody>
      </p:sp>
      <p:sp>
        <p:nvSpPr>
          <p:cNvPr id="31" name="Text 29">
            <a:hlinkClick r:id="rId10" tooltip=""/>
          </p:cNvPr>
          <p:cNvSpPr/>
          <p:nvPr/>
        </p:nvSpPr>
        <p:spPr>
          <a:xfrm>
            <a:off x="4837176" y="4443984"/>
            <a:ext cx="914400" cy="146304"/>
          </a:xfrm>
          <a:prstGeom prst="rect">
            <a:avLst/>
          </a:prstGeom>
          <a:noFill/>
          <a:ln/>
        </p:spPr>
        <p:txBody>
          <a:bodyPr wrap="square" lIns="0" tIns="0" rIns="0" bIns="0" rtlCol="0" anchor="ctr"/>
          <a:lstStyle/>
          <a:p>
            <a:pPr indent="0" marL="0">
              <a:buNone/>
            </a:pPr>
            <a:r>
              <a:rPr lang="en-US" sz="800" b="1" u="sng" dirty="0">
                <a:solidFill>
                  <a:srgbClr val="0F636B"/>
                </a:solidFill>
                <a:hlinkClick r:id="rId10" invalidUrl="" action="" tgtFrame="" tooltip="" history="1" highlightClick="0" endSnd="0">
                  <a:extLst>
                    <a:ext uri="{A12FA001-AC4F-418D-AE19-62706E023703}">
                      <ahyp:hlinkClr xmlns:ahyp="http://schemas.microsoft.com/office/drawing/2018/hyperlinkcolor" val="tx"/>
                    </a:ext>
                  </a:extLst>
                </a:hlinkClick>
              </a:rPr>
              <a:t>Open source</a:t>
            </a:r>
            <a:endParaRPr lang="en-US" sz="800" dirty="0"/>
          </a:p>
        </p:txBody>
      </p:sp>
      <p:sp>
        <p:nvSpPr>
          <p:cNvPr id="32" name="Shape 30"/>
          <p:cNvSpPr/>
          <p:nvPr/>
        </p:nvSpPr>
        <p:spPr>
          <a:xfrm>
            <a:off x="6281928" y="4005072"/>
            <a:ext cx="5413248" cy="749808"/>
          </a:xfrm>
          <a:prstGeom prst="roundRect">
            <a:avLst>
              <a:gd name="adj" fmla="val 12195"/>
            </a:avLst>
          </a:prstGeom>
          <a:solidFill>
            <a:srgbClr val="FFFFFF"/>
          </a:solidFill>
          <a:ln w="12700">
            <a:solidFill>
              <a:srgbClr val="CABFAF"/>
            </a:solidFill>
            <a:prstDash val="solid"/>
          </a:ln>
        </p:spPr>
      </p:sp>
      <p:sp>
        <p:nvSpPr>
          <p:cNvPr id="33" name="Text 31">
            <a:hlinkClick r:id="rId11" tooltip=""/>
          </p:cNvPr>
          <p:cNvSpPr/>
          <p:nvPr/>
        </p:nvSpPr>
        <p:spPr>
          <a:xfrm>
            <a:off x="6428232" y="4114800"/>
            <a:ext cx="3566160" cy="164592"/>
          </a:xfrm>
          <a:prstGeom prst="rect">
            <a:avLst/>
          </a:prstGeom>
          <a:noFill/>
          <a:ln/>
        </p:spPr>
        <p:txBody>
          <a:bodyPr wrap="square" lIns="0" tIns="0" rIns="0" bIns="0" rtlCol="0" anchor="ctr"/>
          <a:lstStyle/>
          <a:p>
            <a:pPr indent="0" marL="0">
              <a:buNone/>
            </a:pPr>
            <a:r>
              <a:rPr lang="en-US" sz="940" b="1" u="sng" dirty="0">
                <a:solidFill>
                  <a:srgbClr val="0F636B"/>
                </a:solidFill>
                <a:hlinkClick r:id="rId11" invalidUrl="" action="" tgtFrame="" tooltip="" history="1" highlightClick="0" endSnd="0">
                  <a:extLst>
                    <a:ext uri="{A12FA001-AC4F-418D-AE19-62706E023703}">
                      <ahyp:hlinkClr xmlns:ahyp="http://schemas.microsoft.com/office/drawing/2018/hyperlinkcolor" val="tx"/>
                    </a:ext>
                  </a:extLst>
                </a:hlinkClick>
              </a:rPr>
              <a:t>Lockheed Martin FY2025 Form 10-K</a:t>
            </a:r>
            <a:endParaRPr lang="en-US" sz="940" dirty="0"/>
          </a:p>
        </p:txBody>
      </p:sp>
      <p:sp>
        <p:nvSpPr>
          <p:cNvPr id="34" name="Text 32"/>
          <p:cNvSpPr/>
          <p:nvPr/>
        </p:nvSpPr>
        <p:spPr>
          <a:xfrm>
            <a:off x="6428232" y="4315968"/>
            <a:ext cx="3995928" cy="219456"/>
          </a:xfrm>
          <a:prstGeom prst="rect">
            <a:avLst/>
          </a:prstGeom>
          <a:noFill/>
          <a:ln/>
        </p:spPr>
        <p:txBody>
          <a:bodyPr wrap="square" lIns="254" tIns="254" rIns="254" bIns="254" rtlCol="0" anchor="t">
            <a:normAutofit/>
          </a:bodyPr>
          <a:lstStyle/>
          <a:p>
            <a:pPr indent="0" marL="0">
              <a:buNone/>
            </a:pPr>
            <a:r>
              <a:rPr lang="en-US" sz="840" dirty="0">
                <a:solidFill>
                  <a:srgbClr val="17324D"/>
                </a:solidFill>
              </a:rPr>
              <a:t>Used as a mature defense and government-contract benchmark for margin stability and downside context.</a:t>
            </a:r>
            <a:endParaRPr lang="en-US" sz="840" dirty="0"/>
          </a:p>
        </p:txBody>
      </p:sp>
      <p:sp>
        <p:nvSpPr>
          <p:cNvPr id="35" name="Text 33"/>
          <p:cNvSpPr/>
          <p:nvPr/>
        </p:nvSpPr>
        <p:spPr>
          <a:xfrm>
            <a:off x="10552176" y="4187952"/>
            <a:ext cx="960120" cy="164592"/>
          </a:xfrm>
          <a:prstGeom prst="rect">
            <a:avLst/>
          </a:prstGeom>
          <a:noFill/>
          <a:ln/>
        </p:spPr>
        <p:txBody>
          <a:bodyPr wrap="square" lIns="254" tIns="254" rIns="254" bIns="254" rtlCol="0" anchor="t">
            <a:normAutofit/>
          </a:bodyPr>
          <a:lstStyle/>
          <a:p>
            <a:pPr indent="0" marL="0">
              <a:buNone/>
            </a:pPr>
            <a:r>
              <a:rPr lang="en-US" sz="820" b="1" dirty="0">
                <a:solidFill>
                  <a:srgbClr val="17324D"/>
                </a:solidFill>
              </a:rPr>
              <a:t>Slides 5, 6</a:t>
            </a:r>
            <a:endParaRPr lang="en-US" sz="820" dirty="0"/>
          </a:p>
        </p:txBody>
      </p:sp>
      <p:sp>
        <p:nvSpPr>
          <p:cNvPr id="36" name="Text 34">
            <a:hlinkClick r:id="rId12" tooltip=""/>
          </p:cNvPr>
          <p:cNvSpPr/>
          <p:nvPr/>
        </p:nvSpPr>
        <p:spPr>
          <a:xfrm>
            <a:off x="10552176" y="4443984"/>
            <a:ext cx="914400" cy="146304"/>
          </a:xfrm>
          <a:prstGeom prst="rect">
            <a:avLst/>
          </a:prstGeom>
          <a:noFill/>
          <a:ln/>
        </p:spPr>
        <p:txBody>
          <a:bodyPr wrap="square" lIns="0" tIns="0" rIns="0" bIns="0" rtlCol="0" anchor="ctr"/>
          <a:lstStyle/>
          <a:p>
            <a:pPr indent="0" marL="0">
              <a:buNone/>
            </a:pPr>
            <a:r>
              <a:rPr lang="en-US" sz="800" b="1" u="sng" dirty="0">
                <a:solidFill>
                  <a:srgbClr val="0F636B"/>
                </a:solidFill>
                <a:hlinkClick r:id="rId12" invalidUrl="" action="" tgtFrame="" tooltip="" history="1" highlightClick="0" endSnd="0">
                  <a:extLst>
                    <a:ext uri="{A12FA001-AC4F-418D-AE19-62706E023703}">
                      <ahyp:hlinkClr xmlns:ahyp="http://schemas.microsoft.com/office/drawing/2018/hyperlinkcolor" val="tx"/>
                    </a:ext>
                  </a:extLst>
                </a:hlinkClick>
              </a:rPr>
              <a:t>Open source</a:t>
            </a:r>
            <a:endParaRPr lang="en-US" sz="800" dirty="0"/>
          </a:p>
        </p:txBody>
      </p:sp>
      <p:sp>
        <p:nvSpPr>
          <p:cNvPr id="37" name="Shape 35"/>
          <p:cNvSpPr/>
          <p:nvPr/>
        </p:nvSpPr>
        <p:spPr>
          <a:xfrm>
            <a:off x="566928" y="4946904"/>
            <a:ext cx="5413248" cy="749808"/>
          </a:xfrm>
          <a:prstGeom prst="roundRect">
            <a:avLst>
              <a:gd name="adj" fmla="val 12195"/>
            </a:avLst>
          </a:prstGeom>
          <a:solidFill>
            <a:srgbClr val="F4EFE6"/>
          </a:solidFill>
          <a:ln w="12700">
            <a:solidFill>
              <a:srgbClr val="CABFAF"/>
            </a:solidFill>
            <a:prstDash val="solid"/>
          </a:ln>
        </p:spPr>
      </p:sp>
      <p:sp>
        <p:nvSpPr>
          <p:cNvPr id="38" name="Text 36">
            <a:hlinkClick r:id="rId13" tooltip=""/>
          </p:cNvPr>
          <p:cNvSpPr/>
          <p:nvPr/>
        </p:nvSpPr>
        <p:spPr>
          <a:xfrm>
            <a:off x="713232" y="5056632"/>
            <a:ext cx="3566160" cy="164592"/>
          </a:xfrm>
          <a:prstGeom prst="rect">
            <a:avLst/>
          </a:prstGeom>
          <a:noFill/>
          <a:ln/>
        </p:spPr>
        <p:txBody>
          <a:bodyPr wrap="square" lIns="0" tIns="0" rIns="0" bIns="0" rtlCol="0" anchor="ctr"/>
          <a:lstStyle/>
          <a:p>
            <a:pPr indent="0" marL="0">
              <a:buNone/>
            </a:pPr>
            <a:r>
              <a:rPr lang="en-US" sz="940" b="1" u="sng" dirty="0">
                <a:solidFill>
                  <a:srgbClr val="0F636B"/>
                </a:solidFill>
                <a:hlinkClick r:id="rId13" invalidUrl="" action="" tgtFrame="" tooltip="" history="1" highlightClick="0" endSnd="0">
                  <a:extLst>
                    <a:ext uri="{A12FA001-AC4F-418D-AE19-62706E023703}">
                      <ahyp:hlinkClr xmlns:ahyp="http://schemas.microsoft.com/office/drawing/2018/hyperlinkcolor" val="tx"/>
                    </a:ext>
                  </a:extLst>
                </a:hlinkClick>
              </a:rPr>
              <a:t>Yahoo Finance and market data pulls</a:t>
            </a:r>
            <a:endParaRPr lang="en-US" sz="940" dirty="0"/>
          </a:p>
        </p:txBody>
      </p:sp>
      <p:sp>
        <p:nvSpPr>
          <p:cNvPr id="39" name="Text 37"/>
          <p:cNvSpPr/>
          <p:nvPr/>
        </p:nvSpPr>
        <p:spPr>
          <a:xfrm>
            <a:off x="713232" y="5257800"/>
            <a:ext cx="3995928" cy="219456"/>
          </a:xfrm>
          <a:prstGeom prst="rect">
            <a:avLst/>
          </a:prstGeom>
          <a:noFill/>
          <a:ln/>
        </p:spPr>
        <p:txBody>
          <a:bodyPr wrap="square" lIns="254" tIns="254" rIns="254" bIns="254" rtlCol="0" anchor="t">
            <a:normAutofit/>
          </a:bodyPr>
          <a:lstStyle/>
          <a:p>
            <a:pPr indent="0" marL="0">
              <a:buNone/>
            </a:pPr>
            <a:r>
              <a:rPr lang="en-US" sz="840" dirty="0">
                <a:solidFill>
                  <a:srgbClr val="17324D"/>
                </a:solidFill>
              </a:rPr>
              <a:t>Used for public peer betas, share-price reference points, market capitalization and trading multiple checks.</a:t>
            </a:r>
            <a:endParaRPr lang="en-US" sz="840" dirty="0"/>
          </a:p>
        </p:txBody>
      </p:sp>
      <p:sp>
        <p:nvSpPr>
          <p:cNvPr id="40" name="Text 38"/>
          <p:cNvSpPr/>
          <p:nvPr/>
        </p:nvSpPr>
        <p:spPr>
          <a:xfrm>
            <a:off x="4837176" y="5129784"/>
            <a:ext cx="960120" cy="164592"/>
          </a:xfrm>
          <a:prstGeom prst="rect">
            <a:avLst/>
          </a:prstGeom>
          <a:noFill/>
          <a:ln/>
        </p:spPr>
        <p:txBody>
          <a:bodyPr wrap="square" lIns="254" tIns="254" rIns="254" bIns="254" rtlCol="0" anchor="t">
            <a:normAutofit/>
          </a:bodyPr>
          <a:lstStyle/>
          <a:p>
            <a:pPr indent="0" marL="0">
              <a:buNone/>
            </a:pPr>
            <a:r>
              <a:rPr lang="en-US" sz="820" b="1" dirty="0">
                <a:solidFill>
                  <a:srgbClr val="17324D"/>
                </a:solidFill>
              </a:rPr>
              <a:t>Slides 1, 5, 6</a:t>
            </a:r>
            <a:endParaRPr lang="en-US" sz="820" dirty="0"/>
          </a:p>
        </p:txBody>
      </p:sp>
      <p:sp>
        <p:nvSpPr>
          <p:cNvPr id="41" name="Text 39">
            <a:hlinkClick r:id="rId14" tooltip=""/>
          </p:cNvPr>
          <p:cNvSpPr/>
          <p:nvPr/>
        </p:nvSpPr>
        <p:spPr>
          <a:xfrm>
            <a:off x="4837176" y="5385816"/>
            <a:ext cx="914400" cy="146304"/>
          </a:xfrm>
          <a:prstGeom prst="rect">
            <a:avLst/>
          </a:prstGeom>
          <a:noFill/>
          <a:ln/>
        </p:spPr>
        <p:txBody>
          <a:bodyPr wrap="square" lIns="0" tIns="0" rIns="0" bIns="0" rtlCol="0" anchor="ctr"/>
          <a:lstStyle/>
          <a:p>
            <a:pPr indent="0" marL="0">
              <a:buNone/>
            </a:pPr>
            <a:r>
              <a:rPr lang="en-US" sz="800" b="1" u="sng" dirty="0">
                <a:solidFill>
                  <a:srgbClr val="0F636B"/>
                </a:solidFill>
                <a:hlinkClick r:id="rId14" invalidUrl="" action="" tgtFrame="" tooltip="" history="1" highlightClick="0" endSnd="0">
                  <a:extLst>
                    <a:ext uri="{A12FA001-AC4F-418D-AE19-62706E023703}">
                      <ahyp:hlinkClr xmlns:ahyp="http://schemas.microsoft.com/office/drawing/2018/hyperlinkcolor" val="tx"/>
                    </a:ext>
                  </a:extLst>
                </a:hlinkClick>
              </a:rPr>
              <a:t>Open source</a:t>
            </a:r>
            <a:endParaRPr lang="en-US" sz="800" dirty="0"/>
          </a:p>
        </p:txBody>
      </p:sp>
      <p:sp>
        <p:nvSpPr>
          <p:cNvPr id="42" name="Shape 40"/>
          <p:cNvSpPr/>
          <p:nvPr/>
        </p:nvSpPr>
        <p:spPr>
          <a:xfrm>
            <a:off x="6281928" y="4946904"/>
            <a:ext cx="5413248" cy="749808"/>
          </a:xfrm>
          <a:prstGeom prst="roundRect">
            <a:avLst>
              <a:gd name="adj" fmla="val 12195"/>
            </a:avLst>
          </a:prstGeom>
          <a:solidFill>
            <a:srgbClr val="F4EFE6"/>
          </a:solidFill>
          <a:ln w="12700">
            <a:solidFill>
              <a:srgbClr val="CABFAF"/>
            </a:solidFill>
            <a:prstDash val="solid"/>
          </a:ln>
        </p:spPr>
      </p:sp>
      <p:sp>
        <p:nvSpPr>
          <p:cNvPr id="43" name="Text 41">
            <a:hlinkClick r:id="rId15" tooltip=""/>
          </p:cNvPr>
          <p:cNvSpPr/>
          <p:nvPr/>
        </p:nvSpPr>
        <p:spPr>
          <a:xfrm>
            <a:off x="6428232" y="5056632"/>
            <a:ext cx="3566160" cy="164592"/>
          </a:xfrm>
          <a:prstGeom prst="rect">
            <a:avLst/>
          </a:prstGeom>
          <a:noFill/>
          <a:ln/>
        </p:spPr>
        <p:txBody>
          <a:bodyPr wrap="square" lIns="0" tIns="0" rIns="0" bIns="0" rtlCol="0" anchor="ctr"/>
          <a:lstStyle/>
          <a:p>
            <a:pPr indent="0" marL="0">
              <a:buNone/>
            </a:pPr>
            <a:r>
              <a:rPr lang="en-US" sz="940" b="1" u="sng" dirty="0">
                <a:solidFill>
                  <a:srgbClr val="0F636B"/>
                </a:solidFill>
                <a:hlinkClick r:id="rId15" invalidUrl="" action="" tgtFrame="" tooltip="" history="1" highlightClick="0" endSnd="0">
                  <a:extLst>
                    <a:ext uri="{A12FA001-AC4F-418D-AE19-62706E023703}">
                      <ahyp:hlinkClr xmlns:ahyp="http://schemas.microsoft.com/office/drawing/2018/hyperlinkcolor" val="tx"/>
                    </a:ext>
                  </a:extLst>
                </a:hlinkClick>
              </a:rPr>
              <a:t>U.S. Treasury and equity-risk-premium assumptions</a:t>
            </a:r>
            <a:endParaRPr lang="en-US" sz="940" dirty="0"/>
          </a:p>
        </p:txBody>
      </p:sp>
      <p:sp>
        <p:nvSpPr>
          <p:cNvPr id="44" name="Text 42"/>
          <p:cNvSpPr/>
          <p:nvPr/>
        </p:nvSpPr>
        <p:spPr>
          <a:xfrm>
            <a:off x="6428232" y="5257800"/>
            <a:ext cx="3995928" cy="219456"/>
          </a:xfrm>
          <a:prstGeom prst="rect">
            <a:avLst/>
          </a:prstGeom>
          <a:noFill/>
          <a:ln/>
        </p:spPr>
        <p:txBody>
          <a:bodyPr wrap="square" lIns="254" tIns="254" rIns="254" bIns="254" rtlCol="0" anchor="t">
            <a:normAutofit/>
          </a:bodyPr>
          <a:lstStyle/>
          <a:p>
            <a:pPr indent="0" marL="0">
              <a:buNone/>
            </a:pPr>
            <a:r>
              <a:rPr lang="en-US" sz="840" dirty="0">
                <a:solidFill>
                  <a:srgbClr val="17324D"/>
                </a:solidFill>
              </a:rPr>
              <a:t>Used for the risk-free rate, cost of equity and WACC support. The selected WACC is then tested in the sensitivity table.</a:t>
            </a:r>
            <a:endParaRPr lang="en-US" sz="840" dirty="0"/>
          </a:p>
        </p:txBody>
      </p:sp>
      <p:sp>
        <p:nvSpPr>
          <p:cNvPr id="45" name="Text 43"/>
          <p:cNvSpPr/>
          <p:nvPr/>
        </p:nvSpPr>
        <p:spPr>
          <a:xfrm>
            <a:off x="10552176" y="5129784"/>
            <a:ext cx="960120" cy="164592"/>
          </a:xfrm>
          <a:prstGeom prst="rect">
            <a:avLst/>
          </a:prstGeom>
          <a:noFill/>
          <a:ln/>
        </p:spPr>
        <p:txBody>
          <a:bodyPr wrap="square" lIns="254" tIns="254" rIns="254" bIns="254" rtlCol="0" anchor="t">
            <a:normAutofit/>
          </a:bodyPr>
          <a:lstStyle/>
          <a:p>
            <a:pPr indent="0" marL="0">
              <a:buNone/>
            </a:pPr>
            <a:r>
              <a:rPr lang="en-US" sz="820" b="1" dirty="0">
                <a:solidFill>
                  <a:srgbClr val="17324D"/>
                </a:solidFill>
              </a:rPr>
              <a:t>Slides 4, 5, 6</a:t>
            </a:r>
            <a:endParaRPr lang="en-US" sz="820" dirty="0"/>
          </a:p>
        </p:txBody>
      </p:sp>
      <p:sp>
        <p:nvSpPr>
          <p:cNvPr id="46" name="Text 44">
            <a:hlinkClick r:id="rId16" tooltip=""/>
          </p:cNvPr>
          <p:cNvSpPr/>
          <p:nvPr/>
        </p:nvSpPr>
        <p:spPr>
          <a:xfrm>
            <a:off x="10552176" y="5385816"/>
            <a:ext cx="914400" cy="146304"/>
          </a:xfrm>
          <a:prstGeom prst="rect">
            <a:avLst/>
          </a:prstGeom>
          <a:noFill/>
          <a:ln/>
        </p:spPr>
        <p:txBody>
          <a:bodyPr wrap="square" lIns="0" tIns="0" rIns="0" bIns="0" rtlCol="0" anchor="ctr"/>
          <a:lstStyle/>
          <a:p>
            <a:pPr indent="0" marL="0">
              <a:buNone/>
            </a:pPr>
            <a:r>
              <a:rPr lang="en-US" sz="800" b="1" u="sng" dirty="0">
                <a:solidFill>
                  <a:srgbClr val="0F636B"/>
                </a:solidFill>
                <a:hlinkClick r:id="rId16" invalidUrl="" action="" tgtFrame="" tooltip="" history="1" highlightClick="0" endSnd="0">
                  <a:extLst>
                    <a:ext uri="{A12FA001-AC4F-418D-AE19-62706E023703}">
                      <ahyp:hlinkClr xmlns:ahyp="http://schemas.microsoft.com/office/drawing/2018/hyperlinkcolor" val="tx"/>
                    </a:ext>
                  </a:extLst>
                </a:hlinkClick>
              </a:rPr>
              <a:t>Open source</a:t>
            </a:r>
            <a:endParaRPr lang="en-US" sz="800" dirty="0"/>
          </a:p>
        </p:txBody>
      </p:sp>
      <p:sp>
        <p:nvSpPr>
          <p:cNvPr id="47" name="Shape 45"/>
          <p:cNvSpPr/>
          <p:nvPr/>
        </p:nvSpPr>
        <p:spPr>
          <a:xfrm>
            <a:off x="566928" y="5989320"/>
            <a:ext cx="11018520" cy="411480"/>
          </a:xfrm>
          <a:prstGeom prst="roundRect">
            <a:avLst>
              <a:gd name="adj" fmla="val 22222"/>
            </a:avLst>
          </a:prstGeom>
          <a:solidFill>
            <a:srgbClr val="D7E8EC"/>
          </a:solidFill>
          <a:ln w="12700">
            <a:solidFill>
              <a:srgbClr val="9BCBD1"/>
            </a:solidFill>
            <a:prstDash val="solid"/>
          </a:ln>
        </p:spPr>
      </p:sp>
      <p:sp>
        <p:nvSpPr>
          <p:cNvPr id="48" name="Text 46"/>
          <p:cNvSpPr/>
          <p:nvPr/>
        </p:nvSpPr>
        <p:spPr>
          <a:xfrm>
            <a:off x="804672" y="6126480"/>
            <a:ext cx="10533888" cy="109728"/>
          </a:xfrm>
          <a:prstGeom prst="rect">
            <a:avLst/>
          </a:prstGeom>
          <a:noFill/>
          <a:ln/>
        </p:spPr>
        <p:txBody>
          <a:bodyPr wrap="square" lIns="254" tIns="254" rIns="254" bIns="254" rtlCol="0" anchor="t">
            <a:normAutofit/>
          </a:bodyPr>
          <a:lstStyle/>
          <a:p>
            <a:pPr indent="0" marL="0">
              <a:buNone/>
            </a:pPr>
            <a:r>
              <a:rPr lang="en-US" sz="1040" b="1" dirty="0">
                <a:solidFill>
                  <a:srgbClr val="17324D"/>
                </a:solidFill>
              </a:rPr>
              <a:t>Source note: deck citations are consolidated here to avoid clutter. The Excel workbook contains the detailed calculation tabs and source tracker used to support the final $93/share valuation.</a:t>
            </a:r>
            <a:endParaRPr lang="en-US" sz="104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Singh Capital Partners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SpaceX Valuation Deck</dc:title>
  <dc:subject>SpaceX Valuation</dc:subject>
  <dc:creator>Manjot Singh</dc:creator>
  <cp:lastModifiedBy>Manjot Singh</cp:lastModifiedBy>
  <cp:revision>1</cp:revision>
  <dcterms:created xsi:type="dcterms:W3CDTF">2026-07-21T01:47:12Z</dcterms:created>
  <dcterms:modified xsi:type="dcterms:W3CDTF">2026-07-21T01:47:12Z</dcterms:modified>
</cp:coreProperties>
</file>